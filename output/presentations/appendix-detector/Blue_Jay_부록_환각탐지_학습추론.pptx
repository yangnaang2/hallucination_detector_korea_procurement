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7cacb95a84fed" /><Relationship Type="http://schemas.openxmlformats.org/officeDocument/2006/relationships/extended-properties" Target="/docProps/app.xml" Id="R969c6ececbf14364" /><Relationship Type="http://schemas.openxmlformats.org/officeDocument/2006/relationships/officeDocument" Target="/ppt/presentation.xml" Id="R144d784676ff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5fdb72898b41b3"/>
  </p:sldMasterIdLst>
  <p:notesMasterIdLst>
    <p:notesMasterId xmlns:r="http://schemas.openxmlformats.org/officeDocument/2006/relationships" r:id="R9d22ec9f12bd48ae"/>
  </p:notesMasterIdLst>
  <p:sldIdLst>
    <p:sldId xmlns:r="http://schemas.openxmlformats.org/officeDocument/2006/relationships" id="256" r:id="R37b1a8ab81b546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6a77534af44e11" /><Relationship Type="http://schemas.openxmlformats.org/officeDocument/2006/relationships/slideMaster" Target="/ppt/slideMasters/slideMaster1.xml" Id="Rf35fdb72898b41b3" /><Relationship Type="http://schemas.openxmlformats.org/officeDocument/2006/relationships/notesMaster" Target="/ppt/notesMasters/notesMaster1.xml" Id="R9d22ec9f12bd48ae" /><Relationship Type="http://schemas.openxmlformats.org/officeDocument/2006/relationships/presProps" Target="/ppt/presProps.xml" Id="Ra4c9618b89234cdb" /><Relationship Type="http://schemas.openxmlformats.org/officeDocument/2006/relationships/tableStyles" Target="/ppt/tableStyles.xml" Id="R50409069b1ea4c8e" /><Relationship Type="http://schemas.openxmlformats.org/officeDocument/2006/relationships/slide" Target="/ppt/slides/slide1.xml" Id="R37b1a8ab81b5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b8e0ead38949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25cc754a04145" /><Relationship Type="http://schemas.openxmlformats.org/officeDocument/2006/relationships/notesMaster" Target="/ppt/notesMasters/notesMaster1.xml" Id="Rb17bd73686e34c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Blue Jay — 기술 부록. 모든 도형과 텍스트는 편집 가능.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스타일 참조: 사용자 최종리허설_LastDanceV2!.pptx, 부록 슬라이드 33. 원본 파일은 변경하지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 파일 SHA-256: aaf77bf90bce6952d248f5430ec34a80b5015eb7ba608bec103f07d9a0770455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근거(로컬 저장소): src/dataset.py::encode_example, align_labels; demo/detector.py::token_probs, _aggregate, spans; demo-ui/spatial-poc/detector_bridge.py::_worker.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학습: 질문과 근거를 prompt로 만들고 특수 토큰으로 답변을 구분한다. 질문·근거·특수 토큰은 attention 대상이며 label=-100으로 손실에서만 제외한다. 답변 영역에는 SUPPORTED=0/HALLUCINATED=1 라벨을 부여한다.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최대 길이: 학습 인코더는 답변 공간을 먼저 확보하고 prompt 꼬리를 줄인다. 답변 자체가 최대 길이를 넘으면 답변도 잘릴 수 있다. 모든 길이의 답변이 온전히 보장된다는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추론: 답변 토큰의 HALLUCINATED softmax 점수를 설정된 임계값과 비교한 뒤 원래 답변의 Unicode 문자 offset [start,end)로 복원하고 인접 의심 토큰을 합친다. 이 점수는 답변의 사실성 확률 또는 입찰 적격성 보증이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긴 입력: demo/detector.py는 질문과 근거를 합친 prompt에 겹치는 창을 적용하고 각 창에 동일한 답변을 붙인다. 각 창에 질문 전문이 항상 반복되는 것은 아니다. 창별 점수 통합은 설정에 따라 min, min2 또는 mean이며 현재 코드의 기본값은 min이다.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서버 어댑터는 긴 답변을 별도 세그먼트로 처리하고 전체 원문 좌표로 되돌린다. 작업 한도에 걸리면 checked_ranges/unchecked_ranges로 구분한다. 완료 후 탐지이며 스트리밍 중 실시간 토큰 판정을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4개사/5개사 및 노란 형광펜은 설명용 합성 예시다. 실제 공고 조건, 모델 실측 결과 또는 성능 지표가 아니다. 예시의 단어 상자는 실제 subword 토큰 경계를 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31a208dbe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9b88cdb4f43c2" /><Relationship Type="http://schemas.openxmlformats.org/officeDocument/2006/relationships/slideLayout" Target="/ppt/slideLayouts/slideLayout1.xml" Id="Rd2e557c6ec0e43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557c6ec0e43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efc6445e74971" /><Relationship Type="http://schemas.openxmlformats.org/officeDocument/2006/relationships/notesSlide" Target="/ppt/notesSlides/notesSlide1.xml" Id="Rc1a8cadfd00c447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8E8FF"/>
            </a:gs>
            <a:gs pos="72000">
              <a:srgbClr val="FFFFFF"/>
            </a:gs>
            <a:gs pos="100000">
              <a:srgbClr val="F8FBFF"/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1-brand-blue">
            <a:extLst xmlns:a="http://schemas.openxmlformats.org/drawingml/2006/main">
              <a:ext uri="{FF2B5EF4-FFF2-40B4-BE49-F238E27FC236}">
                <a16:creationId xmlns:a16="http://schemas.microsoft.com/office/drawing/2014/main" id="{553A912F-5063-4195-A3BE-BB81FC1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33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9DD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579DD5"/>
                </a:solidFill>
                <a:latin typeface="Noto Sans KR"/>
                <a:ea typeface="Noto Sans KR"/>
                <a:cs typeface="Noto Sans KR"/>
              </a:rPr>
              <a:t>Blue</a:t>
            </a:r>
          </a:p>
        </p:txBody>
      </p:sp>
      <p:sp>
        <p:nvSpPr>
          <p:cNvPr id="2" name="2-brand-jay">
            <a:extLst xmlns:a="http://schemas.openxmlformats.org/drawingml/2006/main">
              <a:ext uri="{FF2B5EF4-FFF2-40B4-BE49-F238E27FC236}">
                <a16:creationId xmlns:a16="http://schemas.microsoft.com/office/drawing/2014/main" id="{B87EF8C2-7D41-4334-B9E8-AE5FA77B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333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Jay</a:t>
            </a:r>
          </a:p>
        </p:txBody>
      </p:sp>
      <p:sp>
        <p:nvSpPr>
          <p:cNvPr id="3" name="3-appendix-title">
            <a:extLst xmlns:a="http://schemas.openxmlformats.org/drawingml/2006/main">
              <a:ext uri="{FF2B5EF4-FFF2-40B4-BE49-F238E27FC236}">
                <a16:creationId xmlns:a16="http://schemas.microsoft.com/office/drawing/2014/main" id="{59F2648F-D63C-4D18-8C1E-1005E2CA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1450"/>
            <a:ext cx="900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환각 탐지 모델의 학습·추론 구조</a:t>
            </a:r>
          </a:p>
        </p:txBody>
      </p:sp>
      <p:sp>
        <p:nvSpPr>
          <p:cNvPr id="4" name="4-key-message">
            <a:extLst xmlns:a="http://schemas.openxmlformats.org/drawingml/2006/main">
              <a:ext uri="{FF2B5EF4-FFF2-40B4-BE49-F238E27FC236}">
                <a16:creationId xmlns:a16="http://schemas.microsoft.com/office/drawing/2014/main" id="{85728FC1-4EB6-43C6-B4F6-D55EA2F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질문과 근거는 함께 읽고, 답변의 각 토큰만 판정</a:t>
            </a:r>
          </a:p>
        </p:txBody>
      </p:sp>
      <p:sp>
        <p:nvSpPr>
          <p:cNvPr id="5" name="5-main-card">
            <a:extLst xmlns:a="http://schemas.openxmlformats.org/drawingml/2006/main">
              <a:ext uri="{FF2B5EF4-FFF2-40B4-BE49-F238E27FC236}">
                <a16:creationId xmlns:a16="http://schemas.microsoft.com/office/drawing/2014/main" id="{D1DD37ED-5B00-484C-BA71-DF1026C6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3619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6-main-card">
            <a:extLst xmlns:a="http://schemas.openxmlformats.org/drawingml/2006/main">
              <a:ext uri="{FF2B5EF4-FFF2-40B4-BE49-F238E27FC236}">
                <a16:creationId xmlns:a16="http://schemas.microsoft.com/office/drawing/2014/main" id="{8EADC5D8-828D-4E12-9F09-B1E8D0D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47800"/>
            <a:ext cx="3619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7-main-card">
            <a:extLst xmlns:a="http://schemas.openxmlformats.org/drawingml/2006/main">
              <a:ext uri="{FF2B5EF4-FFF2-40B4-BE49-F238E27FC236}">
                <a16:creationId xmlns:a16="http://schemas.microsoft.com/office/drawing/2014/main" id="{C8D66DFF-06E1-4171-9036-BD722A62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619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8-step-badge">
            <a:extLst xmlns:a="http://schemas.openxmlformats.org/drawingml/2006/main">
              <a:ext uri="{FF2B5EF4-FFF2-40B4-BE49-F238E27FC236}">
                <a16:creationId xmlns:a16="http://schemas.microsoft.com/office/drawing/2014/main" id="{CBF83289-D683-430E-9EC9-6104966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57350"/>
            <a:ext cx="381000" cy="3333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9-step-number">
            <a:extLst xmlns:a="http://schemas.openxmlformats.org/drawingml/2006/main">
              <a:ext uri="{FF2B5EF4-FFF2-40B4-BE49-F238E27FC236}">
                <a16:creationId xmlns:a16="http://schemas.microsoft.com/office/drawing/2014/main" id="{61CAAC96-F3C9-4BB2-9442-BF3ADCB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573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10-step-title">
            <a:extLst xmlns:a="http://schemas.openxmlformats.org/drawingml/2006/main">
              <a:ext uri="{FF2B5EF4-FFF2-40B4-BE49-F238E27FC236}">
                <a16:creationId xmlns:a16="http://schemas.microsoft.com/office/drawing/2014/main" id="{EEF000EF-F7BB-40BC-A737-9DADFB68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3830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입력 구성</a:t>
            </a:r>
          </a:p>
        </p:txBody>
      </p:sp>
      <p:sp>
        <p:nvSpPr>
          <p:cNvPr id="11" name="11-step-badge">
            <a:extLst xmlns:a="http://schemas.openxmlformats.org/drawingml/2006/main">
              <a:ext uri="{FF2B5EF4-FFF2-40B4-BE49-F238E27FC236}">
                <a16:creationId xmlns:a16="http://schemas.microsoft.com/office/drawing/2014/main" id="{B4844E74-072B-4BA4-B38A-B05AAA3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57350"/>
            <a:ext cx="381000" cy="3333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2-step-number">
            <a:extLst xmlns:a="http://schemas.openxmlformats.org/drawingml/2006/main">
              <a:ext uri="{FF2B5EF4-FFF2-40B4-BE49-F238E27FC236}">
                <a16:creationId xmlns:a16="http://schemas.microsoft.com/office/drawing/2014/main" id="{E283D7E1-674E-40E9-B301-4135B6B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573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13-step-title">
            <a:extLst xmlns:a="http://schemas.openxmlformats.org/drawingml/2006/main">
              <a:ext uri="{FF2B5EF4-FFF2-40B4-BE49-F238E27FC236}">
                <a16:creationId xmlns:a16="http://schemas.microsoft.com/office/drawing/2014/main" id="{8A41C0BA-EFF7-4B1F-A349-93A9FA97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3830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답변 토큰 학습</a:t>
            </a:r>
          </a:p>
        </p:txBody>
      </p:sp>
      <p:sp>
        <p:nvSpPr>
          <p:cNvPr id="14" name="14-step-badge">
            <a:extLst xmlns:a="http://schemas.openxmlformats.org/drawingml/2006/main">
              <a:ext uri="{FF2B5EF4-FFF2-40B4-BE49-F238E27FC236}">
                <a16:creationId xmlns:a16="http://schemas.microsoft.com/office/drawing/2014/main" id="{51E4A8DE-0B18-4161-B904-37F7EA65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57350"/>
            <a:ext cx="381000" cy="3333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15-step-number">
            <a:extLst xmlns:a="http://schemas.openxmlformats.org/drawingml/2006/main">
              <a:ext uri="{FF2B5EF4-FFF2-40B4-BE49-F238E27FC236}">
                <a16:creationId xmlns:a16="http://schemas.microsoft.com/office/drawing/2014/main" id="{CD4E2948-0618-4ABB-A3B6-B983EE41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573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16-step-title">
            <a:extLst xmlns:a="http://schemas.openxmlformats.org/drawingml/2006/main">
              <a:ext uri="{FF2B5EF4-FFF2-40B4-BE49-F238E27FC236}">
                <a16:creationId xmlns:a16="http://schemas.microsoft.com/office/drawing/2014/main" id="{5C6A31C2-8D06-49DA-B4F7-CE41ED4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3830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의심 구절 표시</a:t>
            </a:r>
          </a:p>
        </p:txBody>
      </p:sp>
      <p:sp>
        <p:nvSpPr>
          <p:cNvPr id="17" name="17-flow-arrow">
            <a:extLst xmlns:a="http://schemas.openxmlformats.org/drawingml/2006/main">
              <a:ext uri="{FF2B5EF4-FFF2-40B4-BE49-F238E27FC236}">
                <a16:creationId xmlns:a16="http://schemas.microsoft.com/office/drawing/2014/main" id="{A9CA252C-026B-42A7-9633-159A99A0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03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A8C6"/>
          </a:solidFill>
          <a:ln xmlns:a="http://schemas.openxmlformats.org/drawingml/2006/main" w="0">
            <a:noFill/>
          </a:ln>
        </p:spPr>
      </p:sp>
      <p:sp>
        <p:nvSpPr>
          <p:cNvPr id="18" name="18-flow-arrow">
            <a:extLst xmlns:a="http://schemas.openxmlformats.org/drawingml/2006/main">
              <a:ext uri="{FF2B5EF4-FFF2-40B4-BE49-F238E27FC236}">
                <a16:creationId xmlns:a16="http://schemas.microsoft.com/office/drawing/2014/main" id="{77512DD0-54EF-425D-8C61-00028B12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03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A8C6"/>
          </a:solidFill>
          <a:ln xmlns:a="http://schemas.openxmlformats.org/drawingml/2006/main" w="0">
            <a:noFill/>
          </a:ln>
        </p:spPr>
      </p:sp>
      <p:sp>
        <p:nvSpPr>
          <p:cNvPr id="19" name="19-example-row">
            <a:extLst xmlns:a="http://schemas.openxmlformats.org/drawingml/2006/main">
              <a:ext uri="{FF2B5EF4-FFF2-40B4-BE49-F238E27FC236}">
                <a16:creationId xmlns:a16="http://schemas.microsoft.com/office/drawing/2014/main" id="{F6896228-4DAF-48D9-B757-0F84A4C2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32004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20-example-label">
            <a:extLst xmlns:a="http://schemas.openxmlformats.org/drawingml/2006/main">
              <a:ext uri="{FF2B5EF4-FFF2-40B4-BE49-F238E27FC236}">
                <a16:creationId xmlns:a16="http://schemas.microsoft.com/office/drawing/2014/main" id="{F8D1F9A2-4887-49BF-995B-24B2BA4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21" name="21-example-value">
            <a:extLst xmlns:a="http://schemas.openxmlformats.org/drawingml/2006/main">
              <a:ext uri="{FF2B5EF4-FFF2-40B4-BE49-F238E27FC236}">
                <a16:creationId xmlns:a16="http://schemas.microsoft.com/office/drawing/2014/main" id="{E4C7AB63-88C2-4B3C-AD31-0AA8DA3B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621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참가 가능한 업체 수는?</a:t>
            </a:r>
          </a:p>
        </p:txBody>
      </p:sp>
      <p:sp>
        <p:nvSpPr>
          <p:cNvPr id="22" name="22-example-row">
            <a:extLst xmlns:a="http://schemas.openxmlformats.org/drawingml/2006/main">
              <a:ext uri="{FF2B5EF4-FFF2-40B4-BE49-F238E27FC236}">
                <a16:creationId xmlns:a16="http://schemas.microsoft.com/office/drawing/2014/main" id="{668FACBD-EF2D-4773-89F6-54855FA8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2004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23-example-label">
            <a:extLst xmlns:a="http://schemas.openxmlformats.org/drawingml/2006/main">
              <a:ext uri="{FF2B5EF4-FFF2-40B4-BE49-F238E27FC236}">
                <a16:creationId xmlns:a16="http://schemas.microsoft.com/office/drawing/2014/main" id="{9E51C81F-6D90-4761-A972-8C263A08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24" name="24-example-value">
            <a:extLst xmlns:a="http://schemas.openxmlformats.org/drawingml/2006/main">
              <a:ext uri="{FF2B5EF4-FFF2-40B4-BE49-F238E27FC236}">
                <a16:creationId xmlns:a16="http://schemas.microsoft.com/office/drawing/2014/main" id="{6B1FD253-386B-4F87-AD58-B68AEA2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812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4개사 이하</a:t>
            </a:r>
          </a:p>
        </p:txBody>
      </p:sp>
      <p:sp>
        <p:nvSpPr>
          <p:cNvPr id="25" name="25-example-row">
            <a:extLst xmlns:a="http://schemas.openxmlformats.org/drawingml/2006/main">
              <a:ext uri="{FF2B5EF4-FFF2-40B4-BE49-F238E27FC236}">
                <a16:creationId xmlns:a16="http://schemas.microsoft.com/office/drawing/2014/main" id="{A4925B18-4509-410E-90ED-C40863E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32004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26-example-label">
            <a:extLst xmlns:a="http://schemas.openxmlformats.org/drawingml/2006/main">
              <a:ext uri="{FF2B5EF4-FFF2-40B4-BE49-F238E27FC236}">
                <a16:creationId xmlns:a16="http://schemas.microsoft.com/office/drawing/2014/main" id="{9AC50F1D-6BCA-4E2F-B10A-1D7D8DF6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E854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E8540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27" name="27-example-value">
            <a:extLst xmlns:a="http://schemas.openxmlformats.org/drawingml/2006/main">
              <a:ext uri="{FF2B5EF4-FFF2-40B4-BE49-F238E27FC236}">
                <a16:creationId xmlns:a16="http://schemas.microsoft.com/office/drawing/2014/main" id="{381C5CA3-88CB-4823-B802-8EED0413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003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5개사까지 가능합니다.</a:t>
            </a:r>
          </a:p>
        </p:txBody>
      </p:sp>
      <p:sp>
        <p:nvSpPr>
          <p:cNvPr id="28" name="28-input-serialization">
            <a:extLst xmlns:a="http://schemas.openxmlformats.org/drawingml/2006/main">
              <a:ext uri="{FF2B5EF4-FFF2-40B4-BE49-F238E27FC236}">
                <a16:creationId xmlns:a16="http://schemas.microsoft.com/office/drawing/2014/main" id="{3CDA07D8-FB06-47E8-B0D5-C5312112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[CLS] 질문·근거 [SEP] 답변 [SEP]</a:t>
            </a:r>
          </a:p>
        </p:txBody>
      </p:sp>
      <p:sp>
        <p:nvSpPr>
          <p:cNvPr id="29" name="29-example-disclaimer">
            <a:extLst xmlns:a="http://schemas.openxmlformats.org/drawingml/2006/main">
              <a:ext uri="{FF2B5EF4-FFF2-40B4-BE49-F238E27FC236}">
                <a16:creationId xmlns:a16="http://schemas.microsoft.com/office/drawing/2014/main" id="{0B71B243-6129-4B73-B0C0-EA00A20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설명용 입력 예시</a:t>
            </a:r>
          </a:p>
        </p:txBody>
      </p:sp>
      <p:sp>
        <p:nvSpPr>
          <p:cNvPr id="30" name="30-masked-context">
            <a:extLst xmlns:a="http://schemas.openxmlformats.org/drawingml/2006/main">
              <a:ext uri="{FF2B5EF4-FFF2-40B4-BE49-F238E27FC236}">
                <a16:creationId xmlns:a16="http://schemas.microsoft.com/office/drawing/2014/main" id="{8D34A359-A3F1-4BF6-A3C0-7057030A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62175"/>
            <a:ext cx="31813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31-mask-context-label">
            <a:extLst xmlns:a="http://schemas.openxmlformats.org/drawingml/2006/main">
              <a:ext uri="{FF2B5EF4-FFF2-40B4-BE49-F238E27FC236}">
                <a16:creationId xmlns:a16="http://schemas.microsoft.com/office/drawing/2014/main" id="{BF220609-390E-4747-AC25-0A01D03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38375"/>
            <a:ext cx="2943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질문·근거·특수 토큰 → −100</a:t>
            </a:r>
          </a:p>
        </p:txBody>
      </p:sp>
      <p:sp>
        <p:nvSpPr>
          <p:cNvPr id="32" name="32-mask-context-explanation">
            <a:extLst xmlns:a="http://schemas.openxmlformats.org/drawingml/2006/main">
              <a:ext uri="{FF2B5EF4-FFF2-40B4-BE49-F238E27FC236}">
                <a16:creationId xmlns:a16="http://schemas.microsoft.com/office/drawing/2014/main" id="{B4B15697-FAF7-49ED-AA55-C79AB1B4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문맥으로 읽되, 손실 계산에서 제외</a:t>
            </a:r>
          </a:p>
        </p:txBody>
      </p:sp>
      <p:sp>
        <p:nvSpPr>
          <p:cNvPr id="33" name="33-answer-only">
            <a:extLst xmlns:a="http://schemas.openxmlformats.org/drawingml/2006/main">
              <a:ext uri="{FF2B5EF4-FFF2-40B4-BE49-F238E27FC236}">
                <a16:creationId xmlns:a16="http://schemas.microsoft.com/office/drawing/2014/main" id="{72EE3DED-CBFF-4374-B9F1-324DBA2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답변 토큰에만 정답 라벨 적용</a:t>
            </a:r>
          </a:p>
        </p:txBody>
      </p:sp>
      <p:sp>
        <p:nvSpPr>
          <p:cNvPr id="34" name="34-supported-label">
            <a:extLst xmlns:a="http://schemas.openxmlformats.org/drawingml/2006/main">
              <a:ext uri="{FF2B5EF4-FFF2-40B4-BE49-F238E27FC236}">
                <a16:creationId xmlns:a16="http://schemas.microsoft.com/office/drawing/2014/main" id="{728FC87C-C7C2-40DF-A072-ABBD8512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52800"/>
            <a:ext cx="14763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35-hallucinated-label">
            <a:extLst xmlns:a="http://schemas.openxmlformats.org/drawingml/2006/main">
              <a:ext uri="{FF2B5EF4-FFF2-40B4-BE49-F238E27FC236}">
                <a16:creationId xmlns:a16="http://schemas.microsoft.com/office/drawing/2014/main" id="{0DFECD63-95C6-4CAF-B1E3-1EDA3952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1590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36-supported">
            <a:extLst xmlns:a="http://schemas.openxmlformats.org/drawingml/2006/main">
              <a:ext uri="{FF2B5EF4-FFF2-40B4-BE49-F238E27FC236}">
                <a16:creationId xmlns:a16="http://schemas.microsoft.com/office/drawing/2014/main" id="{1781444C-F539-4C2A-A0C2-7DCEAC8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52800"/>
            <a:ext cx="1362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rPr>
              <a:t>0 · SUPPORTED</a:t>
            </a:r>
          </a:p>
        </p:txBody>
      </p:sp>
      <p:sp>
        <p:nvSpPr>
          <p:cNvPr id="37" name="37-hallucinated">
            <a:extLst xmlns:a="http://schemas.openxmlformats.org/drawingml/2006/main">
              <a:ext uri="{FF2B5EF4-FFF2-40B4-BE49-F238E27FC236}">
                <a16:creationId xmlns:a16="http://schemas.microsoft.com/office/drawing/2014/main" id="{1A1F9CFE-3A4D-4841-9F2C-7F8F49E6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1514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DE854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DE8540"/>
                </a:solidFill>
                <a:latin typeface="Noto Sans KR"/>
                <a:ea typeface="Noto Sans KR"/>
                <a:cs typeface="Noto Sans KR"/>
              </a:rPr>
              <a:t>1 · HALLUCINATED</a:t>
            </a:r>
          </a:p>
        </p:txBody>
      </p:sp>
      <p:sp>
        <p:nvSpPr>
          <p:cNvPr id="38" name="38-binary-classification">
            <a:extLst xmlns:a="http://schemas.openxmlformats.org/drawingml/2006/main">
              <a:ext uri="{FF2B5EF4-FFF2-40B4-BE49-F238E27FC236}">
                <a16:creationId xmlns:a16="http://schemas.microsoft.com/office/drawing/2014/main" id="{673FBBF9-3AC4-438A-BD6A-0D94AC4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71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지지 / 환각의 이진 분류</a:t>
            </a:r>
          </a:p>
        </p:txBody>
      </p:sp>
      <p:sp>
        <p:nvSpPr>
          <p:cNvPr id="39" name="39-span-processing">
            <a:extLst xmlns:a="http://schemas.openxmlformats.org/drawingml/2006/main">
              <a:ext uri="{FF2B5EF4-FFF2-40B4-BE49-F238E27FC236}">
                <a16:creationId xmlns:a16="http://schemas.microsoft.com/office/drawing/2014/main" id="{B7BB5E89-AF0E-4A95-81CC-2870981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812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토큰 점수 → 임계값 → 문자 위치</a:t>
            </a:r>
          </a:p>
        </p:txBody>
      </p:sp>
      <p:sp>
        <p:nvSpPr>
          <p:cNvPr id="40" name="40-answer-example">
            <a:extLst xmlns:a="http://schemas.openxmlformats.org/drawingml/2006/main">
              <a:ext uri="{FF2B5EF4-FFF2-40B4-BE49-F238E27FC236}">
                <a16:creationId xmlns:a16="http://schemas.microsoft.com/office/drawing/2014/main" id="{017C9D23-B9B4-4E68-8355-709EA387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38425"/>
            <a:ext cx="31813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41-example-highlight">
            <a:extLst xmlns:a="http://schemas.openxmlformats.org/drawingml/2006/main">
              <a:ext uri="{FF2B5EF4-FFF2-40B4-BE49-F238E27FC236}">
                <a16:creationId xmlns:a16="http://schemas.microsoft.com/office/drawing/2014/main" id="{36BE9DC4-2E62-4B7A-87A7-DFB3D47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90825"/>
            <a:ext cx="65722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E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42-highlighted-answer">
            <a:extLst xmlns:a="http://schemas.openxmlformats.org/drawingml/2006/main">
              <a:ext uri="{FF2B5EF4-FFF2-40B4-BE49-F238E27FC236}">
                <a16:creationId xmlns:a16="http://schemas.microsoft.com/office/drawing/2014/main" id="{69338ABF-C40A-4938-A251-75F72A8C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828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b="1"/>
              <a:t>5개사</a:t>
            </a:r>
            <a:r>
              <a:t>까지 가능합니다.</a:t>
            </a:r>
          </a:p>
        </p:txBody>
      </p:sp>
      <p:sp>
        <p:nvSpPr>
          <p:cNvPr id="43" name="43-span-merge">
            <a:extLst xmlns:a="http://schemas.openxmlformats.org/drawingml/2006/main">
              <a:ext uri="{FF2B5EF4-FFF2-40B4-BE49-F238E27FC236}">
                <a16:creationId xmlns:a16="http://schemas.microsoft.com/office/drawing/2014/main" id="{C3D780F7-C919-40F5-ACAD-547313D4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385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인접한 의심 토큰을 구절로 연결</a:t>
            </a:r>
          </a:p>
        </p:txBody>
      </p:sp>
      <p:sp>
        <p:nvSpPr>
          <p:cNvPr id="44" name="44-timing">
            <a:extLst xmlns:a="http://schemas.openxmlformats.org/drawingml/2006/main">
              <a:ext uri="{FF2B5EF4-FFF2-40B4-BE49-F238E27FC236}">
                <a16:creationId xmlns:a16="http://schemas.microsoft.com/office/drawing/2014/main" id="{226DD7B3-3802-4F08-B192-C4D73F00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1952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답변 생성 완료 후 탐지</a:t>
            </a:r>
          </a:p>
        </p:txBody>
      </p:sp>
      <p:sp>
        <p:nvSpPr>
          <p:cNvPr id="45" name="45-window-card">
            <a:extLst xmlns:a="http://schemas.openxmlformats.org/drawingml/2006/main">
              <a:ext uri="{FF2B5EF4-FFF2-40B4-BE49-F238E27FC236}">
                <a16:creationId xmlns:a16="http://schemas.microsoft.com/office/drawing/2014/main" id="{5E5E1B57-655E-47E9-AB96-CF709A8E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91050"/>
            <a:ext cx="11430000" cy="1704975"/>
          </a:xfrm>
          <a:prstGeom xmlns:a="http://schemas.openxmlformats.org/drawingml/2006/main" prst="roundRect">
            <a:avLst>
              <a:gd name="adj" fmla="val 100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6" name="46-long-context-title">
            <a:extLst xmlns:a="http://schemas.openxmlformats.org/drawingml/2006/main">
              <a:ext uri="{FF2B5EF4-FFF2-40B4-BE49-F238E27FC236}">
                <a16:creationId xmlns:a16="http://schemas.microsoft.com/office/drawing/2014/main" id="{291F3F2B-82D1-4A1E-BE3D-0986671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958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긴 문맥은 겹쳐 나눠 검사</a:t>
            </a:r>
          </a:p>
        </p:txBody>
      </p:sp>
      <p:sp>
        <p:nvSpPr>
          <p:cNvPr id="47" name="47-window-1">
            <a:extLst xmlns:a="http://schemas.openxmlformats.org/drawingml/2006/main">
              <a:ext uri="{FF2B5EF4-FFF2-40B4-BE49-F238E27FC236}">
                <a16:creationId xmlns:a16="http://schemas.microsoft.com/office/drawing/2014/main" id="{56E68976-6D64-4F01-9DFB-B7F4CB7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33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창 1</a:t>
            </a:r>
          </a:p>
        </p:txBody>
      </p:sp>
      <p:sp>
        <p:nvSpPr>
          <p:cNvPr id="48" name="48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683B8738-2FA5-44C6-AF29-83D089E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244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86B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49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C22FE121-D0FB-419D-B29B-1F01D16A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44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86B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50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E974B717-980D-47FA-A9B3-5E28A0D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44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86B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51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7F722987-F85C-40B2-8818-1EEAD27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244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52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959F0546-B502-4993-B398-913E232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244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53-plus-symbol">
            <a:extLst xmlns:a="http://schemas.openxmlformats.org/drawingml/2006/main">
              <a:ext uri="{FF2B5EF4-FFF2-40B4-BE49-F238E27FC236}">
                <a16:creationId xmlns:a16="http://schemas.microsoft.com/office/drawing/2014/main" id="{1BE176E5-22EC-40DA-AC70-4BC96CC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2445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54" name="54-repeated-answer">
            <a:extLst xmlns:a="http://schemas.openxmlformats.org/drawingml/2006/main">
              <a:ext uri="{FF2B5EF4-FFF2-40B4-BE49-F238E27FC236}">
                <a16:creationId xmlns:a16="http://schemas.microsoft.com/office/drawing/2014/main" id="{7A00F82A-3E8C-4997-87F6-C98E04B9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24450"/>
            <a:ext cx="9429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55-same-answer">
            <a:extLst xmlns:a="http://schemas.openxmlformats.org/drawingml/2006/main">
              <a:ext uri="{FF2B5EF4-FFF2-40B4-BE49-F238E27FC236}">
                <a16:creationId xmlns:a16="http://schemas.microsoft.com/office/drawing/2014/main" id="{94FBADD0-C416-4F90-919D-748C7506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rPr>
              <a:t>동일 답변</a:t>
            </a:r>
          </a:p>
        </p:txBody>
      </p:sp>
      <p:sp>
        <p:nvSpPr>
          <p:cNvPr id="56" name="56-window-2">
            <a:extLst xmlns:a="http://schemas.openxmlformats.org/drawingml/2006/main">
              <a:ext uri="{FF2B5EF4-FFF2-40B4-BE49-F238E27FC236}">
                <a16:creationId xmlns:a16="http://schemas.microsoft.com/office/drawing/2014/main" id="{0113911C-C6F1-4DEA-AABA-6BF6F317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578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창 2</a:t>
            </a:r>
          </a:p>
        </p:txBody>
      </p:sp>
      <p:sp>
        <p:nvSpPr>
          <p:cNvPr id="57" name="57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71124756-601F-4FCA-876F-DE1CB1B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4830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58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276DD44A-D0C7-43B0-A977-5B5288B6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4830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39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59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B1559567-2BEB-45DF-BF1C-5A403727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4830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39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60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DCC22E3D-7373-497E-8951-32908F7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4830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39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61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53602286-673B-4EC9-B995-4FB5A42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4830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62-plus-symbol">
            <a:extLst xmlns:a="http://schemas.openxmlformats.org/drawingml/2006/main">
              <a:ext uri="{FF2B5EF4-FFF2-40B4-BE49-F238E27FC236}">
                <a16:creationId xmlns:a16="http://schemas.microsoft.com/office/drawing/2014/main" id="{895335C7-B69A-45BB-9442-E552BA9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63" name="63-repeated-answer">
            <a:extLst xmlns:a="http://schemas.openxmlformats.org/drawingml/2006/main">
              <a:ext uri="{FF2B5EF4-FFF2-40B4-BE49-F238E27FC236}">
                <a16:creationId xmlns:a16="http://schemas.microsoft.com/office/drawing/2014/main" id="{EADCD70E-2C40-45C5-BFD2-ED399CA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48300"/>
            <a:ext cx="9429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64-same-answer">
            <a:extLst xmlns:a="http://schemas.openxmlformats.org/drawingml/2006/main">
              <a:ext uri="{FF2B5EF4-FFF2-40B4-BE49-F238E27FC236}">
                <a16:creationId xmlns:a16="http://schemas.microsoft.com/office/drawing/2014/main" id="{66CBD4E9-F261-4B2E-AFEB-84A2C07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4830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rPr>
              <a:t>동일 답변</a:t>
            </a:r>
          </a:p>
        </p:txBody>
      </p:sp>
      <p:sp>
        <p:nvSpPr>
          <p:cNvPr id="65" name="65-window-3">
            <a:extLst xmlns:a="http://schemas.openxmlformats.org/drawingml/2006/main">
              <a:ext uri="{FF2B5EF4-FFF2-40B4-BE49-F238E27FC236}">
                <a16:creationId xmlns:a16="http://schemas.microsoft.com/office/drawing/2014/main" id="{E9932756-4277-4042-BE00-4D914876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창 3</a:t>
            </a:r>
          </a:p>
        </p:txBody>
      </p:sp>
      <p:sp>
        <p:nvSpPr>
          <p:cNvPr id="66" name="66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18D8AC37-B77C-4F00-9EDB-70B8DEA6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721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67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4F730B7F-0C04-4120-B187-FA826EF0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721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68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F6FC594F-23EC-4CF1-BB35-CA7E75BB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721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97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69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9BE587AF-D209-45A1-B7AF-4B9106DD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721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97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70-context-token-group">
            <a:extLst xmlns:a="http://schemas.openxmlformats.org/drawingml/2006/main">
              <a:ext uri="{FF2B5EF4-FFF2-40B4-BE49-F238E27FC236}">
                <a16:creationId xmlns:a16="http://schemas.microsoft.com/office/drawing/2014/main" id="{BBA79E29-38A4-403E-A727-29E4958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72150"/>
            <a:ext cx="52387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97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71-plus-symbol">
            <a:extLst xmlns:a="http://schemas.openxmlformats.org/drawingml/2006/main">
              <a:ext uri="{FF2B5EF4-FFF2-40B4-BE49-F238E27FC236}">
                <a16:creationId xmlns:a16="http://schemas.microsoft.com/office/drawing/2014/main" id="{D03D1F37-5463-46A1-9BBE-AB539643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72" name="72-repeated-answer">
            <a:extLst xmlns:a="http://schemas.openxmlformats.org/drawingml/2006/main">
              <a:ext uri="{FF2B5EF4-FFF2-40B4-BE49-F238E27FC236}">
                <a16:creationId xmlns:a16="http://schemas.microsoft.com/office/drawing/2014/main" id="{68C32CB7-C09A-430B-8345-E985AA0D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72150"/>
            <a:ext cx="9429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73-same-answer">
            <a:extLst xmlns:a="http://schemas.openxmlformats.org/drawingml/2006/main">
              <a:ext uri="{FF2B5EF4-FFF2-40B4-BE49-F238E27FC236}">
                <a16:creationId xmlns:a16="http://schemas.microsoft.com/office/drawing/2014/main" id="{89E25EB5-C763-4FBA-88AF-1B0C86E4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A897"/>
                </a:solidFill>
                <a:latin typeface="Noto Sans KR"/>
                <a:ea typeface="Noto Sans KR"/>
                <a:cs typeface="Noto Sans KR"/>
              </a:rPr>
              <a:t>동일 답변</a:t>
            </a:r>
          </a:p>
        </p:txBody>
      </p:sp>
      <p:sp>
        <p:nvSpPr>
          <p:cNvPr id="74" name="74-window-divider">
            <a:extLst xmlns:a="http://schemas.openxmlformats.org/drawingml/2006/main">
              <a:ext uri="{FF2B5EF4-FFF2-40B4-BE49-F238E27FC236}">
                <a16:creationId xmlns:a16="http://schemas.microsoft.com/office/drawing/2014/main" id="{C92A27C4-F97E-4874-8D3E-B4127BEC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95875"/>
            <a:ext cx="1143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75-window-process-1">
            <a:extLst xmlns:a="http://schemas.openxmlformats.org/drawingml/2006/main">
              <a:ext uri="{FF2B5EF4-FFF2-40B4-BE49-F238E27FC236}">
                <a16:creationId xmlns:a16="http://schemas.microsoft.com/office/drawing/2014/main" id="{EF29D731-5AC7-47BD-8583-ACFAF7B6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E2D3A"/>
                </a:solidFill>
                <a:latin typeface="Noto Sans KR"/>
                <a:ea typeface="Noto Sans KR"/>
                <a:cs typeface="Noto Sans KR"/>
              </a:rPr>
              <a:t>문맥 창별로 답변 토큰 점수를 계산</a:t>
            </a:r>
          </a:p>
        </p:txBody>
      </p:sp>
      <p:sp>
        <p:nvSpPr>
          <p:cNvPr id="76" name="76-window-process-2">
            <a:extLst xmlns:a="http://schemas.openxmlformats.org/drawingml/2006/main">
              <a:ext uri="{FF2B5EF4-FFF2-40B4-BE49-F238E27FC236}">
                <a16:creationId xmlns:a16="http://schemas.microsoft.com/office/drawing/2014/main" id="{C049FD44-2D64-4D18-B941-7F2C4857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6735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점수 통합 후 정본 답변의 위치로 복원</a:t>
            </a:r>
          </a:p>
        </p:txBody>
      </p:sp>
      <p:sp>
        <p:nvSpPr>
          <p:cNvPr id="77" name="77-window-process-3">
            <a:extLst xmlns:a="http://schemas.openxmlformats.org/drawingml/2006/main">
              <a:ext uri="{FF2B5EF4-FFF2-40B4-BE49-F238E27FC236}">
                <a16:creationId xmlns:a16="http://schemas.microsoft.com/office/drawing/2014/main" id="{01B0C803-D613-4036-90E3-E15167B1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10250"/>
            <a:ext cx="475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E854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E8540"/>
                </a:solidFill>
                <a:latin typeface="Noto Sans KR"/>
                <a:ea typeface="Noto Sans KR"/>
                <a:cs typeface="Noto Sans KR"/>
              </a:rPr>
              <a:t>처리 한도 초과 구간은 ‘미검사’로 구분</a:t>
            </a:r>
          </a:p>
        </p:txBody>
      </p:sp>
      <p:sp>
        <p:nvSpPr>
          <p:cNvPr id="78" name="78-footer">
            <a:extLst xmlns:a="http://schemas.openxmlformats.org/drawingml/2006/main">
              <a:ext uri="{FF2B5EF4-FFF2-40B4-BE49-F238E27FC236}">
                <a16:creationId xmlns:a16="http://schemas.microsoft.com/office/drawing/2014/main" id="{C6102164-FF68-4E8C-8982-0973A57E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C6D7D"/>
                </a:solidFill>
                <a:latin typeface="Noto Sans KR"/>
                <a:ea typeface="Noto Sans KR"/>
                <a:cs typeface="Noto Sans KR"/>
              </a:rPr>
              <a:t>구절 표시는 설명용 예시 · 탐지 점수는 정답의 보증이 아님</a:t>
            </a:r>
          </a:p>
        </p:txBody>
      </p:sp>
    </p:spTree>
    <p:extLst>
      <p:ext uri="{BB962C8B-B14F-4D97-AF65-F5344CB8AC3E}">
        <p14:creationId xmlns:p14="http://schemas.microsoft.com/office/powerpoint/2010/main" val="878783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2026-09-29T11:46:42.4850000Z</dcterms:created>
  <dcterms:modified xsi:type="dcterms:W3CDTF">2026-09-29T11:46:42.4860000Z</dcterms:modified>
</coreProperties>
</file>