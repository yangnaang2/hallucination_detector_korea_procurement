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5488" y="402336"/>
            <a:ext cx="3639312" cy="420624"/>
          </a:xfrm>
          <a:prstGeom prst="roundRect">
            <a:avLst>
              <a:gd name="adj" fmla="val 24000"/>
            </a:avLst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02336"/>
            <a:ext cx="363931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포스코 AI·Big Data 아카데미</a:t>
            </a:r>
          </a:p>
        </p:txBody>
      </p:sp>
      <p:sp>
        <p:nvSpPr>
          <p:cNvPr id="6" name="Rectangle 5"/>
          <p:cNvSpPr/>
          <p:nvPr/>
        </p:nvSpPr>
        <p:spPr>
          <a:xfrm>
            <a:off x="4224528" y="598932"/>
            <a:ext cx="7360920" cy="3200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44215" y="2816352"/>
            <a:ext cx="6641592" cy="1143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44215" y="2816352"/>
            <a:ext cx="6641592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</a:rPr>
              <a:t>AI 프로젝트 아이디어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5870448"/>
            <a:ext cx="118533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A1A1A"/>
                </a:solidFill>
                <a:latin typeface="맑은 고딕"/>
              </a:rPr>
              <a:t>B1조   양진우</a:t>
            </a:r>
          </a:p>
        </p:txBody>
      </p:sp>
      <p:pic>
        <p:nvPicPr>
          <p:cNvPr id="10" name="Picture 9" descr="logo_po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6280495"/>
            <a:ext cx="1188720" cy="313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22376" y="566928"/>
            <a:ext cx="1152144" cy="80467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566928"/>
            <a:ext cx="1152144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</a:rPr>
              <a:t>목차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" y="1609344"/>
            <a:ext cx="10863072" cy="25603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93392"/>
            <a:ext cx="108813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</a:pPr>
            <a:r>
              <a:rPr sz="2300" b="1">
                <a:solidFill>
                  <a:srgbClr val="B23A32"/>
                </a:solidFill>
                <a:latin typeface="맑은 고딕"/>
              </a:rPr>
              <a:t>01 </a:t>
            </a:r>
            <a:r>
              <a:rPr sz="2300" b="0">
                <a:solidFill>
                  <a:srgbClr val="1A1A1A"/>
                </a:solidFill>
                <a:latin typeface="맑은 고딕"/>
              </a:rPr>
              <a:t>한국어 환각 탐지 — 근거가 보이는 AI 상담 챗봇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</a:pPr>
            <a:r>
              <a:rPr sz="2300" b="1">
                <a:solidFill>
                  <a:srgbClr val="B23A32"/>
                </a:solidFill>
                <a:latin typeface="맑은 고딕"/>
              </a:rPr>
              <a:t>02 </a:t>
            </a:r>
            <a:r>
              <a:rPr sz="2300" b="0">
                <a:solidFill>
                  <a:srgbClr val="1A1A1A"/>
                </a:solidFill>
                <a:latin typeface="맑은 고딕"/>
              </a:rPr>
              <a:t>진동 신호 기반 베어링 정비 정책 최적화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</a:pPr>
            <a:r>
              <a:rPr sz="2300" b="1">
                <a:solidFill>
                  <a:srgbClr val="B23A32"/>
                </a:solidFill>
                <a:latin typeface="맑은 고딕"/>
              </a:rPr>
              <a:t>03 </a:t>
            </a:r>
            <a:r>
              <a:rPr sz="2300" b="0">
                <a:solidFill>
                  <a:srgbClr val="1A1A1A"/>
                </a:solidFill>
                <a:latin typeface="맑은 고딕"/>
              </a:rPr>
              <a:t>시각·음향 융합 공간 쾌적도 분석 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600"/>
              </a:spcAft>
            </a:pPr>
            <a:r>
              <a:rPr sz="2300" b="1">
                <a:solidFill>
                  <a:srgbClr val="B23A32"/>
                </a:solidFill>
                <a:latin typeface="맑은 고딕"/>
              </a:rPr>
              <a:t>04 </a:t>
            </a:r>
            <a:r>
              <a:rPr sz="2300" b="0">
                <a:solidFill>
                  <a:srgbClr val="1A1A1A"/>
                </a:solidFill>
                <a:latin typeface="맑은 고딕"/>
              </a:rPr>
              <a:t>고령층 다제복용 알약 식별 및 병용금기 분석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49171" y="603504"/>
            <a:ext cx="9631679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49171" y="603504"/>
            <a:ext cx="9631679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한국어 환각 탐지 — 근거가 보이는 AI 상담 챗봇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" y="1595628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36192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783079"/>
            <a:ext cx="512064" cy="512064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1737359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29" y="1844893"/>
            <a:ext cx="296997" cy="2969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668780" y="182879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36776" y="178307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6776" y="1783079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아이디어</a:t>
            </a:r>
          </a:p>
        </p:txBody>
      </p:sp>
      <p:pic>
        <p:nvPicPr>
          <p:cNvPr id="14" name="Picture 13" descr="img_hall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61942"/>
            <a:ext cx="3017520" cy="230221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4" y="5413248"/>
            <a:ext cx="30358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맑은 고딕"/>
              </a:rPr>
              <a:t>“</a:t>
            </a:r>
            <a:r>
              <a:rPr sz="1250" b="0">
                <a:solidFill>
                  <a:srgbClr val="1A1A1A"/>
                </a:solidFill>
                <a:latin typeface="맑은 고딕"/>
              </a:rPr>
              <a:t>영어에는 있고 한국어에는 없는 AI 환각 탐지기를, 한국어로 만든다</a:t>
            </a:r>
            <a:r>
              <a:rPr sz="1500" b="1">
                <a:solidFill>
                  <a:srgbClr val="1A1A1A"/>
                </a:solidFill>
                <a:latin typeface="맑은 고딕"/>
              </a:rPr>
              <a:t>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0812" y="159562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1536192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1819656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64024" y="177393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883664"/>
            <a:ext cx="329184" cy="3291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57700" y="245973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25696" y="241401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2414016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추진배경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1899818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LLM은 그럴듯하지만 틀린 답을 만들어 피해로 이어진다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탐지기는 영어 등 7개 언어에만 있고 한국어에는 없다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거대 LLM으로 검증하면 비용·지연 탓에 실시간이 불가능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0812" y="3336035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60520" y="3276599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0600" y="3560063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64024" y="3514343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fu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624071"/>
            <a:ext cx="329184" cy="32918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457700" y="420014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415442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4154423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주요기능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8" y="3527755"/>
            <a:ext cx="5413247" cy="1375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Translate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RAGTruth를 &lt;HAL&gt; 태그째 한국어로 번역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Detection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소형 인코더가 토큰 단위로 환각 구간을 지목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Grounding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지목된 구간을 근거 문서와 문자열 대조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Interface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답변 위에 형광펜 — 클릭하면 근거 문단으로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0812" y="5076444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60520" y="501700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0600" y="5300472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64024" y="5254752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_eff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5364480"/>
            <a:ext cx="329184" cy="32918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457700" y="5940551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25696" y="5894832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5894832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기대효과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4728" y="5380634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한국어 구간 단위 환각 탐지기 — 국내 최초 시도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번역 학습본과 실제 한국어 문서의 성능 격차를 최초로 측정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형광펜이 그어지는 화면으로 3분 안에 결과가 보인다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25139" y="603504"/>
            <a:ext cx="6079743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5139" y="603504"/>
            <a:ext cx="607974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[보충] 선행연구와 우리 자리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" y="1595628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36192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783079"/>
            <a:ext cx="512064" cy="512064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1737359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29" y="1844893"/>
            <a:ext cx="296997" cy="2969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668780" y="182879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36776" y="178307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6776" y="1783079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아이디어</a:t>
            </a:r>
          </a:p>
        </p:txBody>
      </p:sp>
      <p:pic>
        <p:nvPicPr>
          <p:cNvPr id="14" name="Picture 13" descr="img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600457"/>
            <a:ext cx="3017520" cy="24251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4" y="5413248"/>
            <a:ext cx="30358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맑은 고딕"/>
              </a:rPr>
              <a:t>“</a:t>
            </a:r>
            <a:r>
              <a:rPr sz="1250" b="0">
                <a:solidFill>
                  <a:srgbClr val="1A1A1A"/>
                </a:solidFill>
                <a:latin typeface="맑은 고딕"/>
              </a:rPr>
              <a:t>7개 언어에는 있고, 한국어에는 없다</a:t>
            </a:r>
            <a:r>
              <a:rPr sz="1500" b="1">
                <a:solidFill>
                  <a:srgbClr val="1A1A1A"/>
                </a:solidFill>
                <a:latin typeface="맑은 고딕"/>
              </a:rPr>
              <a:t>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0812" y="159562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1536192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1819656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64024" y="177393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883664"/>
            <a:ext cx="329184" cy="3291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57700" y="245973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25696" y="241401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2414016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이미 있는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1899818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LettuceDetect(2025)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영어·중국어 등 7개 언어 지원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TinyLettuce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17M 모델이 235B LLM을 이미 이겼다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K-FinHallu(2026)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한국어 유일 — 단, 턴 단위 판정 · 8B LLM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0812" y="3336035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60520" y="3276599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0600" y="3560063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64024" y="3514343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fu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624071"/>
            <a:ext cx="329184" cy="32918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457700" y="420014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415442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4154423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만드는 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8" y="3527755"/>
            <a:ext cx="5413247" cy="1375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Turk-LettuceDetect(2025.09)가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터키어로 같은 일을 해냈다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핵심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RAGTruth를 &lt;HAL&gt; 태그째 번역 → 구간 라벨이 보존된다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검증 완료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10건 시험에서 13/13 구간 100% 보존 확인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비용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A100 1대 12시간 — 실습실 A5000 6대면 넉넉하다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0812" y="5076444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60520" y="501700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0600" y="5300472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64024" y="5254752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_eff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5364480"/>
            <a:ext cx="329184" cy="32918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457700" y="5940551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25696" y="5894832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5894832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우리 자리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4728" y="5380634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K-FinHallu는 답변 전체를 판정 —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어디가 환각인지는 못 짚는다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터키어 팀은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번역본으로 학습하고 번역본으로만 평가했다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우리 질문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번역해 만든 모델이 진짜 한국어에서 통하는가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05939" y="603504"/>
            <a:ext cx="8518144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05939" y="603504"/>
            <a:ext cx="85181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[보충] 무엇으로 배우고, 무엇을 검사하나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" y="1595628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36192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783079"/>
            <a:ext cx="512064" cy="512064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1737359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29" y="1844893"/>
            <a:ext cx="296997" cy="2969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668780" y="182879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36776" y="178307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6776" y="1783079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아이디어</a:t>
            </a:r>
          </a:p>
        </p:txBody>
      </p:sp>
      <p:pic>
        <p:nvPicPr>
          <p:cNvPr id="14" name="Picture 13" descr="im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963" y="2404872"/>
            <a:ext cx="2746089" cy="28163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4" y="5413248"/>
            <a:ext cx="30358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맑은 고딕"/>
              </a:rPr>
              <a:t>“</a:t>
            </a:r>
            <a:r>
              <a:rPr sz="1250" b="0">
                <a:solidFill>
                  <a:srgbClr val="1A1A1A"/>
                </a:solidFill>
                <a:latin typeface="맑은 고딕"/>
              </a:rPr>
              <a:t>정답지와 답안지를 나란히 놓고, 답안지에서 정답지에 없는 말에 밑줄을 긋는다</a:t>
            </a:r>
            <a:r>
              <a:rPr sz="1500" b="1">
                <a:solidFill>
                  <a:srgbClr val="1A1A1A"/>
                </a:solidFill>
                <a:latin typeface="맑은 고딕"/>
              </a:rPr>
              <a:t>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0812" y="159562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1536192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1819656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64024" y="177393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883664"/>
            <a:ext cx="329184" cy="3291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57700" y="245973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25696" y="241401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2414016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학습 데이터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1787347"/>
            <a:ext cx="5413247" cy="1375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RAGTruth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AI가 실제로 저지른 환각 17,790건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라벨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환각 구간의 시작·끝이 글자 단위로 찍혀 있다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표준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영어·터키어 선행연구가 모두 이 데이터를 썼다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번역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영어이므로 &lt;HAL&gt; 태그째 한국어로 옮겨 쓴다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0812" y="3336035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60520" y="3276599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0600" y="3560063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64024" y="3514343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fu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624071"/>
            <a:ext cx="329184" cy="32918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457700" y="420014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415442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4154423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검사 대상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8" y="3527755"/>
            <a:ext cx="5413247" cy="1375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대상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대학 학사요람 — 팀 전원이 당사자라 검증이 된다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제외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법률·의료는 팀이 라벨의 정오를 판단할 수 없다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핵심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모델은 문서를 외우지 않고 답변과 대조할 뿐이다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그래서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학습 도메인과 서비스 도메인이 달라도 성립한다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0812" y="5076444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60520" y="501700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0600" y="5300472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64024" y="5254752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_eff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5364480"/>
            <a:ext cx="329184" cy="32918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457700" y="5940551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25696" y="5894832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5894832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확인된 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4728" y="5380634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확보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RAGTruth 17,790건을 내려받아 직접 분석했다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검증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&lt;HAL&gt; 번역 생존 시험에서 13/13 구간 100% 보존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다음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실제 번역 모델로 200건 배치 재측정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29459" y="603504"/>
            <a:ext cx="8071104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29459" y="603504"/>
            <a:ext cx="807110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진동 신호 기반 베어링 정비 정책 최적화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" y="1595628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36192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783079"/>
            <a:ext cx="512064" cy="512064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1737359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29" y="1844893"/>
            <a:ext cx="296997" cy="2969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668780" y="182879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36776" y="178307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6776" y="1783079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아이디어</a:t>
            </a:r>
          </a:p>
        </p:txBody>
      </p:sp>
      <p:pic>
        <p:nvPicPr>
          <p:cNvPr id="14" name="Picture 13" descr="img_bea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497337"/>
            <a:ext cx="3017520" cy="26314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4" y="5413248"/>
            <a:ext cx="30358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맑은 고딕"/>
              </a:rPr>
              <a:t>“</a:t>
            </a:r>
            <a:r>
              <a:rPr sz="1250" b="0">
                <a:solidFill>
                  <a:srgbClr val="1A1A1A"/>
                </a:solidFill>
                <a:latin typeface="맑은 고딕"/>
              </a:rPr>
              <a:t>실측 고장 이력 그대로에서, 언제 정비해야 손실이 최소인지 답하는 정책을 학습한다</a:t>
            </a:r>
            <a:r>
              <a:rPr sz="1500" b="1">
                <a:solidFill>
                  <a:srgbClr val="1A1A1A"/>
                </a:solidFill>
                <a:latin typeface="맑은 고딕"/>
              </a:rPr>
              <a:t>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0812" y="159562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1536192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1819656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64024" y="177393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883664"/>
            <a:ext cx="329184" cy="3291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57700" y="245973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25696" y="241401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2414016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추진배경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1794459"/>
            <a:ext cx="5413247" cy="13610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정비는 여전히 정해진 주기·사람이 정한 임계값에 의존한다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과잉정비 비용 낭비와 늑장정비 안전사고, 반대 리스크가 공존한다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기존 CBM+RL은 가정된 이산 건강상태·전이확률 위에서 학습한다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0812" y="3336035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60520" y="3276599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0600" y="3560063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64024" y="3514343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fu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624071"/>
            <a:ext cx="329184" cy="32918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457700" y="420014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415442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4154423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주요기능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8" y="3640226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Replay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실측 run-to-failure 이력을 그대로 재현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Policy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이익·고장위험·다운타임 보상으로 오프라인 RL 학습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Compare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고정 임계값·이산 MDP RL과 총 비용 직접 비교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0812" y="5076444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60520" y="501700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0600" y="5300472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64024" y="5254752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_eff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5364480"/>
            <a:ext cx="329184" cy="32918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457700" y="5940551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25696" y="5894832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5894832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기대효과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4728" y="5380634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이산 건강상태 가정 없이 실측 궤적에서 정책을 학습한다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고정 임계값 대비 총 비용 절감분을 숫자로 제시한다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"언제 교체해야 손실 최소인가"를 정비팀 관점에서 답한다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867507" y="603504"/>
            <a:ext cx="6795008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67507" y="603504"/>
            <a:ext cx="679500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[보충] 기존 CBM+RL과 우리 자리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" y="1595628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36192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783079"/>
            <a:ext cx="512064" cy="512064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1737359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29" y="1844893"/>
            <a:ext cx="296997" cy="2969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668780" y="182879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36776" y="178307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6776" y="1783079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아이디어</a:t>
            </a:r>
          </a:p>
        </p:txBody>
      </p:sp>
      <p:pic>
        <p:nvPicPr>
          <p:cNvPr id="14" name="Picture 13" descr="img_bearing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505869"/>
            <a:ext cx="3017520" cy="26143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4" y="5413248"/>
            <a:ext cx="30358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맑은 고딕"/>
              </a:rPr>
              <a:t>“</a:t>
            </a:r>
            <a:r>
              <a:rPr sz="1250" b="0">
                <a:solidFill>
                  <a:srgbClr val="1A1A1A"/>
                </a:solidFill>
                <a:latin typeface="맑은 고딕"/>
              </a:rPr>
              <a:t>가정된 시나리오가 아니라, 실제 고장 이력 그대로에서 배운다</a:t>
            </a:r>
            <a:r>
              <a:rPr sz="1500" b="1">
                <a:solidFill>
                  <a:srgbClr val="1A1A1A"/>
                </a:solidFill>
                <a:latin typeface="맑은 고딕"/>
              </a:rPr>
              <a:t>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0812" y="159562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1536192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1819656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64024" y="177393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883664"/>
            <a:ext cx="329184" cy="3291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57700" y="245973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25696" y="241401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2414016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이미 있는 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1899818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CBM+RL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리뷰 논문이 나올 만큼 이미 활발한 분야다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대부분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이산 건강상태 · 가정된 전이확률 MDP 위에서 학습한다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2026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디지털 트윈 기반 sim-to-real RL 연구도 등장했다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0812" y="3336035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60520" y="3276599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0600" y="3560063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64024" y="3514343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fu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624071"/>
            <a:ext cx="329184" cy="32918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457700" y="420014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415442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4154423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만드는 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8" y="3429507"/>
            <a:ext cx="5413247" cy="157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핵심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IMS·FEMTO-ST 실측 이력을 그대로 오프라인 RL 환경으로 구성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알고리즘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온라인 상호작용 불가 → Conservative Q-Learning으로 안전하게 학습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비용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소규모 문제라 Colab 무료 GPU로 충분하다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0812" y="5076444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60520" y="501700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0600" y="5300472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64024" y="5254752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_eff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5364480"/>
            <a:ext cx="329184" cy="32918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457700" y="5940551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25696" y="5894832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5894832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우리 자리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4728" y="5169915"/>
            <a:ext cx="5413247" cy="157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우리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가정된 MDP가 아니라 실측 궤적 자체를 환경으로 사용한다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검증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고정 임계값·이산 MDP RL과 총 비용을 정량 비교하는 것이 핵심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주의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"전혀 없다"고 확언하긴 이르다 — 착수 전 문헌조사 한 번 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05939" y="603504"/>
            <a:ext cx="8518144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05939" y="603504"/>
            <a:ext cx="8518144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[보충] 무엇으로 배우고, 무엇을 검사하나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" y="1595628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36192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783079"/>
            <a:ext cx="512064" cy="512064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1737359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29" y="1844893"/>
            <a:ext cx="296997" cy="2969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668780" y="182879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36776" y="178307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6776" y="1783079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아이디어</a:t>
            </a:r>
          </a:p>
        </p:txBody>
      </p:sp>
      <p:pic>
        <p:nvPicPr>
          <p:cNvPr id="14" name="Picture 13" descr="img_bearing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963" y="2404872"/>
            <a:ext cx="2746089" cy="28163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4" y="5413248"/>
            <a:ext cx="30358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맑은 고딕"/>
              </a:rPr>
              <a:t>“</a:t>
            </a:r>
            <a:r>
              <a:rPr sz="1250" b="0">
                <a:solidFill>
                  <a:srgbClr val="1A1A1A"/>
                </a:solidFill>
                <a:latin typeface="맑은 고딕"/>
              </a:rPr>
              <a:t>실측 궤적을 환경으로, 세 정책의 총 비용을 같은 베어링으로 나란히 잰다</a:t>
            </a:r>
            <a:r>
              <a:rPr sz="1500" b="1">
                <a:solidFill>
                  <a:srgbClr val="1A1A1A"/>
                </a:solidFill>
                <a:latin typeface="맑은 고딕"/>
              </a:rPr>
              <a:t>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0812" y="159562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1536192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1819656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64024" y="177393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883664"/>
            <a:ext cx="329184" cy="3291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57700" y="245973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25696" y="241401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2414016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학습 데이터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1689100"/>
            <a:ext cx="5413247" cy="1571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IMS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정상~고장까지 실측 진동 전체 이력, 무료 공개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FEMTO-ST(PHM2012)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여러 베어링의 run-to-failure 이력, 무료 공개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라벨링 불필요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"마지막 시점=고장"으로 두고 그대로 환경 궤적으로 쓴다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0812" y="3336035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60520" y="3276599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0600" y="3560063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64024" y="3514343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fu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624071"/>
            <a:ext cx="329184" cy="32918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457700" y="420014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415442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4154423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검사 대상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8" y="3324148"/>
            <a:ext cx="5413247" cy="178247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대상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학습에 안 쓴 베어링 개체에서 정책의 정비 시점을 확인한다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측정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정책의 정비 시점과 실제 고장 시점 사이의 간격을 비교한다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비교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고정 임계값 · 이산 MDP RL · 우리 정책을 같은 개체로 나란히 평가한다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0812" y="5076444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60520" y="501700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0600" y="5300472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64024" y="5254752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_eff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5364480"/>
            <a:ext cx="329184" cy="32918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457700" y="5940551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25696" y="5894832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5894832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확인된 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4728" y="5380634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지형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리뷰 논문으로 CBM+RL 분야 전반을 확인했다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데이터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IMS·FEMTO-ST 모두 무료 공개 — 확보 자체는 문제없다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다음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실제 코드 실행과 "완전한 부재" 여부는 아직 미확인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2707" y="603504"/>
            <a:ext cx="7404607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2707" y="603504"/>
            <a:ext cx="740460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시각·음향 융합 공간 쾌적도 분석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" y="1595628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36192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783079"/>
            <a:ext cx="512064" cy="512064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1737359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29" y="1844893"/>
            <a:ext cx="296997" cy="2969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668780" y="182879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36776" y="178307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6776" y="1783079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아이디어</a:t>
            </a:r>
          </a:p>
        </p:txBody>
      </p:sp>
      <p:pic>
        <p:nvPicPr>
          <p:cNvPr id="14" name="Picture 13" descr="img_sp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911013"/>
            <a:ext cx="3017520" cy="18040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4" y="5413248"/>
            <a:ext cx="30358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맑은 고딕"/>
              </a:rPr>
              <a:t>“</a:t>
            </a:r>
            <a:r>
              <a:rPr sz="1250" b="0">
                <a:solidFill>
                  <a:srgbClr val="1A1A1A"/>
                </a:solidFill>
                <a:latin typeface="맑은 고딕"/>
              </a:rPr>
              <a:t>사진과 소음을 함께 분석해 '이 방이 왜 불편한지'를 점수와 처방으로 답하는 AI</a:t>
            </a:r>
            <a:r>
              <a:rPr sz="1500" b="1">
                <a:solidFill>
                  <a:srgbClr val="1A1A1A"/>
                </a:solidFill>
                <a:latin typeface="맑은 고딕"/>
              </a:rPr>
              <a:t>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0812" y="159562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1536192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1819656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64024" y="177393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883664"/>
            <a:ext cx="329184" cy="3291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57700" y="245973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25696" y="241401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2414016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추진배경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1794459"/>
            <a:ext cx="5413247" cy="13610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층간소음 법정 기준(2024 개정, 39·34dB)은 있지만 시각과 묶이진 않는다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빛과 소리가 각자 따로 측정돼 불편한 원인을 하나로 설명 못 한다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WELL·LEED 국제 IEQ 기준은 있으나 전용 센서 없인 확인 못 한다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0812" y="3336035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60520" y="3276599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0600" y="3560063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64024" y="3514343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fu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624071"/>
            <a:ext cx="329184" cy="32918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457700" y="420014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415442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4154423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주요기능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8" y="3527755"/>
            <a:ext cx="5413247" cy="1375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Vision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사진 밝기 분포로 저채광 구역 등급 추정 (CNN)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Audio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스펙트로그램 → NC 커브 + 국내 법정 dB 이중 판정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Fusion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WELL 기준(300~500lux)과 대조해 웰빙 점수 산출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Prescription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590nm 이상 조명 권장, 소음은 정보 제공 우선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0812" y="5076444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60520" y="501700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0600" y="5300472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64024" y="5254752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_eff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5364480"/>
            <a:ext cx="329184" cy="32918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457700" y="5940551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25696" y="5894832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5894832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기대효과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4728" y="5275275"/>
            <a:ext cx="5413247" cy="13610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PROMET&amp;O 등 기존 IEQ 모니터링과 달리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센서 설치 없이 사진·녹음만으로 진단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판정 기준이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국내 법정 기준·WELL 국제 기준에 그대로 근거한다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1">
                <a:solidFill>
                  <a:srgbClr val="B23A32"/>
                </a:solidFill>
                <a:latin typeface="맑은 고딕"/>
              </a:rPr>
              <a:t>검증 :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설문 쾌적도와 피어슨 상관계수 + 처방 전후 비교로 측정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14195" y="603504"/>
            <a:ext cx="9501631" cy="7132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14195" y="603504"/>
            <a:ext cx="9501631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맑은 고딕"/>
              </a:rPr>
              <a:t>고령층 다제복용 알약 식별 및 병용금기 분석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6092" y="1595628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36192"/>
            <a:ext cx="3328416" cy="50474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1783079"/>
            <a:ext cx="512064" cy="512064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1737359"/>
            <a:ext cx="512064" cy="51206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_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229" y="1844893"/>
            <a:ext cx="296997" cy="2969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668780" y="182879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636776" y="1783079"/>
            <a:ext cx="1389888" cy="420624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6776" y="1783079"/>
            <a:ext cx="13898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</a:rPr>
              <a:t>아이디어</a:t>
            </a:r>
          </a:p>
        </p:txBody>
      </p:sp>
      <p:pic>
        <p:nvPicPr>
          <p:cNvPr id="14" name="Picture 13" descr="img_pi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722244"/>
            <a:ext cx="3017520" cy="218160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104" y="5413248"/>
            <a:ext cx="30358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맑은 고딕"/>
              </a:rPr>
              <a:t>“</a:t>
            </a:r>
            <a:r>
              <a:rPr sz="1250" b="0">
                <a:solidFill>
                  <a:srgbClr val="1A1A1A"/>
                </a:solidFill>
                <a:latin typeface="맑은 고딕"/>
              </a:rPr>
              <a:t>여러 알약을 한 번에 촬영하면 종류를 식별하고, 함께 먹으면 안 되는 조합을 경고하는 AI</a:t>
            </a:r>
            <a:r>
              <a:rPr sz="1500" b="1">
                <a:solidFill>
                  <a:srgbClr val="1A1A1A"/>
                </a:solidFill>
                <a:latin typeface="맑은 고딕"/>
              </a:rPr>
              <a:t>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0812" y="159562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60520" y="1536192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00600" y="1819656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764024" y="1773936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c_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883664"/>
            <a:ext cx="329184" cy="329184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4457700" y="245973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25696" y="2414016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5696" y="2414016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추진배경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24728" y="1899818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다제복용으로 알약 혼동·중복 복용이 빈번하다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포장을 벗기면 정보가 사라지고 각인은 구분이 어렵다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여러 병원의 처방이 서로 대조되지 않는다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0812" y="3336035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60520" y="3276599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0600" y="3560063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64024" y="3514343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_fun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624071"/>
            <a:ext cx="329184" cy="32918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4457700" y="420014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25696" y="4154423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5696" y="4154423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주요기능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24728" y="3527755"/>
            <a:ext cx="5413247" cy="13752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Detection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모양·색·각인을 한 번에 검출 (YOLO)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Recognition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각인 문자 인식으로 품목 특정 (OCR)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Quality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깨짐·변색·훼손 감지 (CNN 이상탐지)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260" b="1">
                <a:solidFill>
                  <a:srgbClr val="B23A32"/>
                </a:solidFill>
                <a:latin typeface="맑은 고딕"/>
              </a:rPr>
              <a:t>DUR : </a:t>
            </a:r>
            <a:r>
              <a:rPr sz="1260" b="0">
                <a:solidFill>
                  <a:srgbClr val="1A1A1A"/>
                </a:solidFill>
                <a:latin typeface="맑은 고딕"/>
              </a:rPr>
              <a:t>식약처 병용금기 API 대조로 위험도 산출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10812" y="5076444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160520" y="5017008"/>
            <a:ext cx="7351775" cy="156667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794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00600" y="5300472"/>
            <a:ext cx="548640" cy="548640"/>
          </a:xfrm>
          <a:prstGeom prst="ellipse">
            <a:avLst/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64024" y="5254752"/>
            <a:ext cx="548640" cy="54864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c_eff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5364480"/>
            <a:ext cx="329184" cy="329184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457700" y="5940551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C9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25696" y="5894832"/>
            <a:ext cx="1225296" cy="365760"/>
          </a:xfrm>
          <a:prstGeom prst="roundRect">
            <a:avLst>
              <a:gd name="adj" fmla="val 4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25696" y="5894832"/>
            <a:ext cx="1225296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맑은 고딕"/>
              </a:rPr>
              <a:t>기대효과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24728" y="5380634"/>
            <a:ext cx="5413247" cy="11503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촬영 한 번에 경고가 뜨는 직관적인 데모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식약처 낱알식별 공개 데이터로 정확도 정량 평가</a:t>
            </a:r>
          </a:p>
          <a:p>
            <a:pPr algn="l" marL="155448" indent="-155448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60" b="0">
                <a:solidFill>
                  <a:srgbClr val="1A1A1A"/>
                </a:solidFill>
                <a:latin typeface="맑은 고딕"/>
              </a:rPr>
              <a:t>• </a:t>
            </a:r>
            <a:r>
              <a:rPr sz="1360" b="0">
                <a:solidFill>
                  <a:srgbClr val="1A1A1A"/>
                </a:solidFill>
                <a:latin typeface="맑은 고딕"/>
              </a:rPr>
              <a:t>고령화 맥락과 맞물려 사회적 의의가 명확하다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38328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971800"/>
            <a:ext cx="8229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A1A1A"/>
                </a:solidFill>
                <a:latin typeface="맑은 고딕"/>
              </a:rPr>
              <a:t>감사합니다.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