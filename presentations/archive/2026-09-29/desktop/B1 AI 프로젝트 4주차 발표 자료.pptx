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6" r:id="rId2"/>
    <p:sldId id="257" r:id="rId3"/>
    <p:sldId id="258" r:id="rId4"/>
    <p:sldId id="260" r:id="rId5"/>
    <p:sldId id="290" r:id="rId6"/>
    <p:sldId id="275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8" r:id="rId15"/>
    <p:sldId id="303" r:id="rId16"/>
    <p:sldId id="269" r:id="rId17"/>
    <p:sldId id="304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D77F6-B3FA-45CD-B870-FB2EBBF8C658}" v="5" dt="2026-09-22T11:01:33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60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형 박" userId="8d6fa0662a6f03ba" providerId="LiveId" clId="{F8842BB4-5453-48EC-B627-423E483E7DCA}"/>
    <pc:docChg chg="delSld modSld">
      <pc:chgData name="승형 박" userId="8d6fa0662a6f03ba" providerId="LiveId" clId="{F8842BB4-5453-48EC-B627-423E483E7DCA}" dt="2026-09-23T00:11:42.250" v="73" actId="20577"/>
      <pc:docMkLst>
        <pc:docMk/>
      </pc:docMkLst>
      <pc:sldChg chg="del">
        <pc:chgData name="승형 박" userId="8d6fa0662a6f03ba" providerId="LiveId" clId="{F8842BB4-5453-48EC-B627-423E483E7DCA}" dt="2026-09-22T15:47:05.607" v="35" actId="47"/>
        <pc:sldMkLst>
          <pc:docMk/>
          <pc:sldMk cId="0" sldId="256"/>
        </pc:sldMkLst>
      </pc:sldChg>
      <pc:sldChg chg="modSp mod">
        <pc:chgData name="승형 박" userId="8d6fa0662a6f03ba" providerId="LiveId" clId="{F8842BB4-5453-48EC-B627-423E483E7DCA}" dt="2026-09-23T00:11:42.250" v="73" actId="20577"/>
        <pc:sldMkLst>
          <pc:docMk/>
          <pc:sldMk cId="0" sldId="258"/>
        </pc:sldMkLst>
        <pc:spChg chg="mod">
          <ac:chgData name="승형 박" userId="8d6fa0662a6f03ba" providerId="LiveId" clId="{F8842BB4-5453-48EC-B627-423E483E7DCA}" dt="2026-09-23T00:11:42.250" v="73" actId="20577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승형 박" userId="8d6fa0662a6f03ba" providerId="LiveId" clId="{F8842BB4-5453-48EC-B627-423E483E7DCA}" dt="2026-09-22T16:04:47.569" v="66" actId="20577"/>
        <pc:sldMkLst>
          <pc:docMk/>
          <pc:sldMk cId="0" sldId="266"/>
        </pc:sldMkLst>
        <pc:spChg chg="mod">
          <ac:chgData name="승형 박" userId="8d6fa0662a6f03ba" providerId="LiveId" clId="{F8842BB4-5453-48EC-B627-423E483E7DCA}" dt="2026-09-22T16:04:47.569" v="66" actId="20577"/>
          <ac:spMkLst>
            <pc:docMk/>
            <pc:sldMk cId="0" sldId="266"/>
            <ac:spMk id="17" creationId="{00000000-0000-0000-0000-000000000000}"/>
          </ac:spMkLst>
        </pc:spChg>
      </pc:sldChg>
      <pc:sldChg chg="del">
        <pc:chgData name="승형 박" userId="8d6fa0662a6f03ba" providerId="LiveId" clId="{F8842BB4-5453-48EC-B627-423E483E7DCA}" dt="2026-09-22T15:53:34.390" v="38" actId="47"/>
        <pc:sldMkLst>
          <pc:docMk/>
          <pc:sldMk cId="0" sldId="274"/>
        </pc:sldMkLst>
      </pc:sldChg>
      <pc:sldChg chg="del">
        <pc:chgData name="승형 박" userId="8d6fa0662a6f03ba" providerId="LiveId" clId="{F8842BB4-5453-48EC-B627-423E483E7DCA}" dt="2026-09-22T15:53:39.194" v="41" actId="47"/>
        <pc:sldMkLst>
          <pc:docMk/>
          <pc:sldMk cId="2349423280" sldId="277"/>
        </pc:sldMkLst>
      </pc:sldChg>
      <pc:sldChg chg="del">
        <pc:chgData name="승형 박" userId="8d6fa0662a6f03ba" providerId="LiveId" clId="{F8842BB4-5453-48EC-B627-423E483E7DCA}" dt="2026-09-22T15:53:46.869" v="44" actId="47"/>
        <pc:sldMkLst>
          <pc:docMk/>
          <pc:sldMk cId="789446468" sldId="278"/>
        </pc:sldMkLst>
      </pc:sldChg>
      <pc:sldChg chg="del">
        <pc:chgData name="승형 박" userId="8d6fa0662a6f03ba" providerId="LiveId" clId="{F8842BB4-5453-48EC-B627-423E483E7DCA}" dt="2026-09-22T15:53:33.242" v="37" actId="47"/>
        <pc:sldMkLst>
          <pc:docMk/>
          <pc:sldMk cId="2236658433" sldId="279"/>
        </pc:sldMkLst>
      </pc:sldChg>
      <pc:sldChg chg="del">
        <pc:chgData name="승형 박" userId="8d6fa0662a6f03ba" providerId="LiveId" clId="{F8842BB4-5453-48EC-B627-423E483E7DCA}" dt="2026-09-22T15:53:40.006" v="42" actId="47"/>
        <pc:sldMkLst>
          <pc:docMk/>
          <pc:sldMk cId="2062672164" sldId="284"/>
        </pc:sldMkLst>
      </pc:sldChg>
      <pc:sldChg chg="del">
        <pc:chgData name="승형 박" userId="8d6fa0662a6f03ba" providerId="LiveId" clId="{F8842BB4-5453-48EC-B627-423E483E7DCA}" dt="2026-09-22T15:53:36.591" v="39" actId="47"/>
        <pc:sldMkLst>
          <pc:docMk/>
          <pc:sldMk cId="191979639" sldId="286"/>
        </pc:sldMkLst>
      </pc:sldChg>
      <pc:sldChg chg="del">
        <pc:chgData name="승형 박" userId="8d6fa0662a6f03ba" providerId="LiveId" clId="{F8842BB4-5453-48EC-B627-423E483E7DCA}" dt="2026-09-22T15:53:30.743" v="36" actId="47"/>
        <pc:sldMkLst>
          <pc:docMk/>
          <pc:sldMk cId="1228910418" sldId="288"/>
        </pc:sldMkLst>
      </pc:sldChg>
      <pc:sldChg chg="modSp mod">
        <pc:chgData name="승형 박" userId="8d6fa0662a6f03ba" providerId="LiveId" clId="{F8842BB4-5453-48EC-B627-423E483E7DCA}" dt="2026-09-22T15:44:24.594" v="34" actId="1076"/>
        <pc:sldMkLst>
          <pc:docMk/>
          <pc:sldMk cId="1410683263" sldId="290"/>
        </pc:sldMkLst>
        <pc:spChg chg="mod">
          <ac:chgData name="승형 박" userId="8d6fa0662a6f03ba" providerId="LiveId" clId="{F8842BB4-5453-48EC-B627-423E483E7DCA}" dt="2026-09-22T15:44:24.594" v="34" actId="1076"/>
          <ac:spMkLst>
            <pc:docMk/>
            <pc:sldMk cId="1410683263" sldId="290"/>
            <ac:spMk id="6" creationId="{00000000-0000-0000-0000-000000000000}"/>
          </ac:spMkLst>
        </pc:spChg>
        <pc:spChg chg="mod">
          <ac:chgData name="승형 박" userId="8d6fa0662a6f03ba" providerId="LiveId" clId="{F8842BB4-5453-48EC-B627-423E483E7DCA}" dt="2026-09-22T15:44:24.432" v="33" actId="20577"/>
          <ac:spMkLst>
            <pc:docMk/>
            <pc:sldMk cId="1410683263" sldId="290"/>
            <ac:spMk id="21" creationId="{00000000-0000-0000-0000-000000000000}"/>
          </ac:spMkLst>
        </pc:spChg>
      </pc:sldChg>
      <pc:sldChg chg="del">
        <pc:chgData name="승형 박" userId="8d6fa0662a6f03ba" providerId="LiveId" clId="{F8842BB4-5453-48EC-B627-423E483E7DCA}" dt="2026-09-22T15:53:37.307" v="40" actId="47"/>
        <pc:sldMkLst>
          <pc:docMk/>
          <pc:sldMk cId="2362149201" sldId="292"/>
        </pc:sldMkLst>
      </pc:sldChg>
      <pc:sldChg chg="del">
        <pc:chgData name="승형 박" userId="8d6fa0662a6f03ba" providerId="LiveId" clId="{F8842BB4-5453-48EC-B627-423E483E7DCA}" dt="2026-09-22T15:53:40.827" v="43" actId="47"/>
        <pc:sldMkLst>
          <pc:docMk/>
          <pc:sldMk cId="3898411561" sldId="297"/>
        </pc:sldMkLst>
      </pc:sldChg>
      <pc:sldChg chg="modSp mod">
        <pc:chgData name="승형 박" userId="8d6fa0662a6f03ba" providerId="LiveId" clId="{F8842BB4-5453-48EC-B627-423E483E7DCA}" dt="2026-09-22T16:16:58.212" v="67" actId="1036"/>
        <pc:sldMkLst>
          <pc:docMk/>
          <pc:sldMk cId="1795796883" sldId="298"/>
        </pc:sldMkLst>
        <pc:spChg chg="mod">
          <ac:chgData name="승형 박" userId="8d6fa0662a6f03ba" providerId="LiveId" clId="{F8842BB4-5453-48EC-B627-423E483E7DCA}" dt="2026-09-22T16:16:58.212" v="67" actId="1036"/>
          <ac:spMkLst>
            <pc:docMk/>
            <pc:sldMk cId="1795796883" sldId="298"/>
            <ac:spMk id="3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환각을 가려내는 능력</c:v>
                </c:pt>
              </c:strCache>
            </c:strRef>
          </c:tx>
          <c:spPr>
            <a:solidFill>
              <a:srgbClr val="B4B7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616-49BD-8135-0E0DCBC4FA28}"/>
              </c:ext>
            </c:extLst>
          </c:dPt>
          <c:dPt>
            <c:idx val="1"/>
            <c:invertIfNegative val="0"/>
            <c:bubble3D val="0"/>
            <c:spPr>
              <a:solidFill>
                <a:srgbClr val="C230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616-49BD-8135-0E0DCBC4FA2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1B2A38"/>
                    </a:solidFill>
                    <a:latin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보기 중에서 고르기
(쉬운 조건)</c:v>
                </c:pt>
                <c:pt idx="1">
                  <c:v>문장으로 답하기
(실제 챗봇이 하는 일)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0.99</c:v>
                </c:pt>
                <c:pt idx="1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616-49BD-8135-0E0DCBC4FA2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찍기 수준 (0.5)</c:v>
                </c:pt>
              </c:strCache>
            </c:strRef>
          </c:tx>
          <c:spPr>
            <a:ln w="25400" cap="flat">
              <a:solidFill>
                <a:srgbClr val="C2306E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Sheet1!$A$2:$A$3</c:f>
              <c:strCache>
                <c:ptCount val="2"/>
                <c:pt idx="0">
                  <c:v>보기 중에서 고르기
(쉬운 조건)</c:v>
                </c:pt>
                <c:pt idx="1">
                  <c:v>문장으로 답하기
(실제 챗봇이 하는 일)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</c:v>
                </c:pt>
                <c:pt idx="1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616-49BD-8135-0E0DCBC4FA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9525" cap="flat">
              <a:solidFill>
                <a:srgbClr val="D5DD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환각이 섞인 답변 비율(%)</c:v>
                </c:pt>
              </c:strCache>
            </c:strRef>
          </c:tx>
          <c:spPr>
            <a:solidFill>
              <a:srgbClr val="B4B7C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E9B-4C42-A0D8-5B8F1D76781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E9B-4C42-A0D8-5B8F1D76781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E9B-4C42-A0D8-5B8F1D767812}"/>
              </c:ext>
            </c:extLst>
          </c:dPt>
          <c:dPt>
            <c:idx val="3"/>
            <c:invertIfNegative val="0"/>
            <c:bubble3D val="0"/>
            <c:spPr>
              <a:solidFill>
                <a:srgbClr val="C230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E9B-4C42-A0D8-5B8F1D767812}"/>
              </c:ext>
            </c:extLst>
          </c:dPt>
          <c:dPt>
            <c:idx val="4"/>
            <c:invertIfNegative val="0"/>
            <c:bubble3D val="0"/>
            <c:spPr>
              <a:solidFill>
                <a:srgbClr val="C230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E9B-4C42-A0D8-5B8F1D767812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2A38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llama3.1 8B</c:v>
                </c:pt>
                <c:pt idx="1">
                  <c:v>mistral 7B</c:v>
                </c:pt>
                <c:pt idx="2">
                  <c:v>qwen2.5 7B</c:v>
                </c:pt>
                <c:pt idx="3">
                  <c:v>exaone3.5 7.8B</c:v>
                </c:pt>
                <c:pt idx="4">
                  <c:v>qwen2.5 3B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23</c:v>
                </c:pt>
                <c:pt idx="2">
                  <c:v>25</c:v>
                </c:pt>
                <c:pt idx="3">
                  <c:v>37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E9B-4C42-A0D8-5B8F1D7678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1B2A38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Hit@6 — 상위 6개 안에 정답 근거가 있었던 비율</c:v>
                </c:pt>
              </c:strCache>
            </c:strRef>
          </c:tx>
          <c:spPr>
            <a:solidFill>
              <a:srgbClr val="A9B6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7A-4A85-B6C1-5F7257CFCF7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87A-4A85-B6C1-5F7257CFCF7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87A-4A85-B6C1-5F7257CFCF70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87A-4A85-B6C1-5F7257CFCF70}"/>
              </c:ext>
            </c:extLst>
          </c:dPt>
          <c:dPt>
            <c:idx val="4"/>
            <c:invertIfNegative val="0"/>
            <c:bubble3D val="0"/>
            <c:spPr>
              <a:solidFill>
                <a:srgbClr val="1FA5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7A-4A85-B6C1-5F7257CFCF70}"/>
              </c:ext>
            </c:extLst>
          </c:dPt>
          <c:dPt>
            <c:idx val="5"/>
            <c:invertIfNegative val="0"/>
            <c:bubble3D val="0"/>
            <c:spPr>
              <a:solidFill>
                <a:srgbClr val="2F6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7A-4A85-B6C1-5F7257CFCF70}"/>
              </c:ext>
            </c:extLst>
          </c:dPt>
          <c:dPt>
            <c:idx val="6"/>
            <c:invertIfNegative val="0"/>
            <c:bubble3D val="0"/>
            <c:spPr>
              <a:solidFill>
                <a:srgbClr val="102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87A-4A85-B6C1-5F7257CFCF70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87A-4A85-B6C1-5F7257CFCF70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 i="0" u="none" strike="noStrike">
                    <a:solidFill>
                      <a:srgbClr val="1B2A38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Flat460</c:v>
                </c:pt>
                <c:pt idx="1">
                  <c:v>P900</c:v>
                </c:pt>
                <c:pt idx="2">
                  <c:v>P1200</c:v>
                </c:pt>
                <c:pt idx="3">
                  <c:v>첫Win</c:v>
                </c:pt>
                <c:pt idx="4">
                  <c:v>W256</c:v>
                </c:pt>
                <c:pt idx="5">
                  <c:v>W384</c:v>
                </c:pt>
                <c:pt idx="6">
                  <c:v>W460</c:v>
                </c:pt>
                <c:pt idx="7">
                  <c:v>P2400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74.7</c:v>
                </c:pt>
                <c:pt idx="1">
                  <c:v>76.400000000000006</c:v>
                </c:pt>
                <c:pt idx="2">
                  <c:v>77.400000000000006</c:v>
                </c:pt>
                <c:pt idx="3">
                  <c:v>76</c:v>
                </c:pt>
                <c:pt idx="4">
                  <c:v>80.099999999999994</c:v>
                </c:pt>
                <c:pt idx="5">
                  <c:v>79.8</c:v>
                </c:pt>
                <c:pt idx="6">
                  <c:v>78.400000000000006</c:v>
                </c:pt>
                <c:pt idx="7">
                  <c:v>79.099999999999994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87A-4A85-B6C1-5F7257CFCF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4434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7"/>
          <c:min val="67"/>
        </c:scaling>
        <c:delete val="0"/>
        <c:axPos val="l"/>
        <c:majorGridlines>
          <c:spPr>
            <a:ln w="6350" cap="flat">
              <a:solidFill>
                <a:srgbClr val="D5DD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Hit@4 — 실제 생성(top4)에 들어가는 적중률</c:v>
                </c:pt>
              </c:strCache>
            </c:strRef>
          </c:tx>
          <c:spPr>
            <a:solidFill>
              <a:srgbClr val="A9B6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E6E-404F-8660-311F4BF199D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E6E-404F-8660-311F4BF199D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E6E-404F-8660-311F4BF199D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E6E-404F-8660-311F4BF199D2}"/>
              </c:ext>
            </c:extLst>
          </c:dPt>
          <c:dPt>
            <c:idx val="4"/>
            <c:invertIfNegative val="0"/>
            <c:bubble3D val="0"/>
            <c:spPr>
              <a:solidFill>
                <a:srgbClr val="1FA5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E6E-404F-8660-311F4BF199D2}"/>
              </c:ext>
            </c:extLst>
          </c:dPt>
          <c:dPt>
            <c:idx val="5"/>
            <c:invertIfNegative val="0"/>
            <c:bubble3D val="0"/>
            <c:spPr>
              <a:solidFill>
                <a:srgbClr val="2F6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E6E-404F-8660-311F4BF199D2}"/>
              </c:ext>
            </c:extLst>
          </c:dPt>
          <c:dPt>
            <c:idx val="6"/>
            <c:invertIfNegative val="0"/>
            <c:bubble3D val="0"/>
            <c:spPr>
              <a:solidFill>
                <a:srgbClr val="102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E6E-404F-8660-311F4BF199D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DE6E-404F-8660-311F4BF199D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 i="0" u="none" strike="noStrike">
                    <a:solidFill>
                      <a:srgbClr val="1B2A38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Flat460</c:v>
                </c:pt>
                <c:pt idx="1">
                  <c:v>P900</c:v>
                </c:pt>
                <c:pt idx="2">
                  <c:v>P1200</c:v>
                </c:pt>
                <c:pt idx="3">
                  <c:v>첫Win</c:v>
                </c:pt>
                <c:pt idx="4">
                  <c:v>W256</c:v>
                </c:pt>
                <c:pt idx="5">
                  <c:v>W384</c:v>
                </c:pt>
                <c:pt idx="6">
                  <c:v>W460</c:v>
                </c:pt>
                <c:pt idx="7">
                  <c:v>P2400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68.5</c:v>
                </c:pt>
                <c:pt idx="1">
                  <c:v>69.5</c:v>
                </c:pt>
                <c:pt idx="2">
                  <c:v>70.900000000000006</c:v>
                </c:pt>
                <c:pt idx="3">
                  <c:v>71.2</c:v>
                </c:pt>
                <c:pt idx="4">
                  <c:v>74</c:v>
                </c:pt>
                <c:pt idx="5">
                  <c:v>74.7</c:v>
                </c:pt>
                <c:pt idx="6">
                  <c:v>73.3</c:v>
                </c:pt>
                <c:pt idx="7">
                  <c:v>71.599999999999994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DE6E-404F-8660-311F4BF199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4434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7"/>
          <c:min val="62"/>
        </c:scaling>
        <c:delete val="0"/>
        <c:axPos val="l"/>
        <c:majorGridlines>
          <c:spPr>
            <a:ln w="6350" cap="flat">
              <a:solidFill>
                <a:srgbClr val="D5DD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Recall@6 — 근거를 폭넓게 찾은 비율</c:v>
                </c:pt>
              </c:strCache>
            </c:strRef>
          </c:tx>
          <c:spPr>
            <a:solidFill>
              <a:srgbClr val="A9B6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F9-4E1E-AD56-2AA899F1E9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0F9-4E1E-AD56-2AA899F1E9C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0F9-4E1E-AD56-2AA899F1E9C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0F9-4E1E-AD56-2AA899F1E9CA}"/>
              </c:ext>
            </c:extLst>
          </c:dPt>
          <c:dPt>
            <c:idx val="4"/>
            <c:invertIfNegative val="0"/>
            <c:bubble3D val="0"/>
            <c:spPr>
              <a:solidFill>
                <a:srgbClr val="1FA5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0F9-4E1E-AD56-2AA899F1E9CA}"/>
              </c:ext>
            </c:extLst>
          </c:dPt>
          <c:dPt>
            <c:idx val="5"/>
            <c:invertIfNegative val="0"/>
            <c:bubble3D val="0"/>
            <c:spPr>
              <a:solidFill>
                <a:srgbClr val="2F6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0F9-4E1E-AD56-2AA899F1E9CA}"/>
              </c:ext>
            </c:extLst>
          </c:dPt>
          <c:dPt>
            <c:idx val="6"/>
            <c:invertIfNegative val="0"/>
            <c:bubble3D val="0"/>
            <c:spPr>
              <a:solidFill>
                <a:srgbClr val="102A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0F9-4E1E-AD56-2AA899F1E9CA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40F9-4E1E-AD56-2AA899F1E9C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 i="0" u="none" strike="noStrike">
                    <a:solidFill>
                      <a:srgbClr val="1B2A38"/>
                    </a:solidFill>
                    <a:latin typeface="Malgun Gothic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Flat460</c:v>
                </c:pt>
                <c:pt idx="1">
                  <c:v>P900</c:v>
                </c:pt>
                <c:pt idx="2">
                  <c:v>P1200</c:v>
                </c:pt>
                <c:pt idx="3">
                  <c:v>첫Win</c:v>
                </c:pt>
                <c:pt idx="4">
                  <c:v>W256</c:v>
                </c:pt>
                <c:pt idx="5">
                  <c:v>W384</c:v>
                </c:pt>
                <c:pt idx="6">
                  <c:v>W460</c:v>
                </c:pt>
                <c:pt idx="7">
                  <c:v>P2400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72.8</c:v>
                </c:pt>
                <c:pt idx="1">
                  <c:v>74.7</c:v>
                </c:pt>
                <c:pt idx="2">
                  <c:v>76</c:v>
                </c:pt>
                <c:pt idx="3">
                  <c:v>74.5</c:v>
                </c:pt>
                <c:pt idx="4">
                  <c:v>78.599999999999994</c:v>
                </c:pt>
                <c:pt idx="5">
                  <c:v>78.099999999999994</c:v>
                </c:pt>
                <c:pt idx="6">
                  <c:v>76.900000000000006</c:v>
                </c:pt>
                <c:pt idx="7">
                  <c:v>77.099999999999994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0F9-4E1E-AD56-2AA899F1E9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34434F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"/>
          <c:min val="67"/>
        </c:scaling>
        <c:delete val="0"/>
        <c:axPos val="l"/>
        <c:majorGridlines>
          <c:spPr>
            <a:ln w="6350" cap="flat">
              <a:solidFill>
                <a:srgbClr val="D5DD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B6B7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38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DBADC-2A97-B27E-7D40-B7802F51F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56610-C109-4825-7C1B-30511B826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CFDAC-3668-E911-F93B-EA0BC1F1F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FA6A7-15EE-5EE4-9FCB-ECB96ECBB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872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2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3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4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[발표자 노트]
- 이 슬라이드는 새로 만든 슬라이드로, 기존 목표·권한 슬라이드의 사실을 '이용 대상' 관점으로 재구성한 것입니다.
- '입찰 담당자' 타겟 설명은 project-docs/나라장터_문제정의_1차리서치_팀원용.md의 문제 정의 문장("입찰 담당자가 공고 조건과 회사 자료를 대조할 때...")에 근거합니다.
- 회사 단위 격리(tenant/company/role)는 L1·L2·L3 슬라이드의 '검색 전에 통과해야 하는 과정'과 동일한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5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6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7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8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9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10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11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12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13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66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014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16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17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18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Noto Sans KR Black" panose="020B0200000000000000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Noto Sans KR Black" panose="020B0200000000000000" pitchFamily="50" charset="-127"/>
              </a:rPr>
              <a:t>19</a:t>
            </a:fld>
            <a:endParaRPr lang="en-US">
              <a:latin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119A-2B49-3321-BA3D-55D417CF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>
            <a:extLst>
              <a:ext uri="{FF2B5EF4-FFF2-40B4-BE49-F238E27FC236}">
                <a16:creationId xmlns:a16="http://schemas.microsoft.com/office/drawing/2014/main" id="{1828FDFB-BD3B-0F20-AED4-EF0229E2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aidan\Desktop\AI프로젝트\데스크톱_정리\파랑새_빌드\glow_blob.png">
            <a:extLst>
              <a:ext uri="{FF2B5EF4-FFF2-40B4-BE49-F238E27FC236}">
                <a16:creationId xmlns:a16="http://schemas.microsoft.com/office/drawing/2014/main" id="{6DE9C984-1D07-363A-BDD3-54DCA26A47B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5000"/>
          </a:blip>
          <a:stretch>
            <a:fillRect/>
          </a:stretch>
        </p:blipFill>
        <p:spPr>
          <a:xfrm>
            <a:off x="6949440" y="1905"/>
            <a:ext cx="5120640" cy="512064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02F6BE2-9A3C-2642-C521-E5DFDE93D01C}"/>
              </a:ext>
            </a:extLst>
          </p:cNvPr>
          <p:cNvSpPr txBox="1"/>
          <p:nvPr/>
        </p:nvSpPr>
        <p:spPr>
          <a:xfrm>
            <a:off x="160019" y="1111961"/>
            <a:ext cx="11875771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3000" b="1" dirty="0">
                <a:solidFill>
                  <a:schemeClr val="accent5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Blue Jay</a:t>
            </a:r>
            <a:endParaRPr lang="en-US" sz="13000" dirty="0">
              <a:solidFill>
                <a:schemeClr val="accent5"/>
              </a:solidFill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726A425-B3BE-7DB1-FCF7-E033E7C7706A}"/>
              </a:ext>
            </a:extLst>
          </p:cNvPr>
          <p:cNvSpPr/>
          <p:nvPr/>
        </p:nvSpPr>
        <p:spPr>
          <a:xfrm>
            <a:off x="548640" y="3246120"/>
            <a:ext cx="1463040" cy="438912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B2FA461-041B-02C0-D450-97FB71B5E773}"/>
              </a:ext>
            </a:extLst>
          </p:cNvPr>
          <p:cNvSpPr txBox="1"/>
          <p:nvPr/>
        </p:nvSpPr>
        <p:spPr>
          <a:xfrm>
            <a:off x="548640" y="324612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Blue Jay</a:t>
            </a:r>
            <a:endParaRPr lang="en-US" sz="15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C18164C-5B51-F2AE-0EDD-94E28E708DA1}"/>
              </a:ext>
            </a:extLst>
          </p:cNvPr>
          <p:cNvSpPr txBox="1"/>
          <p:nvPr/>
        </p:nvSpPr>
        <p:spPr>
          <a:xfrm>
            <a:off x="548640" y="3886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권한별 문서 보호</a:t>
            </a:r>
            <a:r>
              <a:rPr lang="en-US" sz="4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와 실시간 환각 검증 기반의</a:t>
            </a:r>
            <a:endParaRPr lang="en-US" sz="4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29F0250-4532-3EDB-1571-E005F97DB49E}"/>
              </a:ext>
            </a:extLst>
          </p:cNvPr>
          <p:cNvSpPr txBox="1"/>
          <p:nvPr/>
        </p:nvSpPr>
        <p:spPr>
          <a:xfrm>
            <a:off x="548640" y="4663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공공입찰 AI </a:t>
            </a:r>
            <a:r>
              <a:rPr lang="ko-KR" altLang="en-US" sz="4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어시스턴트</a:t>
            </a:r>
            <a:endParaRPr lang="en-US" sz="4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76EF93D-1150-FFCC-4892-3095642DD553}"/>
              </a:ext>
            </a:extLst>
          </p:cNvPr>
          <p:cNvSpPr txBox="1"/>
          <p:nvPr/>
        </p:nvSpPr>
        <p:spPr>
          <a:xfrm>
            <a:off x="1386839" y="524502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alt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포스코</a:t>
            </a: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 </a:t>
            </a:r>
            <a:r>
              <a:rPr lang="en-US" altLang="ko-KR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AI</a:t>
            </a:r>
            <a:r>
              <a:rPr lang="ko-KR" alt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•빅데이터</a:t>
            </a:r>
            <a:r>
              <a:rPr lang="en-US" altLang="ko-KR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34기</a:t>
            </a:r>
            <a:endParaRPr lang="ko-KR" altLang="en-US" sz="3000" dirty="0">
              <a:ea typeface="Noto Sans KR Black" panose="020B0200000000000000" pitchFamily="50" charset="-127"/>
              <a:cs typeface="Calibri"/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1F208B2-E60B-4F83-0AEE-2831AF9089F6}"/>
              </a:ext>
            </a:extLst>
          </p:cNvPr>
          <p:cNvSpPr txBox="1"/>
          <p:nvPr/>
        </p:nvSpPr>
        <p:spPr>
          <a:xfrm>
            <a:off x="1386839" y="5812605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B1</a:t>
            </a:r>
            <a:r>
              <a:rPr lang="ko-KR" altLang="en-US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조 강인수</a:t>
            </a:r>
            <a:r>
              <a:rPr lang="en-US" altLang="ko-KR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, </a:t>
            </a:r>
            <a:r>
              <a:rPr lang="ko-KR" altLang="en-US" sz="2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박승형</a:t>
            </a:r>
            <a:r>
              <a:rPr lang="en-US" altLang="ko-KR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, </a:t>
            </a:r>
            <a:r>
              <a:rPr lang="ko-KR" altLang="en-US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박지훈</a:t>
            </a:r>
            <a:r>
              <a:rPr lang="en-US" altLang="ko-KR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, </a:t>
            </a:r>
            <a:r>
              <a:rPr lang="ko-KR" altLang="en-US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양진우</a:t>
            </a:r>
            <a:r>
              <a:rPr lang="en-US" altLang="ko-KR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, </a:t>
            </a:r>
            <a:r>
              <a:rPr lang="ko-KR" altLang="en-US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이선희</a:t>
            </a:r>
            <a:r>
              <a:rPr lang="en-US" altLang="ko-KR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, </a:t>
            </a:r>
            <a:r>
              <a:rPr lang="ko-KR" altLang="en-US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임성민</a:t>
            </a:r>
            <a:r>
              <a:rPr lang="en-US" altLang="ko-KR" sz="2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lt"/>
              </a:rPr>
              <a:t>  </a:t>
            </a:r>
            <a:endParaRPr lang="ko-KR" altLang="en-US" sz="2500" dirty="0">
              <a:ea typeface="Noto Sans KR Black" panose="020B0200000000000000" pitchFamily="50" charset="-127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9449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44932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1. 추진배경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문제 상황 1 · 자신만만하게 지어내는 AI</a:t>
            </a:r>
            <a:endParaRPr lang="en-US" sz="3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AI는</a:t>
            </a:r>
            <a:r>
              <a:rPr lang="en-US" sz="2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정답 유무와 상관없이 </a:t>
            </a:r>
            <a:r>
              <a:rPr lang="en-US" sz="24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자신만만하게</a:t>
            </a:r>
            <a:r>
              <a:rPr lang="en-US" sz="2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지어낸다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333420" y="2063020"/>
            <a:ext cx="7014471" cy="3331939"/>
          </a:xfrm>
          <a:prstGeom prst="roundRect">
            <a:avLst>
              <a:gd name="adj" fmla="val 5246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98190" y="2162081"/>
            <a:ext cx="18291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〈B1</a:t>
            </a:r>
            <a:r>
              <a:rPr lang="ko-KR" altLang="en-US" sz="1600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조 </a:t>
            </a:r>
            <a:r>
              <a:rPr lang="en-US" sz="1600" b="1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페르소나</a:t>
            </a:r>
            <a:r>
              <a:rPr lang="en-US" sz="1600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〉</a:t>
            </a:r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  <a:cs typeface="Calibri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28790" y="3823247"/>
            <a:ext cx="1043232" cy="30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40대 · 남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2148342" y="2348899"/>
            <a:ext cx="5103159" cy="139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작은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회사를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운영중인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양모씨</a:t>
            </a:r>
            <a:endParaRPr 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‘</a:t>
            </a:r>
            <a:r>
              <a:rPr lang="en-US" sz="1800" b="1" dirty="0">
                <a:solidFill>
                  <a:schemeClr val="accent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나라장터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’를 통해 공고를 보는데…</a:t>
            </a:r>
            <a:endParaRPr 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spcAft>
                <a:spcPts val="600"/>
              </a:spcAft>
            </a:pP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자격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예산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,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마감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…. </a:t>
            </a:r>
            <a:r>
              <a:rPr lang="ko-KR" alt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조건이 너무나도 많다</a:t>
            </a:r>
            <a:r>
              <a:rPr lang="en-US" altLang="ko-KR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ko-KR" altLang="en-US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이들</a:t>
            </a:r>
            <a:r>
              <a:rPr lang="en-US" altLang="ko-KR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중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하나라도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잘못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본다면</a:t>
            </a:r>
            <a:r>
              <a:rPr 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</a:p>
          <a:p>
            <a:pPr>
              <a:spcAft>
                <a:spcPts val="600"/>
              </a:spcAft>
            </a:pPr>
            <a:r>
              <a:rPr lang="ko-KR" altLang="en-US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수천만원의 기회를</a:t>
            </a:r>
            <a:r>
              <a:rPr lang="ko-KR" alt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놓치게 된다</a:t>
            </a:r>
            <a:r>
              <a:rPr lang="ko-KR" altLang="en-US" sz="18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.</a:t>
            </a:r>
            <a:endParaRPr lang="ko-KR" altLang="en-US" sz="1800" b="1" dirty="0">
              <a:solidFill>
                <a:srgbClr val="1B2A3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2105442" y="4184294"/>
            <a:ext cx="4597696" cy="874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당신이라면</a:t>
            </a:r>
            <a:r>
              <a:rPr lang="en-US" sz="2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2400" b="1" u="sng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AI</a:t>
            </a:r>
            <a:r>
              <a:rPr lang="en-US" sz="2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를</a:t>
            </a:r>
            <a:r>
              <a:rPr lang="en-US" sz="2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사용해서 공고를 보겠는가</a:t>
            </a:r>
            <a:r>
              <a:rPr lang="en-US" altLang="ko-KR" sz="2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? </a:t>
            </a:r>
            <a:r>
              <a:rPr lang="ko-KR" altLang="en-US" sz="2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그리고</a:t>
            </a:r>
            <a:r>
              <a:rPr lang="en-US" sz="2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믿을 수 있겠는가?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240658" y="5467632"/>
            <a:ext cx="7101474" cy="655960"/>
          </a:xfrm>
          <a:prstGeom prst="roundRect">
            <a:avLst>
              <a:gd name="adj" fmla="val 49412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887442" y="5478098"/>
            <a:ext cx="1074028" cy="68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나라장터 :</a:t>
            </a:r>
            <a:endParaRPr lang="en-US" dirty="0"/>
          </a:p>
        </p:txBody>
      </p:sp>
      <p:sp>
        <p:nvSpPr>
          <p:cNvPr id="27" name="Text 24"/>
          <p:cNvSpPr txBox="1"/>
          <p:nvPr/>
        </p:nvSpPr>
        <p:spPr>
          <a:xfrm>
            <a:off x="2022407" y="5451815"/>
            <a:ext cx="5325484" cy="687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공공기관과 민간 기업 간 입찰 및 계약이 이루어지는 플랫폼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5B76E134-78CD-2691-2641-991E4A0503AC}"/>
              </a:ext>
            </a:extLst>
          </p:cNvPr>
          <p:cNvSpPr/>
          <p:nvPr/>
        </p:nvSpPr>
        <p:spPr>
          <a:xfrm>
            <a:off x="7625597" y="1530667"/>
            <a:ext cx="4277251" cy="4711065"/>
          </a:xfrm>
          <a:prstGeom prst="roundRect">
            <a:avLst>
              <a:gd name="adj" fmla="val 3404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3B8DFF54-42A7-654E-F36C-3AA48DED3F40}"/>
              </a:ext>
            </a:extLst>
          </p:cNvPr>
          <p:cNvSpPr txBox="1"/>
          <p:nvPr/>
        </p:nvSpPr>
        <p:spPr>
          <a:xfrm>
            <a:off x="7899917" y="1673448"/>
            <a:ext cx="3851933" cy="344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환각을 가려내는 능력</a:t>
            </a:r>
            <a:endParaRPr lang="en-US" sz="16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CD2CB189-9A38-95D1-F6AE-D66D0A9D1168}"/>
              </a:ext>
            </a:extLst>
          </p:cNvPr>
          <p:cNvSpPr txBox="1"/>
          <p:nvPr/>
        </p:nvSpPr>
        <p:spPr>
          <a:xfrm>
            <a:off x="7899917" y="2221773"/>
            <a:ext cx="3851933" cy="30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0.5 = </a:t>
            </a:r>
            <a:r>
              <a:rPr lang="ko-KR" alt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동전</a:t>
            </a:r>
            <a:r>
              <a:rPr 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뒤집기</a:t>
            </a:r>
            <a:r>
              <a:rPr 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 · 1.0 = 100% </a:t>
            </a:r>
            <a:r>
              <a:rPr lang="ko-KR" alt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정확도</a:t>
            </a:r>
            <a:endParaRPr lang="en-US" altLang="ko-KR" sz="1300" dirty="0">
              <a:solidFill>
                <a:srgbClr val="5B6B7A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graphicFrame>
        <p:nvGraphicFramePr>
          <p:cNvPr id="35" name="Chart 0">
            <a:extLst>
              <a:ext uri="{FF2B5EF4-FFF2-40B4-BE49-F238E27FC236}">
                <a16:creationId xmlns:a16="http://schemas.microsoft.com/office/drawing/2014/main" id="{D1AFCC23-342A-B0B9-A73C-147220324B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7373169"/>
              </p:ext>
            </p:extLst>
          </p:nvPr>
        </p:nvGraphicFramePr>
        <p:xfrm>
          <a:off x="7808477" y="2387286"/>
          <a:ext cx="3972306" cy="3102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18">
            <a:extLst>
              <a:ext uri="{FF2B5EF4-FFF2-40B4-BE49-F238E27FC236}">
                <a16:creationId xmlns:a16="http://schemas.microsoft.com/office/drawing/2014/main" id="{4EDB4A4D-0EB9-B950-8721-B17A9C5C6BA1}"/>
              </a:ext>
            </a:extLst>
          </p:cNvPr>
          <p:cNvSpPr txBox="1"/>
          <p:nvPr/>
        </p:nvSpPr>
        <p:spPr>
          <a:xfrm>
            <a:off x="7867913" y="5490425"/>
            <a:ext cx="3851933" cy="344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ko-KR" sz="14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이정호. (</a:t>
            </a:r>
            <a:r>
              <a:rPr lang="en-US" altLang="ko-KR" sz="14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</a:t>
            </a:r>
            <a:r>
              <a:rPr lang="ko-KR" altLang="ko-KR" sz="14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). </a:t>
            </a:r>
            <a:r>
              <a:rPr lang="ko-KR" altLang="ko-KR" sz="1400" i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최신 대규모 언어 모델의 자유 생성형 QA 환각 탐지 한계에 관한 실증 연구</a:t>
            </a:r>
            <a:r>
              <a:rPr lang="ko-KR" altLang="ko-KR" sz="1400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[석사학위논문, 단국대학교]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AA6C0C-8AA6-F4E2-6855-FDBDBDC646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26" y="2548693"/>
            <a:ext cx="1224243" cy="12494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22D2141-2681-4D90-166E-A7BECE188E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59" y="5616011"/>
            <a:ext cx="452483" cy="301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449324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1. 추진배경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문제 상황 2 · 문서가 있어도 지어내는 LLM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글이 주어진 상황에서도 </a:t>
            </a:r>
            <a:r>
              <a:rPr lang="en-US" sz="24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AI가</a:t>
            </a:r>
            <a:r>
              <a:rPr lang="en-US" sz="2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하는 말이 다 </a:t>
            </a:r>
            <a:r>
              <a:rPr lang="en-US" sz="24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진실이</a:t>
            </a:r>
            <a:r>
              <a:rPr lang="en-US" sz="24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아니다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8797" y="2103120"/>
            <a:ext cx="3213140" cy="4206240"/>
          </a:xfrm>
          <a:prstGeom prst="roundRect">
            <a:avLst>
              <a:gd name="adj" fmla="val 3478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37396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환각이</a:t>
            </a: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섞인 답변의 비율</a:t>
            </a:r>
            <a:endParaRPr lang="en-US" sz="16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2943138958"/>
              </p:ext>
            </p:extLst>
          </p:nvPr>
        </p:nvGraphicFramePr>
        <p:xfrm>
          <a:off x="108797" y="2590412"/>
          <a:ext cx="3069692" cy="20730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218381" y="4846320"/>
            <a:ext cx="29308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톨루엔 MSDS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문서와 자체 생성한</a:t>
            </a:r>
            <a:r>
              <a:rPr 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질문 52개를 </a:t>
            </a:r>
            <a:r>
              <a:rPr lang="en-US" sz="130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모델</a:t>
            </a:r>
            <a:r>
              <a:rPr 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5종에 </a:t>
            </a:r>
            <a:r>
              <a:rPr lang="en-US" sz="130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넣고</a:t>
            </a:r>
            <a:r>
              <a:rPr 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테스트 진행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.</a:t>
            </a:r>
          </a:p>
          <a:p>
            <a:pPr marL="0" indent="0">
              <a:buNone/>
            </a:pP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0" indent="0">
              <a:buNone/>
            </a:pP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생성된 </a:t>
            </a:r>
            <a:r>
              <a:rPr lang="en-US" sz="130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답변</a:t>
            </a:r>
            <a:r>
              <a:rPr lang="en-US" sz="130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260건을 원문과 대조했다.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0">
            <a:extLst>
              <a:ext uri="{FF2B5EF4-FFF2-40B4-BE49-F238E27FC236}">
                <a16:creationId xmlns:a16="http://schemas.microsoft.com/office/drawing/2014/main" id="{84FD3744-9FD6-BE17-9435-5D563E1D8073}"/>
              </a:ext>
            </a:extLst>
          </p:cNvPr>
          <p:cNvSpPr/>
          <p:nvPr/>
        </p:nvSpPr>
        <p:spPr>
          <a:xfrm>
            <a:off x="9268449" y="2103120"/>
            <a:ext cx="2800246" cy="420624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51A515BB-F8DC-2674-3058-7D692F6822FB}"/>
              </a:ext>
            </a:extLst>
          </p:cNvPr>
          <p:cNvSpPr/>
          <p:nvPr/>
        </p:nvSpPr>
        <p:spPr>
          <a:xfrm>
            <a:off x="9566587" y="2286000"/>
            <a:ext cx="224019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5D5CA03E-9488-26FC-72DE-90386E3DBF27}"/>
              </a:ext>
            </a:extLst>
          </p:cNvPr>
          <p:cNvSpPr txBox="1"/>
          <p:nvPr/>
        </p:nvSpPr>
        <p:spPr>
          <a:xfrm>
            <a:off x="9566587" y="2286000"/>
            <a:ext cx="2240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보안 위험 사례</a:t>
            </a:r>
            <a:endParaRPr lang="en-US" sz="13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0C58673A-F3A7-E3A3-9AEF-A278CE2561A6}"/>
              </a:ext>
            </a:extLst>
          </p:cNvPr>
          <p:cNvSpPr txBox="1"/>
          <p:nvPr/>
        </p:nvSpPr>
        <p:spPr>
          <a:xfrm>
            <a:off x="9415442" y="2724912"/>
            <a:ext cx="2551338" cy="3355848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96CD3E0E-7E53-BADB-A80E-373E4F0DD0C7}"/>
              </a:ext>
            </a:extLst>
          </p:cNvPr>
          <p:cNvSpPr/>
          <p:nvPr/>
        </p:nvSpPr>
        <p:spPr>
          <a:xfrm>
            <a:off x="3415537" y="2103120"/>
            <a:ext cx="2800246" cy="420624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0CC9BF10-3C97-EFA0-902A-25614BE1C145}"/>
              </a:ext>
            </a:extLst>
          </p:cNvPr>
          <p:cNvSpPr/>
          <p:nvPr/>
        </p:nvSpPr>
        <p:spPr>
          <a:xfrm>
            <a:off x="3688171" y="2286000"/>
            <a:ext cx="224019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2" name="Text 22">
            <a:extLst>
              <a:ext uri="{FF2B5EF4-FFF2-40B4-BE49-F238E27FC236}">
                <a16:creationId xmlns:a16="http://schemas.microsoft.com/office/drawing/2014/main" id="{B6A33168-9069-56AD-B6AD-6C3C6289D27F}"/>
              </a:ext>
            </a:extLst>
          </p:cNvPr>
          <p:cNvSpPr txBox="1"/>
          <p:nvPr/>
        </p:nvSpPr>
        <p:spPr>
          <a:xfrm>
            <a:off x="3713675" y="2286000"/>
            <a:ext cx="2240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AI </a:t>
            </a:r>
            <a:r>
              <a:rPr lang="ko-KR" alt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환각 사례</a:t>
            </a:r>
            <a:endParaRPr lang="en-US" sz="1300" dirty="0"/>
          </a:p>
        </p:txBody>
      </p:sp>
      <p:sp>
        <p:nvSpPr>
          <p:cNvPr id="44" name="Text 24">
            <a:extLst>
              <a:ext uri="{FF2B5EF4-FFF2-40B4-BE49-F238E27FC236}">
                <a16:creationId xmlns:a16="http://schemas.microsoft.com/office/drawing/2014/main" id="{B5322F57-809F-5188-3232-04C18B28629F}"/>
              </a:ext>
            </a:extLst>
          </p:cNvPr>
          <p:cNvSpPr txBox="1"/>
          <p:nvPr/>
        </p:nvSpPr>
        <p:spPr>
          <a:xfrm>
            <a:off x="3565632" y="2697480"/>
            <a:ext cx="2526096" cy="33552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3" name="Text 7">
            <a:extLst>
              <a:ext uri="{FF2B5EF4-FFF2-40B4-BE49-F238E27FC236}">
                <a16:creationId xmlns:a16="http://schemas.microsoft.com/office/drawing/2014/main" id="{BC5C924F-7C7A-5DC8-F569-3EB4789BE444}"/>
              </a:ext>
            </a:extLst>
          </p:cNvPr>
          <p:cNvSpPr txBox="1"/>
          <p:nvPr/>
        </p:nvSpPr>
        <p:spPr>
          <a:xfrm>
            <a:off x="9345133" y="6428232"/>
            <a:ext cx="265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ko-KR" altLang="ko-KR" sz="1400" b="1" dirty="0">
                <a:ea typeface="Noto Sans KR Black" panose="020B0200000000000000" pitchFamily="50" charset="-127"/>
              </a:rPr>
            </a:br>
            <a:endParaRPr lang="en-US" sz="1400" b="1" dirty="0"/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40461EAF-48E9-5A82-004E-915BC796FCD3}"/>
              </a:ext>
            </a:extLst>
          </p:cNvPr>
          <p:cNvSpPr/>
          <p:nvPr/>
        </p:nvSpPr>
        <p:spPr>
          <a:xfrm>
            <a:off x="6322505" y="2103120"/>
            <a:ext cx="2800246" cy="4206240"/>
          </a:xfrm>
          <a:prstGeom prst="roundRect">
            <a:avLst>
              <a:gd name="adj" fmla="val 8000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Shape 21">
            <a:extLst>
              <a:ext uri="{FF2B5EF4-FFF2-40B4-BE49-F238E27FC236}">
                <a16:creationId xmlns:a16="http://schemas.microsoft.com/office/drawing/2014/main" id="{E1B66A42-B917-4BA3-5FD1-783345C9B0BA}"/>
              </a:ext>
            </a:extLst>
          </p:cNvPr>
          <p:cNvSpPr/>
          <p:nvPr/>
        </p:nvSpPr>
        <p:spPr>
          <a:xfrm>
            <a:off x="6620643" y="2286000"/>
            <a:ext cx="224019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34C6D96F-89B6-4F6F-EB85-409F68AAB66F}"/>
              </a:ext>
            </a:extLst>
          </p:cNvPr>
          <p:cNvSpPr txBox="1"/>
          <p:nvPr/>
        </p:nvSpPr>
        <p:spPr>
          <a:xfrm>
            <a:off x="6620643" y="2286000"/>
            <a:ext cx="2240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보안 위험 심각성</a:t>
            </a:r>
            <a:endParaRPr lang="en-US" sz="13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F2BB16E-AF61-D24E-47D3-E334B8022A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45199"/>
          <a:stretch>
            <a:fillRect/>
          </a:stretch>
        </p:blipFill>
        <p:spPr>
          <a:xfrm>
            <a:off x="6419568" y="2725560"/>
            <a:ext cx="2642348" cy="335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2. 프로젝트 목표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프로젝트 목표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5486400" cy="4709160"/>
          </a:xfrm>
          <a:prstGeom prst="roundRect">
            <a:avLst>
              <a:gd name="adj" fmla="val 3107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2628844" y="1998793"/>
            <a:ext cx="1280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2377440"/>
            <a:ext cx="2377440" cy="3200400"/>
          </a:xfrm>
          <a:prstGeom prst="roundRect">
            <a:avLst>
              <a:gd name="adj" fmla="val 5385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2F6FE0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05840" y="2560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0584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AI 환각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AI 환각 방지를 </a:t>
            </a:r>
            <a:r>
              <a:rPr lang="en-US" sz="1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위해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highlight>
                  <a:srgbClr val="FFFF00"/>
                </a:highlight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투 트랙 검증 방법 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도입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004214" y="3657600"/>
            <a:ext cx="2011680" cy="66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모든 답변 아래에 </a:t>
            </a:r>
            <a:r>
              <a:rPr lang="en-US" sz="1400" b="1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반드시</a:t>
            </a:r>
            <a:r>
              <a:rPr lang="en-US" sz="1400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b="1" dirty="0" err="1">
                <a:highlight>
                  <a:srgbClr val="FFFF00"/>
                </a:highlight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출처</a:t>
            </a:r>
            <a:r>
              <a:rPr lang="en-US" sz="1400" b="1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와</a:t>
            </a:r>
            <a:r>
              <a:rPr lang="en-US" sz="1400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오류 위험성을 표기</a:t>
            </a:r>
            <a:endParaRPr lang="en-US" sz="1400" b="1" dirty="0"/>
          </a:p>
        </p:txBody>
      </p:sp>
      <p:sp>
        <p:nvSpPr>
          <p:cNvPr id="15" name="Shape 12"/>
          <p:cNvSpPr/>
          <p:nvPr/>
        </p:nvSpPr>
        <p:spPr>
          <a:xfrm>
            <a:off x="3337560" y="2377440"/>
            <a:ext cx="2377440" cy="3200400"/>
          </a:xfrm>
          <a:prstGeom prst="roundRect">
            <a:avLst>
              <a:gd name="adj" fmla="val 5385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1FA394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520440" y="256032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FA394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352044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기밀 유출 방지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310896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highlight>
                  <a:srgbClr val="FFFF00"/>
                </a:highlight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내부망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에서만 작동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500116" y="36576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highlight>
                  <a:srgbClr val="FFFF00"/>
                </a:highlight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국가 암호 체계를 </a:t>
            </a:r>
            <a:r>
              <a:rPr lang="en-US" sz="1400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통해 접근을 허가받은 개인만 사용</a:t>
            </a:r>
            <a:endParaRPr lang="en-US" sz="1400" b="1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806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출처: 매일경제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09360" y="1600200"/>
            <a:ext cx="5330952" cy="4709160"/>
          </a:xfrm>
          <a:prstGeom prst="roundRect">
            <a:avLst>
              <a:gd name="adj" fmla="val 3107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6659880" y="2534145"/>
            <a:ext cx="4709160" cy="1199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spcAft>
                <a:spcPts val="1800"/>
              </a:spcAft>
            </a:pP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외교부의 지향점에서 착안하여 </a:t>
            </a:r>
            <a:endParaRPr lang="en-US" altLang="ko-KR" sz="2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>
              <a:spcAft>
                <a:spcPts val="1800"/>
              </a:spcAft>
            </a:pP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권한 밖 문서는 검색 전에 차단하고</a:t>
            </a:r>
            <a:r>
              <a:rPr lang="en-US" altLang="ko-KR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생성된 답변은 근거와 대조해 의심 구절을 표시</a:t>
            </a:r>
            <a:endParaRPr lang="en-US" sz="2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626BEE7E-BA41-3C76-8A52-C946B0B78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41" y="1699235"/>
            <a:ext cx="1280271" cy="5791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DA711C1-10DB-3AC8-DA1F-EF5C95B69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177" y="4121379"/>
            <a:ext cx="1440000" cy="1440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4ECF79D9-EFE4-0AA4-7483-57FEEA1119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0338" y="4408932"/>
            <a:ext cx="1080000" cy="1080000"/>
          </a:xfrm>
          <a:prstGeom prst="rect">
            <a:avLst/>
          </a:prstGeom>
        </p:spPr>
      </p:pic>
      <p:sp>
        <p:nvSpPr>
          <p:cNvPr id="30" name="Text 19">
            <a:extLst>
              <a:ext uri="{FF2B5EF4-FFF2-40B4-BE49-F238E27FC236}">
                <a16:creationId xmlns:a16="http://schemas.microsoft.com/office/drawing/2014/main" id="{DA8B329E-0F5B-2B00-64A6-2E0B6CA5832F}"/>
              </a:ext>
            </a:extLst>
          </p:cNvPr>
          <p:cNvSpPr txBox="1"/>
          <p:nvPr/>
        </p:nvSpPr>
        <p:spPr>
          <a:xfrm>
            <a:off x="6629400" y="4606290"/>
            <a:ext cx="4709160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ko-KR" sz="27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문서는 지키고, 답변은</a:t>
            </a:r>
            <a:r>
              <a:rPr lang="en-US" altLang="ko-KR" sz="27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27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검증한다.</a:t>
            </a:r>
            <a:endParaRPr lang="ko-KR" altLang="ko-KR" sz="2700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D757EFEE-B438-1803-6792-490A325CCEC5}"/>
              </a:ext>
            </a:extLst>
          </p:cNvPr>
          <p:cNvSpPr txBox="1"/>
          <p:nvPr/>
        </p:nvSpPr>
        <p:spPr>
          <a:xfrm>
            <a:off x="6629400" y="1997393"/>
            <a:ext cx="4709160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27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sz="27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최종 프로젝트 목표</a:t>
            </a:r>
            <a:r>
              <a:rPr lang="en-US" altLang="ko-KR" sz="2700" b="1" dirty="0">
                <a:highlight>
                  <a:srgbClr val="FFFF00"/>
                </a:highlight>
                <a:latin typeface="Noto Sans KR" panose="020B0200000000000000" pitchFamily="50" charset="-127"/>
                <a:ea typeface="Noto Sans KR" panose="020B0200000000000000" pitchFamily="50" charset="-127"/>
              </a:rPr>
              <a:t>]</a:t>
            </a:r>
            <a:endParaRPr lang="ko-KR" altLang="ko-KR" sz="2700" dirty="0">
              <a:highlight>
                <a:srgbClr val="FFFF00"/>
              </a:highlight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6EC589B-B8CC-6D55-2ED9-DBEDB21E4D19}"/>
              </a:ext>
            </a:extLst>
          </p:cNvPr>
          <p:cNvSpPr/>
          <p:nvPr/>
        </p:nvSpPr>
        <p:spPr>
          <a:xfrm>
            <a:off x="5975753" y="3657600"/>
            <a:ext cx="4114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2. 프로젝트 목표</a:t>
            </a:r>
            <a:endParaRPr lang="en-US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서비스 이용 대상</a:t>
            </a:r>
            <a:endParaRPr lang="en-US" sz="3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63727" y="1453767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신청한 사용자만, 회사 단위로 개별 이용하는 내부망 서비스</a:t>
            </a:r>
            <a:endParaRPr 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5394960" cy="4206240"/>
          </a:xfrm>
          <a:prstGeom prst="roundRect">
            <a:avLst>
              <a:gd name="adj" fmla="val 3478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Who?</a:t>
            </a:r>
          </a:p>
        </p:txBody>
      </p:sp>
      <p:sp>
        <p:nvSpPr>
          <p:cNvPr id="11" name="Text 8"/>
          <p:cNvSpPr txBox="1"/>
          <p:nvPr/>
        </p:nvSpPr>
        <p:spPr>
          <a:xfrm>
            <a:off x="2522064" y="2527383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공공입찰에 참여하는 기업의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indent="0" algn="l">
              <a:buNone/>
            </a:pPr>
            <a:r>
              <a:rPr lang="en-US" sz="200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입찰 담당자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31520" y="35204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5B6B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나라장터</a:t>
            </a:r>
            <a:r>
              <a:rPr lang="en-US" sz="1300" b="1" dirty="0">
                <a:solidFill>
                  <a:srgbClr val="5B6B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공고의 자격·실적·인증 조건을 직접 대조해야 하는 사람</a:t>
            </a:r>
            <a:endParaRPr lang="en-US" sz="13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1520" y="3894719"/>
            <a:ext cx="4846320" cy="2128185"/>
          </a:xfrm>
          <a:prstGeom prst="roundRect">
            <a:avLst>
              <a:gd name="adj" fmla="val 5854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960120" y="40569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9902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공개 웹서비스가 아닌 이유</a:t>
            </a:r>
            <a:endParaRPr 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60120" y="4376984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b="1" dirty="0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✿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회사마다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실적·인력·원가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같은</a:t>
            </a:r>
            <a:r>
              <a:rPr lang="en-US" sz="1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민감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자료(L2·L3)를 다</a:t>
            </a:r>
            <a:r>
              <a:rPr lang="ko-KR" alt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룸</a:t>
            </a:r>
            <a:endParaRPr 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indent="0" algn="l">
              <a:buNone/>
            </a:pPr>
            <a:endParaRPr lang="en-US" sz="1300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✿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다른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회사가 그 자료를 볼 수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없어야</a:t>
            </a:r>
            <a:r>
              <a:rPr lang="en-US" sz="1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함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</a:p>
          <a:p>
            <a:pPr marL="0" indent="0" algn="l">
              <a:buNone/>
            </a:pPr>
            <a:endParaRPr lang="en-US" sz="1300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✿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누구나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가입하는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구조가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아니라</a:t>
            </a:r>
            <a:r>
              <a:rPr lang="en-US" sz="1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단위로 격리된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구조가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필요</a:t>
            </a:r>
            <a:endParaRPr lang="en-US" sz="14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099048" y="2116707"/>
            <a:ext cx="5559552" cy="1234440"/>
          </a:xfrm>
          <a:prstGeom prst="roundRect">
            <a:avLst>
              <a:gd name="adj" fmla="val 11852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327648" y="2477895"/>
            <a:ext cx="512064" cy="512064"/>
          </a:xfrm>
          <a:prstGeom prst="ellipse">
            <a:avLst/>
          </a:prstGeom>
          <a:solidFill>
            <a:srgbClr val="2F6FE0"/>
          </a:solidFill>
          <a:ln/>
        </p:spPr>
        <p:txBody>
          <a:bodyPr/>
          <a:lstStyle/>
          <a:p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6327648" y="247789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1</a:t>
            </a:r>
            <a:endParaRPr lang="en-US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013448" y="2253867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 단위 신청</a:t>
            </a:r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013448" y="2665347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회사가 서비스 이용을 신청하면 그 </a:t>
            </a: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회사의</a:t>
            </a: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전용아이디</a:t>
            </a: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가 </a:t>
            </a: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만들어</a:t>
            </a:r>
            <a:r>
              <a:rPr lang="ko-KR" alt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짐</a:t>
            </a:r>
            <a:endParaRPr lang="en-US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099048" y="3497451"/>
            <a:ext cx="5559552" cy="1234440"/>
          </a:xfrm>
          <a:prstGeom prst="roundRect">
            <a:avLst>
              <a:gd name="adj" fmla="val 11852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327648" y="3858639"/>
            <a:ext cx="512064" cy="512064"/>
          </a:xfrm>
          <a:prstGeom prst="ellipse">
            <a:avLst/>
          </a:prstGeom>
          <a:solidFill>
            <a:srgbClr val="1FA595"/>
          </a:solidFill>
          <a:ln/>
        </p:spPr>
        <p:txBody>
          <a:bodyPr/>
          <a:lstStyle/>
          <a:p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6327648" y="3858639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2</a:t>
            </a:r>
            <a:endParaRPr lang="en-US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7013448" y="3634611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개별 계정 승인</a:t>
            </a:r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7013448" y="4046091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담당자마다 로그인 계정과 역할(권한)을 </a:t>
            </a: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부여받</a:t>
            </a:r>
            <a:r>
              <a:rPr lang="ko-KR" alt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음</a:t>
            </a:r>
            <a:endParaRPr lang="en-US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6099048" y="4878195"/>
            <a:ext cx="5559552" cy="1234440"/>
          </a:xfrm>
          <a:prstGeom prst="roundRect">
            <a:avLst>
              <a:gd name="adj" fmla="val 11852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327648" y="5239383"/>
            <a:ext cx="512064" cy="512064"/>
          </a:xfrm>
          <a:prstGeom prst="ellipse">
            <a:avLst/>
          </a:prstGeom>
          <a:solidFill>
            <a:srgbClr val="B0568F"/>
          </a:solidFill>
          <a:ln/>
        </p:spPr>
        <p:txBody>
          <a:bodyPr/>
          <a:lstStyle/>
          <a:p>
            <a:endParaRPr lang="ko-KR" altLang="en-US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6327648" y="523938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</a:t>
            </a:r>
            <a:endParaRPr lang="en-US" sz="1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7013448" y="5015355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자기 회사 자료 안에서만 검색</a:t>
            </a:r>
            <a:endParaRPr lang="en-US" sz="16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7013448" y="5426835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로그인 시 회사·역할·소속 상태를 확인해, 자기 회사 자료만 검색 대상이 된다</a:t>
            </a:r>
            <a:endParaRPr lang="en-US" sz="13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32" name="그림 31" descr="넷플릭스 신작 사카모토 데이즈 애니 OTT 등장인물 : 네이버 블로그">
            <a:extLst>
              <a:ext uri="{FF2B5EF4-FFF2-40B4-BE49-F238E27FC236}">
                <a16:creationId xmlns:a16="http://schemas.microsoft.com/office/drawing/2014/main" id="{B3C9F0A1-C923-2885-840F-7BADE5899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436747"/>
            <a:ext cx="1696720" cy="9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683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7291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전체 파이프라인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1651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 데이터를 모으는 것부터 </a:t>
            </a:r>
            <a:r>
              <a:rPr lang="en-US" sz="16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</a:t>
            </a:r>
            <a:r>
              <a:rPr lang="en-US" sz="16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탐지</a:t>
            </a:r>
            <a:r>
              <a:rPr lang="en-US" sz="16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서비스까지</a:t>
            </a:r>
            <a:endParaRPr lang="en-US" sz="1600" dirty="0" err="1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1752289"/>
            <a:ext cx="7443216" cy="365760"/>
          </a:xfrm>
          <a:prstGeom prst="roundRect">
            <a:avLst>
              <a:gd name="adj" fmla="val 50000"/>
            </a:avLst>
          </a:prstGeom>
          <a:solidFill>
            <a:srgbClr val="2F6FE0">
              <a:alpha val="8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57200" y="1752289"/>
            <a:ext cx="7443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데이터 만들기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065008" y="1752289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58A3E">
              <a:alpha val="8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065008" y="1752289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평가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966960" y="1752289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4E9A86">
              <a:alpha val="8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9966960" y="1752289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서비스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346649"/>
            <a:ext cx="1737360" cy="278892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1792" y="2529529"/>
            <a:ext cx="457200" cy="457200"/>
          </a:xfrm>
          <a:prstGeom prst="ellipse">
            <a:avLst/>
          </a:prstGeom>
          <a:solidFill>
            <a:srgbClr val="5B9BF2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21792" y="2529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" y="3123889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데이터 수집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585216" y="3581089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나라장터의 공고와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첨부문서를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내려받아 저장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5216" y="4632649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85216" y="4632649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원본·텍스트·JSON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176272" y="3558229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▶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359152" y="2346649"/>
            <a:ext cx="1737360" cy="278892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523744" y="2529529"/>
            <a:ext cx="457200" cy="457200"/>
          </a:xfrm>
          <a:prstGeom prst="ellipse">
            <a:avLst/>
          </a:prstGeom>
          <a:solidFill>
            <a:srgbClr val="5B9BF2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2523744" y="2529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523744" y="3123889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변환·정제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2487168" y="3581089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공고를 변환하고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사용 가능한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문서를 검사·분류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487168" y="4632649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2487168" y="4632649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표본 51건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078224" y="3558229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▶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261104" y="2346649"/>
            <a:ext cx="1737360" cy="278892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425696" y="2529529"/>
            <a:ext cx="457200" cy="457200"/>
          </a:xfrm>
          <a:prstGeom prst="ellipse">
            <a:avLst/>
          </a:prstGeom>
          <a:solidFill>
            <a:srgbClr val="5B9BF2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4425696" y="2529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4425696" y="3123889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사람 검수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3581089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사람이 요건을 뽑고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정답 근거와 기대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결론을</a:t>
            </a: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정</a:t>
            </a:r>
            <a:r>
              <a:rPr lang="ko-KR" alt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함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389120" y="4632649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4389120" y="4632649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검수 질문 300개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5980176" y="3558229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▶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163056" y="2346649"/>
            <a:ext cx="1737360" cy="278892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327648" y="2529529"/>
            <a:ext cx="457200" cy="457200"/>
          </a:xfrm>
          <a:prstGeom prst="ellipse">
            <a:avLst/>
          </a:prstGeom>
          <a:solidFill>
            <a:srgbClr val="5B9BF2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6327648" y="2529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6327648" y="3123889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문서 합성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291072" y="3581089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공개 공고에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가상 기업 5곳의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내부·민감 자료를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만들어</a:t>
            </a: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붙</a:t>
            </a:r>
            <a:r>
              <a:rPr lang="ko-KR" alt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임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291072" y="4632649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6291072" y="4632649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 · L2 · L3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7882128" y="3558229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065008" y="2346649"/>
            <a:ext cx="1737360" cy="278892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8229600" y="2529529"/>
            <a:ext cx="457200" cy="457200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8229600" y="2529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8229600" y="3123889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평가</a:t>
            </a:r>
            <a:endParaRPr lang="en-US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8193024" y="3581089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 구간을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라벨링해 탐지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결과를</a:t>
            </a: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평가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8193024" y="4632649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9" name="Text 46"/>
          <p:cNvSpPr txBox="1"/>
          <p:nvPr/>
        </p:nvSpPr>
        <p:spPr>
          <a:xfrm>
            <a:off x="8193024" y="4632649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 구간 라벨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9784080" y="3558229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966960" y="2346649"/>
            <a:ext cx="1737360" cy="2788920"/>
          </a:xfrm>
          <a:prstGeom prst="roundRect">
            <a:avLst>
              <a:gd name="adj" fmla="val 8421"/>
            </a:avLst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10131552" y="2529529"/>
            <a:ext cx="457200" cy="457200"/>
          </a:xfrm>
          <a:prstGeom prst="ellipse">
            <a:avLst/>
          </a:prstGeom>
          <a:solidFill>
            <a:srgbClr val="6FB3A0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10131552" y="2529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10131552" y="3123889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서비스</a:t>
            </a:r>
            <a:endParaRPr lang="en-US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10094976" y="3581089"/>
            <a:ext cx="148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질문에 맞는 근거를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검색해 답하고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 의심 구간을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화면에</a:t>
            </a:r>
            <a:r>
              <a:rPr lang="en-US" sz="1300" dirty="0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34434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표시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10094976" y="4632649"/>
            <a:ext cx="1481328" cy="329184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7" name="Text 54"/>
          <p:cNvSpPr txBox="1"/>
          <p:nvPr/>
        </p:nvSpPr>
        <p:spPr>
          <a:xfrm>
            <a:off x="10094976" y="4632649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RAG · 환각 탐지 UI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548640" y="536416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핵심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연결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사항</a:t>
            </a:r>
            <a:endParaRPr lang="en-US" sz="1500" b="1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4297680" y="5775649"/>
            <a:ext cx="3611880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4434840" y="5976817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5B9BF2"/>
          </a:solidFill>
          <a:ln w="12700">
            <a:solidFill>
              <a:srgbClr val="5B9BF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1" name="Text 58"/>
          <p:cNvSpPr txBox="1"/>
          <p:nvPr/>
        </p:nvSpPr>
        <p:spPr>
          <a:xfrm>
            <a:off x="4434840" y="5976817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 → 6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5349240" y="5775649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L1·L2·L3 자료가 서비스의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RAG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검색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대상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466344" y="5798276"/>
            <a:ext cx="3611880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03504" y="5999444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5B9BF2"/>
          </a:solidFill>
          <a:ln w="12700">
            <a:solidFill>
              <a:srgbClr val="5B9BF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5" name="Text 62"/>
          <p:cNvSpPr txBox="1"/>
          <p:nvPr/>
        </p:nvSpPr>
        <p:spPr>
          <a:xfrm>
            <a:off x="603504" y="599944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 → 6</a:t>
            </a:r>
            <a:endParaRPr lang="en-US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1517904" y="579827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검수 질문 300개를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 생성에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넣어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시험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8119872" y="5775649"/>
            <a:ext cx="3611880" cy="777240"/>
          </a:xfrm>
          <a:prstGeom prst="roundRect">
            <a:avLst>
              <a:gd name="adj" fmla="val 16471"/>
            </a:avLst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8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8257032" y="5976817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5B9BF2"/>
          </a:solidFill>
          <a:ln w="12700">
            <a:solidFill>
              <a:srgbClr val="5B9BF2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9" name="Text 66"/>
          <p:cNvSpPr txBox="1"/>
          <p:nvPr/>
        </p:nvSpPr>
        <p:spPr>
          <a:xfrm>
            <a:off x="8257032" y="5976817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6 → 5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9178150" y="5798276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생성된 답변의 환각 구간을</a:t>
            </a:r>
            <a:endParaRPr lang="en-US" sz="1300" dirty="0"/>
          </a:p>
          <a:p>
            <a:pPr marL="0" indent="0">
              <a:buNone/>
            </a:pP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라벨링해</a:t>
            </a:r>
            <a:r>
              <a:rPr lang="en-US" sz="13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평가</a:t>
            </a:r>
            <a:endParaRPr lang="en-US" sz="1300" dirty="0"/>
          </a:p>
        </p:txBody>
      </p:sp>
      <p:sp>
        <p:nvSpPr>
          <p:cNvPr id="75" name="Shape 0">
            <a:extLst>
              <a:ext uri="{FF2B5EF4-FFF2-40B4-BE49-F238E27FC236}">
                <a16:creationId xmlns:a16="http://schemas.microsoft.com/office/drawing/2014/main" id="{AF0454BE-68FF-99D0-4DA8-5DBDF8FE7218}"/>
              </a:ext>
            </a:extLst>
          </p:cNvPr>
          <p:cNvSpPr/>
          <p:nvPr/>
        </p:nvSpPr>
        <p:spPr>
          <a:xfrm>
            <a:off x="314960" y="191136"/>
            <a:ext cx="173278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7" name="Text 1">
            <a:extLst>
              <a:ext uri="{FF2B5EF4-FFF2-40B4-BE49-F238E27FC236}">
                <a16:creationId xmlns:a16="http://schemas.microsoft.com/office/drawing/2014/main" id="{4AD6FAE1-5299-23DF-D2A8-DD01DBDD8775}"/>
              </a:ext>
            </a:extLst>
          </p:cNvPr>
          <p:cNvSpPr txBox="1"/>
          <p:nvPr/>
        </p:nvSpPr>
        <p:spPr>
          <a:xfrm>
            <a:off x="284480" y="221616"/>
            <a:ext cx="1732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3. 시스템 구조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EEDB6B4C-269C-3B81-0B91-515E7E8F27C4}"/>
              </a:ext>
            </a:extLst>
          </p:cNvPr>
          <p:cNvSpPr txBox="1"/>
          <p:nvPr/>
        </p:nvSpPr>
        <p:spPr>
          <a:xfrm>
            <a:off x="9779788" y="3558229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▶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8FB3879D-D7F8-8961-B50B-FFFF48C001E8}"/>
              </a:ext>
            </a:extLst>
          </p:cNvPr>
          <p:cNvSpPr txBox="1"/>
          <p:nvPr/>
        </p:nvSpPr>
        <p:spPr>
          <a:xfrm>
            <a:off x="7886420" y="3558229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▶</a:t>
            </a:r>
            <a:endParaRPr lang="en-US" sz="11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81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088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732788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732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3. 시스템 구조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11091672" cy="2194560"/>
          </a:xfrm>
          <a:prstGeom prst="roundRect">
            <a:avLst>
              <a:gd name="adj" fmla="val 8333"/>
            </a:avLst>
          </a:prstGeom>
          <a:solidFill>
            <a:srgbClr val="E8F1FC">
              <a:alpha val="55000"/>
            </a:srgbClr>
          </a:solidFill>
          <a:ln w="19050">
            <a:solidFill>
              <a:srgbClr val="2F6FE0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77240" y="141732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77240" y="14173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Phase 1 · 검색과 답변 생성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023360"/>
            <a:ext cx="11091672" cy="2194560"/>
          </a:xfrm>
          <a:prstGeom prst="roundRect">
            <a:avLst>
              <a:gd name="adj" fmla="val 8333"/>
            </a:avLst>
          </a:prstGeom>
          <a:solidFill>
            <a:srgbClr val="E4F6F3">
              <a:alpha val="55000"/>
            </a:srgbClr>
          </a:solidFill>
          <a:ln w="19050">
            <a:solidFill>
              <a:srgbClr val="1FA394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77240" y="384048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1FA394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77240" y="3840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Phase 2 · 생성 답변 검증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" y="1908085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AD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914400" y="2026957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914400" y="2026957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1 단계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783080" y="199952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질문 입력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14400" y="2438437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DF4FD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005840" y="2438437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“우리 회사가 이 공고의 실적 </a:t>
            </a:r>
            <a:r>
              <a:rPr lang="en-US" sz="1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조건을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충족하나요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?”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078517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선택 공고 · 회사 · 사용자 역할 · 질문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3371125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서비스 요청 문맥 구성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343400" y="1908085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AD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480560" y="2026957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4480560" y="2026957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2 단계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349240" y="199952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권한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확인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(Level)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480560" y="2392717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4572000" y="2392717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로그인 기준으로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 / L2 / L3 </a:t>
            </a:r>
            <a:r>
              <a:rPr lang="en-US" sz="1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허용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범위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확인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480560" y="3215677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등급에 맞는 자료 확인 가능</a:t>
            </a:r>
            <a:endParaRPr lang="en-US" sz="1400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다른</a:t>
            </a: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회사 자료 차단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09560" y="1908085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AD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8046720" y="2026957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8046720" y="2026957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 단계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915400" y="199952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 검색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046720" y="2438437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6F0FB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8138160" y="2438437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키워드 검색</a:t>
            </a: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  </a:t>
            </a:r>
            <a:r>
              <a:rPr lang="en-US" sz="14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코드·금</a:t>
            </a:r>
            <a:r>
              <a:rPr lang="ko-KR" alt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액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46720" y="2785909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E6F0FB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8138160" y="2785909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벡터 검색</a:t>
            </a: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  의미·문맥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8046720" y="3224821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두 순위를 결합해 관련 청크 선정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77240" y="4331245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AD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914400" y="4450117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FA394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914400" y="4450117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 단계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783080" y="442268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 기반 답변 생성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914400" y="4861597"/>
            <a:ext cx="3108960" cy="566928"/>
          </a:xfrm>
          <a:prstGeom prst="roundRect">
            <a:avLst>
              <a:gd name="adj" fmla="val 12903"/>
            </a:avLst>
          </a:prstGeom>
          <a:solidFill>
            <a:srgbClr val="E6F6F4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1005840" y="4861597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질문 + 실제 검색 근거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→ 로컬 LLM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914400" y="5519965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답변과</a:t>
            </a: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인용번호를 함께 생성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4343400" y="4331245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AD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480560" y="4450117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FA394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4480560" y="4450117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5 단계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5349240" y="442268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규칙 검사 + 환각 탐지</a:t>
            </a:r>
            <a:endParaRPr lang="en-US" sz="1500" dirty="0"/>
          </a:p>
        </p:txBody>
      </p:sp>
      <p:sp>
        <p:nvSpPr>
          <p:cNvPr id="50" name="Shape 47"/>
          <p:cNvSpPr/>
          <p:nvPr/>
        </p:nvSpPr>
        <p:spPr>
          <a:xfrm>
            <a:off x="4480560" y="4964238"/>
            <a:ext cx="1508760" cy="889024"/>
          </a:xfrm>
          <a:prstGeom prst="roundRect">
            <a:avLst>
              <a:gd name="adj" fmla="val 10256"/>
            </a:avLst>
          </a:prstGeom>
          <a:solidFill>
            <a:srgbClr val="FFF5DA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4553712" y="4991669"/>
            <a:ext cx="1362456" cy="861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규칙 검사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금액·VAT·기간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인증·FTE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080760" y="4964238"/>
            <a:ext cx="1508760" cy="889024"/>
          </a:xfrm>
          <a:prstGeom prst="roundRect">
            <a:avLst>
              <a:gd name="adj" fmla="val 10256"/>
            </a:avLst>
          </a:prstGeom>
          <a:solidFill>
            <a:srgbClr val="FDE9E7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6153912" y="4991669"/>
            <a:ext cx="1362456" cy="861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 탐지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답변과 입력 근거의 일치 검사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4480560" y="573233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909560" y="4331245"/>
            <a:ext cx="3383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B8CAD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8046720" y="4450117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1FA394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7" name="Text 54"/>
          <p:cNvSpPr txBox="1"/>
          <p:nvPr/>
        </p:nvSpPr>
        <p:spPr>
          <a:xfrm>
            <a:off x="8046720" y="4450117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6 단계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8915400" y="442268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검토 가능한 결과 제공</a:t>
            </a:r>
            <a:endParaRPr lang="en-US" sz="1500" dirty="0"/>
          </a:p>
        </p:txBody>
      </p:sp>
      <p:sp>
        <p:nvSpPr>
          <p:cNvPr id="60" name="Shape 57"/>
          <p:cNvSpPr/>
          <p:nvPr/>
        </p:nvSpPr>
        <p:spPr>
          <a:xfrm>
            <a:off x="6094476" y="3736885"/>
            <a:ext cx="914" cy="228600"/>
          </a:xfrm>
          <a:prstGeom prst="line">
            <a:avLst/>
          </a:prstGeom>
          <a:noFill/>
          <a:ln w="38100">
            <a:solidFill>
              <a:srgbClr val="6B7F93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548640" y="6309360"/>
            <a:ext cx="11091672" cy="411480"/>
          </a:xfrm>
          <a:prstGeom prst="roundRect">
            <a:avLst>
              <a:gd name="adj" fmla="val 44444"/>
            </a:avLst>
          </a:prstGeom>
          <a:solidFill>
            <a:srgbClr val="1B2A38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2" name="Text 59"/>
          <p:cNvSpPr txBox="1"/>
          <p:nvPr/>
        </p:nvSpPr>
        <p:spPr>
          <a:xfrm>
            <a:off x="777240" y="6309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핵심  </a:t>
            </a:r>
            <a:r>
              <a:rPr lang="en-US" sz="1400" dirty="0">
                <a:solidFill>
                  <a:srgbClr val="D9E8F5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전체 문서를 바로 LLM에 넣지 않고, 권한에 맞는 근거만 검색한 뒤 생성 답변을 다시 검증합니다.</a:t>
            </a:r>
            <a:endParaRPr lang="en-US" sz="14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4233E6B-1537-6961-AD03-EEA93625FEF9}"/>
              </a:ext>
            </a:extLst>
          </p:cNvPr>
          <p:cNvSpPr txBox="1"/>
          <p:nvPr/>
        </p:nvSpPr>
        <p:spPr>
          <a:xfrm>
            <a:off x="548640" y="730601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사용자</a:t>
            </a:r>
            <a:r>
              <a:rPr lang="en-US" sz="3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파이프라인</a:t>
            </a:r>
            <a:endParaRPr lang="en-US" sz="3200" dirty="0"/>
          </a:p>
        </p:txBody>
      </p:sp>
      <p:sp>
        <p:nvSpPr>
          <p:cNvPr id="64" name="Shape 36">
            <a:extLst>
              <a:ext uri="{FF2B5EF4-FFF2-40B4-BE49-F238E27FC236}">
                <a16:creationId xmlns:a16="http://schemas.microsoft.com/office/drawing/2014/main" id="{713A2A7E-D79C-4DFA-696C-5A2978573F68}"/>
              </a:ext>
            </a:extLst>
          </p:cNvPr>
          <p:cNvSpPr/>
          <p:nvPr/>
        </p:nvSpPr>
        <p:spPr>
          <a:xfrm>
            <a:off x="4014419" y="796815"/>
            <a:ext cx="7518218" cy="671477"/>
          </a:xfrm>
          <a:prstGeom prst="roundRect">
            <a:avLst>
              <a:gd name="adj" fmla="val 6154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ko-KR" altLang="en-US" b="1" dirty="0">
              <a:ea typeface="Noto Sans KR Black" panose="020B0200000000000000" pitchFamily="50" charset="-127"/>
            </a:endParaRPr>
          </a:p>
        </p:txBody>
      </p:sp>
      <p:sp>
        <p:nvSpPr>
          <p:cNvPr id="65" name="Text 2">
            <a:extLst>
              <a:ext uri="{FF2B5EF4-FFF2-40B4-BE49-F238E27FC236}">
                <a16:creationId xmlns:a16="http://schemas.microsoft.com/office/drawing/2014/main" id="{522EBC81-6A0A-7A64-DD97-777FB685DE1C}"/>
              </a:ext>
            </a:extLst>
          </p:cNvPr>
          <p:cNvSpPr txBox="1"/>
          <p:nvPr/>
        </p:nvSpPr>
        <p:spPr>
          <a:xfrm>
            <a:off x="4197300" y="807132"/>
            <a:ext cx="71973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Input(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·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·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역할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·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질문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)</a:t>
            </a:r>
            <a:r>
              <a:rPr 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부터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Output(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· 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· </a:t>
            </a:r>
            <a:r>
              <a:rPr lang="ko-KR" altLang="en-US" b="1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환각의심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)</a:t>
            </a:r>
            <a:r>
              <a:rPr lang="ko-KR" altLang="en-US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까지</a:t>
            </a:r>
            <a:endParaRPr lang="en-US" dirty="0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C42F4078-8A7D-8560-3585-F15EEAA1EA21}"/>
              </a:ext>
            </a:extLst>
          </p:cNvPr>
          <p:cNvSpPr/>
          <p:nvPr/>
        </p:nvSpPr>
        <p:spPr>
          <a:xfrm>
            <a:off x="8092440" y="5005290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F6F8FB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52F195E5-D520-CB3C-8121-F940F344CCC4}"/>
              </a:ext>
            </a:extLst>
          </p:cNvPr>
          <p:cNvSpPr txBox="1"/>
          <p:nvPr/>
        </p:nvSpPr>
        <p:spPr>
          <a:xfrm>
            <a:off x="8183880" y="500529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spcAft>
                <a:spcPts val="400"/>
              </a:spcAft>
            </a:pP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</a:t>
            </a:r>
            <a:r>
              <a:rPr lang="en-US" altLang="ko-KR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· </a:t>
            </a: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출처</a:t>
            </a:r>
            <a:r>
              <a:rPr lang="en-US" altLang="ko-KR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· </a:t>
            </a: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관련</a:t>
            </a:r>
            <a:r>
              <a:rPr lang="en-US" altLang="ko-KR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</a:t>
            </a:r>
            <a:r>
              <a:rPr lang="en-US" altLang="ko-KR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구간</a:t>
            </a:r>
            <a:endParaRPr lang="en-US" altLang="ko-KR" sz="1400" dirty="0"/>
          </a:p>
          <a:p>
            <a:pPr algn="ctr">
              <a:spcAft>
                <a:spcPts val="400"/>
              </a:spcAft>
            </a:pP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</a:t>
            </a:r>
            <a:r>
              <a:rPr lang="en-US" altLang="ko-KR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의심</a:t>
            </a:r>
            <a:r>
              <a:rPr lang="en-US" altLang="ko-KR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구절</a:t>
            </a:r>
            <a:endParaRPr lang="en-US" altLang="ko-KR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4. 데이터셋 구축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데이터셋 구축 · 수집과 표본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2651760" cy="1188720"/>
          </a:xfrm>
          <a:prstGeom prst="roundRect">
            <a:avLst>
              <a:gd name="adj" fmla="val 12308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337560" y="1783080"/>
            <a:ext cx="822960" cy="822960"/>
          </a:xfrm>
          <a:prstGeom prst="rightArrow">
            <a:avLst/>
          </a:prstGeom>
          <a:solidFill>
            <a:srgbClr val="CBD5E1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2011680" cy="868680"/>
          </a:xfrm>
          <a:prstGeom prst="roundRect">
            <a:avLst>
              <a:gd name="adj" fmla="val 1684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4343400" y="1691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4월 Data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537960" y="1691640"/>
            <a:ext cx="2011680" cy="868680"/>
          </a:xfrm>
          <a:prstGeom prst="roundRect">
            <a:avLst>
              <a:gd name="adj" fmla="val 1684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537960" y="1691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5월 Data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8732520" y="1691640"/>
            <a:ext cx="2011680" cy="868680"/>
          </a:xfrm>
          <a:prstGeom prst="roundRect">
            <a:avLst>
              <a:gd name="adj" fmla="val 16842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732520" y="169164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6월 Data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 flipH="1">
            <a:off x="1828800" y="2560320"/>
            <a:ext cx="2514600" cy="868680"/>
          </a:xfrm>
          <a:prstGeom prst="line">
            <a:avLst/>
          </a:prstGeom>
          <a:noFill/>
          <a:ln w="25400">
            <a:solidFill>
              <a:srgbClr val="8A96A3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 flipH="1">
            <a:off x="10424160" y="2560320"/>
            <a:ext cx="320040" cy="868680"/>
          </a:xfrm>
          <a:prstGeom prst="line">
            <a:avLst/>
          </a:prstGeom>
          <a:noFill/>
          <a:ln w="25400">
            <a:solidFill>
              <a:srgbClr val="8A96A3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828800" y="3429000"/>
            <a:ext cx="8595360" cy="914400"/>
          </a:xfrm>
          <a:prstGeom prst="roundRect">
            <a:avLst>
              <a:gd name="adj" fmla="val 16000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828800" y="342900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API </a:t>
            </a:r>
            <a:r>
              <a:rPr lang="ko-KR" altLang="en-US" sz="28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통해</a:t>
            </a:r>
            <a:r>
              <a:rPr lang="en-US" sz="28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130,000개 데이터 추출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4572000"/>
            <a:ext cx="603504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55000"/>
            </a:srgbClr>
          </a:solidFill>
          <a:ln w="19050">
            <a:solidFill>
              <a:srgbClr val="8A96A3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22960" y="4754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822960" y="4754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공고데이터_형식변환.py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3657600" y="4754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3657600" y="4754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공고문서_검사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및 분류.py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3566160" y="5715000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48640" y="5897880"/>
            <a:ext cx="60350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548640" y="5897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최신 차수, 사용 </a:t>
            </a:r>
            <a:r>
              <a:rPr lang="en-US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가능한</a:t>
            </a: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첨부문서</a:t>
            </a:r>
            <a:r>
              <a:rPr lang="ko-KR" alt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를</a:t>
            </a: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기준</a:t>
            </a: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분야별</a:t>
            </a:r>
            <a:r>
              <a:rPr lang="ko-KR" alt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로</a:t>
            </a: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데이터 정리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863840" y="475488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7863840" y="47548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월별결과_통합집계.py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9144000" y="5532120"/>
            <a:ext cx="914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7040880" y="589788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7040880" y="58978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문서 확보 현황, 완전 공고 비율 비교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964852" y="6556248"/>
            <a:ext cx="2390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* 완전 공고 = 공고문 + 제안요청서</a:t>
            </a:r>
            <a:endParaRPr lang="en-US" sz="1200" dirty="0"/>
          </a:p>
        </p:txBody>
      </p:sp>
      <p:pic>
        <p:nvPicPr>
          <p:cNvPr id="36" name="그림 35" descr="나라장터 로고">
            <a:extLst>
              <a:ext uri="{FF2B5EF4-FFF2-40B4-BE49-F238E27FC236}">
                <a16:creationId xmlns:a16="http://schemas.microsoft.com/office/drawing/2014/main" id="{3E26EA6A-3181-C125-FB9C-06750A06EA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11" y="1856232"/>
            <a:ext cx="2539378" cy="5550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4. 데이터셋 구축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데이터셋 구축 · 대표 표본 추출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572000" cy="153619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업무구분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공고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사용 가능 문서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완전 공고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비율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용역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50,717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102,702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28,852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57%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물품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32,673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66,298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14,145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43%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공사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38,839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73,038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8,082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21%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193792" y="1965960"/>
            <a:ext cx="4114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637476"/>
              </p:ext>
            </p:extLst>
          </p:nvPr>
        </p:nvGraphicFramePr>
        <p:xfrm>
          <a:off x="5669280" y="1371600"/>
          <a:ext cx="5971032" cy="306324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세부 분야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공고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완전 공고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비율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4월 / 5월 / 6월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학술연구서비스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10,301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6,129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60%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2,568 / 1,842 / 1,719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기타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8,488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5,028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59%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설계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4,729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2,758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58%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행사 기획 및 대행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3,390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2,352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69%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834 / 777 / 741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폐기물 처리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4,032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1,754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44%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교육서비스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2,410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1,468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61%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여행서비스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1,773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1,088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61%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SW 및 시스템 개발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2,163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984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46%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331 / 294 / 359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운영 및 유지관리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1,313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681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52%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669280" y="3822192"/>
            <a:ext cx="5971032" cy="612648"/>
          </a:xfrm>
          <a:prstGeom prst="rect">
            <a:avLst/>
          </a:prstGeom>
          <a:ln w="3175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572000" y="48006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457200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대표</a:t>
            </a: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 </a:t>
            </a: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51개 추출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0" y="4754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선택 </a:t>
            </a:r>
            <a:r>
              <a:rPr lang="en-US" sz="1400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이유</a:t>
            </a:r>
            <a:r>
              <a:rPr lang="en-US" sz="1400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: </a:t>
            </a:r>
          </a:p>
          <a:p>
            <a:pPr marL="0" indent="0">
              <a:buNone/>
            </a:pPr>
            <a:r>
              <a:rPr lang="en-US" sz="1400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수치적</a:t>
            </a:r>
            <a:r>
              <a:rPr lang="en-US" sz="1400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데이터가 많이 </a:t>
            </a:r>
            <a:r>
              <a:rPr lang="en-US" sz="1400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포함되어</a:t>
            </a:r>
            <a:r>
              <a:rPr lang="en-US" sz="1400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400" dirty="0" err="1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있었음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 flipH="1">
            <a:off x="4572000" y="4434840"/>
            <a:ext cx="109728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Shape 12"/>
          <p:cNvSpPr/>
          <p:nvPr/>
        </p:nvSpPr>
        <p:spPr>
          <a:xfrm flipH="1">
            <a:off x="7589520" y="4434840"/>
            <a:ext cx="4050792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548640" y="5486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" name="Text 14"/>
          <p:cNvSpPr txBox="1"/>
          <p:nvPr/>
        </p:nvSpPr>
        <p:spPr>
          <a:xfrm>
            <a:off x="548640" y="5486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팀원1.csv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2788920" y="5486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2788920" y="5486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팀원2.csv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029200" y="5486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5029200" y="5486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팀원3.csv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7269480" y="5486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7269480" y="5486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팀원4.csv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9509760" y="548640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9509760" y="5486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팀원5.csv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 flipH="1">
            <a:off x="1600200" y="5257800"/>
            <a:ext cx="297180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7589520" y="5257800"/>
            <a:ext cx="2926080" cy="22860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0" name="Shape 25"/>
          <p:cNvSpPr/>
          <p:nvPr/>
        </p:nvSpPr>
        <p:spPr>
          <a:xfrm>
            <a:off x="5943600" y="5943600"/>
            <a:ext cx="457200" cy="182880"/>
          </a:xfrm>
          <a:prstGeom prst="down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436686" y="6172200"/>
            <a:ext cx="7596985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Text 27"/>
          <p:cNvSpPr txBox="1"/>
          <p:nvPr/>
        </p:nvSpPr>
        <p:spPr>
          <a:xfrm>
            <a:off x="436686" y="6172200"/>
            <a:ext cx="75969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열: 공고번호, 공고명, </a:t>
            </a:r>
            <a:r>
              <a:rPr lang="en-US" sz="16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기관</a:t>
            </a: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예산</a:t>
            </a:r>
            <a:r>
              <a:rPr lang="en-US" altLang="ko-KR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참가자격</a:t>
            </a:r>
            <a:r>
              <a:rPr lang="en-US" altLang="ko-KR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_</a:t>
            </a: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업종면허</a:t>
            </a:r>
            <a:r>
              <a:rPr lang="en-US" altLang="ko-KR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실적조건</a:t>
            </a:r>
            <a:r>
              <a:rPr lang="en-US" altLang="ko-KR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_</a:t>
            </a: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금액건수기간</a:t>
            </a:r>
            <a:r>
              <a:rPr lang="en-US" altLang="ko-KR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등</a:t>
            </a:r>
            <a:endParaRPr lang="en-US" sz="1600" dirty="0"/>
          </a:p>
        </p:txBody>
      </p:sp>
      <p:sp>
        <p:nvSpPr>
          <p:cNvPr id="6" name="Shape 26">
            <a:extLst>
              <a:ext uri="{FF2B5EF4-FFF2-40B4-BE49-F238E27FC236}">
                <a16:creationId xmlns:a16="http://schemas.microsoft.com/office/drawing/2014/main" id="{D00CF274-AFC6-50FA-807F-7480391448A3}"/>
              </a:ext>
            </a:extLst>
          </p:cNvPr>
          <p:cNvSpPr/>
          <p:nvPr/>
        </p:nvSpPr>
        <p:spPr>
          <a:xfrm>
            <a:off x="8125110" y="617220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" name="Text 27">
            <a:extLst>
              <a:ext uri="{FF2B5EF4-FFF2-40B4-BE49-F238E27FC236}">
                <a16:creationId xmlns:a16="http://schemas.microsoft.com/office/drawing/2014/main" id="{05BD82BE-F884-267E-773E-8F14AC5E75C7}"/>
              </a:ext>
            </a:extLst>
          </p:cNvPr>
          <p:cNvSpPr txBox="1"/>
          <p:nvPr/>
        </p:nvSpPr>
        <p:spPr>
          <a:xfrm>
            <a:off x="8125110" y="6172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자동화 수집 후 환각 탐지를 위해 교차 검증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4. 데이터셋 구축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가상의 회사와 문서 등급 L1 · L2 · L3 (Level)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1188720" cy="1508760"/>
          </a:xfrm>
          <a:prstGeom prst="snip1Rect">
            <a:avLst/>
          </a:prstGeom>
          <a:solidFill>
            <a:srgbClr val="FFFFFF"/>
          </a:solidFill>
          <a:ln w="38100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36930" y="2083918"/>
            <a:ext cx="713232" cy="75438"/>
          </a:xfrm>
          <a:prstGeom prst="roundRect">
            <a:avLst>
              <a:gd name="adj" fmla="val 24242"/>
            </a:avLst>
          </a:prstGeom>
          <a:solidFill>
            <a:srgbClr val="2F6FE0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036930" y="2325319"/>
            <a:ext cx="713232" cy="75438"/>
          </a:xfrm>
          <a:prstGeom prst="roundRect">
            <a:avLst>
              <a:gd name="adj" fmla="val 24242"/>
            </a:avLst>
          </a:prstGeom>
          <a:solidFill>
            <a:srgbClr val="2F6FE0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36930" y="2566721"/>
            <a:ext cx="475488" cy="75438"/>
          </a:xfrm>
          <a:prstGeom prst="roundRect">
            <a:avLst>
              <a:gd name="adj" fmla="val 24242"/>
            </a:avLst>
          </a:prstGeom>
          <a:solidFill>
            <a:srgbClr val="2F6FE0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48640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 공개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926080" y="1600200"/>
            <a:ext cx="8714232" cy="2667064"/>
          </a:xfrm>
          <a:prstGeom prst="roundRect">
            <a:avLst>
              <a:gd name="adj" fmla="val 4848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3489650" y="2999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89850" y="2999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 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90050" y="2999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 3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90250" y="2999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 4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890450" y="299923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 5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148840" y="2103120"/>
            <a:ext cx="685800" cy="548640"/>
          </a:xfrm>
          <a:prstGeom prst="lef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3200400" y="3300521"/>
            <a:ext cx="8138160" cy="822960"/>
          </a:xfrm>
          <a:prstGeom prst="roundRect">
            <a:avLst>
              <a:gd name="adj" fmla="val 11111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3402957" y="3312096"/>
            <a:ext cx="77527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ko-KR" sz="1600" dirty="0">
                <a:ea typeface="Noto Sans KR Black" panose="020B0200000000000000" pitchFamily="50" charset="-127"/>
              </a:rPr>
              <a:t>전문 분야와 </a:t>
            </a:r>
            <a:r>
              <a:rPr lang="ko-KR" altLang="ko-KR" sz="1600" dirty="0" err="1">
                <a:ea typeface="Noto Sans KR Black" panose="020B0200000000000000" pitchFamily="50" charset="-127"/>
              </a:rPr>
              <a:t>강점·제약이</a:t>
            </a:r>
            <a:r>
              <a:rPr lang="ko-KR" altLang="ko-KR" sz="1600" dirty="0">
                <a:ea typeface="Noto Sans KR Black" panose="020B0200000000000000" pitchFamily="50" charset="-127"/>
              </a:rPr>
              <a:t> 서로 다른 가상기업 </a:t>
            </a:r>
            <a:r>
              <a:rPr lang="ko-KR" altLang="ko-KR" sz="16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5</a:t>
            </a:r>
            <a:r>
              <a:rPr lang="ko-KR" altLang="ko-KR" sz="1600" dirty="0">
                <a:ea typeface="Noto Sans KR Black" panose="020B0200000000000000" pitchFamily="50" charset="-127"/>
              </a:rPr>
              <a:t>곳을 설계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624357" y="4397801"/>
            <a:ext cx="914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1071190" y="4397801"/>
            <a:ext cx="914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029997" y="4892040"/>
            <a:ext cx="1188720" cy="1371600"/>
          </a:xfrm>
          <a:prstGeom prst="snip1Rect">
            <a:avLst/>
          </a:prstGeom>
          <a:solidFill>
            <a:srgbClr val="FFFFFF"/>
          </a:solidFill>
          <a:ln w="38100">
            <a:solidFill>
              <a:srgbClr val="1FA394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9243967" y="5248656"/>
            <a:ext cx="713232" cy="68580"/>
          </a:xfrm>
          <a:prstGeom prst="roundRect">
            <a:avLst>
              <a:gd name="adj" fmla="val 26667"/>
            </a:avLst>
          </a:prstGeom>
          <a:solidFill>
            <a:srgbClr val="1FA394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243967" y="5468112"/>
            <a:ext cx="713232" cy="68580"/>
          </a:xfrm>
          <a:prstGeom prst="roundRect">
            <a:avLst>
              <a:gd name="adj" fmla="val 26667"/>
            </a:avLst>
          </a:prstGeom>
          <a:solidFill>
            <a:srgbClr val="1FA394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243967" y="5687568"/>
            <a:ext cx="475488" cy="68580"/>
          </a:xfrm>
          <a:prstGeom prst="roundRect">
            <a:avLst>
              <a:gd name="adj" fmla="val 26667"/>
            </a:avLst>
          </a:prstGeom>
          <a:solidFill>
            <a:srgbClr val="1FA394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8527077" y="6309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L2 회사 내부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0476830" y="4892040"/>
            <a:ext cx="1188720" cy="1371600"/>
          </a:xfrm>
          <a:prstGeom prst="snip1Rect">
            <a:avLst/>
          </a:prstGeom>
          <a:solidFill>
            <a:srgbClr val="FFFFFF"/>
          </a:solidFill>
          <a:ln w="38100">
            <a:solidFill>
              <a:srgbClr val="E5604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10690800" y="5248656"/>
            <a:ext cx="713232" cy="68580"/>
          </a:xfrm>
          <a:prstGeom prst="roundRect">
            <a:avLst>
              <a:gd name="adj" fmla="val 26667"/>
            </a:avLst>
          </a:prstGeom>
          <a:solidFill>
            <a:srgbClr val="E5604D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10690800" y="5468112"/>
            <a:ext cx="713232" cy="68580"/>
          </a:xfrm>
          <a:prstGeom prst="roundRect">
            <a:avLst>
              <a:gd name="adj" fmla="val 26667"/>
            </a:avLst>
          </a:prstGeom>
          <a:solidFill>
            <a:srgbClr val="E5604D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0690800" y="5687568"/>
            <a:ext cx="475488" cy="68580"/>
          </a:xfrm>
          <a:prstGeom prst="roundRect">
            <a:avLst>
              <a:gd name="adj" fmla="val 26667"/>
            </a:avLst>
          </a:prstGeom>
          <a:solidFill>
            <a:srgbClr val="E5604D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9973910" y="6309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604D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L3 민감</a:t>
            </a:r>
            <a:endParaRPr lang="en-US" sz="1800" dirty="0"/>
          </a:p>
        </p:txBody>
      </p:sp>
      <p:pic>
        <p:nvPicPr>
          <p:cNvPr id="40" name="그림 39" descr="회사 1">
            <a:extLst>
              <a:ext uri="{FF2B5EF4-FFF2-40B4-BE49-F238E27FC236}">
                <a16:creationId xmlns:a16="http://schemas.microsoft.com/office/drawing/2014/main" id="{CC82D132-50C6-F5D8-F596-9B8D10E6C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359" y="1737536"/>
            <a:ext cx="1307369" cy="115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1" name="그림 40" descr="회사 2">
            <a:extLst>
              <a:ext uri="{FF2B5EF4-FFF2-40B4-BE49-F238E27FC236}">
                <a16:creationId xmlns:a16="http://schemas.microsoft.com/office/drawing/2014/main" id="{95D493C0-22CA-52F5-C58A-A7F5599FF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3083" y="1716662"/>
            <a:ext cx="1095158" cy="115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2" name="그림 41" descr="회사 3">
            <a:extLst>
              <a:ext uri="{FF2B5EF4-FFF2-40B4-BE49-F238E27FC236}">
                <a16:creationId xmlns:a16="http://schemas.microsoft.com/office/drawing/2014/main" id="{5DE24C27-F422-9039-F7CA-8D863D482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3576" y="1783152"/>
            <a:ext cx="996990" cy="115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3" name="그림 42" descr="회사 4">
            <a:extLst>
              <a:ext uri="{FF2B5EF4-FFF2-40B4-BE49-F238E27FC236}">
                <a16:creationId xmlns:a16="http://schemas.microsoft.com/office/drawing/2014/main" id="{C1573190-4760-0AD7-6D14-73AB55FAF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5901" y="1770033"/>
            <a:ext cx="1163958" cy="115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4" name="그림 43" descr="회사 5">
            <a:extLst>
              <a:ext uri="{FF2B5EF4-FFF2-40B4-BE49-F238E27FC236}">
                <a16:creationId xmlns:a16="http://schemas.microsoft.com/office/drawing/2014/main" id="{A7EF88F5-E3AB-78F7-EAA4-79DBAA8023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192" y="1737536"/>
            <a:ext cx="1050884" cy="1152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E44F089D-DEBF-C3B0-B406-0FE02B482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15454"/>
              </p:ext>
            </p:extLst>
          </p:nvPr>
        </p:nvGraphicFramePr>
        <p:xfrm>
          <a:off x="209505" y="4363803"/>
          <a:ext cx="8293432" cy="2304288"/>
        </p:xfrm>
        <a:graphic>
          <a:graphicData uri="http://schemas.openxmlformats.org/drawingml/2006/table">
            <a:tbl>
              <a:tblPr/>
              <a:tblGrid>
                <a:gridCol w="1875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4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회사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전문 분야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강점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제약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한빛</a:t>
                      </a:r>
                      <a:r>
                        <a:rPr lang="en-US" altLang="ko-KR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pitchFamily="34" charset="-120"/>
                        </a:rPr>
                        <a:t>IT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공공 </a:t>
                      </a: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웹·포털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개발 인력 풍부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통신공사업 면허 </a:t>
                      </a: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미보유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dirty="0" err="1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charset="0"/>
                        </a:rPr>
                        <a:t>해온시스템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관제망·네트워크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통신공사업 면허 보유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일부 인증 만료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dirty="0">
                          <a:solidFill>
                            <a:srgbClr val="1B2A38"/>
                          </a:solidFill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charset="0"/>
                        </a:rPr>
                        <a:t>인우블록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블록체인·모바일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전문 개발 역량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인력·실적</a:t>
                      </a: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증빙 제약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dirty="0" err="1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charset="0"/>
                        </a:rPr>
                        <a:t>누리클라우드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클라우드·보안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관련 </a:t>
                      </a: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면허·ISO</a:t>
                      </a: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보유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CSAP 증빙 미확보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83273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300" dirty="0" err="1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charset="0"/>
                        </a:rPr>
                        <a:t>새온에너지</a:t>
                      </a:r>
                      <a:r>
                        <a:rPr lang="en-US" altLang="ko-KR" sz="1300" dirty="0">
                          <a:latin typeface="Noto Sans KR Black" panose="020B0200000000000000" pitchFamily="50" charset="-127"/>
                          <a:ea typeface="Noto Sans KR Black" panose="020B0200000000000000" pitchFamily="50" charset="-127"/>
                          <a:cs typeface="Malgun Gothic" charset="0"/>
                        </a:rPr>
                        <a:t>SW</a:t>
                      </a:r>
                      <a:endParaRPr lang="en-US" sz="1300" dirty="0">
                        <a:latin typeface="Noto Sans KR Black" panose="020B0200000000000000" pitchFamily="50" charset="-127"/>
                        <a:ea typeface="Noto Sans KR Black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EMS·PMS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에너지·제조</a:t>
                      </a: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역량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ko-KR" altLang="ko-KR" sz="13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통신공사업 면허 </a:t>
                      </a:r>
                      <a:r>
                        <a:rPr lang="ko-KR" altLang="ko-KR" sz="13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미보유</a:t>
                      </a:r>
                      <a:endParaRPr lang="en-US" sz="130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8913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4. 데이터셋 구축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 · L2 · L3 — 문서 종류이자 검색 권한의 경계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같은 질문이라도 사용자의 회사와 역할에 따라 검색 가능한 문서 묶음이 </a:t>
            </a:r>
            <a:r>
              <a:rPr lang="en-US" sz="16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먼저</a:t>
            </a:r>
            <a:r>
              <a:rPr lang="en-US" sz="16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달라</a:t>
            </a:r>
            <a:r>
              <a:rPr lang="ko-KR" altLang="en-US" sz="16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지도록 설계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803395" y="1965960"/>
            <a:ext cx="2194560" cy="4343400"/>
          </a:xfrm>
          <a:prstGeom prst="roundRect">
            <a:avLst>
              <a:gd name="adj" fmla="val 6667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06315" y="2148840"/>
            <a:ext cx="1188720" cy="1371600"/>
          </a:xfrm>
          <a:prstGeom prst="snip1Rect">
            <a:avLst/>
          </a:prstGeom>
          <a:solidFill>
            <a:srgbClr val="FFFFFF"/>
          </a:solidFill>
          <a:ln w="38100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520285" y="2505456"/>
            <a:ext cx="713232" cy="68580"/>
          </a:xfrm>
          <a:prstGeom prst="roundRect">
            <a:avLst>
              <a:gd name="adj" fmla="val 26667"/>
            </a:avLst>
          </a:prstGeom>
          <a:solidFill>
            <a:srgbClr val="2F6FE0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520285" y="2724912"/>
            <a:ext cx="713232" cy="68580"/>
          </a:xfrm>
          <a:prstGeom prst="roundRect">
            <a:avLst>
              <a:gd name="adj" fmla="val 26667"/>
            </a:avLst>
          </a:prstGeom>
          <a:solidFill>
            <a:srgbClr val="2F6FE0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520285" y="2944368"/>
            <a:ext cx="475488" cy="68580"/>
          </a:xfrm>
          <a:prstGeom prst="roundRect">
            <a:avLst>
              <a:gd name="adj" fmla="val 26667"/>
            </a:avLst>
          </a:prstGeom>
          <a:solidFill>
            <a:srgbClr val="2F6FE0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803395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 공개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913123" y="4114800"/>
            <a:ext cx="1975104" cy="2057400"/>
          </a:xfrm>
          <a:prstGeom prst="roundRect">
            <a:avLst>
              <a:gd name="adj" fmla="val 4630"/>
            </a:avLst>
          </a:prstGeom>
          <a:solidFill>
            <a:srgbClr val="E3EEFE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5031995" y="41879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 · 공개 공고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031995" y="4553712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1300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[</a:t>
            </a:r>
            <a:r>
              <a:rPr lang="ko-KR" alt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포함 자료</a:t>
            </a:r>
            <a:r>
              <a:rPr lang="en-US" altLang="ko-KR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]</a:t>
            </a:r>
            <a:endParaRPr lang="en-US" sz="1500" b="1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공고문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·</a:t>
            </a:r>
            <a:r>
              <a:rPr lang="ko-KR" alt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제안요청서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·</a:t>
            </a: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과업·규격</a:t>
            </a:r>
            <a:endParaRPr lang="en-US" sz="1500" b="1" dirty="0"/>
          </a:p>
        </p:txBody>
      </p:sp>
      <p:sp>
        <p:nvSpPr>
          <p:cNvPr id="18" name="Shape 15"/>
          <p:cNvSpPr/>
          <p:nvPr/>
        </p:nvSpPr>
        <p:spPr>
          <a:xfrm>
            <a:off x="7135115" y="1965960"/>
            <a:ext cx="2194560" cy="4343400"/>
          </a:xfrm>
          <a:prstGeom prst="roundRect">
            <a:avLst>
              <a:gd name="adj" fmla="val 6667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638035" y="2148840"/>
            <a:ext cx="1188720" cy="1371600"/>
          </a:xfrm>
          <a:prstGeom prst="snip1Rect">
            <a:avLst/>
          </a:prstGeom>
          <a:solidFill>
            <a:srgbClr val="FFFFFF"/>
          </a:solidFill>
          <a:ln w="38100">
            <a:solidFill>
              <a:srgbClr val="1FA394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852005" y="2505456"/>
            <a:ext cx="713232" cy="68580"/>
          </a:xfrm>
          <a:prstGeom prst="roundRect">
            <a:avLst>
              <a:gd name="adj" fmla="val 26667"/>
            </a:avLst>
          </a:prstGeom>
          <a:solidFill>
            <a:srgbClr val="1FA394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852005" y="2724912"/>
            <a:ext cx="713232" cy="68580"/>
          </a:xfrm>
          <a:prstGeom prst="roundRect">
            <a:avLst>
              <a:gd name="adj" fmla="val 26667"/>
            </a:avLst>
          </a:prstGeom>
          <a:solidFill>
            <a:srgbClr val="1FA394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7852005" y="2944368"/>
            <a:ext cx="475488" cy="68580"/>
          </a:xfrm>
          <a:prstGeom prst="roundRect">
            <a:avLst>
              <a:gd name="adj" fmla="val 26667"/>
            </a:avLst>
          </a:prstGeom>
          <a:solidFill>
            <a:srgbClr val="1FA394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7135115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L2 회사 내부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244843" y="4114800"/>
            <a:ext cx="1975104" cy="2057400"/>
          </a:xfrm>
          <a:prstGeom prst="roundRect">
            <a:avLst>
              <a:gd name="adj" fmla="val 4630"/>
            </a:avLst>
          </a:prstGeom>
          <a:solidFill>
            <a:srgbClr val="DFF5F1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7363715" y="41879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L2 · 회사 자료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363715" y="4553712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1300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[</a:t>
            </a:r>
            <a:r>
              <a:rPr lang="ko-KR" alt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포함 자료</a:t>
            </a:r>
            <a:r>
              <a:rPr lang="en-US" altLang="ko-KR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]</a:t>
            </a:r>
            <a:endParaRPr lang="en-US" sz="1500" b="1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실적·인력·인증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자료</a:t>
            </a:r>
            <a:endParaRPr lang="en-US" sz="1500" b="1" dirty="0"/>
          </a:p>
        </p:txBody>
      </p:sp>
      <p:sp>
        <p:nvSpPr>
          <p:cNvPr id="27" name="Shape 24"/>
          <p:cNvSpPr/>
          <p:nvPr/>
        </p:nvSpPr>
        <p:spPr>
          <a:xfrm>
            <a:off x="9466835" y="1965960"/>
            <a:ext cx="2194560" cy="4343400"/>
          </a:xfrm>
          <a:prstGeom prst="roundRect">
            <a:avLst>
              <a:gd name="adj" fmla="val 6667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9969755" y="2148840"/>
            <a:ext cx="1188720" cy="1371600"/>
          </a:xfrm>
          <a:prstGeom prst="snip1Rect">
            <a:avLst/>
          </a:prstGeom>
          <a:solidFill>
            <a:srgbClr val="FFFFFF"/>
          </a:solidFill>
          <a:ln w="38100">
            <a:solidFill>
              <a:srgbClr val="E5604D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183725" y="2505456"/>
            <a:ext cx="713232" cy="68580"/>
          </a:xfrm>
          <a:prstGeom prst="roundRect">
            <a:avLst>
              <a:gd name="adj" fmla="val 26667"/>
            </a:avLst>
          </a:prstGeom>
          <a:solidFill>
            <a:srgbClr val="E5604D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0183725" y="2724912"/>
            <a:ext cx="713232" cy="68580"/>
          </a:xfrm>
          <a:prstGeom prst="roundRect">
            <a:avLst>
              <a:gd name="adj" fmla="val 26667"/>
            </a:avLst>
          </a:prstGeom>
          <a:solidFill>
            <a:srgbClr val="E5604D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183725" y="2944368"/>
            <a:ext cx="475488" cy="68580"/>
          </a:xfrm>
          <a:prstGeom prst="roundRect">
            <a:avLst>
              <a:gd name="adj" fmla="val 26667"/>
            </a:avLst>
          </a:prstGeom>
          <a:solidFill>
            <a:srgbClr val="E5604D">
              <a:alpha val="45000"/>
            </a:srgbClr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9466835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5604D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L3 민감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9576563" y="4114800"/>
            <a:ext cx="1975104" cy="2057400"/>
          </a:xfrm>
          <a:prstGeom prst="roundRect">
            <a:avLst>
              <a:gd name="adj" fmla="val 4630"/>
            </a:avLst>
          </a:prstGeom>
          <a:solidFill>
            <a:srgbClr val="FDE7E3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9695435" y="418795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L3 · 민감 자료</a:t>
            </a:r>
            <a:endParaRPr lang="en-US" sz="1500" dirty="0"/>
          </a:p>
        </p:txBody>
      </p:sp>
      <p:sp>
        <p:nvSpPr>
          <p:cNvPr id="35" name="Text 32"/>
          <p:cNvSpPr txBox="1"/>
          <p:nvPr/>
        </p:nvSpPr>
        <p:spPr>
          <a:xfrm>
            <a:off x="9695435" y="4553712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endParaRPr lang="en-US" sz="1300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[</a:t>
            </a:r>
            <a:r>
              <a:rPr lang="ko-KR" alt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포함 자료</a:t>
            </a:r>
            <a:r>
              <a:rPr lang="en-US" altLang="ko-KR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]</a:t>
            </a:r>
            <a:endParaRPr lang="en-US" sz="1500" b="1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원가·견적·승인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자료</a:t>
            </a:r>
            <a:endParaRPr lang="en-US" sz="1500" b="1" dirty="0"/>
          </a:p>
        </p:txBody>
      </p:sp>
      <p:sp>
        <p:nvSpPr>
          <p:cNvPr id="7" name="Shape 33">
            <a:extLst>
              <a:ext uri="{FF2B5EF4-FFF2-40B4-BE49-F238E27FC236}">
                <a16:creationId xmlns:a16="http://schemas.microsoft.com/office/drawing/2014/main" id="{7D0FCACC-0D8F-4B54-A74B-96F2F7C8DF47}"/>
              </a:ext>
            </a:extLst>
          </p:cNvPr>
          <p:cNvSpPr/>
          <p:nvPr/>
        </p:nvSpPr>
        <p:spPr>
          <a:xfrm>
            <a:off x="617692" y="1965960"/>
            <a:ext cx="3959352" cy="4343400"/>
          </a:xfrm>
          <a:prstGeom prst="roundRect">
            <a:avLst>
              <a:gd name="adj" fmla="val 3695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2277BFC4-1C4D-95CB-3F45-38409692A413}"/>
              </a:ext>
            </a:extLst>
          </p:cNvPr>
          <p:cNvSpPr txBox="1"/>
          <p:nvPr/>
        </p:nvSpPr>
        <p:spPr>
          <a:xfrm>
            <a:off x="846292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검색 전에 통과해야 </a:t>
            </a:r>
            <a:r>
              <a:rPr lang="en-US" sz="18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하는</a:t>
            </a: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과정</a:t>
            </a:r>
            <a:endParaRPr lang="en-US" sz="1800" dirty="0"/>
          </a:p>
        </p:txBody>
      </p:sp>
      <p:sp>
        <p:nvSpPr>
          <p:cNvPr id="61" name="Shape 35">
            <a:extLst>
              <a:ext uri="{FF2B5EF4-FFF2-40B4-BE49-F238E27FC236}">
                <a16:creationId xmlns:a16="http://schemas.microsoft.com/office/drawing/2014/main" id="{EB59B8CA-7317-0C72-5EAC-9D713AED7419}"/>
              </a:ext>
            </a:extLst>
          </p:cNvPr>
          <p:cNvSpPr/>
          <p:nvPr/>
        </p:nvSpPr>
        <p:spPr>
          <a:xfrm>
            <a:off x="800572" y="26060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3EEFE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16B221B0-D3CF-A7EB-968E-E1195BCB34C1}"/>
              </a:ext>
            </a:extLst>
          </p:cNvPr>
          <p:cNvSpPr txBox="1"/>
          <p:nvPr/>
        </p:nvSpPr>
        <p:spPr>
          <a:xfrm>
            <a:off x="892012" y="26609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로그인</a:t>
            </a:r>
            <a:endParaRPr lang="en-US" sz="1400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69647607-526C-4B91-39D7-DE2197EF4FF7}"/>
              </a:ext>
            </a:extLst>
          </p:cNvPr>
          <p:cNvSpPr txBox="1"/>
          <p:nvPr/>
        </p:nvSpPr>
        <p:spPr>
          <a:xfrm>
            <a:off x="892012" y="2971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authenticated</a:t>
            </a:r>
            <a:endParaRPr lang="en-US" sz="1200" dirty="0"/>
          </a:p>
        </p:txBody>
      </p:sp>
      <p:sp>
        <p:nvSpPr>
          <p:cNvPr id="67" name="Shape 38">
            <a:extLst>
              <a:ext uri="{FF2B5EF4-FFF2-40B4-BE49-F238E27FC236}">
                <a16:creationId xmlns:a16="http://schemas.microsoft.com/office/drawing/2014/main" id="{C4A4051D-E30A-4C7F-AAC8-40D315AC9E04}"/>
              </a:ext>
            </a:extLst>
          </p:cNvPr>
          <p:cNvSpPr/>
          <p:nvPr/>
        </p:nvSpPr>
        <p:spPr>
          <a:xfrm>
            <a:off x="2629372" y="26060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DFF5F1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CFBCD0C0-D95D-B168-DE55-A26A63E5F0D9}"/>
              </a:ext>
            </a:extLst>
          </p:cNvPr>
          <p:cNvSpPr txBox="1"/>
          <p:nvPr/>
        </p:nvSpPr>
        <p:spPr>
          <a:xfrm>
            <a:off x="2720812" y="26609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소속</a:t>
            </a:r>
            <a:endParaRPr lang="en-US" sz="1400" dirty="0"/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EA3B3F1B-CE15-1908-1195-092B8D569CC6}"/>
              </a:ext>
            </a:extLst>
          </p:cNvPr>
          <p:cNvSpPr txBox="1"/>
          <p:nvPr/>
        </p:nvSpPr>
        <p:spPr>
          <a:xfrm>
            <a:off x="2720812" y="29718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membership_active</a:t>
            </a:r>
            <a:endParaRPr lang="en-US" sz="1200" dirty="0"/>
          </a:p>
        </p:txBody>
      </p:sp>
      <p:sp>
        <p:nvSpPr>
          <p:cNvPr id="73" name="Shape 41">
            <a:extLst>
              <a:ext uri="{FF2B5EF4-FFF2-40B4-BE49-F238E27FC236}">
                <a16:creationId xmlns:a16="http://schemas.microsoft.com/office/drawing/2014/main" id="{B57E9B22-C4F0-CB14-8BF6-7587557AF6B8}"/>
              </a:ext>
            </a:extLst>
          </p:cNvPr>
          <p:cNvSpPr/>
          <p:nvPr/>
        </p:nvSpPr>
        <p:spPr>
          <a:xfrm>
            <a:off x="800572" y="33832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3EEFE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F028B2FD-3BA6-A875-3AB8-D2187B9E5747}"/>
              </a:ext>
            </a:extLst>
          </p:cNvPr>
          <p:cNvSpPr txBox="1"/>
          <p:nvPr/>
        </p:nvSpPr>
        <p:spPr>
          <a:xfrm>
            <a:off x="892012" y="3438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조직</a:t>
            </a:r>
            <a:endParaRPr lang="en-US" sz="1400" dirty="0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75849BDF-8B58-0FAA-681C-DC4AF9F2E548}"/>
              </a:ext>
            </a:extLst>
          </p:cNvPr>
          <p:cNvSpPr txBox="1"/>
          <p:nvPr/>
        </p:nvSpPr>
        <p:spPr>
          <a:xfrm>
            <a:off x="892012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tenant_id</a:t>
            </a:r>
            <a:endParaRPr lang="en-US" sz="1200" dirty="0"/>
          </a:p>
        </p:txBody>
      </p:sp>
      <p:sp>
        <p:nvSpPr>
          <p:cNvPr id="79" name="Shape 44">
            <a:extLst>
              <a:ext uri="{FF2B5EF4-FFF2-40B4-BE49-F238E27FC236}">
                <a16:creationId xmlns:a16="http://schemas.microsoft.com/office/drawing/2014/main" id="{5145E6E9-77E5-A94E-46D9-25B08B2E8F60}"/>
              </a:ext>
            </a:extLst>
          </p:cNvPr>
          <p:cNvSpPr/>
          <p:nvPr/>
        </p:nvSpPr>
        <p:spPr>
          <a:xfrm>
            <a:off x="2629372" y="33832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DFF5F1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1" name="Text 45">
            <a:extLst>
              <a:ext uri="{FF2B5EF4-FFF2-40B4-BE49-F238E27FC236}">
                <a16:creationId xmlns:a16="http://schemas.microsoft.com/office/drawing/2014/main" id="{7A815097-E4BC-058A-B5E7-CDAEC3C1328C}"/>
              </a:ext>
            </a:extLst>
          </p:cNvPr>
          <p:cNvSpPr txBox="1"/>
          <p:nvPr/>
        </p:nvSpPr>
        <p:spPr>
          <a:xfrm>
            <a:off x="2720812" y="34381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회사</a:t>
            </a:r>
            <a:endParaRPr lang="en-US" sz="1400" dirty="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269A0A10-4EFA-9328-3302-DB43726DBED6}"/>
              </a:ext>
            </a:extLst>
          </p:cNvPr>
          <p:cNvSpPr txBox="1"/>
          <p:nvPr/>
        </p:nvSpPr>
        <p:spPr>
          <a:xfrm>
            <a:off x="2720812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company_id</a:t>
            </a:r>
            <a:endParaRPr lang="en-US" sz="1200" dirty="0"/>
          </a:p>
        </p:txBody>
      </p:sp>
      <p:sp>
        <p:nvSpPr>
          <p:cNvPr id="85" name="Shape 47">
            <a:extLst>
              <a:ext uri="{FF2B5EF4-FFF2-40B4-BE49-F238E27FC236}">
                <a16:creationId xmlns:a16="http://schemas.microsoft.com/office/drawing/2014/main" id="{13EF301E-7AC6-1DD4-C23B-B2548F0BC0BE}"/>
              </a:ext>
            </a:extLst>
          </p:cNvPr>
          <p:cNvSpPr/>
          <p:nvPr/>
        </p:nvSpPr>
        <p:spPr>
          <a:xfrm>
            <a:off x="800572" y="416052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E3EEFE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7" name="Text 48">
            <a:extLst>
              <a:ext uri="{FF2B5EF4-FFF2-40B4-BE49-F238E27FC236}">
                <a16:creationId xmlns:a16="http://schemas.microsoft.com/office/drawing/2014/main" id="{1A56180A-60CB-573D-B4B5-974322F80131}"/>
              </a:ext>
            </a:extLst>
          </p:cNvPr>
          <p:cNvSpPr txBox="1"/>
          <p:nvPr/>
        </p:nvSpPr>
        <p:spPr>
          <a:xfrm>
            <a:off x="892012" y="4215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역할</a:t>
            </a:r>
            <a:endParaRPr lang="en-US" sz="1400" dirty="0"/>
          </a:p>
        </p:txBody>
      </p:sp>
      <p:sp>
        <p:nvSpPr>
          <p:cNvPr id="89" name="Text 49">
            <a:extLst>
              <a:ext uri="{FF2B5EF4-FFF2-40B4-BE49-F238E27FC236}">
                <a16:creationId xmlns:a16="http://schemas.microsoft.com/office/drawing/2014/main" id="{B9BACB1B-DF73-C4EF-8DE4-E2B8A54BAEA3}"/>
              </a:ext>
            </a:extLst>
          </p:cNvPr>
          <p:cNvSpPr txBox="1"/>
          <p:nvPr/>
        </p:nvSpPr>
        <p:spPr>
          <a:xfrm>
            <a:off x="892012" y="4526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allowed_roles</a:t>
            </a:r>
            <a:endParaRPr lang="en-US" sz="1200" dirty="0"/>
          </a:p>
        </p:txBody>
      </p:sp>
      <p:sp>
        <p:nvSpPr>
          <p:cNvPr id="91" name="Shape 50">
            <a:extLst>
              <a:ext uri="{FF2B5EF4-FFF2-40B4-BE49-F238E27FC236}">
                <a16:creationId xmlns:a16="http://schemas.microsoft.com/office/drawing/2014/main" id="{B11BBA44-4E6D-7473-7C90-45697DB5A559}"/>
              </a:ext>
            </a:extLst>
          </p:cNvPr>
          <p:cNvSpPr/>
          <p:nvPr/>
        </p:nvSpPr>
        <p:spPr>
          <a:xfrm>
            <a:off x="2629372" y="416052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DFF5F1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3" name="Text 51">
            <a:extLst>
              <a:ext uri="{FF2B5EF4-FFF2-40B4-BE49-F238E27FC236}">
                <a16:creationId xmlns:a16="http://schemas.microsoft.com/office/drawing/2014/main" id="{1BDB2BCD-EA88-D9AD-79D7-D85A9BB2E5A0}"/>
              </a:ext>
            </a:extLst>
          </p:cNvPr>
          <p:cNvSpPr txBox="1"/>
          <p:nvPr/>
        </p:nvSpPr>
        <p:spPr>
          <a:xfrm>
            <a:off x="2720812" y="4215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상황</a:t>
            </a:r>
            <a:endParaRPr lang="en-US" sz="1400" dirty="0"/>
          </a:p>
        </p:txBody>
      </p:sp>
      <p:sp>
        <p:nvSpPr>
          <p:cNvPr id="95" name="Text 52">
            <a:extLst>
              <a:ext uri="{FF2B5EF4-FFF2-40B4-BE49-F238E27FC236}">
                <a16:creationId xmlns:a16="http://schemas.microsoft.com/office/drawing/2014/main" id="{0452E19E-1F7D-38EB-263C-0E34446D40DA}"/>
              </a:ext>
            </a:extLst>
          </p:cNvPr>
          <p:cNvSpPr txBox="1"/>
          <p:nvPr/>
        </p:nvSpPr>
        <p:spPr>
          <a:xfrm>
            <a:off x="2720812" y="45262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scenario_id</a:t>
            </a:r>
            <a:endParaRPr lang="en-US" sz="1200" dirty="0"/>
          </a:p>
        </p:txBody>
      </p:sp>
      <p:sp>
        <p:nvSpPr>
          <p:cNvPr id="97" name="Shape 53">
            <a:extLst>
              <a:ext uri="{FF2B5EF4-FFF2-40B4-BE49-F238E27FC236}">
                <a16:creationId xmlns:a16="http://schemas.microsoft.com/office/drawing/2014/main" id="{498EE202-7BD2-97D1-0B5E-763775A7D176}"/>
              </a:ext>
            </a:extLst>
          </p:cNvPr>
          <p:cNvSpPr/>
          <p:nvPr/>
        </p:nvSpPr>
        <p:spPr>
          <a:xfrm>
            <a:off x="800572" y="50292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FFF0D9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9" name="Text 54">
            <a:extLst>
              <a:ext uri="{FF2B5EF4-FFF2-40B4-BE49-F238E27FC236}">
                <a16:creationId xmlns:a16="http://schemas.microsoft.com/office/drawing/2014/main" id="{DE092D29-DD65-A367-FE62-76295B2072C0}"/>
              </a:ext>
            </a:extLst>
          </p:cNvPr>
          <p:cNvSpPr txBox="1"/>
          <p:nvPr/>
        </p:nvSpPr>
        <p:spPr>
          <a:xfrm>
            <a:off x="937732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권한이 없으면 검색·LLM 호출 </a:t>
            </a:r>
            <a:r>
              <a:rPr lang="en-US" sz="1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전에</a:t>
            </a:r>
            <a:r>
              <a:rPr lang="en-US" sz="14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차단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4. 데이터셋 구축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평가 데이터셋 구축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가상 회사 5곳이 가장 할 만한 질문과 그에 대한 답변, </a:t>
            </a:r>
            <a:r>
              <a:rPr lang="en-US" sz="22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근거를</a:t>
            </a:r>
            <a:r>
              <a:rPr lang="en-US" sz="22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22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작성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599732" y="2514600"/>
            <a:ext cx="6400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422692" y="1920240"/>
            <a:ext cx="1639417" cy="930131"/>
          </a:xfrm>
          <a:prstGeom prst="roundRect">
            <a:avLst>
              <a:gd name="adj" fmla="val 7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422692" y="1925837"/>
            <a:ext cx="1639417" cy="627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300 Q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5422692" y="2522042"/>
            <a:ext cx="1639417" cy="34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질문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525812" y="1920240"/>
            <a:ext cx="1639417" cy="930131"/>
          </a:xfrm>
          <a:prstGeom prst="roundRect">
            <a:avLst>
              <a:gd name="adj" fmla="val 7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525812" y="1925831"/>
            <a:ext cx="1639417" cy="627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300 A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7525812" y="2512257"/>
            <a:ext cx="1639417" cy="34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9628932" y="1920240"/>
            <a:ext cx="1639417" cy="930131"/>
          </a:xfrm>
          <a:prstGeom prst="roundRect">
            <a:avLst>
              <a:gd name="adj" fmla="val 7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9628932" y="1935162"/>
            <a:ext cx="1639417" cy="627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0A45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300 R</a:t>
            </a:r>
            <a:endParaRPr lang="en-US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9603348" y="2502028"/>
            <a:ext cx="1639417" cy="348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7163909" y="2149480"/>
            <a:ext cx="239915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+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5427515" y="460497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0" name="그림 29" descr="회사 1">
            <a:extLst>
              <a:ext uri="{FF2B5EF4-FFF2-40B4-BE49-F238E27FC236}">
                <a16:creationId xmlns:a16="http://schemas.microsoft.com/office/drawing/2014/main" id="{42F1A6E3-E6C3-71E7-93AA-AAAB7B746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8943" y="2210795"/>
            <a:ext cx="1006951" cy="887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2" name="그림 31" descr="회사 2">
            <a:extLst>
              <a:ext uri="{FF2B5EF4-FFF2-40B4-BE49-F238E27FC236}">
                <a16:creationId xmlns:a16="http://schemas.microsoft.com/office/drawing/2014/main" id="{8E30A4B2-2DFC-5752-C842-78E90F190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51" y="2210795"/>
            <a:ext cx="843504" cy="887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4" name="그림 33" descr="회사 3">
            <a:extLst>
              <a:ext uri="{FF2B5EF4-FFF2-40B4-BE49-F238E27FC236}">
                <a16:creationId xmlns:a16="http://schemas.microsoft.com/office/drawing/2014/main" id="{2AB96026-54FB-9E58-6F7A-9AA94270B6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970" y="2210795"/>
            <a:ext cx="767893" cy="887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6" name="그림 35" descr="회사 4">
            <a:extLst>
              <a:ext uri="{FF2B5EF4-FFF2-40B4-BE49-F238E27FC236}">
                <a16:creationId xmlns:a16="http://schemas.microsoft.com/office/drawing/2014/main" id="{F3A76633-8F32-9908-1A83-4E6B5A5BDE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8874" y="2210795"/>
            <a:ext cx="896495" cy="887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8" name="그림 37" descr="회사 5">
            <a:extLst>
              <a:ext uri="{FF2B5EF4-FFF2-40B4-BE49-F238E27FC236}">
                <a16:creationId xmlns:a16="http://schemas.microsoft.com/office/drawing/2014/main" id="{DAB50EDE-57E3-BDCE-0DE0-F43C292142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7682" y="2210795"/>
            <a:ext cx="809403" cy="887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QAR Card 39">
            <a:extLst>
              <a:ext uri="{FF2B5EF4-FFF2-40B4-BE49-F238E27FC236}">
                <a16:creationId xmlns:a16="http://schemas.microsoft.com/office/drawing/2014/main" id="{3B6FB6CE-1979-6E19-05E7-7C8C76900E28}"/>
              </a:ext>
            </a:extLst>
          </p:cNvPr>
          <p:cNvSpPr/>
          <p:nvPr/>
        </p:nvSpPr>
        <p:spPr>
          <a:xfrm>
            <a:off x="5422692" y="3024747"/>
            <a:ext cx="6080760" cy="685800"/>
          </a:xfrm>
          <a:prstGeom prst="roundRect">
            <a:avLst>
              <a:gd name="adj" fmla="val 7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QAR Text 40">
            <a:extLst>
              <a:ext uri="{FF2B5EF4-FFF2-40B4-BE49-F238E27FC236}">
                <a16:creationId xmlns:a16="http://schemas.microsoft.com/office/drawing/2014/main" id="{C1B410C4-1335-75B0-AB70-894041559951}"/>
              </a:ext>
            </a:extLst>
          </p:cNvPr>
          <p:cNvSpPr txBox="1"/>
          <p:nvPr/>
        </p:nvSpPr>
        <p:spPr>
          <a:xfrm>
            <a:off x="5623860" y="3079611"/>
            <a:ext cx="1051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sz="15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/>
              </a:rPr>
              <a:t>Q · 질문</a:t>
            </a:r>
          </a:p>
        </p:txBody>
      </p:sp>
      <p:sp>
        <p:nvSpPr>
          <p:cNvPr id="10" name="QAR Text 41">
            <a:extLst>
              <a:ext uri="{FF2B5EF4-FFF2-40B4-BE49-F238E27FC236}">
                <a16:creationId xmlns:a16="http://schemas.microsoft.com/office/drawing/2014/main" id="{E639223D-E968-A508-28A4-ADF9ABD6535F}"/>
              </a:ext>
            </a:extLst>
          </p:cNvPr>
          <p:cNvSpPr txBox="1"/>
          <p:nvPr/>
        </p:nvSpPr>
        <p:spPr>
          <a:xfrm>
            <a:off x="6748572" y="3079611"/>
            <a:ext cx="4572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sz="14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한빛IT의 7천만원 실적은 공고의 실적 금액 기준을 충족하나요?</a:t>
            </a:r>
          </a:p>
        </p:txBody>
      </p:sp>
      <p:sp>
        <p:nvSpPr>
          <p:cNvPr id="11" name="QAR Card 42">
            <a:extLst>
              <a:ext uri="{FF2B5EF4-FFF2-40B4-BE49-F238E27FC236}">
                <a16:creationId xmlns:a16="http://schemas.microsoft.com/office/drawing/2014/main" id="{3296FFC9-F75F-B7DD-1731-10098D46C302}"/>
              </a:ext>
            </a:extLst>
          </p:cNvPr>
          <p:cNvSpPr/>
          <p:nvPr/>
        </p:nvSpPr>
        <p:spPr>
          <a:xfrm>
            <a:off x="5422692" y="3820275"/>
            <a:ext cx="6080760" cy="868680"/>
          </a:xfrm>
          <a:prstGeom prst="roundRect">
            <a:avLst>
              <a:gd name="adj" fmla="val 7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QAR Text 43">
            <a:extLst>
              <a:ext uri="{FF2B5EF4-FFF2-40B4-BE49-F238E27FC236}">
                <a16:creationId xmlns:a16="http://schemas.microsoft.com/office/drawing/2014/main" id="{43B7FDD1-3EB4-16F2-ADB6-04AF217158AE}"/>
              </a:ext>
            </a:extLst>
          </p:cNvPr>
          <p:cNvSpPr txBox="1"/>
          <p:nvPr/>
        </p:nvSpPr>
        <p:spPr>
          <a:xfrm>
            <a:off x="5623860" y="3875138"/>
            <a:ext cx="1051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sz="1500" b="1" dirty="0">
                <a:solidFill>
                  <a:srgbClr val="1FA595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/>
              </a:rPr>
              <a:t>A · 기대답</a:t>
            </a:r>
          </a:p>
        </p:txBody>
      </p:sp>
      <p:sp>
        <p:nvSpPr>
          <p:cNvPr id="13" name="QAR Text 44">
            <a:extLst>
              <a:ext uri="{FF2B5EF4-FFF2-40B4-BE49-F238E27FC236}">
                <a16:creationId xmlns:a16="http://schemas.microsoft.com/office/drawing/2014/main" id="{EAC5CEDA-03A8-3F74-A18A-6055FA9CDFC6}"/>
              </a:ext>
            </a:extLst>
          </p:cNvPr>
          <p:cNvSpPr txBox="1"/>
          <p:nvPr/>
        </p:nvSpPr>
        <p:spPr>
          <a:xfrm>
            <a:off x="6748572" y="3875138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sz="13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네. 부가세 포함 7천만원으로 금액 기준은 충족합니다. </a:t>
            </a:r>
            <a:endParaRPr lang="en-US" altLang="ko-KR" sz="1300" b="1" dirty="0">
              <a:solidFill>
                <a:srgbClr val="1B2A38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0" indent="0" algn="l">
              <a:buNone/>
            </a:pPr>
            <a:r>
              <a:rPr lang="ko-KR" sz="13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다만 수행 기간·유사성·증빙 등은 별도 검토해야 합니다.</a:t>
            </a:r>
          </a:p>
        </p:txBody>
      </p:sp>
      <p:sp>
        <p:nvSpPr>
          <p:cNvPr id="14" name="QAR Card 45">
            <a:extLst>
              <a:ext uri="{FF2B5EF4-FFF2-40B4-BE49-F238E27FC236}">
                <a16:creationId xmlns:a16="http://schemas.microsoft.com/office/drawing/2014/main" id="{E1F9E7E9-C95B-9226-E7F5-3D76014561E7}"/>
              </a:ext>
            </a:extLst>
          </p:cNvPr>
          <p:cNvSpPr/>
          <p:nvPr/>
        </p:nvSpPr>
        <p:spPr>
          <a:xfrm>
            <a:off x="5422692" y="4798683"/>
            <a:ext cx="6080760" cy="1097280"/>
          </a:xfrm>
          <a:prstGeom prst="roundRect">
            <a:avLst>
              <a:gd name="adj" fmla="val 7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QAR Text 46">
            <a:extLst>
              <a:ext uri="{FF2B5EF4-FFF2-40B4-BE49-F238E27FC236}">
                <a16:creationId xmlns:a16="http://schemas.microsoft.com/office/drawing/2014/main" id="{31734674-AAC0-D8B0-6DEC-B568B7EDDEDD}"/>
              </a:ext>
            </a:extLst>
          </p:cNvPr>
          <p:cNvSpPr txBox="1"/>
          <p:nvPr/>
        </p:nvSpPr>
        <p:spPr>
          <a:xfrm>
            <a:off x="5623860" y="4853546"/>
            <a:ext cx="10515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sz="1500" b="1" dirty="0">
                <a:solidFill>
                  <a:srgbClr val="E0A45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/>
              </a:rPr>
              <a:t>R · 근거</a:t>
            </a:r>
          </a:p>
        </p:txBody>
      </p:sp>
      <p:sp>
        <p:nvSpPr>
          <p:cNvPr id="29" name="QAR Text 47">
            <a:extLst>
              <a:ext uri="{FF2B5EF4-FFF2-40B4-BE49-F238E27FC236}">
                <a16:creationId xmlns:a16="http://schemas.microsoft.com/office/drawing/2014/main" id="{C49C0546-C2AB-D0B6-E94B-75F85AC9BEBF}"/>
              </a:ext>
            </a:extLst>
          </p:cNvPr>
          <p:cNvSpPr txBox="1"/>
          <p:nvPr/>
        </p:nvSpPr>
        <p:spPr>
          <a:xfrm>
            <a:off x="6748572" y="4853546"/>
            <a:ext cx="4572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sz="13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① 공고 제안요청서:</a:t>
            </a:r>
            <a:br>
              <a:rPr 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sz="1300" dirty="0">
                <a:solidFill>
                  <a:srgbClr val="34434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단일 계약금액 7천만원 이상, 부가세 포함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ko-KR" sz="13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② 가상 한빛IT 실적 대장:</a:t>
            </a:r>
            <a:br>
              <a:rPr 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sz="1300" dirty="0">
                <a:solidFill>
                  <a:srgbClr val="34434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해당 실적의 계약금액 7천만원, 부가세 포함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2F76C161-5EB1-827D-C2B9-5151BDB611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970" y="3551687"/>
            <a:ext cx="5116369" cy="2289411"/>
          </a:xfrm>
          <a:prstGeom prst="rect">
            <a:avLst/>
          </a:prstGeom>
        </p:spPr>
      </p:pic>
      <p:sp>
        <p:nvSpPr>
          <p:cNvPr id="41" name="Text 22">
            <a:extLst>
              <a:ext uri="{FF2B5EF4-FFF2-40B4-BE49-F238E27FC236}">
                <a16:creationId xmlns:a16="http://schemas.microsoft.com/office/drawing/2014/main" id="{CAF88260-5746-28B1-301F-094E440E1686}"/>
              </a:ext>
            </a:extLst>
          </p:cNvPr>
          <p:cNvSpPr txBox="1"/>
          <p:nvPr/>
        </p:nvSpPr>
        <p:spPr>
          <a:xfrm>
            <a:off x="9294360" y="2149480"/>
            <a:ext cx="239915" cy="418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+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42" name="QAR Card 39">
            <a:extLst>
              <a:ext uri="{FF2B5EF4-FFF2-40B4-BE49-F238E27FC236}">
                <a16:creationId xmlns:a16="http://schemas.microsoft.com/office/drawing/2014/main" id="{A7853664-BEB8-3D65-D057-B0959BDD55FB}"/>
              </a:ext>
            </a:extLst>
          </p:cNvPr>
          <p:cNvSpPr/>
          <p:nvPr/>
        </p:nvSpPr>
        <p:spPr>
          <a:xfrm>
            <a:off x="1165336" y="5956880"/>
            <a:ext cx="2871785" cy="372665"/>
          </a:xfrm>
          <a:prstGeom prst="roundRect">
            <a:avLst>
              <a:gd name="adj" fmla="val 7805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300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개의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Q-A CSV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이미지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201625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2016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5. 검색 파이프라인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권한 필터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4023360" cy="4709160"/>
          </a:xfrm>
          <a:prstGeom prst="roundRect">
            <a:avLst>
              <a:gd name="adj" fmla="val 3636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2296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유저 DB 구축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22960" y="2377440"/>
            <a:ext cx="3474720" cy="3108960"/>
          </a:xfrm>
          <a:prstGeom prst="roundRect">
            <a:avLst>
              <a:gd name="adj" fmla="val 4118"/>
            </a:avLst>
          </a:prstGeom>
          <a:solidFill>
            <a:srgbClr val="FFFFFF">
              <a:alpha val="45000"/>
            </a:srgbClr>
          </a:solidFill>
          <a:ln w="19050">
            <a:solidFill>
              <a:srgbClr val="D64545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514600" y="2377440"/>
            <a:ext cx="914" cy="3108960"/>
          </a:xfrm>
          <a:prstGeom prst="line">
            <a:avLst/>
          </a:prstGeom>
          <a:noFill/>
          <a:ln w="12700">
            <a:solidFill>
              <a:srgbClr val="D5A5A5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83280" y="2377440"/>
            <a:ext cx="914" cy="3108960"/>
          </a:xfrm>
          <a:prstGeom prst="line">
            <a:avLst/>
          </a:prstGeom>
          <a:noFill/>
          <a:ln w="12700">
            <a:solidFill>
              <a:srgbClr val="D5A5A5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51960" y="2377440"/>
            <a:ext cx="914" cy="3108960"/>
          </a:xfrm>
          <a:prstGeom prst="line">
            <a:avLst/>
          </a:prstGeom>
          <a:noFill/>
          <a:ln w="12700">
            <a:solidFill>
              <a:srgbClr val="D5A5A5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822960" y="237744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4545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※ 내용 미정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5623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구축 과정에 있다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1600200"/>
            <a:ext cx="6793992" cy="4709160"/>
          </a:xfrm>
          <a:prstGeom prst="roundRect">
            <a:avLst>
              <a:gd name="adj" fmla="val 3107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21208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사용자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정보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 flipV="1">
            <a:off x="7040880" y="3017520"/>
            <a:ext cx="2560320" cy="137160"/>
          </a:xfrm>
          <a:prstGeom prst="line">
            <a:avLst/>
          </a:prstGeom>
          <a:noFill/>
          <a:ln w="28575">
            <a:solidFill>
              <a:srgbClr val="2F6FE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 flipV="1">
            <a:off x="7040880" y="3154680"/>
            <a:ext cx="2560320" cy="1143000"/>
          </a:xfrm>
          <a:prstGeom prst="line">
            <a:avLst/>
          </a:prstGeom>
          <a:noFill/>
          <a:ln w="28575">
            <a:solidFill>
              <a:srgbClr val="1FA39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40880" y="4297680"/>
            <a:ext cx="2560320" cy="914"/>
          </a:xfrm>
          <a:prstGeom prst="line">
            <a:avLst/>
          </a:prstGeom>
          <a:noFill/>
          <a:ln w="28575">
            <a:solidFill>
              <a:srgbClr val="1FA39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 flipV="1">
            <a:off x="7040880" y="3291840"/>
            <a:ext cx="2560320" cy="2148840"/>
          </a:xfrm>
          <a:prstGeom prst="line">
            <a:avLst/>
          </a:prstGeom>
          <a:noFill/>
          <a:ln w="28575">
            <a:solidFill>
              <a:srgbClr val="E5604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3" name="Shape 20"/>
          <p:cNvSpPr/>
          <p:nvPr/>
        </p:nvSpPr>
        <p:spPr>
          <a:xfrm flipV="1">
            <a:off x="7040880" y="4434840"/>
            <a:ext cx="2560320" cy="1005840"/>
          </a:xfrm>
          <a:prstGeom prst="line">
            <a:avLst/>
          </a:prstGeom>
          <a:noFill/>
          <a:ln w="28575">
            <a:solidFill>
              <a:srgbClr val="E5604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040880" y="5440680"/>
            <a:ext cx="2560320" cy="137160"/>
          </a:xfrm>
          <a:prstGeom prst="line">
            <a:avLst/>
          </a:prstGeom>
          <a:noFill/>
          <a:ln w="28575">
            <a:solidFill>
              <a:srgbClr val="E5604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394960" y="278892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5394960" y="2788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9601200" y="278892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9601200" y="2788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L1</a:t>
            </a:r>
            <a:endParaRPr lang="en-US" sz="2200" dirty="0"/>
          </a:p>
        </p:txBody>
      </p:sp>
      <p:sp>
        <p:nvSpPr>
          <p:cNvPr id="29" name="Shape 26"/>
          <p:cNvSpPr/>
          <p:nvPr/>
        </p:nvSpPr>
        <p:spPr>
          <a:xfrm>
            <a:off x="5394960" y="393192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1FA394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5394960" y="3931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L2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9601200" y="393192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9601200" y="3931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L2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5394960" y="507492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E5604D"/>
          </a:solidFill>
          <a:ln w="12700">
            <a:solidFill>
              <a:srgbClr val="E560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5394960" y="5074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L3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9601200" y="5074920"/>
            <a:ext cx="16459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604D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9601200" y="5074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604D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L3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5. </a:t>
            </a:r>
            <a:r>
              <a:rPr lang="en-US" sz="13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검색</a:t>
            </a:r>
            <a:r>
              <a:rPr lang="en-US" sz="13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파이프라인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청크 크기 검증 실험</a:t>
            </a:r>
            <a:endParaRPr lang="en-US" sz="3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Parent</a:t>
            </a:r>
            <a:r>
              <a:rPr lang="ko-KR" altLang="en-US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와 </a:t>
            </a:r>
            <a:r>
              <a:rPr lang="en-US" altLang="ko-KR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Embedding Window</a:t>
            </a:r>
            <a:r>
              <a:rPr lang="ko-KR" altLang="en-US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의 크기를 정하기 위해</a:t>
            </a:r>
            <a:r>
              <a:rPr lang="en-US" sz="180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8가지 </a:t>
            </a:r>
            <a:r>
              <a:rPr lang="en-US" sz="1800" b="1" dirty="0" err="1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설정을</a:t>
            </a:r>
            <a:r>
              <a:rPr lang="en-US" sz="180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비교</a:t>
            </a:r>
            <a:endParaRPr lang="en-US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4480560" cy="4160520"/>
          </a:xfrm>
          <a:prstGeom prst="roundRect">
            <a:avLst>
              <a:gd name="adj" fmla="val 3516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07634" y="4946721"/>
            <a:ext cx="402336" cy="402336"/>
          </a:xfrm>
          <a:prstGeom prst="ellipse">
            <a:avLst/>
          </a:prstGeom>
          <a:solidFill>
            <a:srgbClr val="2F6FE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07634" y="494672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07634" y="5685188"/>
            <a:ext cx="402336" cy="402336"/>
          </a:xfrm>
          <a:prstGeom prst="ellipse">
            <a:avLst/>
          </a:prstGeom>
          <a:solidFill>
            <a:srgbClr val="2F6FE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07634" y="56851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287438" y="4946721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같은 조건, 청크만 변경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287438" y="5240345"/>
            <a:ext cx="3429000" cy="40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4434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검색 엔진(RRF)·임베딩 모델(e5-small)·권한 필터는 그대로 두고 Parent·Window 크기만 바꿈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1287438" y="57258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같은</a:t>
            </a:r>
            <a:r>
              <a:rPr lang="en-US" sz="15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300문항으로 채점</a:t>
            </a:r>
            <a:endParaRPr lang="en-US" sz="1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5120640" y="183561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비교한 8개 설정</a:t>
            </a:r>
            <a:endParaRPr 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120640" y="2141380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5303520" y="2141380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설정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8503920" y="2141380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Parent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0241280" y="2141380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B6B7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Window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120640" y="2584864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5303520" y="2584864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Flat 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8503920" y="2584864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Window 자체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0241280" y="2584864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120640" y="3028348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5303520" y="3028348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P900 / W460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8503920" y="3028348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900자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10241280" y="3028348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120640" y="3471832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5303520" y="3477619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P1200 / W460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8503920" y="3471832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1,200자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10241280" y="3471832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120640" y="3915316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5303520" y="3915316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P1800 / 첫 Window만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8503920" y="3915316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1,800자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10241280" y="3915316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첫 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120640" y="4358800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5303520" y="4358800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P1800 / W256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8503920" y="4358800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1,800자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10241280" y="4358800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256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5120640" y="4802284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5303520" y="4802284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P1800 / W384 (현재 적용)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8503920" y="4802284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1,800자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Text 46"/>
          <p:cNvSpPr txBox="1"/>
          <p:nvPr/>
        </p:nvSpPr>
        <p:spPr>
          <a:xfrm>
            <a:off x="10241280" y="4802284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384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5120640" y="5245768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5303520" y="5245768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P1800 / W460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Text 49"/>
          <p:cNvSpPr txBox="1"/>
          <p:nvPr/>
        </p:nvSpPr>
        <p:spPr>
          <a:xfrm>
            <a:off x="8503920" y="5245768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1,800자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10241280" y="5245768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120640" y="5689252"/>
            <a:ext cx="6583680" cy="443484"/>
          </a:xfrm>
          <a:prstGeom prst="roundRect">
            <a:avLst>
              <a:gd name="adj" fmla="val 16495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77800" dist="635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 52"/>
          <p:cNvSpPr txBox="1"/>
          <p:nvPr/>
        </p:nvSpPr>
        <p:spPr>
          <a:xfrm>
            <a:off x="5303520" y="5689252"/>
            <a:ext cx="310896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P2400 / W460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Text 53"/>
          <p:cNvSpPr txBox="1"/>
          <p:nvPr/>
        </p:nvSpPr>
        <p:spPr>
          <a:xfrm>
            <a:off x="8503920" y="5689252"/>
            <a:ext cx="16459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2,400자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Text 54"/>
          <p:cNvSpPr txBox="1"/>
          <p:nvPr/>
        </p:nvSpPr>
        <p:spPr>
          <a:xfrm>
            <a:off x="10241280" y="5689252"/>
            <a:ext cx="13716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460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0AB10F39-8D90-5CF0-FA2B-1D2F63B10915}"/>
              </a:ext>
            </a:extLst>
          </p:cNvPr>
          <p:cNvSpPr/>
          <p:nvPr/>
        </p:nvSpPr>
        <p:spPr>
          <a:xfrm>
            <a:off x="1463040" y="2153516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93E336B1-4B2E-ECB9-FCD0-61BEB2A194AB}"/>
              </a:ext>
            </a:extLst>
          </p:cNvPr>
          <p:cNvSpPr txBox="1"/>
          <p:nvPr/>
        </p:nvSpPr>
        <p:spPr>
          <a:xfrm>
            <a:off x="1463040" y="21535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 원문</a:t>
            </a:r>
            <a:endParaRPr lang="en-US" sz="1600"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2" name="Shape 7">
            <a:extLst>
              <a:ext uri="{FF2B5EF4-FFF2-40B4-BE49-F238E27FC236}">
                <a16:creationId xmlns:a16="http://schemas.microsoft.com/office/drawing/2014/main" id="{8299F29C-D025-116F-608A-916E0E4FC35F}"/>
              </a:ext>
            </a:extLst>
          </p:cNvPr>
          <p:cNvSpPr/>
          <p:nvPr/>
        </p:nvSpPr>
        <p:spPr>
          <a:xfrm>
            <a:off x="2468880" y="2656436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4A365BF5-083D-2C0D-E297-EBD69F87F605}"/>
              </a:ext>
            </a:extLst>
          </p:cNvPr>
          <p:cNvSpPr/>
          <p:nvPr/>
        </p:nvSpPr>
        <p:spPr>
          <a:xfrm>
            <a:off x="960120" y="2839316"/>
            <a:ext cx="3291840" cy="914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1001CA77-53CA-EDA1-DC86-1F121FF62CD4}"/>
              </a:ext>
            </a:extLst>
          </p:cNvPr>
          <p:cNvSpPr/>
          <p:nvPr/>
        </p:nvSpPr>
        <p:spPr>
          <a:xfrm>
            <a:off x="960120" y="2839316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9A5AA3B8-43E5-DA0F-441F-7C881877268D}"/>
              </a:ext>
            </a:extLst>
          </p:cNvPr>
          <p:cNvSpPr/>
          <p:nvPr/>
        </p:nvSpPr>
        <p:spPr>
          <a:xfrm>
            <a:off x="548640" y="302219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EFCA0CE9-E6DA-1E14-A9C1-1A7BEB23F6BA}"/>
              </a:ext>
            </a:extLst>
          </p:cNvPr>
          <p:cNvSpPr txBox="1"/>
          <p:nvPr/>
        </p:nvSpPr>
        <p:spPr>
          <a:xfrm>
            <a:off x="548640" y="30221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P1</a:t>
            </a:r>
            <a:endParaRPr lang="en-US" sz="1600" dirty="0"/>
          </a:p>
        </p:txBody>
      </p:sp>
      <p:sp>
        <p:nvSpPr>
          <p:cNvPr id="72" name="Shape 12">
            <a:extLst>
              <a:ext uri="{FF2B5EF4-FFF2-40B4-BE49-F238E27FC236}">
                <a16:creationId xmlns:a16="http://schemas.microsoft.com/office/drawing/2014/main" id="{0F2A6FAB-C64B-E363-AFB2-F15FA7BC9CAE}"/>
              </a:ext>
            </a:extLst>
          </p:cNvPr>
          <p:cNvSpPr/>
          <p:nvPr/>
        </p:nvSpPr>
        <p:spPr>
          <a:xfrm>
            <a:off x="2057400" y="2839316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2F8DA524-1086-814D-0FB9-D30313158972}"/>
              </a:ext>
            </a:extLst>
          </p:cNvPr>
          <p:cNvSpPr/>
          <p:nvPr/>
        </p:nvSpPr>
        <p:spPr>
          <a:xfrm>
            <a:off x="1645920" y="302219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08A0BD50-A61C-8A36-B79B-3D38162381D6}"/>
              </a:ext>
            </a:extLst>
          </p:cNvPr>
          <p:cNvSpPr txBox="1"/>
          <p:nvPr/>
        </p:nvSpPr>
        <p:spPr>
          <a:xfrm>
            <a:off x="1645920" y="30221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P2</a:t>
            </a:r>
            <a:endParaRPr lang="en-US" sz="1600" dirty="0"/>
          </a:p>
        </p:txBody>
      </p:sp>
      <p:sp>
        <p:nvSpPr>
          <p:cNvPr id="78" name="Shape 15">
            <a:extLst>
              <a:ext uri="{FF2B5EF4-FFF2-40B4-BE49-F238E27FC236}">
                <a16:creationId xmlns:a16="http://schemas.microsoft.com/office/drawing/2014/main" id="{B7EB895B-9258-0080-1D88-B9DFDFED754E}"/>
              </a:ext>
            </a:extLst>
          </p:cNvPr>
          <p:cNvSpPr/>
          <p:nvPr/>
        </p:nvSpPr>
        <p:spPr>
          <a:xfrm>
            <a:off x="3154680" y="2839316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23D94B0B-1B8B-BB57-B391-60BA44AAC03D}"/>
              </a:ext>
            </a:extLst>
          </p:cNvPr>
          <p:cNvSpPr/>
          <p:nvPr/>
        </p:nvSpPr>
        <p:spPr>
          <a:xfrm>
            <a:off x="2743200" y="302219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2" name="Text 17">
            <a:extLst>
              <a:ext uri="{FF2B5EF4-FFF2-40B4-BE49-F238E27FC236}">
                <a16:creationId xmlns:a16="http://schemas.microsoft.com/office/drawing/2014/main" id="{2C928F5D-03C9-D740-3754-214B89187334}"/>
              </a:ext>
            </a:extLst>
          </p:cNvPr>
          <p:cNvSpPr txBox="1"/>
          <p:nvPr/>
        </p:nvSpPr>
        <p:spPr>
          <a:xfrm>
            <a:off x="2743200" y="30221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P3</a:t>
            </a:r>
            <a:endParaRPr lang="en-US" sz="1600" dirty="0"/>
          </a:p>
        </p:txBody>
      </p:sp>
      <p:sp>
        <p:nvSpPr>
          <p:cNvPr id="84" name="Shape 18">
            <a:extLst>
              <a:ext uri="{FF2B5EF4-FFF2-40B4-BE49-F238E27FC236}">
                <a16:creationId xmlns:a16="http://schemas.microsoft.com/office/drawing/2014/main" id="{EE0B543D-AA32-F443-D44A-E1FDB41E30F8}"/>
              </a:ext>
            </a:extLst>
          </p:cNvPr>
          <p:cNvSpPr/>
          <p:nvPr/>
        </p:nvSpPr>
        <p:spPr>
          <a:xfrm>
            <a:off x="4251960" y="2839316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6" name="Shape 19">
            <a:extLst>
              <a:ext uri="{FF2B5EF4-FFF2-40B4-BE49-F238E27FC236}">
                <a16:creationId xmlns:a16="http://schemas.microsoft.com/office/drawing/2014/main" id="{C2848F3D-E580-3A6B-5E73-03092CBF6B95}"/>
              </a:ext>
            </a:extLst>
          </p:cNvPr>
          <p:cNvSpPr/>
          <p:nvPr/>
        </p:nvSpPr>
        <p:spPr>
          <a:xfrm>
            <a:off x="3840480" y="302219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88" name="Text 20">
            <a:extLst>
              <a:ext uri="{FF2B5EF4-FFF2-40B4-BE49-F238E27FC236}">
                <a16:creationId xmlns:a16="http://schemas.microsoft.com/office/drawing/2014/main" id="{3A9E6155-E847-6E4D-DA7F-65B490ABC27C}"/>
              </a:ext>
            </a:extLst>
          </p:cNvPr>
          <p:cNvSpPr txBox="1"/>
          <p:nvPr/>
        </p:nvSpPr>
        <p:spPr>
          <a:xfrm>
            <a:off x="3840480" y="30221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P4</a:t>
            </a:r>
            <a:endParaRPr lang="en-US" sz="1600" dirty="0"/>
          </a:p>
        </p:txBody>
      </p:sp>
      <p:sp>
        <p:nvSpPr>
          <p:cNvPr id="90" name="Shape 21">
            <a:extLst>
              <a:ext uri="{FF2B5EF4-FFF2-40B4-BE49-F238E27FC236}">
                <a16:creationId xmlns:a16="http://schemas.microsoft.com/office/drawing/2014/main" id="{9E08185A-67C1-39BC-1C7A-3F917DFAEDEA}"/>
              </a:ext>
            </a:extLst>
          </p:cNvPr>
          <p:cNvSpPr/>
          <p:nvPr/>
        </p:nvSpPr>
        <p:spPr>
          <a:xfrm flipH="1">
            <a:off x="960120" y="3525116"/>
            <a:ext cx="1097280" cy="594360"/>
          </a:xfrm>
          <a:prstGeom prst="line">
            <a:avLst/>
          </a:prstGeom>
          <a:noFill/>
          <a:ln w="25400">
            <a:solidFill>
              <a:srgbClr val="8A96A3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2" name="Shape 22">
            <a:extLst>
              <a:ext uri="{FF2B5EF4-FFF2-40B4-BE49-F238E27FC236}">
                <a16:creationId xmlns:a16="http://schemas.microsoft.com/office/drawing/2014/main" id="{035B25F4-66F7-1804-F026-CA6B48EA26A6}"/>
              </a:ext>
            </a:extLst>
          </p:cNvPr>
          <p:cNvSpPr/>
          <p:nvPr/>
        </p:nvSpPr>
        <p:spPr>
          <a:xfrm>
            <a:off x="548640" y="411947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FF5F1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4" name="Text 23">
            <a:extLst>
              <a:ext uri="{FF2B5EF4-FFF2-40B4-BE49-F238E27FC236}">
                <a16:creationId xmlns:a16="http://schemas.microsoft.com/office/drawing/2014/main" id="{05E9CC32-EE6B-D68C-88FC-E385640C87CA}"/>
              </a:ext>
            </a:extLst>
          </p:cNvPr>
          <p:cNvSpPr txBox="1"/>
          <p:nvPr/>
        </p:nvSpPr>
        <p:spPr>
          <a:xfrm>
            <a:off x="548640" y="41194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E1</a:t>
            </a:r>
            <a:endParaRPr lang="en-US" sz="1600" dirty="0"/>
          </a:p>
        </p:txBody>
      </p:sp>
      <p:sp>
        <p:nvSpPr>
          <p:cNvPr id="96" name="Shape 24">
            <a:extLst>
              <a:ext uri="{FF2B5EF4-FFF2-40B4-BE49-F238E27FC236}">
                <a16:creationId xmlns:a16="http://schemas.microsoft.com/office/drawing/2014/main" id="{D4C5C93D-318D-1631-C1F8-238D1F01E3B1}"/>
              </a:ext>
            </a:extLst>
          </p:cNvPr>
          <p:cNvSpPr/>
          <p:nvPr/>
        </p:nvSpPr>
        <p:spPr>
          <a:xfrm>
            <a:off x="2057400" y="3525116"/>
            <a:ext cx="914" cy="594360"/>
          </a:xfrm>
          <a:prstGeom prst="line">
            <a:avLst/>
          </a:prstGeom>
          <a:noFill/>
          <a:ln w="25400">
            <a:solidFill>
              <a:srgbClr val="8A96A3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8" name="Shape 25">
            <a:extLst>
              <a:ext uri="{FF2B5EF4-FFF2-40B4-BE49-F238E27FC236}">
                <a16:creationId xmlns:a16="http://schemas.microsoft.com/office/drawing/2014/main" id="{A5A6E3FE-CB96-A4A7-69BF-354C1582A340}"/>
              </a:ext>
            </a:extLst>
          </p:cNvPr>
          <p:cNvSpPr/>
          <p:nvPr/>
        </p:nvSpPr>
        <p:spPr>
          <a:xfrm>
            <a:off x="1645920" y="411947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FF5F1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0" name="Text 26">
            <a:extLst>
              <a:ext uri="{FF2B5EF4-FFF2-40B4-BE49-F238E27FC236}">
                <a16:creationId xmlns:a16="http://schemas.microsoft.com/office/drawing/2014/main" id="{D52E1FC2-53DD-26E7-D2E6-9C7A42F0AF77}"/>
              </a:ext>
            </a:extLst>
          </p:cNvPr>
          <p:cNvSpPr txBox="1"/>
          <p:nvPr/>
        </p:nvSpPr>
        <p:spPr>
          <a:xfrm>
            <a:off x="1645920" y="41194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E2</a:t>
            </a:r>
            <a:endParaRPr lang="en-US" sz="1600" dirty="0"/>
          </a:p>
        </p:txBody>
      </p:sp>
      <p:sp>
        <p:nvSpPr>
          <p:cNvPr id="102" name="Shape 27">
            <a:extLst>
              <a:ext uri="{FF2B5EF4-FFF2-40B4-BE49-F238E27FC236}">
                <a16:creationId xmlns:a16="http://schemas.microsoft.com/office/drawing/2014/main" id="{C84CE50A-2A36-5261-D87B-7C2732CB8444}"/>
              </a:ext>
            </a:extLst>
          </p:cNvPr>
          <p:cNvSpPr/>
          <p:nvPr/>
        </p:nvSpPr>
        <p:spPr>
          <a:xfrm>
            <a:off x="2057400" y="3525116"/>
            <a:ext cx="1097280" cy="594360"/>
          </a:xfrm>
          <a:prstGeom prst="line">
            <a:avLst/>
          </a:prstGeom>
          <a:noFill/>
          <a:ln w="25400">
            <a:solidFill>
              <a:srgbClr val="8A96A3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4" name="Shape 28">
            <a:extLst>
              <a:ext uri="{FF2B5EF4-FFF2-40B4-BE49-F238E27FC236}">
                <a16:creationId xmlns:a16="http://schemas.microsoft.com/office/drawing/2014/main" id="{0722296F-4FBD-2C74-9749-2630487C097D}"/>
              </a:ext>
            </a:extLst>
          </p:cNvPr>
          <p:cNvSpPr/>
          <p:nvPr/>
        </p:nvSpPr>
        <p:spPr>
          <a:xfrm>
            <a:off x="2743200" y="4119476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FF5F1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3CE80AA9-41D0-7D22-ADF4-B8B550A7EC4E}"/>
              </a:ext>
            </a:extLst>
          </p:cNvPr>
          <p:cNvSpPr txBox="1"/>
          <p:nvPr/>
        </p:nvSpPr>
        <p:spPr>
          <a:xfrm>
            <a:off x="2743200" y="41194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E3</a:t>
            </a:r>
            <a:endParaRPr lang="en-US" sz="1600" dirty="0"/>
          </a:p>
        </p:txBody>
      </p:sp>
      <p:sp>
        <p:nvSpPr>
          <p:cNvPr id="108" name="Text 30">
            <a:extLst>
              <a:ext uri="{FF2B5EF4-FFF2-40B4-BE49-F238E27FC236}">
                <a16:creationId xmlns:a16="http://schemas.microsoft.com/office/drawing/2014/main" id="{678C1424-0F1A-BFDD-5309-0F25551BF15C}"/>
              </a:ext>
            </a:extLst>
          </p:cNvPr>
          <p:cNvSpPr txBox="1"/>
          <p:nvPr/>
        </p:nvSpPr>
        <p:spPr>
          <a:xfrm>
            <a:off x="3840480" y="411947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…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95796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292608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02920" y="292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5. 검색 파이프라인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02920" y="6766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청크 </a:t>
            </a:r>
            <a:r>
              <a:rPr lang="en-US" sz="2400" b="1" dirty="0" err="1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크기</a:t>
            </a:r>
            <a:r>
              <a:rPr lang="en-US" sz="24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24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검증 실험 결과</a:t>
            </a:r>
            <a:endParaRPr lang="en-US" sz="2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02919" y="1097279"/>
            <a:ext cx="11833045" cy="346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Parent 1,800자, </a:t>
            </a:r>
            <a:r>
              <a:rPr lang="en-US" sz="1350" b="1" dirty="0" err="1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Window는</a:t>
            </a:r>
            <a:r>
              <a:rPr lang="en-US" sz="135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384</a:t>
            </a:r>
            <a:r>
              <a:rPr lang="ko-KR" altLang="en-US" sz="1350" b="1" dirty="0">
                <a:solidFill>
                  <a:srgbClr val="2F6FE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토큰으로 결정</a:t>
            </a:r>
            <a:endParaRPr lang="en-US" sz="13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20040" y="1481328"/>
            <a:ext cx="3692630" cy="1904378"/>
          </a:xfrm>
          <a:prstGeom prst="roundRect">
            <a:avLst>
              <a:gd name="adj" fmla="val 4706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508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02920" y="1572768"/>
            <a:ext cx="3448892" cy="22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Hit@6 — 상위 6개 안에 정답 근거가 있었던 비율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634899829"/>
              </p:ext>
            </p:extLst>
          </p:nvPr>
        </p:nvGraphicFramePr>
        <p:xfrm>
          <a:off x="457199" y="1865376"/>
          <a:ext cx="3509827" cy="1471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181105" y="1488046"/>
            <a:ext cx="3692630" cy="1904378"/>
          </a:xfrm>
          <a:prstGeom prst="roundRect">
            <a:avLst>
              <a:gd name="adj" fmla="val 4706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508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363985" y="1579486"/>
            <a:ext cx="3448892" cy="22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Hit@4 — 실제 생성(top4)에 들어가는 적중률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2" name="Chart 1"/>
          <p:cNvGraphicFramePr/>
          <p:nvPr>
            <p:extLst>
              <p:ext uri="{D42A27DB-BD31-4B8C-83A1-F6EECF244321}">
                <p14:modId xmlns:p14="http://schemas.microsoft.com/office/powerpoint/2010/main" val="2764256622"/>
              </p:ext>
            </p:extLst>
          </p:nvPr>
        </p:nvGraphicFramePr>
        <p:xfrm>
          <a:off x="4318264" y="1872094"/>
          <a:ext cx="3509827" cy="1471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8029978" y="1480106"/>
            <a:ext cx="3692630" cy="1904378"/>
          </a:xfrm>
          <a:prstGeom prst="roundRect">
            <a:avLst>
              <a:gd name="adj" fmla="val 4706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508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8212858" y="1571546"/>
            <a:ext cx="3448892" cy="224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Evidence Recall@6 — 근거를 폭넓게 찾은 비율</a:t>
            </a:r>
            <a:endParaRPr 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5" name="Chart 2"/>
          <p:cNvGraphicFramePr/>
          <p:nvPr>
            <p:extLst>
              <p:ext uri="{D42A27DB-BD31-4B8C-83A1-F6EECF244321}">
                <p14:modId xmlns:p14="http://schemas.microsoft.com/office/powerpoint/2010/main" val="2573073022"/>
              </p:ext>
            </p:extLst>
          </p:nvPr>
        </p:nvGraphicFramePr>
        <p:xfrm>
          <a:off x="8167137" y="1864154"/>
          <a:ext cx="3509827" cy="1471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Shape 10"/>
          <p:cNvSpPr/>
          <p:nvPr/>
        </p:nvSpPr>
        <p:spPr>
          <a:xfrm>
            <a:off x="320039" y="3828288"/>
            <a:ext cx="5541264" cy="2331720"/>
          </a:xfrm>
          <a:prstGeom prst="roundRect">
            <a:avLst>
              <a:gd name="adj" fmla="val 4706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27000" dist="50800" dir="5400000" algn="bl" rotWithShape="0">
              <a:srgbClr val="1B2A38">
                <a:alpha val="14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502919" y="3919728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accent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256</a:t>
            </a:r>
            <a:r>
              <a:rPr lang="en-US" sz="14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vs </a:t>
            </a:r>
            <a:r>
              <a:rPr lang="en-US" sz="1400" b="1" dirty="0">
                <a:solidFill>
                  <a:srgbClr val="0070C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384</a:t>
            </a:r>
            <a:r>
              <a:rPr lang="en-US" sz="140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— 지표별 우세</a:t>
            </a:r>
            <a:endParaRPr lang="en-US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4595"/>
              </p:ext>
            </p:extLst>
          </p:nvPr>
        </p:nvGraphicFramePr>
        <p:xfrm>
          <a:off x="484631" y="4212336"/>
          <a:ext cx="5084064" cy="1682496"/>
        </p:xfrm>
        <a:graphic>
          <a:graphicData uri="http://schemas.openxmlformats.org/drawingml/2006/table">
            <a:tbl>
              <a:tblPr/>
              <a:tblGrid>
                <a:gridCol w="2432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우세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Hit@1 (1등 정확도)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47.95%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50.00%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384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MRR@6 (순위 품질)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60.01%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60.96%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384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Hit@4 (실제 생성 반영)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73.97%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74.66%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384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근거 문자 커버리지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72.35%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72.70%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F6FE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384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A38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Hit@6/Recall@6 (5~6등 포함)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59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80.1/78.6%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79.8/78.1%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FA595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Malgun Gothic" pitchFamily="34" charset="-120"/>
                        </a:rPr>
                        <a:t>256</a:t>
                      </a:r>
                      <a:endParaRPr lang="en-US" sz="950" dirty="0"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Shape 26">
            <a:extLst>
              <a:ext uri="{FF2B5EF4-FFF2-40B4-BE49-F238E27FC236}">
                <a16:creationId xmlns:a16="http://schemas.microsoft.com/office/drawing/2014/main" id="{C545751F-A8EB-6DB0-400C-62249DA896E6}"/>
              </a:ext>
            </a:extLst>
          </p:cNvPr>
          <p:cNvSpPr/>
          <p:nvPr/>
        </p:nvSpPr>
        <p:spPr>
          <a:xfrm>
            <a:off x="6083910" y="3776472"/>
            <a:ext cx="5577840" cy="2404872"/>
          </a:xfrm>
          <a:prstGeom prst="roundRect">
            <a:avLst>
              <a:gd name="adj" fmla="val 3011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07604D7E-18C7-C7EC-BCC9-915BC0AFDDE8}"/>
              </a:ext>
            </a:extLst>
          </p:cNvPr>
          <p:cNvSpPr txBox="1"/>
          <p:nvPr/>
        </p:nvSpPr>
        <p:spPr>
          <a:xfrm>
            <a:off x="6312510" y="38953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B2A38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지표 용어 설명</a:t>
            </a:r>
            <a:endParaRPr lang="en-US" sz="145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739F1CAB-E01F-306F-8672-1A9C8A94F9F3}"/>
              </a:ext>
            </a:extLst>
          </p:cNvPr>
          <p:cNvSpPr/>
          <p:nvPr/>
        </p:nvSpPr>
        <p:spPr>
          <a:xfrm>
            <a:off x="6312510" y="4283964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1BF6176D-9A33-8EC6-9DC9-09EFC61DE302}"/>
              </a:ext>
            </a:extLst>
          </p:cNvPr>
          <p:cNvSpPr txBox="1"/>
          <p:nvPr/>
        </p:nvSpPr>
        <p:spPr>
          <a:xfrm>
            <a:off x="6312510" y="428396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Hit@6 / Hit@4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CB7C9C74-7DB3-4CBF-E2E4-3CCC9F8A13A1}"/>
              </a:ext>
            </a:extLst>
          </p:cNvPr>
          <p:cNvSpPr txBox="1"/>
          <p:nvPr/>
        </p:nvSpPr>
        <p:spPr>
          <a:xfrm>
            <a:off x="8187030" y="4341114"/>
            <a:ext cx="3337560" cy="279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상위 6개(4개) 후보 중 하나라도 정답 근거와 </a:t>
            </a:r>
            <a:r>
              <a:rPr lang="en-US" sz="108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겹치면</a:t>
            </a:r>
            <a:r>
              <a:rPr 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08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적중</a:t>
            </a:r>
            <a:endParaRPr lang="en-US" sz="10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83F4F4BB-6CB6-7FC5-EA10-752B3A3E594D}"/>
              </a:ext>
            </a:extLst>
          </p:cNvPr>
          <p:cNvSpPr/>
          <p:nvPr/>
        </p:nvSpPr>
        <p:spPr>
          <a:xfrm>
            <a:off x="6312510" y="46863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A595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1A14AEF1-E4F8-875D-BE64-FBB92FF26404}"/>
              </a:ext>
            </a:extLst>
          </p:cNvPr>
          <p:cNvSpPr txBox="1"/>
          <p:nvPr/>
        </p:nvSpPr>
        <p:spPr>
          <a:xfrm>
            <a:off x="6312510" y="46863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Evidence Recall@6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BBEBE70-4F37-FB33-D73A-17772C17C63C}"/>
              </a:ext>
            </a:extLst>
          </p:cNvPr>
          <p:cNvSpPr txBox="1"/>
          <p:nvPr/>
        </p:nvSpPr>
        <p:spPr>
          <a:xfrm>
            <a:off x="8187030" y="474421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정답 근거의</a:t>
            </a:r>
            <a:r>
              <a:rPr 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몇 %를 상위 6개 안에서 </a:t>
            </a:r>
            <a:r>
              <a:rPr lang="en-US" sz="108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찾았는지의</a:t>
            </a:r>
            <a:r>
              <a:rPr 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08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평균</a:t>
            </a:r>
            <a:endParaRPr lang="en-US" sz="10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D3EA10F3-8716-585F-9C93-803F2C3924E5}"/>
              </a:ext>
            </a:extLst>
          </p:cNvPr>
          <p:cNvSpPr/>
          <p:nvPr/>
        </p:nvSpPr>
        <p:spPr>
          <a:xfrm>
            <a:off x="6312510" y="5116068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902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12CF916A-BAF6-5F2C-595A-D3E42D3D037C}"/>
              </a:ext>
            </a:extLst>
          </p:cNvPr>
          <p:cNvSpPr txBox="1"/>
          <p:nvPr/>
        </p:nvSpPr>
        <p:spPr>
          <a:xfrm>
            <a:off x="6312510" y="51160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MRR@6 (순위 품질)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87ED1F35-08AE-829B-8F7A-E4B723AC51BD}"/>
              </a:ext>
            </a:extLst>
          </p:cNvPr>
          <p:cNvSpPr txBox="1"/>
          <p:nvPr/>
        </p:nvSpPr>
        <p:spPr>
          <a:xfrm>
            <a:off x="8187030" y="509778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정답이 몇 등에 </a:t>
            </a:r>
            <a:r>
              <a:rPr lang="en-US" sz="108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있었는지</a:t>
            </a:r>
            <a:r>
              <a:rPr 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 </a:t>
            </a:r>
            <a:r>
              <a:rPr lang="en-US" sz="1080" dirty="0" err="1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점수화</a:t>
            </a:r>
            <a:endParaRPr lang="en-US" sz="1080" dirty="0">
              <a:latin typeface="Noto Sans KR" panose="020B0200000000000000" pitchFamily="50" charset="-127"/>
              <a:ea typeface="Noto Sans KR" panose="020B0200000000000000" pitchFamily="50" charset="-127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080" dirty="0"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1등=1점, 2등=0.5점, 3등=0.33점… 6등 밖이면 0점</a:t>
            </a:r>
            <a:endParaRPr lang="en-US" sz="10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DBBE3C52-CC72-B297-EFC6-11BEE38BB116}"/>
              </a:ext>
            </a:extLst>
          </p:cNvPr>
          <p:cNvSpPr/>
          <p:nvPr/>
        </p:nvSpPr>
        <p:spPr>
          <a:xfrm>
            <a:off x="6312510" y="55549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B0568F"/>
          </a:solidFill>
          <a:ln/>
        </p:spPr>
        <p:txBody>
          <a:bodyPr/>
          <a:lstStyle/>
          <a:p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Text 38">
            <a:extLst>
              <a:ext uri="{FF2B5EF4-FFF2-40B4-BE49-F238E27FC236}">
                <a16:creationId xmlns:a16="http://schemas.microsoft.com/office/drawing/2014/main" id="{E1A7E54B-BF88-06FE-CE0A-9913C614B982}"/>
              </a:ext>
            </a:extLst>
          </p:cNvPr>
          <p:cNvSpPr txBox="1"/>
          <p:nvPr/>
        </p:nvSpPr>
        <p:spPr>
          <a:xfrm>
            <a:off x="6312510" y="55549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 pitchFamily="34" charset="-120"/>
              </a:rPr>
              <a:t>근거 문자 커버리지</a:t>
            </a:r>
            <a:endParaRPr lang="en-US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Text 39">
            <a:extLst>
              <a:ext uri="{FF2B5EF4-FFF2-40B4-BE49-F238E27FC236}">
                <a16:creationId xmlns:a16="http://schemas.microsoft.com/office/drawing/2014/main" id="{FC92A958-D2E6-103E-8385-4ECBC1BF279D}"/>
              </a:ext>
            </a:extLst>
          </p:cNvPr>
          <p:cNvSpPr txBox="1"/>
          <p:nvPr/>
        </p:nvSpPr>
        <p:spPr>
          <a:xfrm>
            <a:off x="8187030" y="5597652"/>
            <a:ext cx="3337560" cy="224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8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정답이</a:t>
            </a:r>
            <a:r>
              <a:rPr lang="en-US" altLang="ko-KR" sz="108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8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적힌</a:t>
            </a:r>
            <a:r>
              <a:rPr lang="en-US" altLang="ko-KR" sz="108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8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부분을</a:t>
            </a:r>
            <a:r>
              <a:rPr lang="en-US" altLang="ko-KR" sz="108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8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</a:t>
            </a:r>
            <a:r>
              <a:rPr lang="en-US" altLang="ko-KR" sz="108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8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</a:t>
            </a:r>
            <a:r>
              <a:rPr lang="en-US" altLang="ko-KR" sz="108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80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가져왔는지의</a:t>
            </a:r>
            <a:r>
              <a:rPr lang="en-US" altLang="ko-KR" sz="108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</a:t>
            </a:r>
            <a:r>
              <a:rPr lang="ko-KR" altLang="en-US" sz="108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율</a:t>
            </a:r>
            <a:endParaRPr lang="en-US" altLang="ko-KR" sz="1080" dirty="0"/>
          </a:p>
        </p:txBody>
      </p:sp>
    </p:spTree>
    <p:extLst>
      <p:ext uri="{BB962C8B-B14F-4D97-AF65-F5344CB8AC3E}">
        <p14:creationId xmlns:p14="http://schemas.microsoft.com/office/powerpoint/2010/main" val="273218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201625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2016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5. 검색 파이프라인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청킹 파트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1463040" y="14630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463040" y="1463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 원문</a:t>
            </a:r>
            <a:endParaRPr lang="en-US" sz="1600"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68880" y="1965960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960120" y="2148840"/>
            <a:ext cx="3291840" cy="914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960120" y="2148840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54864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P1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057400" y="2148840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645920" y="23317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64592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P2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154680" y="2148840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743200" y="23317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274320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51960" y="2148840"/>
            <a:ext cx="914" cy="182880"/>
          </a:xfrm>
          <a:prstGeom prst="line">
            <a:avLst/>
          </a:prstGeom>
          <a:noFill/>
          <a:ln w="25400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3840480" y="23317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E3EEFE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384048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P4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 flipH="1">
            <a:off x="960120" y="2834640"/>
            <a:ext cx="1097280" cy="594360"/>
          </a:xfrm>
          <a:prstGeom prst="line">
            <a:avLst/>
          </a:prstGeom>
          <a:noFill/>
          <a:ln w="25400">
            <a:solidFill>
              <a:srgbClr val="8A96A3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48640" y="34290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FF5F1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54864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E1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2057400" y="2834640"/>
            <a:ext cx="914" cy="594360"/>
          </a:xfrm>
          <a:prstGeom prst="line">
            <a:avLst/>
          </a:prstGeom>
          <a:noFill/>
          <a:ln w="25400">
            <a:solidFill>
              <a:srgbClr val="8A96A3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645920" y="34290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FF5F1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64592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E2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2057400" y="2834640"/>
            <a:ext cx="1097280" cy="594360"/>
          </a:xfrm>
          <a:prstGeom prst="line">
            <a:avLst/>
          </a:prstGeom>
          <a:noFill/>
          <a:ln w="25400">
            <a:solidFill>
              <a:srgbClr val="8A96A3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2743200" y="34290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DFF5F1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274320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E3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3840480" y="3429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…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548640" y="443484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FFF0D9"/>
          </a:solidFill>
          <a:ln w="15875">
            <a:solidFill>
              <a:srgbClr val="2F6FE0"/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548640" y="4434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Q : ______________ ?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 flipH="1" flipV="1">
            <a:off x="3291840" y="3931920"/>
            <a:ext cx="365760" cy="502920"/>
          </a:xfrm>
          <a:prstGeom prst="line">
            <a:avLst/>
          </a:prstGeom>
          <a:noFill/>
          <a:ln w="25400">
            <a:solidFill>
              <a:srgbClr val="1F3A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3520440" y="4023360"/>
            <a:ext cx="274320" cy="274320"/>
          </a:xfrm>
          <a:prstGeom prst="ellipse">
            <a:avLst/>
          </a:prstGeom>
          <a:solidFill>
            <a:srgbClr val="1F3A57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352044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 flipH="1" flipV="1">
            <a:off x="2331720" y="2834640"/>
            <a:ext cx="731520" cy="594360"/>
          </a:xfrm>
          <a:prstGeom prst="line">
            <a:avLst/>
          </a:prstGeom>
          <a:noFill/>
          <a:ln w="25400">
            <a:solidFill>
              <a:srgbClr val="1F3A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2743200" y="3017520"/>
            <a:ext cx="274320" cy="274320"/>
          </a:xfrm>
          <a:prstGeom prst="ellipse">
            <a:avLst/>
          </a:prstGeom>
          <a:solidFill>
            <a:srgbClr val="1F3A57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274320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 flipH="1">
            <a:off x="1508760" y="2834640"/>
            <a:ext cx="182880" cy="457200"/>
          </a:xfrm>
          <a:prstGeom prst="line">
            <a:avLst/>
          </a:prstGeom>
          <a:noFill/>
          <a:ln w="25400">
            <a:solidFill>
              <a:srgbClr val="1F3A57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508760" y="3291840"/>
            <a:ext cx="914" cy="1143000"/>
          </a:xfrm>
          <a:prstGeom prst="line">
            <a:avLst/>
          </a:prstGeom>
          <a:noFill/>
          <a:ln w="25400">
            <a:solidFill>
              <a:srgbClr val="1F3A57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1371600" y="4023360"/>
            <a:ext cx="274320" cy="274320"/>
          </a:xfrm>
          <a:prstGeom prst="ellipse">
            <a:avLst/>
          </a:prstGeom>
          <a:solidFill>
            <a:srgbClr val="1F3A57"/>
          </a:solidFill>
          <a:ln/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13716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212080" y="1463040"/>
            <a:ext cx="6428232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5440680" y="1600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544068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Parent 청크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5440680" y="20574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원문</a:t>
            </a: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공고를</a:t>
            </a: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최대 1800자 단위로 나누어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앞뒤 문맥이 끊기지 않도록 240자씩 </a:t>
            </a:r>
            <a:r>
              <a:rPr lang="en-US" sz="17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겹치게</a:t>
            </a: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(</a:t>
            </a:r>
            <a:r>
              <a:rPr lang="en-US" sz="1700" b="1" dirty="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Overlap</a:t>
            </a: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)</a:t>
            </a:r>
            <a:endParaRPr lang="en-US" sz="1700" dirty="0"/>
          </a:p>
        </p:txBody>
      </p:sp>
      <p:sp>
        <p:nvSpPr>
          <p:cNvPr id="50" name="Shape 47"/>
          <p:cNvSpPr/>
          <p:nvPr/>
        </p:nvSpPr>
        <p:spPr>
          <a:xfrm flipV="1">
            <a:off x="4663440" y="2194560"/>
            <a:ext cx="54864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5212080" y="3108960"/>
            <a:ext cx="6428232" cy="1463040"/>
          </a:xfrm>
          <a:prstGeom prst="roundRect">
            <a:avLst>
              <a:gd name="adj" fmla="val 1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5440680" y="32461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FA394"/>
          </a:solidFill>
          <a:ln w="12700">
            <a:solidFill>
              <a:srgbClr val="1FA394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3" name="Text 50"/>
          <p:cNvSpPr txBox="1"/>
          <p:nvPr/>
        </p:nvSpPr>
        <p:spPr>
          <a:xfrm>
            <a:off x="544068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검색용 임베딩 윈도우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5440680" y="37033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Parent 청크를 </a:t>
            </a:r>
            <a:r>
              <a:rPr lang="en-US" sz="17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최대</a:t>
            </a: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384 토큰으로 나누어</a:t>
            </a:r>
            <a:endParaRPr lang="en-US" sz="1700" dirty="0"/>
          </a:p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40 </a:t>
            </a:r>
            <a:r>
              <a:rPr lang="en-US" sz="17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토큰씩</a:t>
            </a: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7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겹치게</a:t>
            </a: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(</a:t>
            </a:r>
            <a:r>
              <a:rPr lang="en-US" altLang="ko-KR" sz="1700" b="1" dirty="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Overlap</a:t>
            </a:r>
            <a:r>
              <a:rPr lang="en-US" altLang="ko-KR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)</a:t>
            </a:r>
            <a:endParaRPr lang="en-US" sz="1700" dirty="0"/>
          </a:p>
        </p:txBody>
      </p:sp>
      <p:sp>
        <p:nvSpPr>
          <p:cNvPr id="55" name="Shape 52"/>
          <p:cNvSpPr/>
          <p:nvPr/>
        </p:nvSpPr>
        <p:spPr>
          <a:xfrm>
            <a:off x="4663440" y="3703320"/>
            <a:ext cx="548640" cy="1371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ysDot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6" name="Text 53"/>
          <p:cNvSpPr txBox="1"/>
          <p:nvPr/>
        </p:nvSpPr>
        <p:spPr>
          <a:xfrm>
            <a:off x="5296057" y="4709160"/>
            <a:ext cx="6428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토큰: AI 모델의 토크나이저가 문장을 처리하기 위해 나눈 단위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548640" y="5212080"/>
            <a:ext cx="11091672" cy="1280160"/>
          </a:xfrm>
          <a:prstGeom prst="roundRect">
            <a:avLst>
              <a:gd name="adj" fmla="val 11429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58" name="Text 55"/>
          <p:cNvSpPr txBox="1"/>
          <p:nvPr/>
        </p:nvSpPr>
        <p:spPr>
          <a:xfrm>
            <a:off x="822960" y="5303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ko-KR" altLang="en-US" sz="16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텍스트 </a:t>
            </a:r>
            <a:r>
              <a:rPr lang="ko-KR" altLang="en-US" sz="1600" b="1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임베딩</a:t>
            </a:r>
            <a:r>
              <a:rPr lang="ko-KR" altLang="en-US" sz="16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모델</a:t>
            </a:r>
            <a:r>
              <a:rPr lang="en-US" altLang="ko-KR" sz="16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: multilingual-e5-small</a:t>
            </a:r>
            <a:endParaRPr lang="en-US" sz="1600" b="1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E5 모델이 질문과 각 구간의 의미적 </a:t>
            </a:r>
            <a:r>
              <a:rPr lang="en-US" sz="16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관련도</a:t>
            </a:r>
            <a:r>
              <a:rPr lang="en-US" sz="16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계산</a:t>
            </a:r>
            <a:endParaRPr lang="en-US" sz="1600" dirty="0"/>
          </a:p>
        </p:txBody>
      </p:sp>
      <p:sp>
        <p:nvSpPr>
          <p:cNvPr id="59" name="Text 56"/>
          <p:cNvSpPr txBox="1"/>
          <p:nvPr/>
        </p:nvSpPr>
        <p:spPr>
          <a:xfrm>
            <a:off x="6035040" y="530352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altLang="ko-KR" sz="16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✿</a:t>
            </a: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질문을 384차원 숫자벡터로 변환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altLang="ko-KR" sz="16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✿</a:t>
            </a: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문서</a:t>
            </a: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구간</a:t>
            </a: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또한</a:t>
            </a: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같은 형식의 벡터로 변환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altLang="ko-KR" sz="16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✿</a:t>
            </a:r>
            <a:r>
              <a:rPr lang="en-US" sz="16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두 벡터의 의미적 유사도 계산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201625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2016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5. 검색 파이프라인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하이브리드 검색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하이브리드 검색으로 </a:t>
            </a:r>
            <a:r>
              <a:rPr lang="en-US" sz="22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〈정확한 단어〉</a:t>
            </a:r>
            <a:r>
              <a:rPr lang="en-US" sz="2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와 </a:t>
            </a:r>
            <a:r>
              <a:rPr lang="en-US" sz="22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〈</a:t>
            </a:r>
            <a:r>
              <a:rPr lang="en-US" sz="2200" b="1" dirty="0" err="1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비슷한</a:t>
            </a:r>
            <a:r>
              <a:rPr lang="en-US" sz="22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2200" b="1" dirty="0" err="1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의미</a:t>
            </a:r>
            <a:r>
              <a:rPr lang="en-US" sz="22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〉</a:t>
            </a:r>
            <a:r>
              <a:rPr lang="en-US" sz="22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함께 찾는다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43200" y="2286000"/>
            <a:ext cx="2834640" cy="1371600"/>
          </a:xfrm>
          <a:prstGeom prst="roundRect">
            <a:avLst>
              <a:gd name="adj" fmla="val 1066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2743200" y="22860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Lexical 검색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‘글자 일치 여부’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43200" y="4023360"/>
            <a:ext cx="2834640" cy="1371600"/>
          </a:xfrm>
          <a:prstGeom prst="roundRect">
            <a:avLst>
              <a:gd name="adj" fmla="val 10667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2743200" y="402336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Dense 검색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A394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‘뜻이 비슷한지’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 flipV="1">
            <a:off x="2011680" y="2971800"/>
            <a:ext cx="731520" cy="68580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011680" y="3886200"/>
            <a:ext cx="731520" cy="82296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309360" y="3108960"/>
            <a:ext cx="2194560" cy="1371600"/>
          </a:xfrm>
          <a:prstGeom prst="roundRect">
            <a:avLst>
              <a:gd name="adj" fmla="val 10667"/>
            </a:avLst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30936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RRF 알고리즘</a:t>
            </a:r>
            <a:endParaRPr lang="en-US" sz="2000" dirty="0">
              <a:solidFill>
                <a:srgbClr val="FF0000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Calibr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577840" y="2971800"/>
            <a:ext cx="731520" cy="54864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 flipV="1">
            <a:off x="5577840" y="4069080"/>
            <a:ext cx="731520" cy="64008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503920" y="3794760"/>
            <a:ext cx="640080" cy="914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0" y="2834640"/>
            <a:ext cx="2832774" cy="1920240"/>
          </a:xfrm>
          <a:prstGeom prst="roundRect">
            <a:avLst>
              <a:gd name="adj" fmla="val 7619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9325947" y="278892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Top 6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검색 후보 </a:t>
            </a:r>
            <a:r>
              <a:rPr lang="en-US" sz="20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청크</a:t>
            </a: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선정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(</a:t>
            </a:r>
            <a:r>
              <a:rPr lang="en-US" sz="14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문서</a:t>
            </a: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, </a:t>
            </a:r>
            <a:r>
              <a:rPr lang="en-US" sz="1400" dirty="0" err="1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보안등급</a:t>
            </a:r>
            <a:r>
              <a:rPr lang="en-US" sz="14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, 원문위치 등)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1684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822960" y="56235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RRF : Reciprocal Rank Fusion</a:t>
            </a:r>
            <a:endParaRPr lang="en-US" sz="1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순위를 결합해 최종 검색 순위를 산출하는 알고리즘</a:t>
            </a:r>
            <a:endParaRPr lang="en-US" sz="14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EE1F0DA6-F9E1-3A0A-1935-FA2BE793C7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814" t="1013" r="26440" b="-1"/>
          <a:stretch>
            <a:fillRect/>
          </a:stretch>
        </p:blipFill>
        <p:spPr>
          <a:xfrm>
            <a:off x="868680" y="2719463"/>
            <a:ext cx="1005840" cy="18762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201625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2016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6. 환각 탐지 모델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탐지 구조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425996"/>
            <a:ext cx="3566160" cy="2468880"/>
          </a:xfrm>
          <a:prstGeom prst="roundRect">
            <a:avLst>
              <a:gd name="adj" fmla="val 5926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77240" y="15631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Input :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20356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highlight>
                  <a:srgbClr val="FFFF00"/>
                </a:highlight>
                <a:uFill>
                  <a:solidFill>
                    <a:srgbClr val="FF0000"/>
                  </a:solidFill>
                </a:u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Qwen3-8B</a:t>
            </a:r>
            <a:r>
              <a:rPr lang="en-US" sz="1800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가 생성한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altLang="ko-KR" dirty="0">
                <a:solidFill>
                  <a:srgbClr val="0070C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Q</a:t>
            </a:r>
            <a:r>
              <a:rPr lang="en-US" altLang="ko-KR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: </a:t>
            </a:r>
            <a:r>
              <a:rPr lang="ko-KR" altLang="en-US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사용자 질문</a:t>
            </a:r>
            <a:endParaRPr lang="en-US" altLang="ko-KR" dirty="0">
              <a:ea typeface="Noto Sans KR Black" panose="020B0200000000000000" pitchFamily="50" charset="-127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accent6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</a:t>
            </a:r>
            <a:r>
              <a:rPr lang="en-US" sz="18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: LLM </a:t>
            </a:r>
            <a:r>
              <a:rPr lang="ko-KR" altLang="en-US" sz="18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생성 답변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</a:t>
            </a:r>
            <a:r>
              <a:rPr lang="en-US" sz="18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: </a:t>
            </a:r>
            <a:r>
              <a:rPr lang="ko-KR" altLang="en-US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최대 </a:t>
            </a:r>
            <a:r>
              <a:rPr lang="en-US" altLang="ko-KR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4</a:t>
            </a:r>
            <a:r>
              <a:rPr lang="ko-KR" altLang="en-US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개 </a:t>
            </a:r>
            <a:r>
              <a:rPr lang="en-US" altLang="ko-KR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Parent </a:t>
            </a:r>
            <a:r>
              <a:rPr lang="ko-KR" altLang="en-US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 문맥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833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0070C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Q = </a:t>
            </a:r>
            <a:r>
              <a:rPr lang="ko-KR" altLang="en-US" sz="1200" dirty="0">
                <a:solidFill>
                  <a:srgbClr val="0070C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질문 </a:t>
            </a:r>
            <a:r>
              <a:rPr lang="en-US" altLang="ko-KR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· </a:t>
            </a:r>
            <a:r>
              <a:rPr lang="en-US" sz="1200" dirty="0">
                <a:solidFill>
                  <a:schemeClr val="accent6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A = </a:t>
            </a:r>
            <a:r>
              <a:rPr lang="en-US" sz="1200" dirty="0" err="1">
                <a:solidFill>
                  <a:schemeClr val="accent6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</a:t>
            </a:r>
            <a:r>
              <a:rPr lang="en-US" sz="1200" dirty="0">
                <a:solidFill>
                  <a:schemeClr val="accent6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· </a:t>
            </a:r>
            <a:r>
              <a:rPr lang="en-US" sz="1200" dirty="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 = </a:t>
            </a:r>
            <a:r>
              <a:rPr lang="en-US" sz="1200" dirty="0" err="1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</a:t>
            </a:r>
            <a:endParaRPr lang="en-US" sz="1200" dirty="0">
              <a:solidFill>
                <a:schemeClr val="accent2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endParaRPr lang="en-US" sz="1200" dirty="0">
              <a:solidFill>
                <a:srgbClr val="5B6B7A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206240" y="2660436"/>
            <a:ext cx="548640" cy="91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54880" y="1791756"/>
            <a:ext cx="2743200" cy="1737360"/>
          </a:xfrm>
          <a:prstGeom prst="roundRect">
            <a:avLst>
              <a:gd name="adj" fmla="val 8421"/>
            </a:avLst>
          </a:prstGeom>
          <a:solidFill>
            <a:srgbClr val="2F6FE0"/>
          </a:solidFill>
          <a:ln/>
          <a:effectLst>
            <a:outerShdw blurRad="127000" dist="50800" dir="5400000" algn="bl" rotWithShape="0">
              <a:srgbClr val="2F6FE0">
                <a:alpha val="35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754880" y="1791756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탐지모델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7589520" y="2660436"/>
            <a:ext cx="548640" cy="91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138160" y="1425996"/>
            <a:ext cx="3502152" cy="2468880"/>
          </a:xfrm>
          <a:prstGeom prst="roundRect">
            <a:avLst>
              <a:gd name="adj" fmla="val 5926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8366760" y="15631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Output :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020356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__________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+ </a:t>
            </a:r>
            <a:r>
              <a:rPr lang="en-US" sz="20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신뢰도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+ </a:t>
            </a:r>
            <a:r>
              <a:rPr lang="ko-KR" altLang="en-US" sz="20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의심</a:t>
            </a:r>
            <a:r>
              <a:rPr lang="en-US" sz="20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구간 좌표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 flipH="1">
            <a:off x="2743200" y="3529115"/>
            <a:ext cx="2377440" cy="916961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7132320" y="3529116"/>
            <a:ext cx="2330806" cy="86868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dash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743200" y="4397796"/>
            <a:ext cx="6766560" cy="100584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3017520" y="4397796"/>
            <a:ext cx="6217920" cy="116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ko-KR" altLang="en-US" sz="20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답변의 각 토큰을 </a:t>
            </a:r>
            <a:r>
              <a:rPr lang="en-US" sz="2000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</a:t>
            </a:r>
            <a:r>
              <a:rPr lang="en-US" sz="20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ko-KR" altLang="en-US" sz="2000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문맥과 대조</a:t>
            </a:r>
            <a:endParaRPr lang="en-US" sz="20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ko-KR" altLang="en-US" sz="2000" b="1" u="sng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근거 </a:t>
            </a:r>
            <a:r>
              <a:rPr lang="en-US" sz="2000" b="1" u="sng" dirty="0" err="1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지지</a:t>
            </a:r>
            <a:r>
              <a:rPr lang="en-US" sz="2000" b="1" u="sng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/ </a:t>
            </a:r>
            <a:r>
              <a:rPr lang="ko-KR" altLang="en-US" sz="2000" b="1" u="sng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환각 의심</a:t>
            </a:r>
            <a:r>
              <a:rPr lang="en-US" sz="2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중 하나 선택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9509760" y="5129316"/>
            <a:ext cx="457200" cy="914"/>
          </a:xfrm>
          <a:prstGeom prst="line">
            <a:avLst/>
          </a:prstGeom>
          <a:noFill/>
          <a:ln w="25400">
            <a:solidFill>
              <a:srgbClr val="2F6FE0"/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 flipV="1">
            <a:off x="9966960" y="3894876"/>
            <a:ext cx="914" cy="1234440"/>
          </a:xfrm>
          <a:prstGeom prst="line">
            <a:avLst/>
          </a:prstGeom>
          <a:noFill/>
          <a:ln w="25400">
            <a:solidFill>
              <a:srgbClr val="2F6FE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" name="Shape 21">
            <a:extLst>
              <a:ext uri="{FF2B5EF4-FFF2-40B4-BE49-F238E27FC236}">
                <a16:creationId xmlns:a16="http://schemas.microsoft.com/office/drawing/2014/main" id="{584CD92E-4F3E-458A-C3F2-7CE3D5194D9F}"/>
              </a:ext>
            </a:extLst>
          </p:cNvPr>
          <p:cNvSpPr/>
          <p:nvPr/>
        </p:nvSpPr>
        <p:spPr>
          <a:xfrm>
            <a:off x="525490" y="5681431"/>
            <a:ext cx="11091672" cy="868680"/>
          </a:xfrm>
          <a:prstGeom prst="roundRect">
            <a:avLst>
              <a:gd name="adj" fmla="val 16842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BD7411A9-75DD-8BA6-09FB-C8ADB4EA6DBB}"/>
              </a:ext>
            </a:extLst>
          </p:cNvPr>
          <p:cNvSpPr txBox="1"/>
          <p:nvPr/>
        </p:nvSpPr>
        <p:spPr>
          <a:xfrm>
            <a:off x="799810" y="5681431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b="1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Top</a:t>
            </a:r>
            <a:r>
              <a:rPr lang="ko-KR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6 후보 </a:t>
            </a:r>
            <a:r>
              <a:rPr lang="ko-KR" altLang="ko-KR" b="1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청크</a:t>
            </a:r>
            <a:r>
              <a:rPr lang="ko-KR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→ 최대 4개 </a:t>
            </a:r>
            <a:r>
              <a:rPr lang="ko-KR" altLang="ko-KR" b="1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Parent</a:t>
            </a:r>
            <a:r>
              <a:rPr lang="ko-KR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근거 구성 → LLM 답변 생성 → </a:t>
            </a:r>
            <a:endParaRPr lang="en-US" altLang="ko-KR" b="1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			</a:t>
            </a:r>
            <a:r>
              <a:rPr lang="ko-KR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동일 근거와 답변을 탐지 모델에 입력 → 환각 의심 구절 표시</a:t>
            </a:r>
            <a:endParaRPr 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idan\Desktop\AI프로젝트\데스크톱_정리\파랑새_빌드\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47472"/>
            <a:ext cx="201625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347472"/>
            <a:ext cx="20162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6. 환각 탐지 모델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77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모델 비교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2743200" cy="841248"/>
          </a:xfrm>
          <a:prstGeom prst="roundRect">
            <a:avLst>
              <a:gd name="adj" fmla="val 13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163098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RAGTruth</a:t>
            </a: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데이터셋</a:t>
            </a:r>
            <a:endParaRPr lang="en-US" sz="1500" b="1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algn="ctr"/>
            <a:r>
              <a:rPr lang="ko-KR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 속 환각 구절을 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근거와 대조해 표시한 데이터셋</a:t>
            </a:r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920240" y="2426890"/>
            <a:ext cx="914" cy="32004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2788840"/>
            <a:ext cx="2743200" cy="821179"/>
          </a:xfrm>
          <a:prstGeom prst="roundRect">
            <a:avLst>
              <a:gd name="adj" fmla="val 13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49554" y="2788840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gemma-3-12b-it </a:t>
            </a:r>
            <a:r>
              <a:rPr lang="en-US" sz="15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번역</a:t>
            </a:r>
            <a:endParaRPr lang="en-US" sz="1500" b="1" dirty="0">
              <a:solidFill>
                <a:srgbClr val="1B2A38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Malgun Gothic" pitchFamily="34" charset="-120"/>
            </a:endParaRPr>
          </a:p>
          <a:p>
            <a:pPr algn="ctr"/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영문</a:t>
            </a:r>
            <a:r>
              <a:rPr lang="ko-KR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데이터셋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</a:t>
            </a:r>
            <a:r>
              <a:rPr lang="en-US" altLang="ko-KR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한글로 번역</a:t>
            </a:r>
            <a:endParaRPr lang="en-US" altLang="ko-KR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920240" y="3656674"/>
            <a:ext cx="914" cy="32004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976714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48640" y="397671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번역 검사 · 위치 보정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920240" y="4662514"/>
            <a:ext cx="914" cy="320040"/>
          </a:xfrm>
          <a:prstGeom prst="line">
            <a:avLst/>
          </a:prstGeom>
          <a:noFill/>
          <a:ln w="5080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14400" y="4982554"/>
            <a:ext cx="2011680" cy="685800"/>
          </a:xfrm>
          <a:prstGeom prst="roundRect">
            <a:avLst>
              <a:gd name="adj" fmla="val 50000"/>
            </a:avLst>
          </a:prstGeom>
          <a:solidFill>
            <a:srgbClr val="2F6FE0"/>
          </a:solidFill>
          <a:ln w="12700">
            <a:solidFill>
              <a:srgbClr val="2F6FE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914400" y="498255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학습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3611880" y="14630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한국어로 번역한 </a:t>
            </a:r>
            <a:r>
              <a:rPr lang="en-US" altLang="ko-KR" b="1" dirty="0" err="1">
                <a:solidFill>
                  <a:srgbClr val="FF000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RAGTruth</a:t>
            </a:r>
            <a:r>
              <a:rPr lang="ko-KR" altLang="en-US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를 이용해 세 인코더를 학습</a:t>
            </a: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altLang="ko-KR" b="1" dirty="0"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·</a:t>
            </a:r>
            <a:r>
              <a:rPr lang="en-US" sz="18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 </a:t>
            </a:r>
            <a:r>
              <a:rPr lang="en-US" sz="1800" b="1" dirty="0" err="1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평가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611880" y="1920240"/>
            <a:ext cx="2514600" cy="1783080"/>
          </a:xfrm>
          <a:prstGeom prst="roundRect">
            <a:avLst>
              <a:gd name="adj" fmla="val 820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3794760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xlm-roberta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3794760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특징: 다국어 (100개 언어)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79476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macro F1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794760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0.6527</a:t>
            </a:r>
            <a:endParaRPr lang="en-US" sz="3000" dirty="0"/>
          </a:p>
        </p:txBody>
      </p:sp>
      <p:sp>
        <p:nvSpPr>
          <p:cNvPr id="26" name="Shape 23"/>
          <p:cNvSpPr/>
          <p:nvPr/>
        </p:nvSpPr>
        <p:spPr>
          <a:xfrm>
            <a:off x="6391656" y="1920240"/>
            <a:ext cx="2514600" cy="1783080"/>
          </a:xfrm>
          <a:prstGeom prst="roundRect">
            <a:avLst>
              <a:gd name="adj" fmla="val 8205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6574536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klue-roberta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6574536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특징: 한국어 전용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574536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macro F1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574536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0.6980</a:t>
            </a:r>
            <a:endParaRPr lang="en-US" sz="3000" dirty="0"/>
          </a:p>
        </p:txBody>
      </p:sp>
      <p:sp>
        <p:nvSpPr>
          <p:cNvPr id="31" name="Shape 28"/>
          <p:cNvSpPr/>
          <p:nvPr/>
        </p:nvSpPr>
        <p:spPr>
          <a:xfrm>
            <a:off x="9171432" y="1920240"/>
            <a:ext cx="2514600" cy="1783080"/>
          </a:xfrm>
          <a:prstGeom prst="roundRect">
            <a:avLst>
              <a:gd name="adj" fmla="val 820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9354312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bge-m3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9354312" y="23957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특징: 긴 문맥 (2048 토큰)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354312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macro F1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354312" y="3108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F6FE0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0.7385</a:t>
            </a:r>
            <a:endParaRPr lang="en-US" sz="30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5533055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28">
            <a:extLst>
              <a:ext uri="{FF2B5EF4-FFF2-40B4-BE49-F238E27FC236}">
                <a16:creationId xmlns:a16="http://schemas.microsoft.com/office/drawing/2014/main" id="{344F9F96-34B6-61A5-FD5A-81FDFFC54A4C}"/>
              </a:ext>
            </a:extLst>
          </p:cNvPr>
          <p:cNvSpPr/>
          <p:nvPr/>
        </p:nvSpPr>
        <p:spPr>
          <a:xfrm>
            <a:off x="3611880" y="4091013"/>
            <a:ext cx="8074152" cy="2356441"/>
          </a:xfrm>
          <a:prstGeom prst="roundRect">
            <a:avLst>
              <a:gd name="adj" fmla="val 820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  <a:effectLst>
            <a:outerShdw blurRad="152400" dist="50800" dir="5400000" algn="bl" rotWithShape="0">
              <a:srgbClr val="1B2A38">
                <a:alpha val="16000"/>
              </a:srgbClr>
            </a:outerShdw>
          </a:effectLst>
        </p:spPr>
        <p:txBody>
          <a:bodyPr/>
          <a:lstStyle/>
          <a:p>
            <a:endParaRPr lang="ko-KR" altLang="en-US" dirty="0">
              <a:ea typeface="Noto Sans KR Black" panose="020B0200000000000000" pitchFamily="50" charset="-127"/>
            </a:endParaRPr>
          </a:p>
        </p:txBody>
      </p:sp>
      <p:sp>
        <p:nvSpPr>
          <p:cNvPr id="7" name="Text 29">
            <a:extLst>
              <a:ext uri="{FF2B5EF4-FFF2-40B4-BE49-F238E27FC236}">
                <a16:creationId xmlns:a16="http://schemas.microsoft.com/office/drawing/2014/main" id="{020B8A95-8121-9372-82C0-034AB2AF6E2E}"/>
              </a:ext>
            </a:extLst>
          </p:cNvPr>
          <p:cNvSpPr txBox="1"/>
          <p:nvPr/>
        </p:nvSpPr>
        <p:spPr>
          <a:xfrm>
            <a:off x="3763668" y="4219778"/>
            <a:ext cx="6899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BERT </a:t>
            </a:r>
            <a:r>
              <a:rPr lang="ko-KR" altLang="en-US" sz="1700" b="1" dirty="0">
                <a:solidFill>
                  <a:srgbClr val="1B2A38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Malgun Gothic" pitchFamily="34" charset="-120"/>
              </a:rPr>
              <a:t>계열 인코더 선택 이유</a:t>
            </a:r>
            <a:endParaRPr lang="en-US" sz="1700" dirty="0"/>
          </a:p>
        </p:txBody>
      </p:sp>
      <p:sp>
        <p:nvSpPr>
          <p:cNvPr id="19" name="Text 30">
            <a:extLst>
              <a:ext uri="{FF2B5EF4-FFF2-40B4-BE49-F238E27FC236}">
                <a16:creationId xmlns:a16="http://schemas.microsoft.com/office/drawing/2014/main" id="{A8AC1C06-59D5-9801-0953-045AB8AD3893}"/>
              </a:ext>
            </a:extLst>
          </p:cNvPr>
          <p:cNvSpPr txBox="1"/>
          <p:nvPr/>
        </p:nvSpPr>
        <p:spPr>
          <a:xfrm>
            <a:off x="3763669" y="4566502"/>
            <a:ext cx="7785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우리의 목적은 새로운 답변을 생성하는 것이 아니라, </a:t>
            </a:r>
            <a:endParaRPr lang="en-US" altLang="ko-KR" sz="14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ko-KR" sz="1400" b="1" dirty="0" err="1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질문·답변·근거를</a:t>
            </a:r>
            <a:r>
              <a:rPr lang="ko-KR" altLang="ko-KR" sz="1400" b="1" dirty="0">
                <a:solidFill>
                  <a:schemeClr val="accent5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함께 읽고 </a:t>
            </a:r>
            <a:r>
              <a:rPr lang="ko-KR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답변의 각 토큰이 근거로 지지되는지 판정하는 </a:t>
            </a:r>
            <a:r>
              <a:rPr lang="ko-KR" altLang="en-US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것</a:t>
            </a:r>
            <a:endParaRPr lang="en-US" altLang="ko-KR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 30">
            <a:extLst>
              <a:ext uri="{FF2B5EF4-FFF2-40B4-BE49-F238E27FC236}">
                <a16:creationId xmlns:a16="http://schemas.microsoft.com/office/drawing/2014/main" id="{A50461B1-F0EA-6E8D-5CDB-669A02A2B50F}"/>
              </a:ext>
            </a:extLst>
          </p:cNvPr>
          <p:cNvSpPr txBox="1"/>
          <p:nvPr/>
        </p:nvSpPr>
        <p:spPr>
          <a:xfrm>
            <a:off x="3763669" y="5202844"/>
            <a:ext cx="7785204" cy="908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✿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답변의 각 토큰에 근거 지지 / 환각 의심 확률을 직접 출력</a:t>
            </a:r>
          </a:p>
          <a:p>
            <a:pPr lvl="0"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✿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생성형 </a:t>
            </a:r>
            <a:r>
              <a:rPr lang="ko-KR" altLang="ko-KR" sz="14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LLM보다</a:t>
            </a:r>
            <a:r>
              <a:rPr lang="ko-KR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작고 빠르므로 답변마다 반복 실행하기 용이</a:t>
            </a:r>
          </a:p>
          <a:p>
            <a:pPr lvl="0"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✿</a:t>
            </a:r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폐쇄망에서 로컬로 구동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2163</Words>
  <Application>Microsoft Office PowerPoint</Application>
  <PresentationFormat>와이드스크린</PresentationFormat>
  <Paragraphs>548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Noto Sans KR</vt:lpstr>
      <vt:lpstr>Noto Sans KR Black</vt:lpstr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ASTRA 발표 - RBAC와 실시간 환각 검증 기반의 공공입찰 AI 솔루션</dc:title>
  <dc:subject>PptxGenJS Presentation</dc:subject>
  <dc:creator>PptxGenJS</dc:creator>
  <cp:lastModifiedBy>진우 양</cp:lastModifiedBy>
  <cp:revision>190</cp:revision>
  <dcterms:created xsi:type="dcterms:W3CDTF">2026-09-21T01:30:49Z</dcterms:created>
  <dcterms:modified xsi:type="dcterms:W3CDTF">2026-09-23T00:15:35Z</dcterms:modified>
</cp:coreProperties>
</file>