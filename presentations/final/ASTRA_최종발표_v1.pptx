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bee422c34d34725" /><Relationship Type="http://schemas.openxmlformats.org/officeDocument/2006/relationships/extended-properties" Target="/docProps/app.xml" Id="Rca0257890cc64ea2" /><Relationship Type="http://schemas.openxmlformats.org/officeDocument/2006/relationships/officeDocument" Target="/ppt/presentation.xml" Id="Rf573adff13004b8c" /></Relationships>
</file>

<file path=ppt/presentation.xml><?xml version="1.0" encoding="utf-8"?>
<p:presentation xmlns:p="http://schemas.openxmlformats.org/presentationml/2006/main">
  <p:sldMasterIdLst>
    <p:sldMasterId xmlns:r="http://schemas.openxmlformats.org/officeDocument/2006/relationships" id="2147483648" r:id="Ra87ccc35f11d4489"/>
  </p:sldMasterIdLst>
  <p:notesMasterIdLst>
    <p:notesMasterId xmlns:r="http://schemas.openxmlformats.org/officeDocument/2006/relationships" r:id="R9f41b847b8c04225"/>
  </p:notesMasterIdLst>
  <p:sldIdLst>
    <p:sldId xmlns:r="http://schemas.openxmlformats.org/officeDocument/2006/relationships" id="256" r:id="R5ba9c77ed89149ea"/>
    <p:sldId xmlns:r="http://schemas.openxmlformats.org/officeDocument/2006/relationships" id="257" r:id="Rb69158f435ad4653"/>
    <p:sldId xmlns:r="http://schemas.openxmlformats.org/officeDocument/2006/relationships" id="258" r:id="Rba349736ec2741b1"/>
    <p:sldId xmlns:r="http://schemas.openxmlformats.org/officeDocument/2006/relationships" id="259" r:id="R22a488defb244762"/>
    <p:sldId xmlns:r="http://schemas.openxmlformats.org/officeDocument/2006/relationships" id="260" r:id="Rcc6248bc3927422c"/>
    <p:sldId xmlns:r="http://schemas.openxmlformats.org/officeDocument/2006/relationships" id="261" r:id="Rf2aafac0ed6c4532"/>
    <p:sldId xmlns:r="http://schemas.openxmlformats.org/officeDocument/2006/relationships" id="262" r:id="Reece37760c384a78"/>
    <p:sldId xmlns:r="http://schemas.openxmlformats.org/officeDocument/2006/relationships" id="263" r:id="R0fe7b15927b54731"/>
    <p:sldId xmlns:r="http://schemas.openxmlformats.org/officeDocument/2006/relationships" id="264" r:id="R151e28b4499a4499"/>
    <p:sldId xmlns:r="http://schemas.openxmlformats.org/officeDocument/2006/relationships" id="265" r:id="R524282ecf0d04e27"/>
    <p:sldId xmlns:r="http://schemas.openxmlformats.org/officeDocument/2006/relationships" id="266" r:id="R540379ebfce94b40"/>
    <p:sldId xmlns:r="http://schemas.openxmlformats.org/officeDocument/2006/relationships" id="267" r:id="Rcf7121cba06c4285"/>
    <p:sldId xmlns:r="http://schemas.openxmlformats.org/officeDocument/2006/relationships" id="268" r:id="Rcb04fed2e96c4b5e"/>
    <p:sldId xmlns:r="http://schemas.openxmlformats.org/officeDocument/2006/relationships" id="269" r:id="R9a0c848a87884e93"/>
    <p:sldId xmlns:r="http://schemas.openxmlformats.org/officeDocument/2006/relationships" id="270" r:id="R47d4a8ddb4a54311"/>
    <p:sldId xmlns:r="http://schemas.openxmlformats.org/officeDocument/2006/relationships" id="271" r:id="R8b33b4b3800d4ed1"/>
    <p:sldId xmlns:r="http://schemas.openxmlformats.org/officeDocument/2006/relationships" id="272" r:id="R1f1942982e374068"/>
    <p:sldId xmlns:r="http://schemas.openxmlformats.org/officeDocument/2006/relationships" id="273" r:id="Re7d0733f094043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709707794f43c1" /><Relationship Type="http://schemas.openxmlformats.org/officeDocument/2006/relationships/slideMaster" Target="/ppt/slideMasters/slideMaster1.xml" Id="Ra87ccc35f11d4489" /><Relationship Type="http://schemas.openxmlformats.org/officeDocument/2006/relationships/notesMaster" Target="/ppt/notesMasters/notesMaster1.xml" Id="R9f41b847b8c04225" /><Relationship Type="http://schemas.openxmlformats.org/officeDocument/2006/relationships/presProps" Target="/ppt/presProps.xml" Id="R71cb263d76aa4613" /><Relationship Type="http://schemas.openxmlformats.org/officeDocument/2006/relationships/tableStyles" Target="/ppt/tableStyles.xml" Id="R8147ae1afb264fb9" /><Relationship Type="http://schemas.openxmlformats.org/officeDocument/2006/relationships/slide" Target="/ppt/slides/slide1.xml" Id="R5ba9c77ed89149ea" /><Relationship Type="http://schemas.openxmlformats.org/officeDocument/2006/relationships/slide" Target="/ppt/slides/slide2.xml" Id="Rb69158f435ad4653" /><Relationship Type="http://schemas.openxmlformats.org/officeDocument/2006/relationships/slide" Target="/ppt/slides/slide3.xml" Id="Rba349736ec2741b1" /><Relationship Type="http://schemas.openxmlformats.org/officeDocument/2006/relationships/slide" Target="/ppt/slides/slide4.xml" Id="R22a488defb244762" /><Relationship Type="http://schemas.openxmlformats.org/officeDocument/2006/relationships/slide" Target="/ppt/slides/slide5.xml" Id="Rcc6248bc3927422c" /><Relationship Type="http://schemas.openxmlformats.org/officeDocument/2006/relationships/slide" Target="/ppt/slides/slide6.xml" Id="Rf2aafac0ed6c4532" /><Relationship Type="http://schemas.openxmlformats.org/officeDocument/2006/relationships/slide" Target="/ppt/slides/slide7.xml" Id="Reece37760c384a78" /><Relationship Type="http://schemas.openxmlformats.org/officeDocument/2006/relationships/slide" Target="/ppt/slides/slide8.xml" Id="R0fe7b15927b54731" /><Relationship Type="http://schemas.openxmlformats.org/officeDocument/2006/relationships/slide" Target="/ppt/slides/slide9.xml" Id="R151e28b4499a4499" /><Relationship Type="http://schemas.openxmlformats.org/officeDocument/2006/relationships/slide" Target="/ppt/slides/slide10.xml" Id="R524282ecf0d04e27" /><Relationship Type="http://schemas.openxmlformats.org/officeDocument/2006/relationships/slide" Target="/ppt/slides/slide11.xml" Id="R540379ebfce94b40" /><Relationship Type="http://schemas.openxmlformats.org/officeDocument/2006/relationships/slide" Target="/ppt/slides/slide12.xml" Id="Rcf7121cba06c4285" /><Relationship Type="http://schemas.openxmlformats.org/officeDocument/2006/relationships/slide" Target="/ppt/slides/slide13.xml" Id="Rcb04fed2e96c4b5e" /><Relationship Type="http://schemas.openxmlformats.org/officeDocument/2006/relationships/slide" Target="/ppt/slides/slide14.xml" Id="R9a0c848a87884e93" /><Relationship Type="http://schemas.openxmlformats.org/officeDocument/2006/relationships/slide" Target="/ppt/slides/slide15.xml" Id="R47d4a8ddb4a54311" /><Relationship Type="http://schemas.openxmlformats.org/officeDocument/2006/relationships/slide" Target="/ppt/slides/slide16.xml" Id="R8b33b4b3800d4ed1" /><Relationship Type="http://schemas.openxmlformats.org/officeDocument/2006/relationships/slide" Target="/ppt/slides/slide17.xml" Id="R1f1942982e374068" /><Relationship Type="http://schemas.openxmlformats.org/officeDocument/2006/relationships/slide" Target="/ppt/slides/slide18.xml" Id="Re7d0733f094043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28de49dd8b4f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1e2656448b48f1" /><Relationship Type="http://schemas.openxmlformats.org/officeDocument/2006/relationships/notesMaster" Target="/ppt/notesMasters/notesMaster1.xml" Id="R9b536abdf54743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6da073511a4e8d" /><Relationship Type="http://schemas.openxmlformats.org/officeDocument/2006/relationships/notesMaster" Target="/ppt/notesMasters/notesMaster1.xml" Id="R2951a3a497654d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01558bc40f475a" /><Relationship Type="http://schemas.openxmlformats.org/officeDocument/2006/relationships/notesMaster" Target="/ppt/notesMasters/notesMaster1.xml" Id="Re6a76fee62dc46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a4c012ea404003" /><Relationship Type="http://schemas.openxmlformats.org/officeDocument/2006/relationships/notesMaster" Target="/ppt/notesMasters/notesMaster1.xml" Id="Rba6e3b2a390e49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4ad81f9f514fce" /><Relationship Type="http://schemas.openxmlformats.org/officeDocument/2006/relationships/notesMaster" Target="/ppt/notesMasters/notesMaster1.xml" Id="R0415976eed1649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69cfe6382344ed" /><Relationship Type="http://schemas.openxmlformats.org/officeDocument/2006/relationships/notesMaster" Target="/ppt/notesMasters/notesMaster1.xml" Id="R1e0f9833501f4a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b96089a3d84e23" /><Relationship Type="http://schemas.openxmlformats.org/officeDocument/2006/relationships/notesMaster" Target="/ppt/notesMasters/notesMaster1.xml" Id="Rfeaebad0a9a04b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a32a41bd1e4574" /><Relationship Type="http://schemas.openxmlformats.org/officeDocument/2006/relationships/notesMaster" Target="/ppt/notesMasters/notesMaster1.xml" Id="R9e891d70b4b64b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bf4c2dff574aab" /><Relationship Type="http://schemas.openxmlformats.org/officeDocument/2006/relationships/notesMaster" Target="/ppt/notesMasters/notesMaster1.xml" Id="Rfa6045d98f2640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4d625235874d09" /><Relationship Type="http://schemas.openxmlformats.org/officeDocument/2006/relationships/notesMaster" Target="/ppt/notesMasters/notesMaster1.xml" Id="R0e3401fb07ad4b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407373aaa048b8" /><Relationship Type="http://schemas.openxmlformats.org/officeDocument/2006/relationships/notesMaster" Target="/ppt/notesMasters/notesMaster1.xml" Id="R45e888cb1baf40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229edefb8c4297" /><Relationship Type="http://schemas.openxmlformats.org/officeDocument/2006/relationships/notesMaster" Target="/ppt/notesMasters/notesMaster1.xml" Id="R2532d6b06b8d4d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2611a5f1504032" /><Relationship Type="http://schemas.openxmlformats.org/officeDocument/2006/relationships/notesMaster" Target="/ppt/notesMasters/notesMaster1.xml" Id="Re2fa8781422540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130d18549644bd" /><Relationship Type="http://schemas.openxmlformats.org/officeDocument/2006/relationships/notesMaster" Target="/ppt/notesMasters/notesMaster1.xml" Id="Rac961cb4f7834d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926754e68540a4" /><Relationship Type="http://schemas.openxmlformats.org/officeDocument/2006/relationships/notesMaster" Target="/ppt/notesMasters/notesMaster1.xml" Id="R5500d577f04b4c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73eee5e7b6946cf" /><Relationship Type="http://schemas.openxmlformats.org/officeDocument/2006/relationships/notesMaster" Target="/ppt/notesMasters/notesMaster1.xml" Id="R8068a107caf148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4ac1a4db534dfe" /><Relationship Type="http://schemas.openxmlformats.org/officeDocument/2006/relationships/notesMaster" Target="/ppt/notesMasters/notesMaster1.xml" Id="R27c0b1630e6049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27422cb3a74ea0" /><Relationship Type="http://schemas.openxmlformats.org/officeDocument/2006/relationships/notesMaster" Target="/ppt/notesMasters/notesMaster1.xml" Id="R35ea4e59dddb49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소개할 ASTRA는 나라장터 공고를 대신 판단하는 자동 낙찰 시스템이 아닙니다. 입찰 담당자가 공개 공고와 회사 자료를 함께 검토할 때, 현재 권한으로 볼 수 있는 근거만 검색하고 로컬 모델의 답변에서 문서가 지지하지 않는 구절을 다시 확인하도록 돕는 시스템입니다. 발표에서는 문제, 데이터, 권한형 RAG, 환각 검증, 현재 검증 상태와 데모 순서로 설명하겠습니다.</a:t>
            </a:r>
          </a:p>
          <a:p xmlns:a="http://schemas.openxmlformats.org/drawingml/2006/main">
            <a:r>
              <a:t/>
            </a:r>
          </a:p>
          <a:p xmlns:a="http://schemas.openxmlformats.org/drawingml/2006/main">
            <a:r>
              <a:t>근거: project-docs/PPT_최종발표_제작_인수인계_프롬프트.md; project-docs/프로젝트_진행현황_팀공유_2026-09-11.md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문제는 평가 기준을 얼마나 구체적으로 제공했는가입니다. 권익위 공개 의결문에서는 낙찰자 선정 취소 요청과 별개로, 향후 유사 공고에서 평가 방법을 더 명확하게 제공하라는 의견이 제시됐습니다. 두 번째는 정정공고입니다. 실제 공개 공고에서 참가 업종 코드와 일정이 함께 바뀌었습니다. 세 번째는 우리 51건 원문 대조에서 확인한 문서 간 표현 차이입니다. 일정, 실적 범위, 공동수급 조건은 한 파일만 읽고 확정하기 어려웠습니다. 여기에 회사 내부 자료를 외부 모델로 전송할 때의 보안 문제와, 근거를 줘도 답변이 틀릴 수 있다는 문제가 더해집니다.</a:t>
            </a:r>
          </a:p>
          <a:p xmlns:a="http://schemas.openxmlformats.org/drawingml/2006/main">
            <a:r>
              <a:t/>
            </a:r>
          </a:p>
          <a:p xmlns:a="http://schemas.openxmlformats.org/drawingml/2006/main">
            <a:r>
              <a:t>근거: presentations/week3/3주차_진행보고_발표원고.md; project-docs/표본_정보시스템/검수/51건_통합_검토내역.md; presentations/week3/source/acrc_order_excerpt.png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도구 각각은 필요한 기능을 가지고 있습니다. 키워드 검색은 공고번호와 업종 코드 같은 정확한 문자열에 강합니다. 생성 모델은 긴 문서를 빠르게 요약합니다. 접근 통제는 자료의 열람 범위를 제한합니다. 하지만 세 기능이 분리되면 담당자는 답변을 받은 뒤에 다시 최신 공고인지, 회사 권한에 맞는 자료인지, 문서가 실제로 그 주장을 지지하는지 확인해야 합니다. ASTRA는 이 확인 순서를 하나의 요청 안에 묶는 데 초점을 맞췄습니다. 이 슬라이드는 성능 비교가 아니라 업무 흐름의 단절을 설명합니다.</a:t>
            </a:r>
          </a:p>
          <a:p xmlns:a="http://schemas.openxmlformats.org/drawingml/2006/main">
            <a:r>
              <a:t/>
            </a:r>
          </a:p>
          <a:p xmlns:a="http://schemas.openxmlformats.org/drawingml/2006/main">
            <a:r>
              <a:t>근거: procurement-pipeline/rag_pilot.py; procurement-pipeline/security_schema.py; project-docs/나라장터_문제정의_1차리서치_팀원용.md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프로젝트의 목표는 질문을 받는 순간부터 검증 결과를 보여줄 때까지 같은 권한과 같은 문서 버전을 유지하는 것입니다. 먼저 신뢰된 세션의 회사, tenant, 역할, 시나리오와 기준일로 검색 후보를 제한합니다. 그 안에서 키워드 검색과 벡터 검색을 결합합니다. 선택한 근거만 로컬 생성 모델에 보내고, 답변이 나오면 금액과 기간 같은 규칙 검사와 학습된 토큰 분류 탐지기를 별도로 적용합니다. 결과 화면은 단순한 가능 또는 불가능 대신, 근거와 조건 상태, 자료 부족, 의심 구절을 함께 제시하도록 설계했습니다.</a:t>
            </a:r>
          </a:p>
          <a:p xmlns:a="http://schemas.openxmlformats.org/drawingml/2006/main">
            <a:r>
              <a:t/>
            </a:r>
          </a:p>
          <a:p xmlns:a="http://schemas.openxmlformats.org/drawingml/2006/main">
            <a:r>
              <a:t>근거: procurement-pipeline/rag_pilot.py; demo-ui/spatial-poc/live-design/Live_RAG_전환설계.md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구조는 입력, 처리, 출력의 세 구간으로 나뉩니다. 입력에는 나라장터 공개 공고와 합성 기업 자료가 들어갑니다. 처리 구간에서는 문서를 구조화하고 권한으로 후보를 줄인 뒤, 하이브리드 검색과 로컬 답변 생성을 수행합니다. 답변은 바로 끝나지 않고 규칙 검사와 환각 탐지 모델을 거칩니다. 출력은 답변, 출처, 관련 근거, 조건 상태와 의심 구절입니다. 이후 데이터 슬라이드에서는 입력을, RAG 슬라이드에서는 검색과 생성을, 환각 슬라이드에서는 답변 검증을 확대해 설명하겠습니다.</a:t>
            </a:r>
          </a:p>
          <a:p xmlns:a="http://schemas.openxmlformats.org/drawingml/2006/main">
            <a:r>
              <a:t/>
            </a:r>
          </a:p>
          <a:p xmlns:a="http://schemas.openxmlformats.org/drawingml/2006/main">
            <a:r>
              <a:t>시각자료: output/visuals/ASTRA_Input_Process_Output_Pipeline.svg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흐름은 여섯 단계입니다. 공고와 회사를 선택하고 질문을 입력합니다. 서버는 세션의 회사, tenant, 역할과 시나리오를 확인합니다. 그 결과 허용된 문서만 남긴 뒤 하이브리드 검색을 수행합니다. 선택된 근거와 질문은 로컬 모델로 전달됩니다. 생성된 답변은 규칙 검사와 환각 탐지를 거치고, 화면에는 답변과 인용, 근거 문서, 의심 구절이 나타납니다. 여기서 중요한 점은 브라우저의 역할 이름을 바꾸는 것이 권한 변경이 아니라는 점입니다. 파일럿 정책과 실제 운영 인증 체계도 구분해서 설명합니다.</a:t>
            </a:r>
          </a:p>
          <a:p xmlns:a="http://schemas.openxmlformats.org/drawingml/2006/main">
            <a:r>
              <a:t/>
            </a:r>
          </a:p>
          <a:p xmlns:a="http://schemas.openxmlformats.org/drawingml/2006/main">
            <a:r>
              <a:t>시각자료: output/visuals/ASTRA_User_Query_Pipeline.svg; 근거: procurement-pipeline/rag_pilot.py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수집기는 나라장터 OpenAPI에서 4월, 5월, 6월 공고와 첨부를 가져옵니다. 공고 행은 차수를 포함해 137,745건입니다. 첨부 285,252개 가운데 파이프라인에서 사용할 수 있다고 판정한 문서는 246,797개입니다. 그래프는 공고문과 제안요청서 또는 과업·규격서가 함께 있는 완전 공고의 업무별 수입니다. 이 중 정보시스템 구축과 운영 분야에서 월별 17건씩, 총 51건을 표본으로 선정해 조건을 대조했습니다. 모든 첨부가 정상 파싱됐다는 뜻은 아니며 읽을 수 없는 파일은 별도로 남겼습니다.</a:t>
            </a:r>
          </a:p>
          <a:p xmlns:a="http://schemas.openxmlformats.org/drawingml/2006/main">
            <a:r>
              <a:t/>
            </a:r>
          </a:p>
          <a:p xmlns:a="http://schemas.openxmlformats.org/drawingml/2006/main">
            <a:r>
              <a:t>근거: project-docs/데이터현황/3개월_통합현황.md; project-docs/표본_정보시스템/검수/재확인_원문대조_결과.md; procurement-pipeline/collector/g2b_rag_pipeline/README.md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L1은 실제 나라장터 공개 공고와 공개 첨부입니다. L2는 51건의 조건을 비교하기 위해 만든 가상 기업 5곳의 실적, 인력, 인증 자료입니다. L3는 같은 가상 기업의 원가와 마진, 투찰 검토 자료입니다. 같은 가격이라는 단어도 L1에서는 공개 예산, L2에서는 회사 실적액, L3에서는 내부 원가처럼 의미와 공개 범위가 다릅니다. L2와 L3는 실제 기업에서 받은 기밀자료가 아닙니다. 또한 문서에 L1, L2, L3를 붙이는 분류와 사용자의 접근 권한을 검사하는 과정은 별개입니다.</a:t>
            </a:r>
          </a:p>
          <a:p xmlns:a="http://schemas.openxmlformats.org/drawingml/2006/main">
            <a:r>
              <a:t/>
            </a:r>
          </a:p>
          <a:p xmlns:a="http://schemas.openxmlformats.org/drawingml/2006/main">
            <a:r>
              <a:t>근거: project-docs/가상기업/v1/README.md; project-docs/RAG파일럿/v1/index_manifest.json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 데이터는 요건추출시트에서 출발합니다. 51건의 참가자격, 실적, 인력, 인증, 일정, 금액과 공동수급 조건을 정리하고, 강점과 제약이 다른 합성 기업 5곳을 설계했습니다. 각 회사당 60문항으로 총 300개의 질문, 기대답, 근거를 만들었습니다. 이 300개는 검색 코퍼스가 아니라 검색과 생성, 환각 탐지를 평가하기 위한 기준입니다. 워크스테이션 실행에는 실제 생성 답변 295건과 권한 때문에 모델을 호출하지 않은 정상 차단 5건이 있습니다. 25문항은 팀원 검수가 접수됐지만 최종 사람 승인은 아직 남아 있습니다.</a:t>
            </a:r>
          </a:p>
          <a:p xmlns:a="http://schemas.openxmlformats.org/drawingml/2006/main">
            <a:r>
              <a:t/>
            </a:r>
          </a:p>
          <a:p xmlns:a="http://schemas.openxmlformats.org/drawingml/2006/main">
            <a:r>
              <a:t>근거: project-docs/평가데이터/v2/validation/report.json; project-docs/RAG파일럿/workstation-275/evaluation/final_summary.json; project-docs/환각라벨링/pilot-25-human-review-v1/README.md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파일럿의 역할 정책은 네 가지입니다. viewer는 공개 L1만 봅니다. bid analyst는 해당 회사의 L2까지, cost analyst와 bid approver는 허용된 시나리오의 L3까지 접근할 수 있습니다. 역할만 맞으면 끝나는 것이 아니라 로그인 상태, 멤버십, tenant, 회사, 시나리오와 기준일을 함께 확인합니다. 중요한 구현 포인트는 전역 검색을 끝낸 뒤 결과를 숨기는 방식이 아니라, 허용된 문서만 남긴 뒤 키워드와 벡터 점수를 계산한다는 점입니다. 다만 이 표는 파일럿 정책이며 실제 운영용 인증과 인가 체계는 후속 구현 범위입니다.</a:t>
            </a:r>
          </a:p>
          <a:p xmlns:a="http://schemas.openxmlformats.org/drawingml/2006/main">
            <a:r>
              <a:t/>
            </a:r>
          </a:p>
          <a:p xmlns:a="http://schemas.openxmlformats.org/drawingml/2006/main">
            <a:r>
              <a:t>근거: procurement-pipeline/rag_pilot.py ROLE_LEVELS; project-docs/평가데이터/v2/retrieval_manifest.json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검색은 두 방식을 결합합니다. 키워드 쪽은 한국어 두 글자 부분어와 영문, 숫자 단어를 이용한 BM25 형태의 점수를 사용합니다. 공고번호, 업종 코드, 금액과 날짜 같은 정확한 표현에 유리합니다. 벡터 쪽은 multilingual E5 small로 의미가 비슷한 문맥을 찾습니다. 두 결과는 RRF의 k 60 설정으로 순위를 결합하고, 기본 top k는 6입니다. 생성에는 문맥 예산을 고려해 상위 부모 청크를 우선 최대 4개 사용합니다. 이 구조는 하이브리드 RAG이며, 별도 그래프 데이터베이스로 다단계 관계 추론을 완성한 GraphRAG라고 부르지 않습니다.</a:t>
            </a:r>
          </a:p>
          <a:p xmlns:a="http://schemas.openxmlformats.org/drawingml/2006/main">
            <a:r>
              <a:t/>
            </a:r>
          </a:p>
          <a:p xmlns:a="http://schemas.openxmlformats.org/drawingml/2006/main">
            <a:r>
              <a:t>근거: project-docs/RAG파일럿/v1/README.md; procurement-pipeline/rag_pilot.py; procurement-pipeline/rag_pilot_embedding.py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생성 입력에는 시스템 규칙, 사용자 질문, 그리고 검색에서 선택한 실제 근거가 번호와 파일명과 함께 들어갑니다. 문서 ID, 버전, 원문 해시와 문자 위치는 감사 기록에 남깁니다. 평가용 기대답과 금지 주장, 환각 라벨은 런타임 입력에서 차단합니다. 최종 워크스테이션 기록은 Qwen3 4B GGUF Q4_K_M 모델의 생성 답변 295건과, 모델을 호출하지 않은 정상 권한 차단 5건입니다. 출력 잘림 4건과 잘못된 인용번호 1건도 결과를 고쳐 쓰지 않고 남겼습니다. 인용번호가 형식상 맞아도 주장을 실제로 지지하는지는 별도로 검토해야 합니다.</a:t>
            </a:r>
          </a:p>
          <a:p xmlns:a="http://schemas.openxmlformats.org/drawingml/2006/main">
            <a:r>
              <a:t/>
            </a:r>
          </a:p>
          <a:p xmlns:a="http://schemas.openxmlformats.org/drawingml/2006/main">
            <a:r>
              <a:t>근거: project-docs/RAG파일럿/workstation-275/README.md; project-docs/RAG파일럿/workstation-275/evaluation/final_summary.json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탐지기는 세상의 사실을 직접 판정하는 모델이 아닙니다. 당시 답변 생성에 실제로 사용한 근거와 정본 답변을 함께 입력하고, 문서가 답변 토큰을 지지하는지 분류합니다. 긴 답변은 윈도우로 나누되 답변 토큰의 위치를 유지하고, 마지막에는 Unicode 문자 위치로 되돌려 UI에서 형광펜으로 표시합니다. KLUE, XLM-R, BGE-M3는 환각 탐지 후보입니다. 별도로 금액, VAT, 날짜, 자격, FTE처럼 명시적인 항목은 규칙 검사로 대조합니다. 검색용 E5 임베딩과 탐지용 체크포인트도 서로 다른 구성요소입니다.</a:t>
            </a:r>
          </a:p>
          <a:p xmlns:a="http://schemas.openxmlformats.org/drawingml/2006/main">
            <a:r>
              <a:t/>
            </a:r>
          </a:p>
          <a:p xmlns:a="http://schemas.openxmlformats.org/drawingml/2006/main">
            <a:r>
              <a:t>근거: project-docs/환각라벨링/detector-300-workstation-v1/WORKSTATION_PROMPT.md; demo-ui/spatial-poc/detector_bridge.py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후보 모델의 체크포인트와 어댑터는 준비되어 있지만, 기준 브랜치에는 나라장터 295답변에 대한 세 모델의 완료 평가 결과가 없습니다. 따라서 이 슬라이드에서는 모델 크기나 기존 다른 도메인의 점수로 우열을 주장하지 않습니다. 최종 비교에서는 데이터 범위, 사람 정답지 승인 상태, 평가 기준일, 임계값, 긴 답변 잘림 처리, Precision, Recall과 Span F1을 함께 보고해야 합니다. 결과 파일이 고정되기 전까지는 평가 진행 중으로 표시합니다. 체크포인트가 있다는 사실과 운영 성능이 검증됐다는 주장은 다릅니다.</a:t>
            </a:r>
          </a:p>
          <a:p xmlns:a="http://schemas.openxmlformats.org/drawingml/2006/main">
            <a:r>
              <a:t/>
            </a:r>
          </a:p>
          <a:p xmlns:a="http://schemas.openxmlformats.org/drawingml/2006/main">
            <a:r>
              <a:t>근거: project-docs/환각라벨링/detector-300-workstation-v1/README.md; WORKSTATION_PROMPT.md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사람 검수 패키지에서 대표 오류를 세 가지로 나눴습니다. 첫째, 원문은 서울과 경기, 인천 포함이라고 했는데 답변은 인천을 제외해도 된다고 결론 낸 모순입니다. 둘째, 다른 인력 레코드의 0.0 FTE 값을 목표 인력의 잔여값으로 옮겨 쓴 근거 없는 주장입니다. 셋째, 실제 프롬프트에는 근거 1과 2만 있는데 답변이 근거 3을 인용한 경우입니다. 이 구절들은 통합 조정안이며 최종 사람 승인은 아직 pending입니다. 모델 예측과의 비교도 평가 진행 중입니다. 생성 단계의 출력 잘림과 잘못된 인용번호는 별도 품질 문제로 추적합니다.</a:t>
            </a:r>
          </a:p>
          <a:p xmlns:a="http://schemas.openxmlformats.org/drawingml/2006/main">
            <a:r>
              <a:t/>
            </a:r>
          </a:p>
          <a:p xmlns:a="http://schemas.openxmlformats.org/drawingml/2006/main">
            <a:r>
              <a:t>근거: project-docs/환각라벨링/pilot-25-human-review-v1/구절조정목록.tsv; validation_report.json; project-docs/RAG파일럿/workstation-275/README.md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통합 평가에서는 검색, 생성, 사람 라벨과 환각 탐지를 하나의 숫자로 합치지 않습니다. 현재 색인은 223문서와 3,275청크의 구조와 해시가 확인됐습니다. 생성은 295답변과 정상 권한 차단 5건이 완료됐습니다. 사람 라벨은 25문항의 제출 검수가 접수됐지만 최종 승인 단계가 남았습니다. 세 탐지기 비교는 295답변씩 총 885개 추론 슬롯으로 계획되어 있으며 기준 브랜치에서는 평가 진행 중입니다. 자동 구조 검사를 통과했다는 사실을 의미적 정답 승인으로 바꾸지 않고, 탐지 구절이 없다는 결과도 답변 정확성으로 해석하지 않습니다.</a:t>
            </a:r>
          </a:p>
          <a:p xmlns:a="http://schemas.openxmlformats.org/drawingml/2006/main">
            <a:r>
              <a:t/>
            </a:r>
          </a:p>
          <a:p xmlns:a="http://schemas.openxmlformats.org/drawingml/2006/main">
            <a:r>
              <a:t>근거: project-docs/RAG파일럿/v1/index_manifest.json; workstation-275/evaluation/final_summary.json; project-docs/환각라벨링/detector-300-workstation-v1/README.md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데모에서는 먼저 실행 모드를 말하겠습니다. 저장 결과 재생인지, L1 테스트 서버인지, 실제 생성 모델 모드인지 구분합니다. 지도에서 공고를 선택하고 질문을 실행한 뒤, 답변과 출처, 실제 생성에 사용한 근거 경로를 확인합니다. 탐지기가 연결된 경우에는 의심 구절을 형광펜으로 보여줍니다. 화면에 그래프가 있어도 완성형 GraphRAG라고 설명하지 않습니다. 또한 기존 공간형 UI의 로그인과 역할 선택은 시연용 목업입니다. 실제 운영 인증과 L2·L3 자유 질문은 후속 연결 범위입니다.</a:t>
            </a:r>
          </a:p>
          <a:p xmlns:a="http://schemas.openxmlformats.org/drawingml/2006/main">
            <a:r>
              <a:t/>
            </a:r>
          </a:p>
          <a:p xmlns:a="http://schemas.openxmlformats.org/drawingml/2006/main">
            <a:r>
              <a:t>시각자료: presentations/week3/source/astra_building.png; 근거: demo-ui/spatial-poc/dist/rag-observatory.js; L1_SERVER.md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프로젝트는 수집과 파싱, 51건 표본, 가상 기업 5곳, 파일럿 색인 223문서와 3,275청크, 평가 300문항과 295개의 생성 답변을 재현 가능한 자산으로 남겼습니다. 반면 탐지기 세 종의 나라장터 비교 성능, 25문항의 최종 사람 승인, 운영 인증과 인가, L2와 L3 자유 질문, Live DB 연결은 아직 남아 있습니다. 다음 단계는 295답변 전체 탐지 평가와 사람 승인 라벨을 고정하고, 운영 인증과 UI를 실제 서버에 연결하는 것입니다. ASTRA의 방향은 AI가 입찰 여부를 대신 확정하는 것이 아니라, 담당자가 근거와 오류 가능성을 더 빠르게 확인하도록 돕는 것입니다.</a:t>
            </a:r>
          </a:p>
          <a:p xmlns:a="http://schemas.openxmlformats.org/drawingml/2006/main">
            <a:r>
              <a:t/>
            </a:r>
          </a:p>
          <a:p xmlns:a="http://schemas.openxmlformats.org/drawingml/2006/main">
            <a:r>
              <a:t>근거: project-docs/PPT_최종발표_제작_인수인계_프롬프트.md; 각 산출물의 최신 README와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263728ef2e49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aa3604fb714acb" /><Relationship Type="http://schemas.openxmlformats.org/officeDocument/2006/relationships/slideLayout" Target="/ppt/slideLayouts/slideLayout1.xml" Id="Rb7fb58f3a89545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fb58f3a89545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048ee2937c4172" /><Relationship Type="http://schemas.openxmlformats.org/officeDocument/2006/relationships/notesSlide" Target="/ppt/notesSlides/notesSlide1.xml" Id="R9ae4891bf2d140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f201039753456a" /><Relationship Type="http://schemas.openxmlformats.org/officeDocument/2006/relationships/notesSlide" Target="/ppt/notesSlides/notesSlide2.xml" Id="R1834d140311b48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f96fc49a964d57" /><Relationship Type="http://schemas.openxmlformats.org/officeDocument/2006/relationships/notesSlide" Target="/ppt/notesSlides/notesSlide3.xml" Id="R70bd936b864f44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6eb31e4e6043bd" /><Relationship Type="http://schemas.openxmlformats.org/officeDocument/2006/relationships/notesSlide" Target="/ppt/notesSlides/notesSlide4.xml" Id="R7c20fe5388c14c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a8d66962704a0c" /><Relationship Type="http://schemas.openxmlformats.org/officeDocument/2006/relationships/notesSlide" Target="/ppt/notesSlides/notesSlide5.xml" Id="Ra2582d66de4041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e805f5ad1f4cad" /><Relationship Type="http://schemas.openxmlformats.org/officeDocument/2006/relationships/notesSlide" Target="/ppt/notesSlides/notesSlide6.xml" Id="R1e2624d737e64a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0080eee8a94076" /><Relationship Type="http://schemas.openxmlformats.org/officeDocument/2006/relationships/chart" Target="/ppt/slides/charts/chart1.xml" Id="R595b520ec7594411" /><Relationship Type="http://schemas.openxmlformats.org/officeDocument/2006/relationships/notesSlide" Target="/ppt/notesSlides/notesSlide7.xml" Id="R5b1ddee7344443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3260855c134191" /><Relationship Type="http://schemas.openxmlformats.org/officeDocument/2006/relationships/notesSlide" Target="/ppt/notesSlides/notesSlide8.xml" Id="R3bc6843449bc42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40ef54038a4e7a" /><Relationship Type="http://schemas.openxmlformats.org/officeDocument/2006/relationships/notesSlide" Target="/ppt/notesSlides/notesSlide9.xml" Id="R122f1b72706f42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7b65aaf5a34c74" /><Relationship Type="http://schemas.openxmlformats.org/officeDocument/2006/relationships/notesSlide" Target="/ppt/notesSlides/notesSlide10.xml" Id="R8da5130290884a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1b0b6c6b0840d1" /><Relationship Type="http://schemas.openxmlformats.org/officeDocument/2006/relationships/notesSlide" Target="/ppt/notesSlides/notesSlide11.xml" Id="Rc78468d5a2a040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4eee52b99c416e" /><Relationship Type="http://schemas.openxmlformats.org/officeDocument/2006/relationships/notesSlide" Target="/ppt/notesSlides/notesSlide12.xml" Id="R1f113217744342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ff18d4f7c147d3" /><Relationship Type="http://schemas.openxmlformats.org/officeDocument/2006/relationships/notesSlide" Target="/ppt/notesSlides/notesSlide13.xml" Id="Rf857a21289494df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1ea704850924580" /><Relationship Type="http://schemas.openxmlformats.org/officeDocument/2006/relationships/notesSlide" Target="/ppt/notesSlides/notesSlide14.xml" Id="Re83825320d0041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a49416433084809" /><Relationship Type="http://schemas.openxmlformats.org/officeDocument/2006/relationships/notesSlide" Target="/ppt/notesSlides/notesSlide15.xml" Id="Re925b8c4666f4b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00aa7c1c10e47aa" /><Relationship Type="http://schemas.openxmlformats.org/officeDocument/2006/relationships/notesSlide" Target="/ppt/notesSlides/notesSlide16.xml" Id="Ra34a6c112aba46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46aab43572545d1" /><Relationship Type="http://schemas.openxmlformats.org/officeDocument/2006/relationships/image" Target="/ppt/media/image.jpeg" Id="R981e92c880fb438d" /><Relationship Type="http://schemas.openxmlformats.org/officeDocument/2006/relationships/notesSlide" Target="/ppt/notesSlides/notesSlide17.xml" Id="R9bb7d538298e49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09daa02f4241a8" /><Relationship Type="http://schemas.openxmlformats.org/officeDocument/2006/relationships/notesSlide" Target="/ppt/notesSlides/notesSlide18.xml" Id="R2ed0d3a5c281403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완전 공고</c:v>
          </c:tx>
          <c:spPr>
            <a:solidFill xmlns:a="http://schemas.openxmlformats.org/drawingml/2006/main">
              <a:srgbClr val="4D8DFF"/>
            </a:solidFill>
          </c:spPr>
          <c:cat>
            <c:strRef>
              <c:f>'Chart Data'!$A$2:$A$4</c:f>
              <c:strCache>
                <c:ptCount val="3"/>
                <c:pt idx="0">
                  <c:v>용역</c:v>
                </c:pt>
                <c:pt idx="1">
                  <c:v>물품</c:v>
                </c:pt>
                <c:pt idx="2">
                  <c:v>공사</c:v>
                </c:pt>
              </c:strCache>
            </c:strRef>
          </c:cat>
          <c:val>
            <c:numRef>
              <c:f>'Chart Data'!$B$2:$B$4</c:f>
              <c:numCache>
                <c:formatCode>General</c:formatCode>
                <c:ptCount val="3"/>
                <c:pt idx="0">
                  <c:v>28852</c:v>
                </c:pt>
                <c:pt idx="1">
                  <c:v>14145</c:v>
                </c:pt>
                <c:pt idx="2">
                  <c:v>8082</c:v>
                </c:pt>
              </c:numCache>
            </c:numRef>
          </c:val>
        </c:ser>
        <c:dLbls>
          <c:txPr>
            <a:bodyPr xmlns:a="http://schemas.openxmlformats.org/drawingml/2006/main" anchorCtr="1"/>
            <a:lstStyle xmlns:a="http://schemas.openxmlformats.org/drawingml/2006/main"/>
            <a:p xmlns:a="http://schemas.openxmlformats.org/drawingml/2006/main">
              <a:pPr>
                <a:defRPr>
                  <a:latin typeface="Noto Sans CJK KR"/>
                  <a:ea typeface="Noto Sans CJK KR"/>
                  <a:cs typeface="Noto Sans CJK K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CJK KR"/>
                <a:ea typeface="Noto Sans CJK KR"/>
                <a:cs typeface="Noto Sans CJK KR"/>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7C0D002-7A5D-40B6-894D-0B81E7F37746}"/>
              </a:ext>
            </a:extLst>
          </p:cNvPr>
          <p:cNvSpPr>
            <a:spLocks xmlns:a="http://schemas.openxmlformats.org/drawingml/2006/main" noGrp="1"/>
          </p:cNvSpPr>
          <p:nvPr/>
        </p:nvSpPr>
        <p:spPr>
          <a:xfrm xmlns:a="http://schemas.openxmlformats.org/drawingml/2006/main">
            <a:off x="8667750" y="-1238250"/>
            <a:ext cx="5334000" cy="5334000"/>
          </a:xfrm>
          <a:prstGeom xmlns:a="http://schemas.openxmlformats.org/drawingml/2006/main" prst="ellipse">
            <a:avLst/>
          </a:prstGeom>
          <a:solidFill xmlns:a="http://schemas.openxmlformats.org/drawingml/2006/main">
            <a:srgbClr val="0C2F42"/>
          </a:solidFill>
          <a:ln xmlns:a="http://schemas.openxmlformats.org/drawingml/2006/main" w="9525">
            <a:solidFill>
              <a:srgbClr val="0C2F42"/>
            </a:solidFill>
          </a:ln>
        </p:spPr>
      </p:sp>
      <p:sp>
        <p:nvSpPr>
          <p:cNvPr id="2" name="">
            <a:extLst xmlns:a="http://schemas.openxmlformats.org/drawingml/2006/main">
              <a:ext uri="{FF2B5EF4-FFF2-40B4-BE49-F238E27FC236}">
                <a16:creationId xmlns:a16="http://schemas.microsoft.com/office/drawing/2014/main" id="{D572FA5B-6C2E-48A5-993A-A52BEC24D378}"/>
              </a:ext>
            </a:extLst>
          </p:cNvPr>
          <p:cNvSpPr>
            <a:spLocks xmlns:a="http://schemas.openxmlformats.org/drawingml/2006/main" noGrp="1"/>
          </p:cNvSpPr>
          <p:nvPr/>
        </p:nvSpPr>
        <p:spPr>
          <a:xfrm xmlns:a="http://schemas.openxmlformats.org/drawingml/2006/main">
            <a:off x="9620250" y="95250"/>
            <a:ext cx="3429000" cy="3429000"/>
          </a:xfrm>
          <a:prstGeom xmlns:a="http://schemas.openxmlformats.org/drawingml/2006/main" prst="ellipse">
            <a:avLst/>
          </a:prstGeom>
          <a:solidFill xmlns:a="http://schemas.openxmlformats.org/drawingml/2006/main">
            <a:srgbClr val="103F4A"/>
          </a:solidFill>
          <a:ln xmlns:a="http://schemas.openxmlformats.org/drawingml/2006/main" w="9525">
            <a:solidFill>
              <a:srgbClr val="103F4A"/>
            </a:solidFill>
          </a:ln>
        </p:spPr>
      </p:sp>
      <p:sp>
        <p:nvSpPr>
          <p:cNvPr id="3" name="">
            <a:extLst xmlns:a="http://schemas.openxmlformats.org/drawingml/2006/main">
              <a:ext uri="{FF2B5EF4-FFF2-40B4-BE49-F238E27FC236}">
                <a16:creationId xmlns:a16="http://schemas.microsoft.com/office/drawing/2014/main" id="{5568CCCD-5A6B-4719-80DE-56FAEED49DD5}"/>
              </a:ext>
            </a:extLst>
          </p:cNvPr>
          <p:cNvSpPr>
            <a:spLocks xmlns:a="http://schemas.openxmlformats.org/drawingml/2006/main" noGrp="1"/>
          </p:cNvSpPr>
          <p:nvPr/>
        </p:nvSpPr>
        <p:spPr>
          <a:xfrm xmlns:a="http://schemas.openxmlformats.org/drawingml/2006/main">
            <a:off x="-1333500" y="5143500"/>
            <a:ext cx="2952750" cy="2952750"/>
          </a:xfrm>
          <a:prstGeom xmlns:a="http://schemas.openxmlformats.org/drawingml/2006/main" prst="ellipse">
            <a:avLst/>
          </a:prstGeom>
          <a:solidFill xmlns:a="http://schemas.openxmlformats.org/drawingml/2006/main">
            <a:srgbClr val="25192A"/>
          </a:solidFill>
          <a:ln xmlns:a="http://schemas.openxmlformats.org/drawingml/2006/main" w="9525">
            <a:solidFill>
              <a:srgbClr val="25192A"/>
            </a:solidFill>
          </a:ln>
        </p:spPr>
      </p:sp>
      <p:sp>
        <p:nvSpPr>
          <p:cNvPr id="4" name="">
            <a:extLst xmlns:a="http://schemas.openxmlformats.org/drawingml/2006/main">
              <a:ext uri="{FF2B5EF4-FFF2-40B4-BE49-F238E27FC236}">
                <a16:creationId xmlns:a16="http://schemas.microsoft.com/office/drawing/2014/main" id="{1984D797-7915-4763-B6A6-4E785E09A36D}"/>
              </a:ext>
            </a:extLst>
          </p:cNvPr>
          <p:cNvSpPr>
            <a:spLocks xmlns:a="http://schemas.openxmlformats.org/drawingml/2006/main" noGrp="1"/>
          </p:cNvSpPr>
          <p:nvPr/>
        </p:nvSpPr>
        <p:spPr>
          <a:xfrm xmlns:a="http://schemas.openxmlformats.org/drawingml/2006/main">
            <a:off x="609600" y="4953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DD4BF"/>
                </a:solidFill>
                <a:latin typeface="Noto Sans CJK KR"/>
                <a:ea typeface="Noto Sans CJK KR"/>
                <a:cs typeface="Noto Sans CJK KR"/>
              </a:defRPr>
            </a:pPr>
            <a:r>
              <a:rPr sz="1950" b="1">
                <a:solidFill>
                  <a:srgbClr val="2DD4BF"/>
                </a:solidFill>
                <a:latin typeface="Noto Sans CJK KR"/>
                <a:ea typeface="Noto Sans CJK KR"/>
                <a:cs typeface="Noto Sans CJK KR"/>
              </a:rPr>
              <a:t>ASTRA</a:t>
            </a:r>
          </a:p>
        </p:txBody>
      </p:sp>
      <p:sp>
        <p:nvSpPr>
          <p:cNvPr id="5" name="">
            <a:extLst xmlns:a="http://schemas.openxmlformats.org/drawingml/2006/main">
              <a:ext uri="{FF2B5EF4-FFF2-40B4-BE49-F238E27FC236}">
                <a16:creationId xmlns:a16="http://schemas.microsoft.com/office/drawing/2014/main" id="{923EEE28-4E71-401F-A8FF-F988F4B4BA95}"/>
              </a:ext>
            </a:extLst>
          </p:cNvPr>
          <p:cNvSpPr>
            <a:spLocks xmlns:a="http://schemas.openxmlformats.org/drawingml/2006/main" noGrp="1"/>
          </p:cNvSpPr>
          <p:nvPr/>
        </p:nvSpPr>
        <p:spPr>
          <a:xfrm xmlns:a="http://schemas.openxmlformats.org/drawingml/2006/main">
            <a:off x="609600" y="1600200"/>
            <a:ext cx="8763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750" b="1">
                <a:solidFill>
                  <a:srgbClr val="F4F8FB"/>
                </a:solidFill>
                <a:latin typeface="Noto Sans CJK KR"/>
                <a:ea typeface="Noto Sans CJK KR"/>
                <a:cs typeface="Noto Sans CJK KR"/>
              </a:defRPr>
            </a:pPr>
            <a:r>
              <a:rPr sz="3750" b="1">
                <a:solidFill>
                  <a:srgbClr val="F4F8FB"/>
                </a:solidFill>
                <a:latin typeface="Noto Sans CJK KR"/>
                <a:ea typeface="Noto Sans CJK KR"/>
                <a:cs typeface="Noto Sans CJK KR"/>
              </a:rPr>
              <a:t>권한에 맞는 근거로 답하고</a:t>
            </a:r>
          </a:p>
          <a:p xmlns:a="http://schemas.openxmlformats.org/drawingml/2006/main">
            <a:pPr>
              <a:defRPr sz="3750" b="1">
                <a:solidFill>
                  <a:srgbClr val="F4F8FB"/>
                </a:solidFill>
                <a:latin typeface="Noto Sans CJK KR"/>
                <a:ea typeface="Noto Sans CJK KR"/>
                <a:cs typeface="Noto Sans CJK KR"/>
              </a:defRPr>
            </a:pPr>
            <a:r>
              <a:rPr sz="3750" b="1">
                <a:solidFill>
                  <a:srgbClr val="F4F8FB"/>
                </a:solidFill>
                <a:latin typeface="Noto Sans CJK KR"/>
                <a:ea typeface="Noto Sans CJK KR"/>
                <a:cs typeface="Noto Sans CJK KR"/>
              </a:rPr>
              <a:t>의심 구절을 표시하는 조달 검토 시스템</a:t>
            </a:r>
          </a:p>
        </p:txBody>
      </p:sp>
      <p:sp>
        <p:nvSpPr>
          <p:cNvPr id="6" name="">
            <a:extLst xmlns:a="http://schemas.openxmlformats.org/drawingml/2006/main">
              <a:ext uri="{FF2B5EF4-FFF2-40B4-BE49-F238E27FC236}">
                <a16:creationId xmlns:a16="http://schemas.microsoft.com/office/drawing/2014/main" id="{D53C3076-4780-4D4C-BBE7-27FEC10DE52B}"/>
              </a:ext>
            </a:extLst>
          </p:cNvPr>
          <p:cNvSpPr>
            <a:spLocks xmlns:a="http://schemas.openxmlformats.org/drawingml/2006/main" noGrp="1"/>
          </p:cNvSpPr>
          <p:nvPr/>
        </p:nvSpPr>
        <p:spPr>
          <a:xfrm xmlns:a="http://schemas.openxmlformats.org/drawingml/2006/main">
            <a:off x="647700" y="34766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A8BDCC"/>
                </a:solidFill>
                <a:latin typeface="Noto Sans CJK KR"/>
                <a:ea typeface="Noto Sans CJK KR"/>
                <a:cs typeface="Noto Sans CJK KR"/>
              </a:defRPr>
            </a:pPr>
            <a:r>
              <a:rPr sz="1725" b="0">
                <a:solidFill>
                  <a:srgbClr val="A8BDCC"/>
                </a:solidFill>
                <a:latin typeface="Noto Sans CJK KR"/>
                <a:ea typeface="Noto Sans CJK KR"/>
                <a:cs typeface="Noto Sans CJK KR"/>
              </a:rPr>
              <a:t>나라장터 공개 공고 · 합성 기업 자료 · 로컬 RAG · 구절 단위 환각 검증</a:t>
            </a:r>
          </a:p>
        </p:txBody>
      </p:sp>
      <p:sp>
        <p:nvSpPr>
          <p:cNvPr id="7" name="">
            <a:extLst xmlns:a="http://schemas.openxmlformats.org/drawingml/2006/main">
              <a:ext uri="{FF2B5EF4-FFF2-40B4-BE49-F238E27FC236}">
                <a16:creationId xmlns:a16="http://schemas.microsoft.com/office/drawing/2014/main" id="{A3E74106-4415-46C0-9E6A-BA4373C9E31A}"/>
              </a:ext>
            </a:extLst>
          </p:cNvPr>
          <p:cNvSpPr>
            <a:spLocks xmlns:a="http://schemas.openxmlformats.org/drawingml/2006/main" noGrp="1"/>
          </p:cNvSpPr>
          <p:nvPr/>
        </p:nvSpPr>
        <p:spPr>
          <a:xfrm xmlns:a="http://schemas.openxmlformats.org/drawingml/2006/main">
            <a:off x="647700" y="4238625"/>
            <a:ext cx="4972050" cy="0"/>
          </a:xfrm>
          <a:prstGeom xmlns:a="http://schemas.openxmlformats.org/drawingml/2006/main" prst="line">
            <a:avLst/>
          </a:prstGeom>
          <a:noFill xmlns:a="http://schemas.openxmlformats.org/drawingml/2006/main"/>
          <a:ln xmlns:a="http://schemas.openxmlformats.org/drawingml/2006/main" w="47625">
            <a:solidFill>
              <a:srgbClr val="FF6B57"/>
            </a:solidFill>
          </a:ln>
        </p:spPr>
      </p:sp>
      <p:sp>
        <p:nvSpPr>
          <p:cNvPr id="8" name="">
            <a:extLst xmlns:a="http://schemas.openxmlformats.org/drawingml/2006/main">
              <a:ext uri="{FF2B5EF4-FFF2-40B4-BE49-F238E27FC236}">
                <a16:creationId xmlns:a16="http://schemas.microsoft.com/office/drawing/2014/main" id="{50277DAD-2AD8-46C3-8653-2FD05634AE29}"/>
              </a:ext>
            </a:extLst>
          </p:cNvPr>
          <p:cNvSpPr>
            <a:spLocks xmlns:a="http://schemas.openxmlformats.org/drawingml/2006/main" noGrp="1"/>
          </p:cNvSpPr>
          <p:nvPr/>
        </p:nvSpPr>
        <p:spPr>
          <a:xfrm xmlns:a="http://schemas.openxmlformats.org/drawingml/2006/main">
            <a:off x="647700" y="4552950"/>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4F8FB"/>
                </a:solidFill>
                <a:latin typeface="Noto Sans CJK KR"/>
                <a:ea typeface="Noto Sans CJK KR"/>
                <a:cs typeface="Noto Sans CJK KR"/>
              </a:defRPr>
            </a:pPr>
            <a:r>
              <a:rPr sz="1500" b="1">
                <a:solidFill>
                  <a:srgbClr val="F4F8FB"/>
                </a:solidFill>
                <a:latin typeface="Noto Sans CJK KR"/>
                <a:ea typeface="Noto Sans CJK KR"/>
                <a:cs typeface="Noto Sans CJK KR"/>
              </a:rPr>
              <a:t>ko-LettuceDetect / ASTRA  ·  B1조 최종발표</a:t>
            </a:r>
          </a:p>
        </p:txBody>
      </p:sp>
      <p:sp>
        <p:nvSpPr>
          <p:cNvPr id="9" name="">
            <a:extLst xmlns:a="http://schemas.openxmlformats.org/drawingml/2006/main">
              <a:ext uri="{FF2B5EF4-FFF2-40B4-BE49-F238E27FC236}">
                <a16:creationId xmlns:a16="http://schemas.microsoft.com/office/drawing/2014/main" id="{E2710544-38DC-4542-AF79-FBC34A2EFA9D}"/>
              </a:ext>
            </a:extLst>
          </p:cNvPr>
          <p:cNvSpPr>
            <a:spLocks xmlns:a="http://schemas.openxmlformats.org/drawingml/2006/main" noGrp="1"/>
          </p:cNvSpPr>
          <p:nvPr/>
        </p:nvSpPr>
        <p:spPr>
          <a:xfrm xmlns:a="http://schemas.openxmlformats.org/drawingml/2006/main">
            <a:off x="647700" y="49911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2026.10.02</a:t>
            </a:r>
          </a:p>
        </p:txBody>
      </p:sp>
      <p:sp>
        <p:nvSpPr>
          <p:cNvPr id="10" name="">
            <a:extLst xmlns:a="http://schemas.openxmlformats.org/drawingml/2006/main">
              <a:ext uri="{FF2B5EF4-FFF2-40B4-BE49-F238E27FC236}">
                <a16:creationId xmlns:a16="http://schemas.microsoft.com/office/drawing/2014/main" id="{AAE7FAB9-2F2C-48CF-AC58-361D6206FD03}"/>
              </a:ext>
            </a:extLst>
          </p:cNvPr>
          <p:cNvSpPr>
            <a:spLocks xmlns:a="http://schemas.openxmlformats.org/drawingml/2006/main" noGrp="1"/>
          </p:cNvSpPr>
          <p:nvPr/>
        </p:nvSpPr>
        <p:spPr>
          <a:xfrm xmlns:a="http://schemas.openxmlformats.org/drawingml/2006/main">
            <a:off x="9324975" y="36290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4D8DFF"/>
                </a:solidFill>
                <a:latin typeface="Noto Sans CJK KR"/>
                <a:ea typeface="Noto Sans CJK KR"/>
                <a:cs typeface="Noto Sans CJK KR"/>
              </a:defRPr>
            </a:pPr>
            <a:r>
              <a:rPr sz="1125" b="1">
                <a:solidFill>
                  <a:srgbClr val="4D8DFF"/>
                </a:solidFill>
                <a:latin typeface="Noto Sans CJK KR"/>
                <a:ea typeface="Noto Sans CJK KR"/>
                <a:cs typeface="Noto Sans CJK KR"/>
              </a:rPr>
              <a:t>PUBLIC L1</a:t>
            </a:r>
          </a:p>
        </p:txBody>
      </p:sp>
      <p:sp>
        <p:nvSpPr>
          <p:cNvPr id="11" name="">
            <a:extLst xmlns:a="http://schemas.openxmlformats.org/drawingml/2006/main">
              <a:ext uri="{FF2B5EF4-FFF2-40B4-BE49-F238E27FC236}">
                <a16:creationId xmlns:a16="http://schemas.microsoft.com/office/drawing/2014/main" id="{61087A40-29B5-4FAE-8C4C-0F20ED810BDC}"/>
              </a:ext>
            </a:extLst>
          </p:cNvPr>
          <p:cNvSpPr>
            <a:spLocks xmlns:a="http://schemas.openxmlformats.org/drawingml/2006/main" noGrp="1"/>
          </p:cNvSpPr>
          <p:nvPr/>
        </p:nvSpPr>
        <p:spPr>
          <a:xfrm xmlns:a="http://schemas.openxmlformats.org/drawingml/2006/main">
            <a:off x="9324975" y="40576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2DD4BF"/>
                </a:solidFill>
                <a:latin typeface="Noto Sans CJK KR"/>
                <a:ea typeface="Noto Sans CJK KR"/>
                <a:cs typeface="Noto Sans CJK KR"/>
              </a:defRPr>
            </a:pPr>
            <a:r>
              <a:rPr sz="1125" b="1">
                <a:solidFill>
                  <a:srgbClr val="2DD4BF"/>
                </a:solidFill>
                <a:latin typeface="Noto Sans CJK KR"/>
                <a:ea typeface="Noto Sans CJK KR"/>
                <a:cs typeface="Noto Sans CJK KR"/>
              </a:rPr>
              <a:t>SYNTHETIC L2</a:t>
            </a:r>
          </a:p>
        </p:txBody>
      </p:sp>
      <p:sp>
        <p:nvSpPr>
          <p:cNvPr id="12" name="">
            <a:extLst xmlns:a="http://schemas.openxmlformats.org/drawingml/2006/main">
              <a:ext uri="{FF2B5EF4-FFF2-40B4-BE49-F238E27FC236}">
                <a16:creationId xmlns:a16="http://schemas.microsoft.com/office/drawing/2014/main" id="{61779A39-DFAD-4A1C-B8B0-9B53C6501A63}"/>
              </a:ext>
            </a:extLst>
          </p:cNvPr>
          <p:cNvSpPr>
            <a:spLocks xmlns:a="http://schemas.openxmlformats.org/drawingml/2006/main" noGrp="1"/>
          </p:cNvSpPr>
          <p:nvPr/>
        </p:nvSpPr>
        <p:spPr>
          <a:xfrm xmlns:a="http://schemas.openxmlformats.org/drawingml/2006/main">
            <a:off x="9324975" y="44862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FF6B57"/>
                </a:solidFill>
                <a:latin typeface="Noto Sans CJK KR"/>
                <a:ea typeface="Noto Sans CJK KR"/>
                <a:cs typeface="Noto Sans CJK KR"/>
              </a:defRPr>
            </a:pPr>
            <a:r>
              <a:rPr sz="1125" b="1">
                <a:solidFill>
                  <a:srgbClr val="FF6B57"/>
                </a:solidFill>
                <a:latin typeface="Noto Sans CJK KR"/>
                <a:ea typeface="Noto Sans CJK KR"/>
                <a:cs typeface="Noto Sans CJK KR"/>
              </a:rPr>
              <a:t>SYNTHETIC L3</a:t>
            </a:r>
          </a:p>
        </p:txBody>
      </p:sp>
      <p:sp>
        <p:nvSpPr>
          <p:cNvPr id="13" name="">
            <a:extLst xmlns:a="http://schemas.openxmlformats.org/drawingml/2006/main">
              <a:ext uri="{FF2B5EF4-FFF2-40B4-BE49-F238E27FC236}">
                <a16:creationId xmlns:a16="http://schemas.microsoft.com/office/drawing/2014/main" id="{31E7FBAA-5EA0-49DF-B1E9-D702AC859078}"/>
              </a:ext>
            </a:extLst>
          </p:cNvPr>
          <p:cNvSpPr>
            <a:spLocks xmlns:a="http://schemas.openxmlformats.org/drawingml/2006/main" noGrp="1"/>
          </p:cNvSpPr>
          <p:nvPr/>
        </p:nvSpPr>
        <p:spPr>
          <a:xfrm xmlns:a="http://schemas.openxmlformats.org/drawingml/2006/main">
            <a:off x="8858250" y="3648075"/>
            <a:ext cx="152400" cy="152400"/>
          </a:xfrm>
          <a:prstGeom xmlns:a="http://schemas.openxmlformats.org/drawingml/2006/main" prst="ellipse">
            <a:avLst/>
          </a:prstGeom>
          <a:solidFill xmlns:a="http://schemas.openxmlformats.org/drawingml/2006/main">
            <a:srgbClr val="4D8DFF"/>
          </a:solidFill>
          <a:ln xmlns:a="http://schemas.openxmlformats.org/drawingml/2006/main" w="9525">
            <a:solidFill>
              <a:srgbClr val="4D8DFF"/>
            </a:solidFill>
          </a:ln>
        </p:spPr>
      </p:sp>
      <p:sp>
        <p:nvSpPr>
          <p:cNvPr id="14" name="">
            <a:extLst xmlns:a="http://schemas.openxmlformats.org/drawingml/2006/main">
              <a:ext uri="{FF2B5EF4-FFF2-40B4-BE49-F238E27FC236}">
                <a16:creationId xmlns:a16="http://schemas.microsoft.com/office/drawing/2014/main" id="{F8F97531-DE9C-45AA-A5EE-709B7BAE7F42}"/>
              </a:ext>
            </a:extLst>
          </p:cNvPr>
          <p:cNvSpPr>
            <a:spLocks xmlns:a="http://schemas.openxmlformats.org/drawingml/2006/main" noGrp="1"/>
          </p:cNvSpPr>
          <p:nvPr/>
        </p:nvSpPr>
        <p:spPr>
          <a:xfrm xmlns:a="http://schemas.openxmlformats.org/drawingml/2006/main">
            <a:off x="9010650" y="3724275"/>
            <a:ext cx="209550" cy="0"/>
          </a:xfrm>
          <a:prstGeom xmlns:a="http://schemas.openxmlformats.org/drawingml/2006/main" prst="line">
            <a:avLst/>
          </a:prstGeom>
          <a:noFill xmlns:a="http://schemas.openxmlformats.org/drawingml/2006/main"/>
          <a:ln xmlns:a="http://schemas.openxmlformats.org/drawingml/2006/main" w="19050">
            <a:solidFill>
              <a:srgbClr val="4D8DFF"/>
            </a:solidFill>
          </a:ln>
        </p:spPr>
      </p:sp>
      <p:sp>
        <p:nvSpPr>
          <p:cNvPr id="15" name="">
            <a:extLst xmlns:a="http://schemas.openxmlformats.org/drawingml/2006/main">
              <a:ext uri="{FF2B5EF4-FFF2-40B4-BE49-F238E27FC236}">
                <a16:creationId xmlns:a16="http://schemas.microsoft.com/office/drawing/2014/main" id="{518838CC-5D82-405A-8B24-727B2718ABD2}"/>
              </a:ext>
            </a:extLst>
          </p:cNvPr>
          <p:cNvSpPr>
            <a:spLocks xmlns:a="http://schemas.openxmlformats.org/drawingml/2006/main" noGrp="1"/>
          </p:cNvSpPr>
          <p:nvPr/>
        </p:nvSpPr>
        <p:spPr>
          <a:xfrm xmlns:a="http://schemas.openxmlformats.org/drawingml/2006/main">
            <a:off x="8858250" y="4076700"/>
            <a:ext cx="152400" cy="152400"/>
          </a:xfrm>
          <a:prstGeom xmlns:a="http://schemas.openxmlformats.org/drawingml/2006/main" prst="ellipse">
            <a:avLst/>
          </a:prstGeom>
          <a:solidFill xmlns:a="http://schemas.openxmlformats.org/drawingml/2006/main">
            <a:srgbClr val="2DD4BF"/>
          </a:solidFill>
          <a:ln xmlns:a="http://schemas.openxmlformats.org/drawingml/2006/main" w="9525">
            <a:solidFill>
              <a:srgbClr val="2DD4BF"/>
            </a:solidFill>
          </a:ln>
        </p:spPr>
      </p:sp>
      <p:sp>
        <p:nvSpPr>
          <p:cNvPr id="16" name="">
            <a:extLst xmlns:a="http://schemas.openxmlformats.org/drawingml/2006/main">
              <a:ext uri="{FF2B5EF4-FFF2-40B4-BE49-F238E27FC236}">
                <a16:creationId xmlns:a16="http://schemas.microsoft.com/office/drawing/2014/main" id="{A281879B-61E6-4928-97E8-C5EBB2200485}"/>
              </a:ext>
            </a:extLst>
          </p:cNvPr>
          <p:cNvSpPr>
            <a:spLocks xmlns:a="http://schemas.openxmlformats.org/drawingml/2006/main" noGrp="1"/>
          </p:cNvSpPr>
          <p:nvPr/>
        </p:nvSpPr>
        <p:spPr>
          <a:xfrm xmlns:a="http://schemas.openxmlformats.org/drawingml/2006/main">
            <a:off x="9010650" y="4152900"/>
            <a:ext cx="209550" cy="0"/>
          </a:xfrm>
          <a:prstGeom xmlns:a="http://schemas.openxmlformats.org/drawingml/2006/main" prst="line">
            <a:avLst/>
          </a:prstGeom>
          <a:noFill xmlns:a="http://schemas.openxmlformats.org/drawingml/2006/main"/>
          <a:ln xmlns:a="http://schemas.openxmlformats.org/drawingml/2006/main" w="19050">
            <a:solidFill>
              <a:srgbClr val="2DD4BF"/>
            </a:solidFill>
          </a:ln>
        </p:spPr>
      </p:sp>
      <p:sp>
        <p:nvSpPr>
          <p:cNvPr id="17" name="">
            <a:extLst xmlns:a="http://schemas.openxmlformats.org/drawingml/2006/main">
              <a:ext uri="{FF2B5EF4-FFF2-40B4-BE49-F238E27FC236}">
                <a16:creationId xmlns:a16="http://schemas.microsoft.com/office/drawing/2014/main" id="{4E8248D4-6E49-4858-9F97-6EF936858455}"/>
              </a:ext>
            </a:extLst>
          </p:cNvPr>
          <p:cNvSpPr>
            <a:spLocks xmlns:a="http://schemas.openxmlformats.org/drawingml/2006/main" noGrp="1"/>
          </p:cNvSpPr>
          <p:nvPr/>
        </p:nvSpPr>
        <p:spPr>
          <a:xfrm xmlns:a="http://schemas.openxmlformats.org/drawingml/2006/main">
            <a:off x="8858250" y="4505325"/>
            <a:ext cx="152400" cy="152400"/>
          </a:xfrm>
          <a:prstGeom xmlns:a="http://schemas.openxmlformats.org/drawingml/2006/main" prst="ellipse">
            <a:avLst/>
          </a:prstGeom>
          <a:solidFill xmlns:a="http://schemas.openxmlformats.org/drawingml/2006/main">
            <a:srgbClr val="FF6B57"/>
          </a:solidFill>
          <a:ln xmlns:a="http://schemas.openxmlformats.org/drawingml/2006/main" w="9525">
            <a:solidFill>
              <a:srgbClr val="FF6B57"/>
            </a:solidFill>
          </a:ln>
        </p:spPr>
      </p:sp>
      <p:sp>
        <p:nvSpPr>
          <p:cNvPr id="18" name="">
            <a:extLst xmlns:a="http://schemas.openxmlformats.org/drawingml/2006/main">
              <a:ext uri="{FF2B5EF4-FFF2-40B4-BE49-F238E27FC236}">
                <a16:creationId xmlns:a16="http://schemas.microsoft.com/office/drawing/2014/main" id="{D839672F-3544-42EC-AB5A-0B12494D33D7}"/>
              </a:ext>
            </a:extLst>
          </p:cNvPr>
          <p:cNvSpPr>
            <a:spLocks xmlns:a="http://schemas.openxmlformats.org/drawingml/2006/main" noGrp="1"/>
          </p:cNvSpPr>
          <p:nvPr/>
        </p:nvSpPr>
        <p:spPr>
          <a:xfrm xmlns:a="http://schemas.openxmlformats.org/drawingml/2006/main">
            <a:off x="9010650" y="4581525"/>
            <a:ext cx="209550" cy="0"/>
          </a:xfrm>
          <a:prstGeom xmlns:a="http://schemas.openxmlformats.org/drawingml/2006/main" prst="line">
            <a:avLst/>
          </a:prstGeom>
          <a:noFill xmlns:a="http://schemas.openxmlformats.org/drawingml/2006/main"/>
          <a:ln xmlns:a="http://schemas.openxmlformats.org/drawingml/2006/main" w="19050">
            <a:solidFill>
              <a:srgbClr val="FF6B57"/>
            </a:solidFill>
          </a:ln>
        </p:spPr>
      </p:sp>
    </p:spTree>
    <p:extLst>
      <p:ext uri="{BB962C8B-B14F-4D97-AF65-F5344CB8AC3E}">
        <p14:creationId xmlns:p14="http://schemas.microsoft.com/office/powerpoint/2010/main" val="1510312152"/>
      </p:ext>
    </p:extLst>
  </p:cSld>
</p:sld>
</file>

<file path=ppt/slides/slide2.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F8931DD-2DE9-41F5-B25B-7079F48C3480}"/>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01  문제의 현장</a:t>
            </a:r>
          </a:p>
        </p:txBody>
      </p:sp>
      <p:sp>
        <p:nvSpPr>
          <p:cNvPr id="2" name="">
            <a:extLst xmlns:a="http://schemas.openxmlformats.org/drawingml/2006/main">
              <a:ext uri="{FF2B5EF4-FFF2-40B4-BE49-F238E27FC236}">
                <a16:creationId xmlns:a16="http://schemas.microsoft.com/office/drawing/2014/main" id="{FFE137B8-72AF-48A2-9571-B95C69446DDD}"/>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입찰 검토는 문서 한 장을 읽는 일이 아니다</a:t>
            </a:r>
          </a:p>
        </p:txBody>
      </p:sp>
      <p:sp>
        <p:nvSpPr>
          <p:cNvPr id="3" name="">
            <a:extLst xmlns:a="http://schemas.openxmlformats.org/drawingml/2006/main">
              <a:ext uri="{FF2B5EF4-FFF2-40B4-BE49-F238E27FC236}">
                <a16:creationId xmlns:a16="http://schemas.microsoft.com/office/drawing/2014/main" id="{3BA4A438-9460-4F7D-B806-0DABC6AC6CC5}"/>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조건, 버전, 제출 방식이 서로 얽히면 같은 문장도 결론이 달라진다</a:t>
            </a:r>
          </a:p>
        </p:txBody>
      </p:sp>
      <p:sp>
        <p:nvSpPr>
          <p:cNvPr id="4" name="">
            <a:extLst xmlns:a="http://schemas.openxmlformats.org/drawingml/2006/main">
              <a:ext uri="{FF2B5EF4-FFF2-40B4-BE49-F238E27FC236}">
                <a16:creationId xmlns:a16="http://schemas.microsoft.com/office/drawing/2014/main" id="{DA990EED-46D8-4D88-984F-92703B429022}"/>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CDC20418-52BF-463D-848D-58EE78AE6ACA}"/>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6" name="">
            <a:extLst xmlns:a="http://schemas.openxmlformats.org/drawingml/2006/main">
              <a:ext uri="{FF2B5EF4-FFF2-40B4-BE49-F238E27FC236}">
                <a16:creationId xmlns:a16="http://schemas.microsoft.com/office/drawing/2014/main" id="{A3921142-36F4-4E98-AFED-16501C3935A8}"/>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10544E1F-874B-49A1-B3FC-500A073167BD}"/>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5100DC45-D82D-49BE-8E8B-8315E2CCC644}"/>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917C61F5-36DC-4BB4-AE0B-DEAC4F371AC5}"/>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B24A3DF3-A61B-473D-9D9E-2DA5B23F8F4A}"/>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B562A593-5358-4199-98D6-505541D154EF}"/>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02</a:t>
            </a:r>
          </a:p>
        </p:txBody>
      </p:sp>
      <p:sp>
        <p:nvSpPr>
          <p:cNvPr id="12" name="">
            <a:extLst xmlns:a="http://schemas.openxmlformats.org/drawingml/2006/main">
              <a:ext uri="{FF2B5EF4-FFF2-40B4-BE49-F238E27FC236}">
                <a16:creationId xmlns:a16="http://schemas.microsoft.com/office/drawing/2014/main" id="{654E773E-712F-41B6-82DD-03FFA41092F0}"/>
              </a:ext>
            </a:extLst>
          </p:cNvPr>
          <p:cNvSpPr>
            <a:spLocks xmlns:a="http://schemas.openxmlformats.org/drawingml/2006/main" noGrp="1"/>
          </p:cNvSpPr>
          <p:nvPr/>
        </p:nvSpPr>
        <p:spPr>
          <a:xfrm xmlns:a="http://schemas.openxmlformats.org/drawingml/2006/main">
            <a:off x="514350" y="1924050"/>
            <a:ext cx="3524250" cy="2667000"/>
          </a:xfrm>
          <a:prstGeom xmlns:a="http://schemas.openxmlformats.org/drawingml/2006/main" prst="roundRect">
            <a:avLst>
              <a:gd name="adj" fmla="val 2857"/>
            </a:avLst>
          </a:prstGeom>
          <a:solidFill xmlns:a="http://schemas.openxmlformats.org/drawingml/2006/main">
            <a:srgbClr val="102638"/>
          </a:solidFill>
          <a:ln xmlns:a="http://schemas.openxmlformats.org/drawingml/2006/main" w="11430">
            <a:solidFill>
              <a:srgbClr val="355267"/>
            </a:solidFill>
          </a:ln>
        </p:spPr>
      </p:sp>
      <p:sp>
        <p:nvSpPr>
          <p:cNvPr id="13" name="">
            <a:extLst xmlns:a="http://schemas.openxmlformats.org/drawingml/2006/main">
              <a:ext uri="{FF2B5EF4-FFF2-40B4-BE49-F238E27FC236}">
                <a16:creationId xmlns:a16="http://schemas.microsoft.com/office/drawing/2014/main" id="{7FB793F6-8035-45FE-B3A8-B9D5CB9F7691}"/>
              </a:ext>
            </a:extLst>
          </p:cNvPr>
          <p:cNvSpPr>
            <a:spLocks xmlns:a="http://schemas.openxmlformats.org/drawingml/2006/main" noGrp="1"/>
          </p:cNvSpPr>
          <p:nvPr/>
        </p:nvSpPr>
        <p:spPr>
          <a:xfrm xmlns:a="http://schemas.openxmlformats.org/drawingml/2006/main">
            <a:off x="723900" y="2114550"/>
            <a:ext cx="1066800" cy="285750"/>
          </a:xfrm>
          <a:prstGeom xmlns:a="http://schemas.openxmlformats.org/drawingml/2006/main" prst="roundRect">
            <a:avLst>
              <a:gd name="adj" fmla="val 26667"/>
            </a:avLst>
          </a:prstGeom>
          <a:solidFill xmlns:a="http://schemas.openxmlformats.org/drawingml/2006/main">
            <a:srgbClr val="4D8DFF"/>
          </a:solidFill>
          <a:ln xmlns:a="http://schemas.openxmlformats.org/drawingml/2006/main" w="11430">
            <a:solidFill>
              <a:srgbClr val="4D8DFF"/>
            </a:solidFill>
          </a:ln>
        </p:spPr>
      </p:sp>
      <p:sp>
        <p:nvSpPr>
          <p:cNvPr id="14" name="">
            <a:extLst xmlns:a="http://schemas.openxmlformats.org/drawingml/2006/main">
              <a:ext uri="{FF2B5EF4-FFF2-40B4-BE49-F238E27FC236}">
                <a16:creationId xmlns:a16="http://schemas.microsoft.com/office/drawing/2014/main" id="{C1B582DC-593A-451D-A09A-5E9EBA35CFBD}"/>
              </a:ext>
            </a:extLst>
          </p:cNvPr>
          <p:cNvSpPr>
            <a:spLocks xmlns:a="http://schemas.openxmlformats.org/drawingml/2006/main" noGrp="1"/>
          </p:cNvSpPr>
          <p:nvPr/>
        </p:nvSpPr>
        <p:spPr>
          <a:xfrm xmlns:a="http://schemas.openxmlformats.org/drawingml/2006/main">
            <a:off x="723900" y="21526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원문 확인</a:t>
            </a:r>
          </a:p>
        </p:txBody>
      </p:sp>
      <p:sp>
        <p:nvSpPr>
          <p:cNvPr id="15" name="">
            <a:extLst xmlns:a="http://schemas.openxmlformats.org/drawingml/2006/main">
              <a:ext uri="{FF2B5EF4-FFF2-40B4-BE49-F238E27FC236}">
                <a16:creationId xmlns:a16="http://schemas.microsoft.com/office/drawing/2014/main" id="{5C954B70-CA2A-4674-B7B3-D9741215FD89}"/>
              </a:ext>
            </a:extLst>
          </p:cNvPr>
          <p:cNvSpPr>
            <a:spLocks xmlns:a="http://schemas.openxmlformats.org/drawingml/2006/main" noGrp="1"/>
          </p:cNvSpPr>
          <p:nvPr/>
        </p:nvSpPr>
        <p:spPr>
          <a:xfrm xmlns:a="http://schemas.openxmlformats.org/drawingml/2006/main">
            <a:off x="723900" y="2628900"/>
            <a:ext cx="3105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4F8FB"/>
                </a:solidFill>
                <a:latin typeface="Noto Sans CJK KR"/>
                <a:ea typeface="Noto Sans CJK KR"/>
                <a:cs typeface="Noto Sans CJK KR"/>
              </a:defRPr>
            </a:pPr>
            <a:r>
              <a:rPr sz="2025" b="1">
                <a:solidFill>
                  <a:srgbClr val="F4F8FB"/>
                </a:solidFill>
                <a:latin typeface="Noto Sans CJK KR"/>
                <a:ea typeface="Noto Sans CJK KR"/>
                <a:cs typeface="Noto Sans CJK KR"/>
              </a:rPr>
              <a:t>평가 기준의 불명확성</a:t>
            </a:r>
          </a:p>
        </p:txBody>
      </p:sp>
      <p:sp>
        <p:nvSpPr>
          <p:cNvPr id="16" name="">
            <a:extLst xmlns:a="http://schemas.openxmlformats.org/drawingml/2006/main">
              <a:ext uri="{FF2B5EF4-FFF2-40B4-BE49-F238E27FC236}">
                <a16:creationId xmlns:a16="http://schemas.microsoft.com/office/drawing/2014/main" id="{CAC11803-5593-43C4-94CD-539C326BCC5F}"/>
              </a:ext>
            </a:extLst>
          </p:cNvPr>
          <p:cNvSpPr>
            <a:spLocks xmlns:a="http://schemas.openxmlformats.org/drawingml/2006/main" noGrp="1"/>
          </p:cNvSpPr>
          <p:nvPr/>
        </p:nvSpPr>
        <p:spPr>
          <a:xfrm xmlns:a="http://schemas.openxmlformats.org/drawingml/2006/main">
            <a:off x="723900" y="3286125"/>
            <a:ext cx="3105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A8BDCC"/>
                </a:solidFill>
                <a:latin typeface="Noto Sans CJK KR"/>
                <a:ea typeface="Noto Sans CJK KR"/>
                <a:cs typeface="Noto Sans CJK KR"/>
              </a:defRPr>
            </a:pPr>
            <a:r>
              <a:rPr sz="1500" b="0">
                <a:solidFill>
                  <a:srgbClr val="A8BDCC"/>
                </a:solidFill>
                <a:latin typeface="Noto Sans CJK KR"/>
                <a:ea typeface="Noto Sans CJK KR"/>
                <a:cs typeface="Noto Sans CJK KR"/>
              </a:rPr>
              <a:t>권익위는 향후 유사 공고에서</a:t>
            </a:r>
          </a:p>
          <a:p xmlns:a="http://schemas.openxmlformats.org/drawingml/2006/main">
            <a:pPr>
              <a:defRPr sz="1500" b="0">
                <a:solidFill>
                  <a:srgbClr val="A8BDCC"/>
                </a:solidFill>
                <a:latin typeface="Noto Sans CJK KR"/>
                <a:ea typeface="Noto Sans CJK KR"/>
                <a:cs typeface="Noto Sans CJK KR"/>
              </a:defRPr>
            </a:pPr>
            <a:r>
              <a:rPr sz="1500" b="0">
                <a:solidFill>
                  <a:srgbClr val="A8BDCC"/>
                </a:solidFill>
                <a:latin typeface="Noto Sans CJK KR"/>
                <a:ea typeface="Noto Sans CJK KR"/>
                <a:cs typeface="Noto Sans CJK KR"/>
              </a:rPr>
              <a:t>적격심사 정보를 더 명확히 제공하도록 의견표명</a:t>
            </a:r>
          </a:p>
        </p:txBody>
      </p:sp>
      <p:sp>
        <p:nvSpPr>
          <p:cNvPr id="17" name="">
            <a:extLst xmlns:a="http://schemas.openxmlformats.org/drawingml/2006/main">
              <a:ext uri="{FF2B5EF4-FFF2-40B4-BE49-F238E27FC236}">
                <a16:creationId xmlns:a16="http://schemas.microsoft.com/office/drawing/2014/main" id="{B00F1357-1DA4-4D50-94B5-303EB6521D38}"/>
              </a:ext>
            </a:extLst>
          </p:cNvPr>
          <p:cNvSpPr>
            <a:spLocks xmlns:a="http://schemas.openxmlformats.org/drawingml/2006/main" noGrp="1"/>
          </p:cNvSpPr>
          <p:nvPr/>
        </p:nvSpPr>
        <p:spPr>
          <a:xfrm xmlns:a="http://schemas.openxmlformats.org/drawingml/2006/main">
            <a:off x="4343400" y="1924050"/>
            <a:ext cx="3524250" cy="2667000"/>
          </a:xfrm>
          <a:prstGeom xmlns:a="http://schemas.openxmlformats.org/drawingml/2006/main" prst="roundRect">
            <a:avLst>
              <a:gd name="adj" fmla="val 2857"/>
            </a:avLst>
          </a:prstGeom>
          <a:solidFill xmlns:a="http://schemas.openxmlformats.org/drawingml/2006/main">
            <a:srgbClr val="102638"/>
          </a:solidFill>
          <a:ln xmlns:a="http://schemas.openxmlformats.org/drawingml/2006/main" w="11430">
            <a:solidFill>
              <a:srgbClr val="355267"/>
            </a:solidFill>
          </a:ln>
        </p:spPr>
      </p:sp>
      <p:sp>
        <p:nvSpPr>
          <p:cNvPr id="18" name="">
            <a:extLst xmlns:a="http://schemas.openxmlformats.org/drawingml/2006/main">
              <a:ext uri="{FF2B5EF4-FFF2-40B4-BE49-F238E27FC236}">
                <a16:creationId xmlns:a16="http://schemas.microsoft.com/office/drawing/2014/main" id="{C0C0FADE-52C9-495E-9329-749DEF2767DE}"/>
              </a:ext>
            </a:extLst>
          </p:cNvPr>
          <p:cNvSpPr>
            <a:spLocks xmlns:a="http://schemas.openxmlformats.org/drawingml/2006/main" noGrp="1"/>
          </p:cNvSpPr>
          <p:nvPr/>
        </p:nvSpPr>
        <p:spPr>
          <a:xfrm xmlns:a="http://schemas.openxmlformats.org/drawingml/2006/main">
            <a:off x="4552950" y="2114550"/>
            <a:ext cx="1066800" cy="285750"/>
          </a:xfrm>
          <a:prstGeom xmlns:a="http://schemas.openxmlformats.org/drawingml/2006/main" prst="roundRect">
            <a:avLst>
              <a:gd name="adj" fmla="val 26667"/>
            </a:avLst>
          </a:prstGeom>
          <a:solidFill xmlns:a="http://schemas.openxmlformats.org/drawingml/2006/main">
            <a:srgbClr val="FF6B57"/>
          </a:solidFill>
          <a:ln xmlns:a="http://schemas.openxmlformats.org/drawingml/2006/main" w="11430">
            <a:solidFill>
              <a:srgbClr val="FF6B57"/>
            </a:solidFill>
          </a:ln>
        </p:spPr>
      </p:sp>
      <p:sp>
        <p:nvSpPr>
          <p:cNvPr id="19" name="">
            <a:extLst xmlns:a="http://schemas.openxmlformats.org/drawingml/2006/main">
              <a:ext uri="{FF2B5EF4-FFF2-40B4-BE49-F238E27FC236}">
                <a16:creationId xmlns:a16="http://schemas.microsoft.com/office/drawing/2014/main" id="{617B390B-8F68-404B-9115-4DA2EAD74C3D}"/>
              </a:ext>
            </a:extLst>
          </p:cNvPr>
          <p:cNvSpPr>
            <a:spLocks xmlns:a="http://schemas.openxmlformats.org/drawingml/2006/main" noGrp="1"/>
          </p:cNvSpPr>
          <p:nvPr/>
        </p:nvSpPr>
        <p:spPr>
          <a:xfrm xmlns:a="http://schemas.openxmlformats.org/drawingml/2006/main">
            <a:off x="4552950" y="21526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버전 고정</a:t>
            </a:r>
          </a:p>
        </p:txBody>
      </p:sp>
      <p:sp>
        <p:nvSpPr>
          <p:cNvPr id="20" name="">
            <a:extLst xmlns:a="http://schemas.openxmlformats.org/drawingml/2006/main">
              <a:ext uri="{FF2B5EF4-FFF2-40B4-BE49-F238E27FC236}">
                <a16:creationId xmlns:a16="http://schemas.microsoft.com/office/drawing/2014/main" id="{0945F962-75AA-46F6-9EBE-348897B37C2D}"/>
              </a:ext>
            </a:extLst>
          </p:cNvPr>
          <p:cNvSpPr>
            <a:spLocks xmlns:a="http://schemas.openxmlformats.org/drawingml/2006/main" noGrp="1"/>
          </p:cNvSpPr>
          <p:nvPr/>
        </p:nvSpPr>
        <p:spPr>
          <a:xfrm xmlns:a="http://schemas.openxmlformats.org/drawingml/2006/main">
            <a:off x="4552950" y="2628900"/>
            <a:ext cx="3105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4F8FB"/>
                </a:solidFill>
                <a:latin typeface="Noto Sans CJK KR"/>
                <a:ea typeface="Noto Sans CJK KR"/>
                <a:cs typeface="Noto Sans CJK KR"/>
              </a:defRPr>
            </a:pPr>
            <a:r>
              <a:rPr sz="2025" b="1">
                <a:solidFill>
                  <a:srgbClr val="F4F8FB"/>
                </a:solidFill>
                <a:latin typeface="Noto Sans CJK KR"/>
                <a:ea typeface="Noto Sans CJK KR"/>
                <a:cs typeface="Noto Sans CJK KR"/>
              </a:rPr>
              <a:t>정정공고의 영향</a:t>
            </a:r>
          </a:p>
        </p:txBody>
      </p:sp>
      <p:sp>
        <p:nvSpPr>
          <p:cNvPr id="21" name="">
            <a:extLst xmlns:a="http://schemas.openxmlformats.org/drawingml/2006/main">
              <a:ext uri="{FF2B5EF4-FFF2-40B4-BE49-F238E27FC236}">
                <a16:creationId xmlns:a16="http://schemas.microsoft.com/office/drawing/2014/main" id="{02DD6739-7950-44D0-A82A-4F43926E1953}"/>
              </a:ext>
            </a:extLst>
          </p:cNvPr>
          <p:cNvSpPr>
            <a:spLocks xmlns:a="http://schemas.openxmlformats.org/drawingml/2006/main" noGrp="1"/>
          </p:cNvSpPr>
          <p:nvPr/>
        </p:nvSpPr>
        <p:spPr>
          <a:xfrm xmlns:a="http://schemas.openxmlformats.org/drawingml/2006/main">
            <a:off x="4552950" y="3286125"/>
            <a:ext cx="3105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A8BDCC"/>
                </a:solidFill>
                <a:latin typeface="Noto Sans CJK KR"/>
                <a:ea typeface="Noto Sans CJK KR"/>
                <a:cs typeface="Noto Sans CJK KR"/>
              </a:defRPr>
            </a:pPr>
            <a:r>
              <a:rPr sz="1500" b="0">
                <a:solidFill>
                  <a:srgbClr val="A8BDCC"/>
                </a:solidFill>
                <a:latin typeface="Noto Sans CJK KR"/>
                <a:ea typeface="Noto Sans CJK KR"/>
                <a:cs typeface="Noto Sans CJK KR"/>
              </a:rPr>
              <a:t>업종 코드 1468 → 1469</a:t>
            </a:r>
          </a:p>
          <a:p xmlns:a="http://schemas.openxmlformats.org/drawingml/2006/main">
            <a:pPr>
              <a:defRPr sz="1500" b="0">
                <a:solidFill>
                  <a:srgbClr val="A8BDCC"/>
                </a:solidFill>
                <a:latin typeface="Noto Sans CJK KR"/>
                <a:ea typeface="Noto Sans CJK KR"/>
                <a:cs typeface="Noto Sans CJK KR"/>
              </a:defRPr>
            </a:pPr>
            <a:r>
              <a:rPr sz="1500" b="0">
                <a:solidFill>
                  <a:srgbClr val="A8BDCC"/>
                </a:solidFill>
                <a:latin typeface="Noto Sans CJK KR"/>
                <a:ea typeface="Noto Sans CJK KR"/>
                <a:cs typeface="Noto Sans CJK KR"/>
              </a:rPr>
              <a:t>입찰 일정도 함께 정정된 공개 사례</a:t>
            </a:r>
          </a:p>
        </p:txBody>
      </p:sp>
      <p:sp>
        <p:nvSpPr>
          <p:cNvPr id="22" name="">
            <a:extLst xmlns:a="http://schemas.openxmlformats.org/drawingml/2006/main">
              <a:ext uri="{FF2B5EF4-FFF2-40B4-BE49-F238E27FC236}">
                <a16:creationId xmlns:a16="http://schemas.microsoft.com/office/drawing/2014/main" id="{6D78D610-BC86-48F3-B067-1B6E89A574B1}"/>
              </a:ext>
            </a:extLst>
          </p:cNvPr>
          <p:cNvSpPr>
            <a:spLocks xmlns:a="http://schemas.openxmlformats.org/drawingml/2006/main" noGrp="1"/>
          </p:cNvSpPr>
          <p:nvPr/>
        </p:nvSpPr>
        <p:spPr>
          <a:xfrm xmlns:a="http://schemas.openxmlformats.org/drawingml/2006/main">
            <a:off x="8172450" y="1924050"/>
            <a:ext cx="3524250" cy="2667000"/>
          </a:xfrm>
          <a:prstGeom xmlns:a="http://schemas.openxmlformats.org/drawingml/2006/main" prst="roundRect">
            <a:avLst>
              <a:gd name="adj" fmla="val 2857"/>
            </a:avLst>
          </a:prstGeom>
          <a:solidFill xmlns:a="http://schemas.openxmlformats.org/drawingml/2006/main">
            <a:srgbClr val="102638"/>
          </a:solidFill>
          <a:ln xmlns:a="http://schemas.openxmlformats.org/drawingml/2006/main" w="11430">
            <a:solidFill>
              <a:srgbClr val="355267"/>
            </a:solidFill>
          </a:ln>
        </p:spPr>
      </p:sp>
      <p:sp>
        <p:nvSpPr>
          <p:cNvPr id="23" name="">
            <a:extLst xmlns:a="http://schemas.openxmlformats.org/drawingml/2006/main">
              <a:ext uri="{FF2B5EF4-FFF2-40B4-BE49-F238E27FC236}">
                <a16:creationId xmlns:a16="http://schemas.microsoft.com/office/drawing/2014/main" id="{6BC1972D-B3DE-41E5-BA23-F3602C62306F}"/>
              </a:ext>
            </a:extLst>
          </p:cNvPr>
          <p:cNvSpPr>
            <a:spLocks xmlns:a="http://schemas.openxmlformats.org/drawingml/2006/main" noGrp="1"/>
          </p:cNvSpPr>
          <p:nvPr/>
        </p:nvSpPr>
        <p:spPr>
          <a:xfrm xmlns:a="http://schemas.openxmlformats.org/drawingml/2006/main">
            <a:off x="8382000" y="2114550"/>
            <a:ext cx="1066800" cy="285750"/>
          </a:xfrm>
          <a:prstGeom xmlns:a="http://schemas.openxmlformats.org/drawingml/2006/main" prst="roundRect">
            <a:avLst>
              <a:gd name="adj" fmla="val 26667"/>
            </a:avLst>
          </a:prstGeom>
          <a:solidFill xmlns:a="http://schemas.openxmlformats.org/drawingml/2006/main">
            <a:srgbClr val="F6B94A"/>
          </a:solidFill>
          <a:ln xmlns:a="http://schemas.openxmlformats.org/drawingml/2006/main" w="11430">
            <a:solidFill>
              <a:srgbClr val="F6B94A"/>
            </a:solidFill>
          </a:ln>
        </p:spPr>
      </p:sp>
      <p:sp>
        <p:nvSpPr>
          <p:cNvPr id="24" name="">
            <a:extLst xmlns:a="http://schemas.openxmlformats.org/drawingml/2006/main">
              <a:ext uri="{FF2B5EF4-FFF2-40B4-BE49-F238E27FC236}">
                <a16:creationId xmlns:a16="http://schemas.microsoft.com/office/drawing/2014/main" id="{F32D334A-635F-4C80-BAFB-C2AF3973DEF0}"/>
              </a:ext>
            </a:extLst>
          </p:cNvPr>
          <p:cNvSpPr>
            <a:spLocks xmlns:a="http://schemas.openxmlformats.org/drawingml/2006/main" noGrp="1"/>
          </p:cNvSpPr>
          <p:nvPr/>
        </p:nvSpPr>
        <p:spPr>
          <a:xfrm xmlns:a="http://schemas.openxmlformats.org/drawingml/2006/main">
            <a:off x="8382000" y="215265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추가 확인</a:t>
            </a:r>
          </a:p>
        </p:txBody>
      </p:sp>
      <p:sp>
        <p:nvSpPr>
          <p:cNvPr id="25" name="">
            <a:extLst xmlns:a="http://schemas.openxmlformats.org/drawingml/2006/main">
              <a:ext uri="{FF2B5EF4-FFF2-40B4-BE49-F238E27FC236}">
                <a16:creationId xmlns:a16="http://schemas.microsoft.com/office/drawing/2014/main" id="{941E8B2C-34F3-4157-AE60-3907A9B87DFD}"/>
              </a:ext>
            </a:extLst>
          </p:cNvPr>
          <p:cNvSpPr>
            <a:spLocks xmlns:a="http://schemas.openxmlformats.org/drawingml/2006/main" noGrp="1"/>
          </p:cNvSpPr>
          <p:nvPr/>
        </p:nvSpPr>
        <p:spPr>
          <a:xfrm xmlns:a="http://schemas.openxmlformats.org/drawingml/2006/main">
            <a:off x="8382000" y="2628900"/>
            <a:ext cx="3105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4F8FB"/>
                </a:solidFill>
                <a:latin typeface="Noto Sans CJK KR"/>
                <a:ea typeface="Noto Sans CJK KR"/>
                <a:cs typeface="Noto Sans CJK KR"/>
              </a:defRPr>
            </a:pPr>
            <a:r>
              <a:rPr sz="2025" b="1">
                <a:solidFill>
                  <a:srgbClr val="F4F8FB"/>
                </a:solidFill>
                <a:latin typeface="Noto Sans CJK KR"/>
                <a:ea typeface="Noto Sans CJK KR"/>
                <a:cs typeface="Noto Sans CJK KR"/>
              </a:rPr>
              <a:t>문서 간 충돌과 누락</a:t>
            </a:r>
          </a:p>
        </p:txBody>
      </p:sp>
      <p:sp>
        <p:nvSpPr>
          <p:cNvPr id="26" name="">
            <a:extLst xmlns:a="http://schemas.openxmlformats.org/drawingml/2006/main">
              <a:ext uri="{FF2B5EF4-FFF2-40B4-BE49-F238E27FC236}">
                <a16:creationId xmlns:a16="http://schemas.microsoft.com/office/drawing/2014/main" id="{382D8FD8-DDBE-489F-A2AE-56865FAEB375}"/>
              </a:ext>
            </a:extLst>
          </p:cNvPr>
          <p:cNvSpPr>
            <a:spLocks xmlns:a="http://schemas.openxmlformats.org/drawingml/2006/main" noGrp="1"/>
          </p:cNvSpPr>
          <p:nvPr/>
        </p:nvSpPr>
        <p:spPr>
          <a:xfrm xmlns:a="http://schemas.openxmlformats.org/drawingml/2006/main">
            <a:off x="8382000" y="3286125"/>
            <a:ext cx="3105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A8BDCC"/>
                </a:solidFill>
                <a:latin typeface="Noto Sans CJK KR"/>
                <a:ea typeface="Noto Sans CJK KR"/>
                <a:cs typeface="Noto Sans CJK KR"/>
              </a:defRPr>
            </a:pPr>
            <a:r>
              <a:rPr sz="1500" b="0">
                <a:solidFill>
                  <a:srgbClr val="A8BDCC"/>
                </a:solidFill>
                <a:latin typeface="Noto Sans CJK KR"/>
                <a:ea typeface="Noto Sans CJK KR"/>
                <a:cs typeface="Noto Sans CJK KR"/>
              </a:rPr>
              <a:t>51건 표본에서 일정, 실적 범위,</a:t>
            </a:r>
          </a:p>
          <a:p xmlns:a="http://schemas.openxmlformats.org/drawingml/2006/main">
            <a:pPr>
              <a:defRPr sz="1500" b="0">
                <a:solidFill>
                  <a:srgbClr val="A8BDCC"/>
                </a:solidFill>
                <a:latin typeface="Noto Sans CJK KR"/>
                <a:ea typeface="Noto Sans CJK KR"/>
                <a:cs typeface="Noto Sans CJK KR"/>
              </a:defRPr>
            </a:pPr>
            <a:r>
              <a:rPr sz="1500" b="0">
                <a:solidFill>
                  <a:srgbClr val="A8BDCC"/>
                </a:solidFill>
                <a:latin typeface="Noto Sans CJK KR"/>
                <a:ea typeface="Noto Sans CJK KR"/>
                <a:cs typeface="Noto Sans CJK KR"/>
              </a:rPr>
              <a:t>공동수급 표현의 재확인 항목을 별도 기록</a:t>
            </a:r>
          </a:p>
        </p:txBody>
      </p:sp>
      <p:sp>
        <p:nvSpPr>
          <p:cNvPr id="27" name="">
            <a:extLst xmlns:a="http://schemas.openxmlformats.org/drawingml/2006/main">
              <a:ext uri="{FF2B5EF4-FFF2-40B4-BE49-F238E27FC236}">
                <a16:creationId xmlns:a16="http://schemas.microsoft.com/office/drawing/2014/main" id="{F8FB2CD3-57EA-4E38-849D-22C05748822C}"/>
              </a:ext>
            </a:extLst>
          </p:cNvPr>
          <p:cNvSpPr>
            <a:spLocks xmlns:a="http://schemas.openxmlformats.org/drawingml/2006/main" noGrp="1"/>
          </p:cNvSpPr>
          <p:nvPr/>
        </p:nvSpPr>
        <p:spPr>
          <a:xfrm xmlns:a="http://schemas.openxmlformats.org/drawingml/2006/main">
            <a:off x="514350" y="5038725"/>
            <a:ext cx="11163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외부 생성형 AI에 회사 내부 자료를 보내면 처리 경계를 통제하기 어렵고, 근거가 있어도 답변 오류는 남는다.</a:t>
            </a:r>
          </a:p>
        </p:txBody>
      </p:sp>
      <p:sp>
        <p:nvSpPr>
          <p:cNvPr id="28" name="">
            <a:extLst xmlns:a="http://schemas.openxmlformats.org/drawingml/2006/main">
              <a:ext uri="{FF2B5EF4-FFF2-40B4-BE49-F238E27FC236}">
                <a16:creationId xmlns:a16="http://schemas.microsoft.com/office/drawing/2014/main" id="{72CADDB2-AC7F-4F58-BF14-56D621964BBD}"/>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공식 사례와 51건 검수 기록에서 확인한 문제만 사용 · 자동 적격 판정이나 분쟁 해결을 주장하지 않음</a:t>
            </a:r>
          </a:p>
        </p:txBody>
      </p:sp>
    </p:spTree>
    <p:extLst>
      <p:ext uri="{BB962C8B-B14F-4D97-AF65-F5344CB8AC3E}">
        <p14:creationId xmlns:p14="http://schemas.microsoft.com/office/powerpoint/2010/main" val="187854722"/>
      </p:ext>
    </p:extLst>
  </p:cSld>
</p:sld>
</file>

<file path=ppt/slides/slide3.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8EB63A0-E7FA-49B5-B1C8-D4F377643CF0}"/>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01  문제의 현장</a:t>
            </a:r>
          </a:p>
        </p:txBody>
      </p:sp>
      <p:sp>
        <p:nvSpPr>
          <p:cNvPr id="2" name="">
            <a:extLst xmlns:a="http://schemas.openxmlformats.org/drawingml/2006/main">
              <a:ext uri="{FF2B5EF4-FFF2-40B4-BE49-F238E27FC236}">
                <a16:creationId xmlns:a16="http://schemas.microsoft.com/office/drawing/2014/main" id="{C61C4949-FE69-4102-8554-FE581A6E63AA}"/>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검색, 요약, 보안이 따로 움직이면 검토가 끝나지 않는다</a:t>
            </a:r>
          </a:p>
        </p:txBody>
      </p:sp>
      <p:sp>
        <p:nvSpPr>
          <p:cNvPr id="3" name="">
            <a:extLst xmlns:a="http://schemas.openxmlformats.org/drawingml/2006/main">
              <a:ext uri="{FF2B5EF4-FFF2-40B4-BE49-F238E27FC236}">
                <a16:creationId xmlns:a16="http://schemas.microsoft.com/office/drawing/2014/main" id="{C4AC8186-36B8-47E1-B94C-9C041ABE5439}"/>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4" name="">
            <a:extLst xmlns:a="http://schemas.openxmlformats.org/drawingml/2006/main">
              <a:ext uri="{FF2B5EF4-FFF2-40B4-BE49-F238E27FC236}">
                <a16:creationId xmlns:a16="http://schemas.microsoft.com/office/drawing/2014/main" id="{806A545A-BC08-4C8E-B783-656F68200999}"/>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5" name="">
            <a:extLst xmlns:a="http://schemas.openxmlformats.org/drawingml/2006/main">
              <a:ext uri="{FF2B5EF4-FFF2-40B4-BE49-F238E27FC236}">
                <a16:creationId xmlns:a16="http://schemas.microsoft.com/office/drawing/2014/main" id="{C733A299-426E-438B-B652-96826EC74292}"/>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509D69E5-BA63-4541-9C91-D48BBB86E367}"/>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92D54961-B676-430E-B7C4-C65BB91BF91C}"/>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553E3111-3806-4143-B0DE-CA33BE4C797D}"/>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E58DFE31-40EE-4589-B2C4-89E4B517B166}"/>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86992EC3-7204-4B7F-B15E-F993A5866B7B}"/>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03</a:t>
            </a:r>
          </a:p>
        </p:txBody>
      </p:sp>
      <p:sp>
        <p:nvSpPr>
          <p:cNvPr id="11" name="">
            <a:extLst xmlns:a="http://schemas.openxmlformats.org/drawingml/2006/main">
              <a:ext uri="{FF2B5EF4-FFF2-40B4-BE49-F238E27FC236}">
                <a16:creationId xmlns:a16="http://schemas.microsoft.com/office/drawing/2014/main" id="{34A90222-BEAC-4159-A303-22E9CB269913}"/>
              </a:ext>
            </a:extLst>
          </p:cNvPr>
          <p:cNvSpPr>
            <a:spLocks xmlns:a="http://schemas.openxmlformats.org/drawingml/2006/main" noGrp="1"/>
          </p:cNvSpPr>
          <p:nvPr/>
        </p:nvSpPr>
        <p:spPr>
          <a:xfrm xmlns:a="http://schemas.openxmlformats.org/drawingml/2006/main">
            <a:off x="533400" y="2162175"/>
            <a:ext cx="3143250" cy="2000250"/>
          </a:xfrm>
          <a:prstGeom xmlns:a="http://schemas.openxmlformats.org/drawingml/2006/main" prst="roundRect">
            <a:avLst>
              <a:gd name="adj" fmla="val 3810"/>
            </a:avLst>
          </a:prstGeom>
          <a:solidFill xmlns:a="http://schemas.openxmlformats.org/drawingml/2006/main">
            <a:srgbClr val="102638"/>
          </a:solidFill>
          <a:ln xmlns:a="http://schemas.openxmlformats.org/drawingml/2006/main" w="11430">
            <a:solidFill>
              <a:srgbClr val="355267"/>
            </a:solidFill>
          </a:ln>
        </p:spPr>
      </p:sp>
      <p:sp>
        <p:nvSpPr>
          <p:cNvPr id="12" name="">
            <a:extLst xmlns:a="http://schemas.openxmlformats.org/drawingml/2006/main">
              <a:ext uri="{FF2B5EF4-FFF2-40B4-BE49-F238E27FC236}">
                <a16:creationId xmlns:a16="http://schemas.microsoft.com/office/drawing/2014/main" id="{D7196BAA-0E0E-4377-94CD-2910B1B9A137}"/>
              </a:ext>
            </a:extLst>
          </p:cNvPr>
          <p:cNvSpPr>
            <a:spLocks xmlns:a="http://schemas.openxmlformats.org/drawingml/2006/main" noGrp="1"/>
          </p:cNvSpPr>
          <p:nvPr/>
        </p:nvSpPr>
        <p:spPr>
          <a:xfrm xmlns:a="http://schemas.openxmlformats.org/drawingml/2006/main">
            <a:off x="533400" y="2162175"/>
            <a:ext cx="66675" cy="200025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13" name="">
            <a:extLst xmlns:a="http://schemas.openxmlformats.org/drawingml/2006/main">
              <a:ext uri="{FF2B5EF4-FFF2-40B4-BE49-F238E27FC236}">
                <a16:creationId xmlns:a16="http://schemas.microsoft.com/office/drawing/2014/main" id="{374C91D9-EABD-4F6E-A8AA-20E6F0D1A12F}"/>
              </a:ext>
            </a:extLst>
          </p:cNvPr>
          <p:cNvSpPr>
            <a:spLocks xmlns:a="http://schemas.openxmlformats.org/drawingml/2006/main" noGrp="1"/>
          </p:cNvSpPr>
          <p:nvPr/>
        </p:nvSpPr>
        <p:spPr>
          <a:xfrm xmlns:a="http://schemas.openxmlformats.org/drawingml/2006/main">
            <a:off x="742950" y="2333625"/>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키워드 검색</a:t>
            </a:r>
          </a:p>
        </p:txBody>
      </p:sp>
      <p:sp>
        <p:nvSpPr>
          <p:cNvPr id="14" name="">
            <a:extLst xmlns:a="http://schemas.openxmlformats.org/drawingml/2006/main">
              <a:ext uri="{FF2B5EF4-FFF2-40B4-BE49-F238E27FC236}">
                <a16:creationId xmlns:a16="http://schemas.microsoft.com/office/drawing/2014/main" id="{623A1BA0-85CE-4EBF-9338-86C02AAE1E01}"/>
              </a:ext>
            </a:extLst>
          </p:cNvPr>
          <p:cNvSpPr>
            <a:spLocks xmlns:a="http://schemas.openxmlformats.org/drawingml/2006/main" noGrp="1"/>
          </p:cNvSpPr>
          <p:nvPr/>
        </p:nvSpPr>
        <p:spPr>
          <a:xfrm xmlns:a="http://schemas.openxmlformats.org/drawingml/2006/main">
            <a:off x="742950" y="2752725"/>
            <a:ext cx="27432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정확한 코드와 숫자는 찾지만</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표현이 다른 문맥을 놓칠 수 있음</a:t>
            </a:r>
          </a:p>
        </p:txBody>
      </p:sp>
      <p:sp>
        <p:nvSpPr>
          <p:cNvPr id="15" name="">
            <a:extLst xmlns:a="http://schemas.openxmlformats.org/drawingml/2006/main">
              <a:ext uri="{FF2B5EF4-FFF2-40B4-BE49-F238E27FC236}">
                <a16:creationId xmlns:a16="http://schemas.microsoft.com/office/drawing/2014/main" id="{FCA37615-DDA3-4E94-94FA-13F2BD159415}"/>
              </a:ext>
            </a:extLst>
          </p:cNvPr>
          <p:cNvSpPr>
            <a:spLocks xmlns:a="http://schemas.openxmlformats.org/drawingml/2006/main" noGrp="1"/>
          </p:cNvSpPr>
          <p:nvPr/>
        </p:nvSpPr>
        <p:spPr>
          <a:xfrm xmlns:a="http://schemas.openxmlformats.org/drawingml/2006/main">
            <a:off x="4524375" y="2162175"/>
            <a:ext cx="3143250" cy="2000250"/>
          </a:xfrm>
          <a:prstGeom xmlns:a="http://schemas.openxmlformats.org/drawingml/2006/main" prst="roundRect">
            <a:avLst>
              <a:gd name="adj" fmla="val 3810"/>
            </a:avLst>
          </a:prstGeom>
          <a:solidFill xmlns:a="http://schemas.openxmlformats.org/drawingml/2006/main">
            <a:srgbClr val="102638"/>
          </a:solidFill>
          <a:ln xmlns:a="http://schemas.openxmlformats.org/drawingml/2006/main" w="11430">
            <a:solidFill>
              <a:srgbClr val="355267"/>
            </a:solidFill>
          </a:ln>
        </p:spPr>
      </p:sp>
      <p:sp>
        <p:nvSpPr>
          <p:cNvPr id="16" name="">
            <a:extLst xmlns:a="http://schemas.openxmlformats.org/drawingml/2006/main">
              <a:ext uri="{FF2B5EF4-FFF2-40B4-BE49-F238E27FC236}">
                <a16:creationId xmlns:a16="http://schemas.microsoft.com/office/drawing/2014/main" id="{69198CC5-7784-4FC9-BADD-24DAFBA5D0EF}"/>
              </a:ext>
            </a:extLst>
          </p:cNvPr>
          <p:cNvSpPr>
            <a:spLocks xmlns:a="http://schemas.openxmlformats.org/drawingml/2006/main" noGrp="1"/>
          </p:cNvSpPr>
          <p:nvPr/>
        </p:nvSpPr>
        <p:spPr>
          <a:xfrm xmlns:a="http://schemas.openxmlformats.org/drawingml/2006/main">
            <a:off x="4524375" y="2162175"/>
            <a:ext cx="66675" cy="200025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7" name="">
            <a:extLst xmlns:a="http://schemas.openxmlformats.org/drawingml/2006/main">
              <a:ext uri="{FF2B5EF4-FFF2-40B4-BE49-F238E27FC236}">
                <a16:creationId xmlns:a16="http://schemas.microsoft.com/office/drawing/2014/main" id="{C3CD9141-9DB2-46DC-ACD6-04380A28C974}"/>
              </a:ext>
            </a:extLst>
          </p:cNvPr>
          <p:cNvSpPr>
            <a:spLocks xmlns:a="http://schemas.openxmlformats.org/drawingml/2006/main" noGrp="1"/>
          </p:cNvSpPr>
          <p:nvPr/>
        </p:nvSpPr>
        <p:spPr>
          <a:xfrm xmlns:a="http://schemas.openxmlformats.org/drawingml/2006/main">
            <a:off x="4733925" y="2333625"/>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LLM 요약</a:t>
            </a:r>
          </a:p>
        </p:txBody>
      </p:sp>
      <p:sp>
        <p:nvSpPr>
          <p:cNvPr id="18" name="">
            <a:extLst xmlns:a="http://schemas.openxmlformats.org/drawingml/2006/main">
              <a:ext uri="{FF2B5EF4-FFF2-40B4-BE49-F238E27FC236}">
                <a16:creationId xmlns:a16="http://schemas.microsoft.com/office/drawing/2014/main" id="{C4E0A1EE-82F1-4201-A345-1CF4879FDB43}"/>
              </a:ext>
            </a:extLst>
          </p:cNvPr>
          <p:cNvSpPr>
            <a:spLocks xmlns:a="http://schemas.openxmlformats.org/drawingml/2006/main" noGrp="1"/>
          </p:cNvSpPr>
          <p:nvPr/>
        </p:nvSpPr>
        <p:spPr>
          <a:xfrm xmlns:a="http://schemas.openxmlformats.org/drawingml/2006/main">
            <a:off x="4733925" y="2752725"/>
            <a:ext cx="27432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읽는 시간은 줄이지만</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근거 없는 확정과 조건 누락이 남음</a:t>
            </a:r>
          </a:p>
        </p:txBody>
      </p:sp>
      <p:sp>
        <p:nvSpPr>
          <p:cNvPr id="19" name="">
            <a:extLst xmlns:a="http://schemas.openxmlformats.org/drawingml/2006/main">
              <a:ext uri="{FF2B5EF4-FFF2-40B4-BE49-F238E27FC236}">
                <a16:creationId xmlns:a16="http://schemas.microsoft.com/office/drawing/2014/main" id="{90F48408-8F50-4028-ACC8-0232C7AA4B40}"/>
              </a:ext>
            </a:extLst>
          </p:cNvPr>
          <p:cNvSpPr>
            <a:spLocks xmlns:a="http://schemas.openxmlformats.org/drawingml/2006/main" noGrp="1"/>
          </p:cNvSpPr>
          <p:nvPr/>
        </p:nvSpPr>
        <p:spPr>
          <a:xfrm xmlns:a="http://schemas.openxmlformats.org/drawingml/2006/main">
            <a:off x="8515350" y="2162175"/>
            <a:ext cx="3143250" cy="2000250"/>
          </a:xfrm>
          <a:prstGeom xmlns:a="http://schemas.openxmlformats.org/drawingml/2006/main" prst="roundRect">
            <a:avLst>
              <a:gd name="adj" fmla="val 3810"/>
            </a:avLst>
          </a:prstGeom>
          <a:solidFill xmlns:a="http://schemas.openxmlformats.org/drawingml/2006/main">
            <a:srgbClr val="102638"/>
          </a:solidFill>
          <a:ln xmlns:a="http://schemas.openxmlformats.org/drawingml/2006/main" w="11430">
            <a:solidFill>
              <a:srgbClr val="355267"/>
            </a:solidFill>
          </a:ln>
        </p:spPr>
      </p:sp>
      <p:sp>
        <p:nvSpPr>
          <p:cNvPr id="20" name="">
            <a:extLst xmlns:a="http://schemas.openxmlformats.org/drawingml/2006/main">
              <a:ext uri="{FF2B5EF4-FFF2-40B4-BE49-F238E27FC236}">
                <a16:creationId xmlns:a16="http://schemas.microsoft.com/office/drawing/2014/main" id="{213661E3-1439-4424-B580-7E118865D34A}"/>
              </a:ext>
            </a:extLst>
          </p:cNvPr>
          <p:cNvSpPr>
            <a:spLocks xmlns:a="http://schemas.openxmlformats.org/drawingml/2006/main" noGrp="1"/>
          </p:cNvSpPr>
          <p:nvPr/>
        </p:nvSpPr>
        <p:spPr>
          <a:xfrm xmlns:a="http://schemas.openxmlformats.org/drawingml/2006/main">
            <a:off x="8515350" y="2162175"/>
            <a:ext cx="66675" cy="200025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21" name="">
            <a:extLst xmlns:a="http://schemas.openxmlformats.org/drawingml/2006/main">
              <a:ext uri="{FF2B5EF4-FFF2-40B4-BE49-F238E27FC236}">
                <a16:creationId xmlns:a16="http://schemas.microsoft.com/office/drawing/2014/main" id="{CA578CBE-35FA-445D-A9B3-9A7A923C6A29}"/>
              </a:ext>
            </a:extLst>
          </p:cNvPr>
          <p:cNvSpPr>
            <a:spLocks xmlns:a="http://schemas.openxmlformats.org/drawingml/2006/main" noGrp="1"/>
          </p:cNvSpPr>
          <p:nvPr/>
        </p:nvSpPr>
        <p:spPr>
          <a:xfrm xmlns:a="http://schemas.openxmlformats.org/drawingml/2006/main">
            <a:off x="8724900" y="2333625"/>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접근 통제</a:t>
            </a:r>
          </a:p>
        </p:txBody>
      </p:sp>
      <p:sp>
        <p:nvSpPr>
          <p:cNvPr id="22" name="">
            <a:extLst xmlns:a="http://schemas.openxmlformats.org/drawingml/2006/main">
              <a:ext uri="{FF2B5EF4-FFF2-40B4-BE49-F238E27FC236}">
                <a16:creationId xmlns:a16="http://schemas.microsoft.com/office/drawing/2014/main" id="{DD220B67-7178-4628-8C61-90C7059AA882}"/>
              </a:ext>
            </a:extLst>
          </p:cNvPr>
          <p:cNvSpPr>
            <a:spLocks xmlns:a="http://schemas.openxmlformats.org/drawingml/2006/main" noGrp="1"/>
          </p:cNvSpPr>
          <p:nvPr/>
        </p:nvSpPr>
        <p:spPr>
          <a:xfrm xmlns:a="http://schemas.openxmlformats.org/drawingml/2006/main">
            <a:off x="8724900" y="2752725"/>
            <a:ext cx="27432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자료는 보호하지만</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답변의 문서 지지 여부까지 검사하지 않음</a:t>
            </a:r>
          </a:p>
        </p:txBody>
      </p:sp>
      <p:sp>
        <p:nvSpPr>
          <p:cNvPr id="23" name="">
            <a:extLst xmlns:a="http://schemas.openxmlformats.org/drawingml/2006/main">
              <a:ext uri="{FF2B5EF4-FFF2-40B4-BE49-F238E27FC236}">
                <a16:creationId xmlns:a16="http://schemas.microsoft.com/office/drawing/2014/main" id="{4E0E6F99-DCC7-4701-9623-C1836C6A2276}"/>
              </a:ext>
            </a:extLst>
          </p:cNvPr>
          <p:cNvSpPr>
            <a:spLocks xmlns:a="http://schemas.openxmlformats.org/drawingml/2006/main" noGrp="1"/>
          </p:cNvSpPr>
          <p:nvPr/>
        </p:nvSpPr>
        <p:spPr>
          <a:xfrm xmlns:a="http://schemas.openxmlformats.org/drawingml/2006/main">
            <a:off x="3676650" y="3162300"/>
            <a:ext cx="847725" cy="0"/>
          </a:xfrm>
          <a:prstGeom xmlns:a="http://schemas.openxmlformats.org/drawingml/2006/main" prst="line">
            <a:avLst/>
          </a:prstGeom>
          <a:noFill xmlns:a="http://schemas.openxmlformats.org/drawingml/2006/main"/>
          <a:ln xmlns:a="http://schemas.openxmlformats.org/drawingml/2006/main" w="19050">
            <a:solidFill>
              <a:srgbClr val="A8BDCC"/>
            </a:solidFill>
          </a:ln>
        </p:spPr>
      </p:sp>
      <p:sp>
        <p:nvSpPr>
          <p:cNvPr id="24" name="">
            <a:extLst xmlns:a="http://schemas.openxmlformats.org/drawingml/2006/main">
              <a:ext uri="{FF2B5EF4-FFF2-40B4-BE49-F238E27FC236}">
                <a16:creationId xmlns:a16="http://schemas.microsoft.com/office/drawing/2014/main" id="{9A274819-4696-4E3C-A6E6-CB12A1890B36}"/>
              </a:ext>
            </a:extLst>
          </p:cNvPr>
          <p:cNvSpPr>
            <a:spLocks xmlns:a="http://schemas.openxmlformats.org/drawingml/2006/main" noGrp="1"/>
          </p:cNvSpPr>
          <p:nvPr/>
        </p:nvSpPr>
        <p:spPr>
          <a:xfrm xmlns:a="http://schemas.openxmlformats.org/drawingml/2006/main">
            <a:off x="7667625" y="3162300"/>
            <a:ext cx="847725" cy="0"/>
          </a:xfrm>
          <a:prstGeom xmlns:a="http://schemas.openxmlformats.org/drawingml/2006/main" prst="line">
            <a:avLst/>
          </a:prstGeom>
          <a:noFill xmlns:a="http://schemas.openxmlformats.org/drawingml/2006/main"/>
          <a:ln xmlns:a="http://schemas.openxmlformats.org/drawingml/2006/main" w="19050">
            <a:solidFill>
              <a:srgbClr val="A8BDCC"/>
            </a:solidFill>
          </a:ln>
        </p:spPr>
      </p:sp>
      <p:sp>
        <p:nvSpPr>
          <p:cNvPr id="25" name="">
            <a:extLst xmlns:a="http://schemas.openxmlformats.org/drawingml/2006/main">
              <a:ext uri="{FF2B5EF4-FFF2-40B4-BE49-F238E27FC236}">
                <a16:creationId xmlns:a16="http://schemas.microsoft.com/office/drawing/2014/main" id="{34289D52-3234-4A37-B230-48D8551209BE}"/>
              </a:ext>
            </a:extLst>
          </p:cNvPr>
          <p:cNvSpPr>
            <a:spLocks xmlns:a="http://schemas.openxmlformats.org/drawingml/2006/main" noGrp="1"/>
          </p:cNvSpPr>
          <p:nvPr/>
        </p:nvSpPr>
        <p:spPr>
          <a:xfrm xmlns:a="http://schemas.openxmlformats.org/drawingml/2006/main">
            <a:off x="2057400" y="4714875"/>
            <a:ext cx="8077200" cy="876300"/>
          </a:xfrm>
          <a:prstGeom xmlns:a="http://schemas.openxmlformats.org/drawingml/2006/main" prst="roundRect">
            <a:avLst>
              <a:gd name="adj" fmla="val 8696"/>
            </a:avLst>
          </a:prstGeom>
          <a:solidFill xmlns:a="http://schemas.openxmlformats.org/drawingml/2006/main">
            <a:srgbClr val="132E3C"/>
          </a:solidFill>
          <a:ln xmlns:a="http://schemas.openxmlformats.org/drawingml/2006/main" w="11430">
            <a:solidFill>
              <a:srgbClr val="24526A"/>
            </a:solidFill>
          </a:ln>
        </p:spPr>
      </p:sp>
      <p:sp>
        <p:nvSpPr>
          <p:cNvPr id="26" name="">
            <a:extLst xmlns:a="http://schemas.openxmlformats.org/drawingml/2006/main">
              <a:ext uri="{FF2B5EF4-FFF2-40B4-BE49-F238E27FC236}">
                <a16:creationId xmlns:a16="http://schemas.microsoft.com/office/drawing/2014/main" id="{8C08E271-0947-4730-9E1F-D3D204B7CDBA}"/>
              </a:ext>
            </a:extLst>
          </p:cNvPr>
          <p:cNvSpPr>
            <a:spLocks xmlns:a="http://schemas.openxmlformats.org/drawingml/2006/main" noGrp="1"/>
          </p:cNvSpPr>
          <p:nvPr/>
        </p:nvSpPr>
        <p:spPr>
          <a:xfrm xmlns:a="http://schemas.openxmlformats.org/drawingml/2006/main">
            <a:off x="2324100" y="4953000"/>
            <a:ext cx="7543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4F8FB"/>
                </a:solidFill>
                <a:latin typeface="Noto Sans CJK KR"/>
                <a:ea typeface="Noto Sans CJK KR"/>
                <a:cs typeface="Noto Sans CJK KR"/>
              </a:defRPr>
            </a:pPr>
            <a:r>
              <a:rPr sz="2025" b="1">
                <a:solidFill>
                  <a:srgbClr val="F4F8FB"/>
                </a:solidFill>
                <a:latin typeface="Noto Sans CJK KR"/>
                <a:ea typeface="Noto Sans CJK KR"/>
                <a:cs typeface="Noto Sans CJK KR"/>
              </a:rPr>
              <a:t>담당자는 답을 받은 뒤에도 권한, 최신 버전, 원문 근거를 다시 확인해야 한다</a:t>
            </a:r>
          </a:p>
        </p:txBody>
      </p:sp>
      <p:sp>
        <p:nvSpPr>
          <p:cNvPr id="27" name="">
            <a:extLst xmlns:a="http://schemas.openxmlformats.org/drawingml/2006/main">
              <a:ext uri="{FF2B5EF4-FFF2-40B4-BE49-F238E27FC236}">
                <a16:creationId xmlns:a16="http://schemas.microsoft.com/office/drawing/2014/main" id="{7A63AAE1-0792-4316-BFCE-4E72B5996961}"/>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단순 키워드, 범용 LLM, 문서 권한을 각각 비판하는 비교 수치는 만들지 않음</a:t>
            </a:r>
          </a:p>
        </p:txBody>
      </p:sp>
    </p:spTree>
    <p:extLst>
      <p:ext uri="{BB962C8B-B14F-4D97-AF65-F5344CB8AC3E}">
        <p14:creationId xmlns:p14="http://schemas.microsoft.com/office/powerpoint/2010/main" val="2075293012"/>
      </p:ext>
    </p:extLst>
  </p:cSld>
</p:sld>
</file>

<file path=ppt/slides/slide4.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D3A8543-AB32-4514-BC32-2AB5AC076DF3}"/>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02  해결책 공개</a:t>
            </a:r>
          </a:p>
        </p:txBody>
      </p:sp>
      <p:sp>
        <p:nvSpPr>
          <p:cNvPr id="2" name="">
            <a:extLst xmlns:a="http://schemas.openxmlformats.org/drawingml/2006/main">
              <a:ext uri="{FF2B5EF4-FFF2-40B4-BE49-F238E27FC236}">
                <a16:creationId xmlns:a16="http://schemas.microsoft.com/office/drawing/2014/main" id="{D8D05F2B-AC40-4C58-ABF4-B88716C73088}"/>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ASTRA의 목표</a:t>
            </a:r>
          </a:p>
        </p:txBody>
      </p:sp>
      <p:sp>
        <p:nvSpPr>
          <p:cNvPr id="3" name="">
            <a:extLst xmlns:a="http://schemas.openxmlformats.org/drawingml/2006/main">
              <a:ext uri="{FF2B5EF4-FFF2-40B4-BE49-F238E27FC236}">
                <a16:creationId xmlns:a16="http://schemas.microsoft.com/office/drawing/2014/main" id="{73F05F86-64C8-4EF3-9B75-7F428B7B497A}"/>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질문부터 근거 대조까지 같은 권한과 같은 문서 버전을 유지한다</a:t>
            </a:r>
          </a:p>
        </p:txBody>
      </p:sp>
      <p:sp>
        <p:nvSpPr>
          <p:cNvPr id="4" name="">
            <a:extLst xmlns:a="http://schemas.openxmlformats.org/drawingml/2006/main">
              <a:ext uri="{FF2B5EF4-FFF2-40B4-BE49-F238E27FC236}">
                <a16:creationId xmlns:a16="http://schemas.microsoft.com/office/drawing/2014/main" id="{3B4BD88D-432E-4D5B-9313-6172B2E52723}"/>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7F18F767-C23B-4FF5-A1E5-FA42162F893A}"/>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739496D3-5CB7-42A0-8CE5-8B6678CBBE45}"/>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7" name="">
            <a:extLst xmlns:a="http://schemas.openxmlformats.org/drawingml/2006/main">
              <a:ext uri="{FF2B5EF4-FFF2-40B4-BE49-F238E27FC236}">
                <a16:creationId xmlns:a16="http://schemas.microsoft.com/office/drawing/2014/main" id="{B54E3FBE-CD63-4448-8742-828DF1149D4E}"/>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B1988516-7FE7-4D11-8B12-F86A4A30980B}"/>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7C059A44-89B9-49FA-A73E-DEDB00F3B1D2}"/>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8B59251B-D94F-41C8-868E-A1D1920A1499}"/>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CA30FC7C-8378-444E-AF8B-19899C3FDCBB}"/>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04</a:t>
            </a:r>
          </a:p>
        </p:txBody>
      </p:sp>
      <p:sp>
        <p:nvSpPr>
          <p:cNvPr id="12" name="">
            <a:extLst xmlns:a="http://schemas.openxmlformats.org/drawingml/2006/main">
              <a:ext uri="{FF2B5EF4-FFF2-40B4-BE49-F238E27FC236}">
                <a16:creationId xmlns:a16="http://schemas.microsoft.com/office/drawing/2014/main" id="{6F67005C-0214-454C-B8B9-88152EE568D3}"/>
              </a:ext>
            </a:extLst>
          </p:cNvPr>
          <p:cNvSpPr>
            <a:spLocks xmlns:a="http://schemas.openxmlformats.org/drawingml/2006/main" noGrp="1"/>
          </p:cNvSpPr>
          <p:nvPr/>
        </p:nvSpPr>
        <p:spPr>
          <a:xfrm xmlns:a="http://schemas.openxmlformats.org/drawingml/2006/main">
            <a:off x="514350" y="2333625"/>
            <a:ext cx="2362200" cy="2000250"/>
          </a:xfrm>
          <a:prstGeom xmlns:a="http://schemas.openxmlformats.org/drawingml/2006/main" prst="roundRect">
            <a:avLst>
              <a:gd name="adj" fmla="val 3810"/>
            </a:avLst>
          </a:prstGeom>
          <a:solidFill xmlns:a="http://schemas.openxmlformats.org/drawingml/2006/main">
            <a:srgbClr val="102638"/>
          </a:solidFill>
          <a:ln xmlns:a="http://schemas.openxmlformats.org/drawingml/2006/main" w="11430">
            <a:solidFill>
              <a:srgbClr val="355267"/>
            </a:solidFill>
          </a:ln>
        </p:spPr>
      </p:sp>
      <p:sp>
        <p:nvSpPr>
          <p:cNvPr id="13" name="">
            <a:extLst xmlns:a="http://schemas.openxmlformats.org/drawingml/2006/main">
              <a:ext uri="{FF2B5EF4-FFF2-40B4-BE49-F238E27FC236}">
                <a16:creationId xmlns:a16="http://schemas.microsoft.com/office/drawing/2014/main" id="{7A8EC635-4B2E-4EDA-AEA2-0318B911DE55}"/>
              </a:ext>
            </a:extLst>
          </p:cNvPr>
          <p:cNvSpPr>
            <a:spLocks xmlns:a="http://schemas.openxmlformats.org/drawingml/2006/main" noGrp="1"/>
          </p:cNvSpPr>
          <p:nvPr/>
        </p:nvSpPr>
        <p:spPr>
          <a:xfrm xmlns:a="http://schemas.openxmlformats.org/drawingml/2006/main">
            <a:off x="514350" y="2333625"/>
            <a:ext cx="66675" cy="200025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14" name="">
            <a:extLst xmlns:a="http://schemas.openxmlformats.org/drawingml/2006/main">
              <a:ext uri="{FF2B5EF4-FFF2-40B4-BE49-F238E27FC236}">
                <a16:creationId xmlns:a16="http://schemas.microsoft.com/office/drawing/2014/main" id="{95A010DA-A616-4286-BF46-211A69159FA2}"/>
              </a:ext>
            </a:extLst>
          </p:cNvPr>
          <p:cNvSpPr>
            <a:spLocks xmlns:a="http://schemas.openxmlformats.org/drawingml/2006/main" noGrp="1"/>
          </p:cNvSpPr>
          <p:nvPr/>
        </p:nvSpPr>
        <p:spPr>
          <a:xfrm xmlns:a="http://schemas.openxmlformats.org/drawingml/2006/main">
            <a:off x="723900" y="2505075"/>
            <a:ext cx="198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권한 확인</a:t>
            </a:r>
          </a:p>
        </p:txBody>
      </p:sp>
      <p:sp>
        <p:nvSpPr>
          <p:cNvPr id="15" name="">
            <a:extLst xmlns:a="http://schemas.openxmlformats.org/drawingml/2006/main">
              <a:ext uri="{FF2B5EF4-FFF2-40B4-BE49-F238E27FC236}">
                <a16:creationId xmlns:a16="http://schemas.microsoft.com/office/drawing/2014/main" id="{16E24E7D-3094-4FED-B0E0-F42248CC9846}"/>
              </a:ext>
            </a:extLst>
          </p:cNvPr>
          <p:cNvSpPr>
            <a:spLocks xmlns:a="http://schemas.openxmlformats.org/drawingml/2006/main" noGrp="1"/>
          </p:cNvSpPr>
          <p:nvPr/>
        </p:nvSpPr>
        <p:spPr>
          <a:xfrm xmlns:a="http://schemas.openxmlformats.org/drawingml/2006/main">
            <a:off x="723900" y="2924175"/>
            <a:ext cx="1962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회사, tenant, 역할,</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시나리오와 기준일</a:t>
            </a:r>
          </a:p>
        </p:txBody>
      </p:sp>
      <p:sp>
        <p:nvSpPr>
          <p:cNvPr id="16" name="">
            <a:extLst xmlns:a="http://schemas.openxmlformats.org/drawingml/2006/main">
              <a:ext uri="{FF2B5EF4-FFF2-40B4-BE49-F238E27FC236}">
                <a16:creationId xmlns:a16="http://schemas.microsoft.com/office/drawing/2014/main" id="{0144C61B-8149-446E-AAA4-EA05E9984778}"/>
              </a:ext>
            </a:extLst>
          </p:cNvPr>
          <p:cNvSpPr>
            <a:spLocks xmlns:a="http://schemas.openxmlformats.org/drawingml/2006/main" noGrp="1"/>
          </p:cNvSpPr>
          <p:nvPr/>
        </p:nvSpPr>
        <p:spPr>
          <a:xfrm xmlns:a="http://schemas.openxmlformats.org/drawingml/2006/main">
            <a:off x="3476625" y="2333625"/>
            <a:ext cx="2362200" cy="2000250"/>
          </a:xfrm>
          <a:prstGeom xmlns:a="http://schemas.openxmlformats.org/drawingml/2006/main" prst="roundRect">
            <a:avLst>
              <a:gd name="adj" fmla="val 3810"/>
            </a:avLst>
          </a:prstGeom>
          <a:solidFill xmlns:a="http://schemas.openxmlformats.org/drawingml/2006/main">
            <a:srgbClr val="102638"/>
          </a:solidFill>
          <a:ln xmlns:a="http://schemas.openxmlformats.org/drawingml/2006/main" w="11430">
            <a:solidFill>
              <a:srgbClr val="355267"/>
            </a:solidFill>
          </a:ln>
        </p:spPr>
      </p:sp>
      <p:sp>
        <p:nvSpPr>
          <p:cNvPr id="17" name="">
            <a:extLst xmlns:a="http://schemas.openxmlformats.org/drawingml/2006/main">
              <a:ext uri="{FF2B5EF4-FFF2-40B4-BE49-F238E27FC236}">
                <a16:creationId xmlns:a16="http://schemas.microsoft.com/office/drawing/2014/main" id="{62C61C6A-2160-4434-A508-96893907092F}"/>
              </a:ext>
            </a:extLst>
          </p:cNvPr>
          <p:cNvSpPr>
            <a:spLocks xmlns:a="http://schemas.openxmlformats.org/drawingml/2006/main" noGrp="1"/>
          </p:cNvSpPr>
          <p:nvPr/>
        </p:nvSpPr>
        <p:spPr>
          <a:xfrm xmlns:a="http://schemas.openxmlformats.org/drawingml/2006/main">
            <a:off x="3476625" y="2333625"/>
            <a:ext cx="66675" cy="200025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18" name="">
            <a:extLst xmlns:a="http://schemas.openxmlformats.org/drawingml/2006/main">
              <a:ext uri="{FF2B5EF4-FFF2-40B4-BE49-F238E27FC236}">
                <a16:creationId xmlns:a16="http://schemas.microsoft.com/office/drawing/2014/main" id="{A47345D6-68EF-439B-B755-F8138117D0F6}"/>
              </a:ext>
            </a:extLst>
          </p:cNvPr>
          <p:cNvSpPr>
            <a:spLocks xmlns:a="http://schemas.openxmlformats.org/drawingml/2006/main" noGrp="1"/>
          </p:cNvSpPr>
          <p:nvPr/>
        </p:nvSpPr>
        <p:spPr>
          <a:xfrm xmlns:a="http://schemas.openxmlformats.org/drawingml/2006/main">
            <a:off x="3686175" y="2505075"/>
            <a:ext cx="198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근거 검색</a:t>
            </a:r>
          </a:p>
        </p:txBody>
      </p:sp>
      <p:sp>
        <p:nvSpPr>
          <p:cNvPr id="19" name="">
            <a:extLst xmlns:a="http://schemas.openxmlformats.org/drawingml/2006/main">
              <a:ext uri="{FF2B5EF4-FFF2-40B4-BE49-F238E27FC236}">
                <a16:creationId xmlns:a16="http://schemas.microsoft.com/office/drawing/2014/main" id="{DAED4D10-6D33-4994-86B5-7BD815F81A54}"/>
              </a:ext>
            </a:extLst>
          </p:cNvPr>
          <p:cNvSpPr>
            <a:spLocks xmlns:a="http://schemas.openxmlformats.org/drawingml/2006/main" noGrp="1"/>
          </p:cNvSpPr>
          <p:nvPr/>
        </p:nvSpPr>
        <p:spPr>
          <a:xfrm xmlns:a="http://schemas.openxmlformats.org/drawingml/2006/main">
            <a:off x="3686175" y="2924175"/>
            <a:ext cx="1962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허용 문서 안에서</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키워드와 벡터 결합</a:t>
            </a:r>
          </a:p>
        </p:txBody>
      </p:sp>
      <p:sp>
        <p:nvSpPr>
          <p:cNvPr id="20" name="">
            <a:extLst xmlns:a="http://schemas.openxmlformats.org/drawingml/2006/main">
              <a:ext uri="{FF2B5EF4-FFF2-40B4-BE49-F238E27FC236}">
                <a16:creationId xmlns:a16="http://schemas.microsoft.com/office/drawing/2014/main" id="{2E515A46-89F4-4AA3-81E1-366AAA56AD56}"/>
              </a:ext>
            </a:extLst>
          </p:cNvPr>
          <p:cNvSpPr>
            <a:spLocks xmlns:a="http://schemas.openxmlformats.org/drawingml/2006/main" noGrp="1"/>
          </p:cNvSpPr>
          <p:nvPr/>
        </p:nvSpPr>
        <p:spPr>
          <a:xfrm xmlns:a="http://schemas.openxmlformats.org/drawingml/2006/main">
            <a:off x="6438900" y="2333625"/>
            <a:ext cx="2362200" cy="2000250"/>
          </a:xfrm>
          <a:prstGeom xmlns:a="http://schemas.openxmlformats.org/drawingml/2006/main" prst="roundRect">
            <a:avLst>
              <a:gd name="adj" fmla="val 3810"/>
            </a:avLst>
          </a:prstGeom>
          <a:solidFill xmlns:a="http://schemas.openxmlformats.org/drawingml/2006/main">
            <a:srgbClr val="102638"/>
          </a:solidFill>
          <a:ln xmlns:a="http://schemas.openxmlformats.org/drawingml/2006/main" w="11430">
            <a:solidFill>
              <a:srgbClr val="355267"/>
            </a:solidFill>
          </a:ln>
        </p:spPr>
      </p:sp>
      <p:sp>
        <p:nvSpPr>
          <p:cNvPr id="21" name="">
            <a:extLst xmlns:a="http://schemas.openxmlformats.org/drawingml/2006/main">
              <a:ext uri="{FF2B5EF4-FFF2-40B4-BE49-F238E27FC236}">
                <a16:creationId xmlns:a16="http://schemas.microsoft.com/office/drawing/2014/main" id="{B0C85A0C-0367-4EEB-B379-98D7ABFA7B7A}"/>
              </a:ext>
            </a:extLst>
          </p:cNvPr>
          <p:cNvSpPr>
            <a:spLocks xmlns:a="http://schemas.openxmlformats.org/drawingml/2006/main" noGrp="1"/>
          </p:cNvSpPr>
          <p:nvPr/>
        </p:nvSpPr>
        <p:spPr>
          <a:xfrm xmlns:a="http://schemas.openxmlformats.org/drawingml/2006/main">
            <a:off x="6438900" y="2333625"/>
            <a:ext cx="66675" cy="2000250"/>
          </a:xfrm>
          <a:prstGeom xmlns:a="http://schemas.openxmlformats.org/drawingml/2006/main" prst="rect">
            <a:avLst/>
          </a:prstGeom>
          <a:solidFill xmlns:a="http://schemas.openxmlformats.org/drawingml/2006/main">
            <a:srgbClr val="F6B94A"/>
          </a:solidFill>
          <a:ln xmlns:a="http://schemas.openxmlformats.org/drawingml/2006/main" w="11430">
            <a:solidFill>
              <a:srgbClr val="F6B94A"/>
            </a:solidFill>
          </a:ln>
        </p:spPr>
      </p:sp>
      <p:sp>
        <p:nvSpPr>
          <p:cNvPr id="22" name="">
            <a:extLst xmlns:a="http://schemas.openxmlformats.org/drawingml/2006/main">
              <a:ext uri="{FF2B5EF4-FFF2-40B4-BE49-F238E27FC236}">
                <a16:creationId xmlns:a16="http://schemas.microsoft.com/office/drawing/2014/main" id="{D7F78224-0376-4C7D-8518-377C87EC8DD4}"/>
              </a:ext>
            </a:extLst>
          </p:cNvPr>
          <p:cNvSpPr>
            <a:spLocks xmlns:a="http://schemas.openxmlformats.org/drawingml/2006/main" noGrp="1"/>
          </p:cNvSpPr>
          <p:nvPr/>
        </p:nvSpPr>
        <p:spPr>
          <a:xfrm xmlns:a="http://schemas.openxmlformats.org/drawingml/2006/main">
            <a:off x="6648450" y="2505075"/>
            <a:ext cx="198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로컬 생성</a:t>
            </a:r>
          </a:p>
        </p:txBody>
      </p:sp>
      <p:sp>
        <p:nvSpPr>
          <p:cNvPr id="23" name="">
            <a:extLst xmlns:a="http://schemas.openxmlformats.org/drawingml/2006/main">
              <a:ext uri="{FF2B5EF4-FFF2-40B4-BE49-F238E27FC236}">
                <a16:creationId xmlns:a16="http://schemas.microsoft.com/office/drawing/2014/main" id="{3A8342E8-C0A9-4652-87E7-02F8B2EB5600}"/>
              </a:ext>
            </a:extLst>
          </p:cNvPr>
          <p:cNvSpPr>
            <a:spLocks xmlns:a="http://schemas.openxmlformats.org/drawingml/2006/main" noGrp="1"/>
          </p:cNvSpPr>
          <p:nvPr/>
        </p:nvSpPr>
        <p:spPr>
          <a:xfrm xmlns:a="http://schemas.openxmlformats.org/drawingml/2006/main">
            <a:off x="6648450" y="2924175"/>
            <a:ext cx="19621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질문과 선택 근거로</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답변과 인용 생성</a:t>
            </a:r>
          </a:p>
        </p:txBody>
      </p:sp>
      <p:sp>
        <p:nvSpPr>
          <p:cNvPr id="24" name="">
            <a:extLst xmlns:a="http://schemas.openxmlformats.org/drawingml/2006/main">
              <a:ext uri="{FF2B5EF4-FFF2-40B4-BE49-F238E27FC236}">
                <a16:creationId xmlns:a16="http://schemas.microsoft.com/office/drawing/2014/main" id="{8A527EB3-6FC6-4583-B4F8-C5B89D25A3D4}"/>
              </a:ext>
            </a:extLst>
          </p:cNvPr>
          <p:cNvSpPr>
            <a:spLocks xmlns:a="http://schemas.openxmlformats.org/drawingml/2006/main" noGrp="1"/>
          </p:cNvSpPr>
          <p:nvPr/>
        </p:nvSpPr>
        <p:spPr>
          <a:xfrm xmlns:a="http://schemas.openxmlformats.org/drawingml/2006/main">
            <a:off x="9401175" y="2333625"/>
            <a:ext cx="2276475" cy="2000250"/>
          </a:xfrm>
          <a:prstGeom xmlns:a="http://schemas.openxmlformats.org/drawingml/2006/main" prst="roundRect">
            <a:avLst>
              <a:gd name="adj" fmla="val 3810"/>
            </a:avLst>
          </a:prstGeom>
          <a:solidFill xmlns:a="http://schemas.openxmlformats.org/drawingml/2006/main">
            <a:srgbClr val="102638"/>
          </a:solidFill>
          <a:ln xmlns:a="http://schemas.openxmlformats.org/drawingml/2006/main" w="11430">
            <a:solidFill>
              <a:srgbClr val="355267"/>
            </a:solidFill>
          </a:ln>
        </p:spPr>
      </p:sp>
      <p:sp>
        <p:nvSpPr>
          <p:cNvPr id="25" name="">
            <a:extLst xmlns:a="http://schemas.openxmlformats.org/drawingml/2006/main">
              <a:ext uri="{FF2B5EF4-FFF2-40B4-BE49-F238E27FC236}">
                <a16:creationId xmlns:a16="http://schemas.microsoft.com/office/drawing/2014/main" id="{D585E15E-B53A-4501-9105-30E26621F646}"/>
              </a:ext>
            </a:extLst>
          </p:cNvPr>
          <p:cNvSpPr>
            <a:spLocks xmlns:a="http://schemas.openxmlformats.org/drawingml/2006/main" noGrp="1"/>
          </p:cNvSpPr>
          <p:nvPr/>
        </p:nvSpPr>
        <p:spPr>
          <a:xfrm xmlns:a="http://schemas.openxmlformats.org/drawingml/2006/main">
            <a:off x="9401175" y="2333625"/>
            <a:ext cx="66675" cy="200025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26" name="">
            <a:extLst xmlns:a="http://schemas.openxmlformats.org/drawingml/2006/main">
              <a:ext uri="{FF2B5EF4-FFF2-40B4-BE49-F238E27FC236}">
                <a16:creationId xmlns:a16="http://schemas.microsoft.com/office/drawing/2014/main" id="{29BEC639-7FA0-45AC-9B1E-8DDF57C76E85}"/>
              </a:ext>
            </a:extLst>
          </p:cNvPr>
          <p:cNvSpPr>
            <a:spLocks xmlns:a="http://schemas.openxmlformats.org/drawingml/2006/main" noGrp="1"/>
          </p:cNvSpPr>
          <p:nvPr/>
        </p:nvSpPr>
        <p:spPr>
          <a:xfrm xmlns:a="http://schemas.openxmlformats.org/drawingml/2006/main">
            <a:off x="9610725" y="2505075"/>
            <a:ext cx="1895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답변 검증</a:t>
            </a:r>
          </a:p>
        </p:txBody>
      </p:sp>
      <p:sp>
        <p:nvSpPr>
          <p:cNvPr id="27" name="">
            <a:extLst xmlns:a="http://schemas.openxmlformats.org/drawingml/2006/main">
              <a:ext uri="{FF2B5EF4-FFF2-40B4-BE49-F238E27FC236}">
                <a16:creationId xmlns:a16="http://schemas.microsoft.com/office/drawing/2014/main" id="{241A3172-C513-4871-9074-52341C5A5919}"/>
              </a:ext>
            </a:extLst>
          </p:cNvPr>
          <p:cNvSpPr>
            <a:spLocks xmlns:a="http://schemas.openxmlformats.org/drawingml/2006/main" noGrp="1"/>
          </p:cNvSpPr>
          <p:nvPr/>
        </p:nvSpPr>
        <p:spPr>
          <a:xfrm xmlns:a="http://schemas.openxmlformats.org/drawingml/2006/main">
            <a:off x="9610725" y="2924175"/>
            <a:ext cx="18764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규칙 검사와 토큰 분류로</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의심 구절 표시</a:t>
            </a:r>
          </a:p>
        </p:txBody>
      </p:sp>
      <p:cxnSp>
        <p:nvCxnSpPr>
          <p:cNvPr id="60" name=""/>
          <p:cNvCxnSpPr>
            <a:stCxn xmlns:a="http://schemas.openxmlformats.org/drawingml/2006/main" id="12" idx="3"/>
            <a:endCxn xmlns:a="http://schemas.openxmlformats.org/drawingml/2006/main" id="16" idx="1"/>
          </p:cNvCxnSpPr>
          <p:nvPr/>
        </p:nvCxnSpPr>
        <p:spPr>
          <a:xfrm xmlns:a="http://schemas.openxmlformats.org/drawingml/2006/main">
            <a:off x="2876550" y="3333750"/>
            <a:ext cx="600075"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61" name=""/>
          <p:cNvCxnSpPr>
            <a:stCxn xmlns:a="http://schemas.openxmlformats.org/drawingml/2006/main" id="16" idx="3"/>
            <a:endCxn xmlns:a="http://schemas.openxmlformats.org/drawingml/2006/main" id="20" idx="1"/>
          </p:cNvCxnSpPr>
          <p:nvPr/>
        </p:nvCxnSpPr>
        <p:spPr>
          <a:xfrm xmlns:a="http://schemas.openxmlformats.org/drawingml/2006/main">
            <a:off x="5838825" y="3333750"/>
            <a:ext cx="600075"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62" name=""/>
          <p:cNvCxnSpPr>
            <a:stCxn xmlns:a="http://schemas.openxmlformats.org/drawingml/2006/main" id="20" idx="3"/>
            <a:endCxn xmlns:a="http://schemas.openxmlformats.org/drawingml/2006/main" id="24" idx="1"/>
          </p:cNvCxnSpPr>
          <p:nvPr/>
        </p:nvCxnSpPr>
        <p:spPr>
          <a:xfrm xmlns:a="http://schemas.openxmlformats.org/drawingml/2006/main">
            <a:off x="8801100" y="3333750"/>
            <a:ext cx="600075" cy="0"/>
          </a:xfrm>
          <a:prstGeom xmlns:a="http://schemas.openxmlformats.org/drawingml/2006/main" prst="straightConnector1">
            <a:avLst/>
          </a:prstGeom>
          <a:ln xmlns:a="http://schemas.openxmlformats.org/drawingml/2006/main" w="19050">
            <a:solidFill>
              <a:srgbClr val="A8BDCC"/>
            </a:solidFill>
            <a:tailEnd type="triangle" w="sm" len="sm"/>
          </a:ln>
        </p:spPr>
      </p:cxnSp>
      <p:sp>
        <p:nvSpPr>
          <p:cNvPr id="31" name="">
            <a:extLst xmlns:a="http://schemas.openxmlformats.org/drawingml/2006/main">
              <a:ext uri="{FF2B5EF4-FFF2-40B4-BE49-F238E27FC236}">
                <a16:creationId xmlns:a16="http://schemas.microsoft.com/office/drawing/2014/main" id="{FD611054-7919-4C12-A2F9-DA6D84076344}"/>
              </a:ext>
            </a:extLst>
          </p:cNvPr>
          <p:cNvSpPr>
            <a:spLocks xmlns:a="http://schemas.openxmlformats.org/drawingml/2006/main" noGrp="1"/>
          </p:cNvSpPr>
          <p:nvPr/>
        </p:nvSpPr>
        <p:spPr>
          <a:xfrm xmlns:a="http://schemas.openxmlformats.org/drawingml/2006/main">
            <a:off x="723900" y="49530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4F8FB"/>
                </a:solidFill>
                <a:latin typeface="Noto Sans CJK KR"/>
                <a:ea typeface="Noto Sans CJK KR"/>
                <a:cs typeface="Noto Sans CJK KR"/>
              </a:defRPr>
            </a:pPr>
            <a:r>
              <a:rPr sz="2025" b="1">
                <a:solidFill>
                  <a:srgbClr val="F4F8FB"/>
                </a:solidFill>
                <a:latin typeface="Noto Sans CJK KR"/>
                <a:ea typeface="Noto Sans CJK KR"/>
                <a:cs typeface="Noto Sans CJK KR"/>
              </a:rPr>
              <a:t>결과는 “참여 가능” 한 줄이 아니라 근거, 조건 상태, 자료부족, 의심 구절을 함께 보여준다.</a:t>
            </a:r>
          </a:p>
        </p:txBody>
      </p:sp>
      <p:sp>
        <p:nvSpPr>
          <p:cNvPr id="32" name="">
            <a:extLst xmlns:a="http://schemas.openxmlformats.org/drawingml/2006/main">
              <a:ext uri="{FF2B5EF4-FFF2-40B4-BE49-F238E27FC236}">
                <a16:creationId xmlns:a16="http://schemas.microsoft.com/office/drawing/2014/main" id="{E768FFD7-EF98-479A-8C9C-57CA2FB89E4C}"/>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개별 조건 검토를 전체 입찰 적격 판정으로 확대하지 않음</a:t>
            </a:r>
          </a:p>
        </p:txBody>
      </p:sp>
    </p:spTree>
    <p:extLst>
      <p:ext uri="{BB962C8B-B14F-4D97-AF65-F5344CB8AC3E}">
        <p14:creationId xmlns:p14="http://schemas.microsoft.com/office/powerpoint/2010/main" val="1293060986"/>
      </p:ext>
    </p:extLst>
  </p:cSld>
</p:sld>
</file>

<file path=ppt/slides/slide5.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A0ECD0B-8765-4081-818B-F26E2FFC2DB2}"/>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02  해결책 공개</a:t>
            </a:r>
          </a:p>
        </p:txBody>
      </p:sp>
      <p:sp>
        <p:nvSpPr>
          <p:cNvPr id="2" name="">
            <a:extLst xmlns:a="http://schemas.openxmlformats.org/drawingml/2006/main">
              <a:ext uri="{FF2B5EF4-FFF2-40B4-BE49-F238E27FC236}">
                <a16:creationId xmlns:a16="http://schemas.microsoft.com/office/drawing/2014/main" id="{05CA16E1-3E19-48B8-847B-BF60BDBF045C}"/>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ASTRA 전체 파이프라인</a:t>
            </a:r>
          </a:p>
        </p:txBody>
      </p:sp>
      <p:sp>
        <p:nvSpPr>
          <p:cNvPr id="3" name="">
            <a:extLst xmlns:a="http://schemas.openxmlformats.org/drawingml/2006/main">
              <a:ext uri="{FF2B5EF4-FFF2-40B4-BE49-F238E27FC236}">
                <a16:creationId xmlns:a16="http://schemas.microsoft.com/office/drawing/2014/main" id="{F078B71B-6F56-4158-B5BD-4740F0D8FB2F}"/>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Input, Process, Output을 먼저 보고 이후 슬라이드에서 구간별로 확대한다</a:t>
            </a:r>
          </a:p>
        </p:txBody>
      </p:sp>
      <p:sp>
        <p:nvSpPr>
          <p:cNvPr id="4" name="">
            <a:extLst xmlns:a="http://schemas.openxmlformats.org/drawingml/2006/main">
              <a:ext uri="{FF2B5EF4-FFF2-40B4-BE49-F238E27FC236}">
                <a16:creationId xmlns:a16="http://schemas.microsoft.com/office/drawing/2014/main" id="{EA76D9E1-8E45-49D7-8C0F-29FED8E63DE4}"/>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EA7D0EA4-680F-4D6A-867F-5F19BC9307F7}"/>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F5D82C39-E361-4780-92EB-FAA9274DBAE5}"/>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7" name="">
            <a:extLst xmlns:a="http://schemas.openxmlformats.org/drawingml/2006/main">
              <a:ext uri="{FF2B5EF4-FFF2-40B4-BE49-F238E27FC236}">
                <a16:creationId xmlns:a16="http://schemas.microsoft.com/office/drawing/2014/main" id="{552A6CBE-53D9-4E8D-B2DD-D7D652E4B6A1}"/>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64E56053-9258-419A-ADE7-79A09735BE9A}"/>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1AED1984-5075-4D59-8D52-0F2614EA64BB}"/>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755407B3-6E43-4762-823B-1D0B42806884}"/>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CE77A389-3CBF-4C57-9D81-729769FC7422}"/>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05</a:t>
            </a:r>
          </a:p>
        </p:txBody>
      </p:sp>
      <p:sp>
        <p:nvSpPr>
          <p:cNvPr id="12" name="">
            <a:extLst xmlns:a="http://schemas.openxmlformats.org/drawingml/2006/main">
              <a:ext uri="{FF2B5EF4-FFF2-40B4-BE49-F238E27FC236}">
                <a16:creationId xmlns:a16="http://schemas.microsoft.com/office/drawing/2014/main" id="{DA32E410-5F84-40C9-A481-0D6DADF525B1}"/>
              </a:ext>
            </a:extLst>
          </p:cNvPr>
          <p:cNvSpPr>
            <a:spLocks xmlns:a="http://schemas.openxmlformats.org/drawingml/2006/main" noGrp="1"/>
          </p:cNvSpPr>
          <p:nvPr/>
        </p:nvSpPr>
        <p:spPr>
          <a:xfrm xmlns:a="http://schemas.openxmlformats.org/drawingml/2006/main">
            <a:off x="514350" y="17907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4D8DFF"/>
                </a:solidFill>
                <a:latin typeface="Noto Sans CJK KR"/>
                <a:ea typeface="Noto Sans CJK KR"/>
                <a:cs typeface="Noto Sans CJK KR"/>
              </a:defRPr>
            </a:pPr>
            <a:r>
              <a:rPr sz="1350" b="1">
                <a:solidFill>
                  <a:srgbClr val="4D8DFF"/>
                </a:solidFill>
                <a:latin typeface="Noto Sans CJK KR"/>
                <a:ea typeface="Noto Sans CJK KR"/>
                <a:cs typeface="Noto Sans CJK KR"/>
              </a:rPr>
              <a:t>구축 단계</a:t>
            </a:r>
          </a:p>
        </p:txBody>
      </p:sp>
      <p:sp>
        <p:nvSpPr>
          <p:cNvPr id="13" name="">
            <a:extLst xmlns:a="http://schemas.openxmlformats.org/drawingml/2006/main">
              <a:ext uri="{FF2B5EF4-FFF2-40B4-BE49-F238E27FC236}">
                <a16:creationId xmlns:a16="http://schemas.microsoft.com/office/drawing/2014/main" id="{8FB87F36-64E6-48E3-91B2-200C296EB314}"/>
              </a:ext>
            </a:extLst>
          </p:cNvPr>
          <p:cNvSpPr>
            <a:spLocks xmlns:a="http://schemas.openxmlformats.org/drawingml/2006/main" noGrp="1"/>
          </p:cNvSpPr>
          <p:nvPr/>
        </p:nvSpPr>
        <p:spPr>
          <a:xfrm xmlns:a="http://schemas.openxmlformats.org/drawingml/2006/main">
            <a:off x="514350" y="3819525"/>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DD4BF"/>
                </a:solidFill>
                <a:latin typeface="Noto Sans CJK KR"/>
                <a:ea typeface="Noto Sans CJK KR"/>
                <a:cs typeface="Noto Sans CJK KR"/>
              </a:defRPr>
            </a:pPr>
            <a:r>
              <a:rPr sz="1350" b="1">
                <a:solidFill>
                  <a:srgbClr val="2DD4BF"/>
                </a:solidFill>
                <a:latin typeface="Noto Sans CJK KR"/>
                <a:ea typeface="Noto Sans CJK KR"/>
                <a:cs typeface="Noto Sans CJK KR"/>
              </a:rPr>
              <a:t>운영 단계</a:t>
            </a:r>
          </a:p>
        </p:txBody>
      </p:sp>
      <p:sp>
        <p:nvSpPr>
          <p:cNvPr id="14" name="">
            <a:extLst xmlns:a="http://schemas.openxmlformats.org/drawingml/2006/main">
              <a:ext uri="{FF2B5EF4-FFF2-40B4-BE49-F238E27FC236}">
                <a16:creationId xmlns:a16="http://schemas.microsoft.com/office/drawing/2014/main" id="{31C68632-5CA4-488C-A0C5-3474B2930CD8}"/>
              </a:ext>
            </a:extLst>
          </p:cNvPr>
          <p:cNvSpPr>
            <a:spLocks xmlns:a="http://schemas.openxmlformats.org/drawingml/2006/main" noGrp="1"/>
          </p:cNvSpPr>
          <p:nvPr/>
        </p:nvSpPr>
        <p:spPr>
          <a:xfrm xmlns:a="http://schemas.openxmlformats.org/drawingml/2006/main">
            <a:off x="514350" y="2114550"/>
            <a:ext cx="2628900" cy="1447800"/>
          </a:xfrm>
          <a:prstGeom xmlns:a="http://schemas.openxmlformats.org/drawingml/2006/main" prst="roundRect">
            <a:avLst>
              <a:gd name="adj" fmla="val 5263"/>
            </a:avLst>
          </a:prstGeom>
          <a:solidFill xmlns:a="http://schemas.openxmlformats.org/drawingml/2006/main">
            <a:srgbClr val="102638"/>
          </a:solidFill>
          <a:ln xmlns:a="http://schemas.openxmlformats.org/drawingml/2006/main" w="11430">
            <a:solidFill>
              <a:srgbClr val="355267"/>
            </a:solidFill>
          </a:ln>
        </p:spPr>
      </p:sp>
      <p:sp>
        <p:nvSpPr>
          <p:cNvPr id="15" name="">
            <a:extLst xmlns:a="http://schemas.openxmlformats.org/drawingml/2006/main">
              <a:ext uri="{FF2B5EF4-FFF2-40B4-BE49-F238E27FC236}">
                <a16:creationId xmlns:a16="http://schemas.microsoft.com/office/drawing/2014/main" id="{C0D2799B-05E5-479A-9F5A-11E7A9E1D596}"/>
              </a:ext>
            </a:extLst>
          </p:cNvPr>
          <p:cNvSpPr>
            <a:spLocks xmlns:a="http://schemas.openxmlformats.org/drawingml/2006/main" noGrp="1"/>
          </p:cNvSpPr>
          <p:nvPr/>
        </p:nvSpPr>
        <p:spPr>
          <a:xfrm xmlns:a="http://schemas.openxmlformats.org/drawingml/2006/main">
            <a:off x="514350" y="2114550"/>
            <a:ext cx="66675" cy="144780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16" name="">
            <a:extLst xmlns:a="http://schemas.openxmlformats.org/drawingml/2006/main">
              <a:ext uri="{FF2B5EF4-FFF2-40B4-BE49-F238E27FC236}">
                <a16:creationId xmlns:a16="http://schemas.microsoft.com/office/drawing/2014/main" id="{50A3838E-2F32-4455-A4E6-A0B0B0C708F1}"/>
              </a:ext>
            </a:extLst>
          </p:cNvPr>
          <p:cNvSpPr>
            <a:spLocks xmlns:a="http://schemas.openxmlformats.org/drawingml/2006/main" noGrp="1"/>
          </p:cNvSpPr>
          <p:nvPr/>
        </p:nvSpPr>
        <p:spPr>
          <a:xfrm xmlns:a="http://schemas.openxmlformats.org/drawingml/2006/main">
            <a:off x="723900" y="228600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INPUT</a:t>
            </a:r>
          </a:p>
        </p:txBody>
      </p:sp>
      <p:sp>
        <p:nvSpPr>
          <p:cNvPr id="17" name="">
            <a:extLst xmlns:a="http://schemas.openxmlformats.org/drawingml/2006/main">
              <a:ext uri="{FF2B5EF4-FFF2-40B4-BE49-F238E27FC236}">
                <a16:creationId xmlns:a16="http://schemas.microsoft.com/office/drawing/2014/main" id="{64A49E65-20AC-4842-847C-CE2507A3D009}"/>
              </a:ext>
            </a:extLst>
          </p:cNvPr>
          <p:cNvSpPr>
            <a:spLocks xmlns:a="http://schemas.openxmlformats.org/drawingml/2006/main" noGrp="1"/>
          </p:cNvSpPr>
          <p:nvPr/>
        </p:nvSpPr>
        <p:spPr>
          <a:xfrm xmlns:a="http://schemas.openxmlformats.org/drawingml/2006/main">
            <a:off x="723900" y="2705100"/>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공개 공고·첨부</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합성 기업 L2·L3</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평가용 질문</a:t>
            </a:r>
          </a:p>
        </p:txBody>
      </p:sp>
      <p:sp>
        <p:nvSpPr>
          <p:cNvPr id="18" name="">
            <a:extLst xmlns:a="http://schemas.openxmlformats.org/drawingml/2006/main">
              <a:ext uri="{FF2B5EF4-FFF2-40B4-BE49-F238E27FC236}">
                <a16:creationId xmlns:a16="http://schemas.microsoft.com/office/drawing/2014/main" id="{2CF86EB2-2141-40D0-ABBB-9307961D7891}"/>
              </a:ext>
            </a:extLst>
          </p:cNvPr>
          <p:cNvSpPr>
            <a:spLocks xmlns:a="http://schemas.openxmlformats.org/drawingml/2006/main" noGrp="1"/>
          </p:cNvSpPr>
          <p:nvPr/>
        </p:nvSpPr>
        <p:spPr>
          <a:xfrm xmlns:a="http://schemas.openxmlformats.org/drawingml/2006/main">
            <a:off x="4772025" y="2114550"/>
            <a:ext cx="2628900" cy="1447800"/>
          </a:xfrm>
          <a:prstGeom xmlns:a="http://schemas.openxmlformats.org/drawingml/2006/main" prst="roundRect">
            <a:avLst>
              <a:gd name="adj" fmla="val 5263"/>
            </a:avLst>
          </a:prstGeom>
          <a:solidFill xmlns:a="http://schemas.openxmlformats.org/drawingml/2006/main">
            <a:srgbClr val="102638"/>
          </a:solidFill>
          <a:ln xmlns:a="http://schemas.openxmlformats.org/drawingml/2006/main" w="11430">
            <a:solidFill>
              <a:srgbClr val="355267"/>
            </a:solidFill>
          </a:ln>
        </p:spPr>
      </p:sp>
      <p:sp>
        <p:nvSpPr>
          <p:cNvPr id="19" name="">
            <a:extLst xmlns:a="http://schemas.openxmlformats.org/drawingml/2006/main">
              <a:ext uri="{FF2B5EF4-FFF2-40B4-BE49-F238E27FC236}">
                <a16:creationId xmlns:a16="http://schemas.microsoft.com/office/drawing/2014/main" id="{BA088B60-6AAA-4BE4-A236-0281BE8E3AE7}"/>
              </a:ext>
            </a:extLst>
          </p:cNvPr>
          <p:cNvSpPr>
            <a:spLocks xmlns:a="http://schemas.openxmlformats.org/drawingml/2006/main" noGrp="1"/>
          </p:cNvSpPr>
          <p:nvPr/>
        </p:nvSpPr>
        <p:spPr>
          <a:xfrm xmlns:a="http://schemas.openxmlformats.org/drawingml/2006/main">
            <a:off x="4772025" y="2114550"/>
            <a:ext cx="66675" cy="144780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20" name="">
            <a:extLst xmlns:a="http://schemas.openxmlformats.org/drawingml/2006/main">
              <a:ext uri="{FF2B5EF4-FFF2-40B4-BE49-F238E27FC236}">
                <a16:creationId xmlns:a16="http://schemas.microsoft.com/office/drawing/2014/main" id="{0EE1DA36-DC02-4C72-A113-8AE136F4B61F}"/>
              </a:ext>
            </a:extLst>
          </p:cNvPr>
          <p:cNvSpPr>
            <a:spLocks xmlns:a="http://schemas.openxmlformats.org/drawingml/2006/main" noGrp="1"/>
          </p:cNvSpPr>
          <p:nvPr/>
        </p:nvSpPr>
        <p:spPr>
          <a:xfrm xmlns:a="http://schemas.openxmlformats.org/drawingml/2006/main">
            <a:off x="4981575" y="228600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PROCESS</a:t>
            </a:r>
          </a:p>
        </p:txBody>
      </p:sp>
      <p:sp>
        <p:nvSpPr>
          <p:cNvPr id="21" name="">
            <a:extLst xmlns:a="http://schemas.openxmlformats.org/drawingml/2006/main">
              <a:ext uri="{FF2B5EF4-FFF2-40B4-BE49-F238E27FC236}">
                <a16:creationId xmlns:a16="http://schemas.microsoft.com/office/drawing/2014/main" id="{7FE4943D-14A1-4400-A46B-4DFB8C4AF0E1}"/>
              </a:ext>
            </a:extLst>
          </p:cNvPr>
          <p:cNvSpPr>
            <a:spLocks xmlns:a="http://schemas.openxmlformats.org/drawingml/2006/main" noGrp="1"/>
          </p:cNvSpPr>
          <p:nvPr/>
        </p:nvSpPr>
        <p:spPr>
          <a:xfrm xmlns:a="http://schemas.openxmlformats.org/drawingml/2006/main">
            <a:off x="4981575" y="2705100"/>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파싱·분류·청크화</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보안 등급과 메타데이터</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검색 색인 구축</a:t>
            </a:r>
          </a:p>
        </p:txBody>
      </p:sp>
      <p:sp>
        <p:nvSpPr>
          <p:cNvPr id="22" name="">
            <a:extLst xmlns:a="http://schemas.openxmlformats.org/drawingml/2006/main">
              <a:ext uri="{FF2B5EF4-FFF2-40B4-BE49-F238E27FC236}">
                <a16:creationId xmlns:a16="http://schemas.microsoft.com/office/drawing/2014/main" id="{037C30AE-A3D0-4AEB-ACBB-5AF86F545A6C}"/>
              </a:ext>
            </a:extLst>
          </p:cNvPr>
          <p:cNvSpPr>
            <a:spLocks xmlns:a="http://schemas.openxmlformats.org/drawingml/2006/main" noGrp="1"/>
          </p:cNvSpPr>
          <p:nvPr/>
        </p:nvSpPr>
        <p:spPr>
          <a:xfrm xmlns:a="http://schemas.openxmlformats.org/drawingml/2006/main">
            <a:off x="9029700" y="2114550"/>
            <a:ext cx="2628900" cy="1447800"/>
          </a:xfrm>
          <a:prstGeom xmlns:a="http://schemas.openxmlformats.org/drawingml/2006/main" prst="roundRect">
            <a:avLst>
              <a:gd name="adj" fmla="val 5263"/>
            </a:avLst>
          </a:prstGeom>
          <a:solidFill xmlns:a="http://schemas.openxmlformats.org/drawingml/2006/main">
            <a:srgbClr val="102638"/>
          </a:solidFill>
          <a:ln xmlns:a="http://schemas.openxmlformats.org/drawingml/2006/main" w="11430">
            <a:solidFill>
              <a:srgbClr val="355267"/>
            </a:solidFill>
          </a:ln>
        </p:spPr>
      </p:sp>
      <p:sp>
        <p:nvSpPr>
          <p:cNvPr id="23" name="">
            <a:extLst xmlns:a="http://schemas.openxmlformats.org/drawingml/2006/main">
              <a:ext uri="{FF2B5EF4-FFF2-40B4-BE49-F238E27FC236}">
                <a16:creationId xmlns:a16="http://schemas.microsoft.com/office/drawing/2014/main" id="{9993E901-8404-4922-936F-4E794EF1BD29}"/>
              </a:ext>
            </a:extLst>
          </p:cNvPr>
          <p:cNvSpPr>
            <a:spLocks xmlns:a="http://schemas.openxmlformats.org/drawingml/2006/main" noGrp="1"/>
          </p:cNvSpPr>
          <p:nvPr/>
        </p:nvSpPr>
        <p:spPr>
          <a:xfrm xmlns:a="http://schemas.openxmlformats.org/drawingml/2006/main">
            <a:off x="9029700" y="2114550"/>
            <a:ext cx="66675" cy="144780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24" name="">
            <a:extLst xmlns:a="http://schemas.openxmlformats.org/drawingml/2006/main">
              <a:ext uri="{FF2B5EF4-FFF2-40B4-BE49-F238E27FC236}">
                <a16:creationId xmlns:a16="http://schemas.microsoft.com/office/drawing/2014/main" id="{FB852810-51E9-41CD-A04D-5BDB5997A58B}"/>
              </a:ext>
            </a:extLst>
          </p:cNvPr>
          <p:cNvSpPr>
            <a:spLocks xmlns:a="http://schemas.openxmlformats.org/drawingml/2006/main" noGrp="1"/>
          </p:cNvSpPr>
          <p:nvPr/>
        </p:nvSpPr>
        <p:spPr>
          <a:xfrm xmlns:a="http://schemas.openxmlformats.org/drawingml/2006/main">
            <a:off x="9239250" y="228600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OUTPUT</a:t>
            </a:r>
          </a:p>
        </p:txBody>
      </p:sp>
      <p:sp>
        <p:nvSpPr>
          <p:cNvPr id="25" name="">
            <a:extLst xmlns:a="http://schemas.openxmlformats.org/drawingml/2006/main">
              <a:ext uri="{FF2B5EF4-FFF2-40B4-BE49-F238E27FC236}">
                <a16:creationId xmlns:a16="http://schemas.microsoft.com/office/drawing/2014/main" id="{88B2EAF8-3535-40AF-9AB4-9BFC40AEF60F}"/>
              </a:ext>
            </a:extLst>
          </p:cNvPr>
          <p:cNvSpPr>
            <a:spLocks xmlns:a="http://schemas.openxmlformats.org/drawingml/2006/main" noGrp="1"/>
          </p:cNvSpPr>
          <p:nvPr/>
        </p:nvSpPr>
        <p:spPr>
          <a:xfrm xmlns:a="http://schemas.openxmlformats.org/drawingml/2006/main">
            <a:off x="9239250" y="2705100"/>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223개 문서 · 3,275개 청크</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평가 Q-A-R 300건</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재현 가능한 manifest</a:t>
            </a:r>
          </a:p>
        </p:txBody>
      </p:sp>
      <p:cxnSp>
        <p:nvCxnSpPr>
          <p:cNvPr id="68" name=""/>
          <p:cNvCxnSpPr>
            <a:stCxn xmlns:a="http://schemas.openxmlformats.org/drawingml/2006/main" id="14" idx="3"/>
            <a:endCxn xmlns:a="http://schemas.openxmlformats.org/drawingml/2006/main" id="18" idx="1"/>
          </p:cNvCxnSpPr>
          <p:nvPr/>
        </p:nvCxnSpPr>
        <p:spPr>
          <a:xfrm xmlns:a="http://schemas.openxmlformats.org/drawingml/2006/main">
            <a:off x="3143250" y="2838450"/>
            <a:ext cx="1628775"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69" name=""/>
          <p:cNvCxnSpPr>
            <a:stCxn xmlns:a="http://schemas.openxmlformats.org/drawingml/2006/main" id="18" idx="3"/>
            <a:endCxn xmlns:a="http://schemas.openxmlformats.org/drawingml/2006/main" id="22" idx="1"/>
          </p:cNvCxnSpPr>
          <p:nvPr/>
        </p:nvCxnSpPr>
        <p:spPr>
          <a:xfrm xmlns:a="http://schemas.openxmlformats.org/drawingml/2006/main">
            <a:off x="7400925" y="2838450"/>
            <a:ext cx="1628775" cy="0"/>
          </a:xfrm>
          <a:prstGeom xmlns:a="http://schemas.openxmlformats.org/drawingml/2006/main" prst="straightConnector1">
            <a:avLst/>
          </a:prstGeom>
          <a:ln xmlns:a="http://schemas.openxmlformats.org/drawingml/2006/main" w="19050">
            <a:solidFill>
              <a:srgbClr val="A8BDCC"/>
            </a:solidFill>
            <a:tailEnd type="triangle" w="sm" len="sm"/>
          </a:ln>
        </p:spPr>
      </p:cxnSp>
      <p:sp>
        <p:nvSpPr>
          <p:cNvPr id="28" name="">
            <a:extLst xmlns:a="http://schemas.openxmlformats.org/drawingml/2006/main">
              <a:ext uri="{FF2B5EF4-FFF2-40B4-BE49-F238E27FC236}">
                <a16:creationId xmlns:a16="http://schemas.microsoft.com/office/drawing/2014/main" id="{43B28E2A-94C7-44D3-A3FA-2602A6148090}"/>
              </a:ext>
            </a:extLst>
          </p:cNvPr>
          <p:cNvSpPr>
            <a:spLocks xmlns:a="http://schemas.openxmlformats.org/drawingml/2006/main" noGrp="1"/>
          </p:cNvSpPr>
          <p:nvPr/>
        </p:nvSpPr>
        <p:spPr>
          <a:xfrm xmlns:a="http://schemas.openxmlformats.org/drawingml/2006/main">
            <a:off x="514350" y="4143375"/>
            <a:ext cx="2628900" cy="1447800"/>
          </a:xfrm>
          <a:prstGeom xmlns:a="http://schemas.openxmlformats.org/drawingml/2006/main" prst="roundRect">
            <a:avLst>
              <a:gd name="adj" fmla="val 5263"/>
            </a:avLst>
          </a:prstGeom>
          <a:solidFill xmlns:a="http://schemas.openxmlformats.org/drawingml/2006/main">
            <a:srgbClr val="102638"/>
          </a:solidFill>
          <a:ln xmlns:a="http://schemas.openxmlformats.org/drawingml/2006/main" w="11430">
            <a:solidFill>
              <a:srgbClr val="355267"/>
            </a:solidFill>
          </a:ln>
        </p:spPr>
      </p:sp>
      <p:sp>
        <p:nvSpPr>
          <p:cNvPr id="29" name="">
            <a:extLst xmlns:a="http://schemas.openxmlformats.org/drawingml/2006/main">
              <a:ext uri="{FF2B5EF4-FFF2-40B4-BE49-F238E27FC236}">
                <a16:creationId xmlns:a16="http://schemas.microsoft.com/office/drawing/2014/main" id="{B350AF70-0D25-448C-A561-235B569DA7D3}"/>
              </a:ext>
            </a:extLst>
          </p:cNvPr>
          <p:cNvSpPr>
            <a:spLocks xmlns:a="http://schemas.openxmlformats.org/drawingml/2006/main" noGrp="1"/>
          </p:cNvSpPr>
          <p:nvPr/>
        </p:nvSpPr>
        <p:spPr>
          <a:xfrm xmlns:a="http://schemas.openxmlformats.org/drawingml/2006/main">
            <a:off x="514350" y="4143375"/>
            <a:ext cx="66675" cy="144780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30" name="">
            <a:extLst xmlns:a="http://schemas.openxmlformats.org/drawingml/2006/main">
              <a:ext uri="{FF2B5EF4-FFF2-40B4-BE49-F238E27FC236}">
                <a16:creationId xmlns:a16="http://schemas.microsoft.com/office/drawing/2014/main" id="{2CC2E9A1-BA14-4FB9-AA1A-BC7FD7902AF3}"/>
              </a:ext>
            </a:extLst>
          </p:cNvPr>
          <p:cNvSpPr>
            <a:spLocks xmlns:a="http://schemas.openxmlformats.org/drawingml/2006/main" noGrp="1"/>
          </p:cNvSpPr>
          <p:nvPr/>
        </p:nvSpPr>
        <p:spPr>
          <a:xfrm xmlns:a="http://schemas.openxmlformats.org/drawingml/2006/main">
            <a:off x="723900" y="4314825"/>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INPUT</a:t>
            </a:r>
          </a:p>
        </p:txBody>
      </p:sp>
      <p:sp>
        <p:nvSpPr>
          <p:cNvPr id="31" name="">
            <a:extLst xmlns:a="http://schemas.openxmlformats.org/drawingml/2006/main">
              <a:ext uri="{FF2B5EF4-FFF2-40B4-BE49-F238E27FC236}">
                <a16:creationId xmlns:a16="http://schemas.microsoft.com/office/drawing/2014/main" id="{79402688-B932-4125-8568-D5C4A3847658}"/>
              </a:ext>
            </a:extLst>
          </p:cNvPr>
          <p:cNvSpPr>
            <a:spLocks xmlns:a="http://schemas.openxmlformats.org/drawingml/2006/main" noGrp="1"/>
          </p:cNvSpPr>
          <p:nvPr/>
        </p:nvSpPr>
        <p:spPr>
          <a:xfrm xmlns:a="http://schemas.openxmlformats.org/drawingml/2006/main">
            <a:off x="723900" y="4733925"/>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질문 · 선택 공고</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회사 · 역할 · 시나리오</a:t>
            </a:r>
          </a:p>
        </p:txBody>
      </p:sp>
      <p:sp>
        <p:nvSpPr>
          <p:cNvPr id="32" name="">
            <a:extLst xmlns:a="http://schemas.openxmlformats.org/drawingml/2006/main">
              <a:ext uri="{FF2B5EF4-FFF2-40B4-BE49-F238E27FC236}">
                <a16:creationId xmlns:a16="http://schemas.microsoft.com/office/drawing/2014/main" id="{E6B306CE-145B-4A33-8271-1515CFE9CB90}"/>
              </a:ext>
            </a:extLst>
          </p:cNvPr>
          <p:cNvSpPr>
            <a:spLocks xmlns:a="http://schemas.openxmlformats.org/drawingml/2006/main" noGrp="1"/>
          </p:cNvSpPr>
          <p:nvPr/>
        </p:nvSpPr>
        <p:spPr>
          <a:xfrm xmlns:a="http://schemas.openxmlformats.org/drawingml/2006/main">
            <a:off x="4772025" y="4143375"/>
            <a:ext cx="2628900" cy="1447800"/>
          </a:xfrm>
          <a:prstGeom xmlns:a="http://schemas.openxmlformats.org/drawingml/2006/main" prst="roundRect">
            <a:avLst>
              <a:gd name="adj" fmla="val 5263"/>
            </a:avLst>
          </a:prstGeom>
          <a:solidFill xmlns:a="http://schemas.openxmlformats.org/drawingml/2006/main">
            <a:srgbClr val="102638"/>
          </a:solidFill>
          <a:ln xmlns:a="http://schemas.openxmlformats.org/drawingml/2006/main" w="11430">
            <a:solidFill>
              <a:srgbClr val="355267"/>
            </a:solidFill>
          </a:ln>
        </p:spPr>
      </p:sp>
      <p:sp>
        <p:nvSpPr>
          <p:cNvPr id="33" name="">
            <a:extLst xmlns:a="http://schemas.openxmlformats.org/drawingml/2006/main">
              <a:ext uri="{FF2B5EF4-FFF2-40B4-BE49-F238E27FC236}">
                <a16:creationId xmlns:a16="http://schemas.microsoft.com/office/drawing/2014/main" id="{A5D9ACB8-BB34-4BD8-90C5-D46BAD4AA8B7}"/>
              </a:ext>
            </a:extLst>
          </p:cNvPr>
          <p:cNvSpPr>
            <a:spLocks xmlns:a="http://schemas.openxmlformats.org/drawingml/2006/main" noGrp="1"/>
          </p:cNvSpPr>
          <p:nvPr/>
        </p:nvSpPr>
        <p:spPr>
          <a:xfrm xmlns:a="http://schemas.openxmlformats.org/drawingml/2006/main">
            <a:off x="4772025" y="4143375"/>
            <a:ext cx="66675" cy="144780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34" name="">
            <a:extLst xmlns:a="http://schemas.openxmlformats.org/drawingml/2006/main">
              <a:ext uri="{FF2B5EF4-FFF2-40B4-BE49-F238E27FC236}">
                <a16:creationId xmlns:a16="http://schemas.microsoft.com/office/drawing/2014/main" id="{9139096F-CFAC-4CED-95D4-A8722816EDD6}"/>
              </a:ext>
            </a:extLst>
          </p:cNvPr>
          <p:cNvSpPr>
            <a:spLocks xmlns:a="http://schemas.openxmlformats.org/drawingml/2006/main" noGrp="1"/>
          </p:cNvSpPr>
          <p:nvPr/>
        </p:nvSpPr>
        <p:spPr>
          <a:xfrm xmlns:a="http://schemas.openxmlformats.org/drawingml/2006/main">
            <a:off x="4981575" y="4314825"/>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PROCESS</a:t>
            </a:r>
          </a:p>
        </p:txBody>
      </p:sp>
      <p:sp>
        <p:nvSpPr>
          <p:cNvPr id="35" name="">
            <a:extLst xmlns:a="http://schemas.openxmlformats.org/drawingml/2006/main">
              <a:ext uri="{FF2B5EF4-FFF2-40B4-BE49-F238E27FC236}">
                <a16:creationId xmlns:a16="http://schemas.microsoft.com/office/drawing/2014/main" id="{DC5B5ABF-D03D-41AE-AB67-BA2473F5BC32}"/>
              </a:ext>
            </a:extLst>
          </p:cNvPr>
          <p:cNvSpPr>
            <a:spLocks xmlns:a="http://schemas.openxmlformats.org/drawingml/2006/main" noGrp="1"/>
          </p:cNvSpPr>
          <p:nvPr/>
        </p:nvSpPr>
        <p:spPr>
          <a:xfrm xmlns:a="http://schemas.openxmlformats.org/drawingml/2006/main">
            <a:off x="4981575" y="4733925"/>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권한 필터 → 하이브리드 검색</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로컬 생성 → 규칙·모델 검사</a:t>
            </a:r>
          </a:p>
        </p:txBody>
      </p:sp>
      <p:sp>
        <p:nvSpPr>
          <p:cNvPr id="36" name="">
            <a:extLst xmlns:a="http://schemas.openxmlformats.org/drawingml/2006/main">
              <a:ext uri="{FF2B5EF4-FFF2-40B4-BE49-F238E27FC236}">
                <a16:creationId xmlns:a16="http://schemas.microsoft.com/office/drawing/2014/main" id="{6D774857-0628-4E54-AB59-16E24A3FF7AD}"/>
              </a:ext>
            </a:extLst>
          </p:cNvPr>
          <p:cNvSpPr>
            <a:spLocks xmlns:a="http://schemas.openxmlformats.org/drawingml/2006/main" noGrp="1"/>
          </p:cNvSpPr>
          <p:nvPr/>
        </p:nvSpPr>
        <p:spPr>
          <a:xfrm xmlns:a="http://schemas.openxmlformats.org/drawingml/2006/main">
            <a:off x="9029700" y="4143375"/>
            <a:ext cx="2628900" cy="1447800"/>
          </a:xfrm>
          <a:prstGeom xmlns:a="http://schemas.openxmlformats.org/drawingml/2006/main" prst="roundRect">
            <a:avLst>
              <a:gd name="adj" fmla="val 5263"/>
            </a:avLst>
          </a:prstGeom>
          <a:solidFill xmlns:a="http://schemas.openxmlformats.org/drawingml/2006/main">
            <a:srgbClr val="102638"/>
          </a:solidFill>
          <a:ln xmlns:a="http://schemas.openxmlformats.org/drawingml/2006/main" w="11430">
            <a:solidFill>
              <a:srgbClr val="355267"/>
            </a:solidFill>
          </a:ln>
        </p:spPr>
      </p:sp>
      <p:sp>
        <p:nvSpPr>
          <p:cNvPr id="37" name="">
            <a:extLst xmlns:a="http://schemas.openxmlformats.org/drawingml/2006/main">
              <a:ext uri="{FF2B5EF4-FFF2-40B4-BE49-F238E27FC236}">
                <a16:creationId xmlns:a16="http://schemas.microsoft.com/office/drawing/2014/main" id="{E15340B1-031A-4EDC-9237-42BCE0C40C24}"/>
              </a:ext>
            </a:extLst>
          </p:cNvPr>
          <p:cNvSpPr>
            <a:spLocks xmlns:a="http://schemas.openxmlformats.org/drawingml/2006/main" noGrp="1"/>
          </p:cNvSpPr>
          <p:nvPr/>
        </p:nvSpPr>
        <p:spPr>
          <a:xfrm xmlns:a="http://schemas.openxmlformats.org/drawingml/2006/main">
            <a:off x="9029700" y="4143375"/>
            <a:ext cx="66675" cy="144780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38" name="">
            <a:extLst xmlns:a="http://schemas.openxmlformats.org/drawingml/2006/main">
              <a:ext uri="{FF2B5EF4-FFF2-40B4-BE49-F238E27FC236}">
                <a16:creationId xmlns:a16="http://schemas.microsoft.com/office/drawing/2014/main" id="{FB3C2FE3-C6E0-4ED0-87F1-D17CD3877DF6}"/>
              </a:ext>
            </a:extLst>
          </p:cNvPr>
          <p:cNvSpPr>
            <a:spLocks xmlns:a="http://schemas.openxmlformats.org/drawingml/2006/main" noGrp="1"/>
          </p:cNvSpPr>
          <p:nvPr/>
        </p:nvSpPr>
        <p:spPr>
          <a:xfrm xmlns:a="http://schemas.openxmlformats.org/drawingml/2006/main">
            <a:off x="9239250" y="4314825"/>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OUTPUT</a:t>
            </a:r>
          </a:p>
        </p:txBody>
      </p:sp>
      <p:sp>
        <p:nvSpPr>
          <p:cNvPr id="39" name="">
            <a:extLst xmlns:a="http://schemas.openxmlformats.org/drawingml/2006/main">
              <a:ext uri="{FF2B5EF4-FFF2-40B4-BE49-F238E27FC236}">
                <a16:creationId xmlns:a16="http://schemas.microsoft.com/office/drawing/2014/main" id="{7ED140ED-235F-436C-ADF5-B4FECCCA78B4}"/>
              </a:ext>
            </a:extLst>
          </p:cNvPr>
          <p:cNvSpPr>
            <a:spLocks xmlns:a="http://schemas.openxmlformats.org/drawingml/2006/main" noGrp="1"/>
          </p:cNvSpPr>
          <p:nvPr/>
        </p:nvSpPr>
        <p:spPr>
          <a:xfrm xmlns:a="http://schemas.openxmlformats.org/drawingml/2006/main">
            <a:off x="9239250" y="4733925"/>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답변 · 인용 · 근거</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조건 상태 · 의심 구절</a:t>
            </a:r>
          </a:p>
        </p:txBody>
      </p:sp>
      <p:cxnSp>
        <p:nvCxnSpPr>
          <p:cNvPr id="82" name=""/>
          <p:cNvCxnSpPr>
            <a:stCxn xmlns:a="http://schemas.openxmlformats.org/drawingml/2006/main" id="28" idx="3"/>
            <a:endCxn xmlns:a="http://schemas.openxmlformats.org/drawingml/2006/main" id="32" idx="1"/>
          </p:cNvCxnSpPr>
          <p:nvPr/>
        </p:nvCxnSpPr>
        <p:spPr>
          <a:xfrm xmlns:a="http://schemas.openxmlformats.org/drawingml/2006/main">
            <a:off x="3143250" y="4867275"/>
            <a:ext cx="1628775"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83" name=""/>
          <p:cNvCxnSpPr>
            <a:stCxn xmlns:a="http://schemas.openxmlformats.org/drawingml/2006/main" id="32" idx="3"/>
            <a:endCxn xmlns:a="http://schemas.openxmlformats.org/drawingml/2006/main" id="36" idx="1"/>
          </p:cNvCxnSpPr>
          <p:nvPr/>
        </p:nvCxnSpPr>
        <p:spPr>
          <a:xfrm xmlns:a="http://schemas.openxmlformats.org/drawingml/2006/main">
            <a:off x="7400925" y="4867275"/>
            <a:ext cx="1628775" cy="0"/>
          </a:xfrm>
          <a:prstGeom xmlns:a="http://schemas.openxmlformats.org/drawingml/2006/main" prst="straightConnector1">
            <a:avLst/>
          </a:prstGeom>
          <a:ln xmlns:a="http://schemas.openxmlformats.org/drawingml/2006/main" w="19050">
            <a:solidFill>
              <a:srgbClr val="A8BDCC"/>
            </a:solidFill>
            <a:tailEnd type="triangle" w="sm" len="sm"/>
          </a:ln>
        </p:spPr>
      </p:cxnSp>
      <p:sp>
        <p:nvSpPr>
          <p:cNvPr id="42" name="">
            <a:extLst xmlns:a="http://schemas.openxmlformats.org/drawingml/2006/main">
              <a:ext uri="{FF2B5EF4-FFF2-40B4-BE49-F238E27FC236}">
                <a16:creationId xmlns:a16="http://schemas.microsoft.com/office/drawing/2014/main" id="{4415798A-2B3B-4110-AC20-EEE9AB2C330E}"/>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공개 공고와 합성 기업 자료 → 권한형 검색·로컬 생성·검증 → 근거와 의심 구절 표시</a:t>
            </a:r>
          </a:p>
        </p:txBody>
      </p:sp>
    </p:spTree>
    <p:extLst>
      <p:ext uri="{BB962C8B-B14F-4D97-AF65-F5344CB8AC3E}">
        <p14:creationId xmlns:p14="http://schemas.microsoft.com/office/powerpoint/2010/main" val="644488225"/>
      </p:ext>
    </p:extLst>
  </p:cSld>
</p:sld>
</file>

<file path=ppt/slides/slide6.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4043AD0F-1CE6-427E-B67C-13D06720F55F}"/>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02  해결책 공개</a:t>
            </a:r>
          </a:p>
        </p:txBody>
      </p:sp>
      <p:sp>
        <p:nvSpPr>
          <p:cNvPr id="2" name="">
            <a:extLst xmlns:a="http://schemas.openxmlformats.org/drawingml/2006/main">
              <a:ext uri="{FF2B5EF4-FFF2-40B4-BE49-F238E27FC236}">
                <a16:creationId xmlns:a16="http://schemas.microsoft.com/office/drawing/2014/main" id="{384D3542-29C2-4C19-8A35-4B0B04EC74C9}"/>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사용자 질의 파이프라인</a:t>
            </a:r>
          </a:p>
        </p:txBody>
      </p:sp>
      <p:sp>
        <p:nvSpPr>
          <p:cNvPr id="3" name="">
            <a:extLst xmlns:a="http://schemas.openxmlformats.org/drawingml/2006/main">
              <a:ext uri="{FF2B5EF4-FFF2-40B4-BE49-F238E27FC236}">
                <a16:creationId xmlns:a16="http://schemas.microsoft.com/office/drawing/2014/main" id="{69CD4810-654C-416A-8BEC-0BE2101F45F0}"/>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질문을 먼저 받고, 권한 밖 자료는 검색 후보가 되기 전에 제외한다</a:t>
            </a:r>
          </a:p>
        </p:txBody>
      </p:sp>
      <p:sp>
        <p:nvSpPr>
          <p:cNvPr id="4" name="">
            <a:extLst xmlns:a="http://schemas.openxmlformats.org/drawingml/2006/main">
              <a:ext uri="{FF2B5EF4-FFF2-40B4-BE49-F238E27FC236}">
                <a16:creationId xmlns:a16="http://schemas.microsoft.com/office/drawing/2014/main" id="{765C6B06-C197-4CBB-8A40-8B94A255E9B0}"/>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25FAE3E7-8DA2-4EFE-B208-8AEBAFFAB666}"/>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7BC198F4-D351-44AC-9F0F-DB34B7D98D10}"/>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7" name="">
            <a:extLst xmlns:a="http://schemas.openxmlformats.org/drawingml/2006/main">
              <a:ext uri="{FF2B5EF4-FFF2-40B4-BE49-F238E27FC236}">
                <a16:creationId xmlns:a16="http://schemas.microsoft.com/office/drawing/2014/main" id="{929747B4-4B33-4A9B-B1FB-A69631A2E7E0}"/>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D17AE9FF-8412-48A7-877D-CF94E4C796F5}"/>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C78016FE-39C8-4617-9BCB-D2BD6FA38E89}"/>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8538CCEE-9FBB-4CEA-AD95-ED980529DDCE}"/>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00B5D2E5-4910-4ED7-9987-64B7DC4B2AA2}"/>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06</a:t>
            </a:r>
          </a:p>
        </p:txBody>
      </p:sp>
      <p:sp>
        <p:nvSpPr>
          <p:cNvPr id="12" name="">
            <a:extLst xmlns:a="http://schemas.openxmlformats.org/drawingml/2006/main">
              <a:ext uri="{FF2B5EF4-FFF2-40B4-BE49-F238E27FC236}">
                <a16:creationId xmlns:a16="http://schemas.microsoft.com/office/drawing/2014/main" id="{5A09A4ED-9C6B-462B-950C-612CED944B89}"/>
              </a:ext>
            </a:extLst>
          </p:cNvPr>
          <p:cNvSpPr>
            <a:spLocks xmlns:a="http://schemas.openxmlformats.org/drawingml/2006/main" noGrp="1"/>
          </p:cNvSpPr>
          <p:nvPr/>
        </p:nvSpPr>
        <p:spPr>
          <a:xfrm xmlns:a="http://schemas.openxmlformats.org/drawingml/2006/main">
            <a:off x="514350" y="1952625"/>
            <a:ext cx="3371850" cy="1514475"/>
          </a:xfrm>
          <a:prstGeom xmlns:a="http://schemas.openxmlformats.org/drawingml/2006/main" prst="roundRect">
            <a:avLst>
              <a:gd name="adj" fmla="val 5031"/>
            </a:avLst>
          </a:prstGeom>
          <a:solidFill xmlns:a="http://schemas.openxmlformats.org/drawingml/2006/main">
            <a:srgbClr val="102638"/>
          </a:solidFill>
          <a:ln xmlns:a="http://schemas.openxmlformats.org/drawingml/2006/main" w="11430">
            <a:solidFill>
              <a:srgbClr val="355267"/>
            </a:solidFill>
          </a:ln>
        </p:spPr>
      </p:sp>
      <p:sp>
        <p:nvSpPr>
          <p:cNvPr id="13" name="">
            <a:extLst xmlns:a="http://schemas.openxmlformats.org/drawingml/2006/main">
              <a:ext uri="{FF2B5EF4-FFF2-40B4-BE49-F238E27FC236}">
                <a16:creationId xmlns:a16="http://schemas.microsoft.com/office/drawing/2014/main" id="{66DD05A1-8B57-4FD1-87FA-8961CB03B340}"/>
              </a:ext>
            </a:extLst>
          </p:cNvPr>
          <p:cNvSpPr>
            <a:spLocks xmlns:a="http://schemas.openxmlformats.org/drawingml/2006/main" noGrp="1"/>
          </p:cNvSpPr>
          <p:nvPr/>
        </p:nvSpPr>
        <p:spPr>
          <a:xfrm xmlns:a="http://schemas.openxmlformats.org/drawingml/2006/main">
            <a:off x="514350" y="1952625"/>
            <a:ext cx="609600" cy="1514475"/>
          </a:xfrm>
          <a:prstGeom xmlns:a="http://schemas.openxmlformats.org/drawingml/2006/main" prst="roundRect">
            <a:avLst>
              <a:gd name="adj" fmla="val 12500"/>
            </a:avLst>
          </a:prstGeom>
          <a:solidFill xmlns:a="http://schemas.openxmlformats.org/drawingml/2006/main">
            <a:srgbClr val="4D8DFF"/>
          </a:solidFill>
          <a:ln xmlns:a="http://schemas.openxmlformats.org/drawingml/2006/main" w="11430">
            <a:solidFill>
              <a:srgbClr val="4D8DFF"/>
            </a:solidFill>
          </a:ln>
        </p:spPr>
      </p:sp>
      <p:sp>
        <p:nvSpPr>
          <p:cNvPr id="14" name="">
            <a:extLst xmlns:a="http://schemas.openxmlformats.org/drawingml/2006/main">
              <a:ext uri="{FF2B5EF4-FFF2-40B4-BE49-F238E27FC236}">
                <a16:creationId xmlns:a16="http://schemas.microsoft.com/office/drawing/2014/main" id="{E4E76E74-C767-4D86-81E6-9C12F803AA59}"/>
              </a:ext>
            </a:extLst>
          </p:cNvPr>
          <p:cNvSpPr>
            <a:spLocks xmlns:a="http://schemas.openxmlformats.org/drawingml/2006/main" noGrp="1"/>
          </p:cNvSpPr>
          <p:nvPr/>
        </p:nvSpPr>
        <p:spPr>
          <a:xfrm xmlns:a="http://schemas.openxmlformats.org/drawingml/2006/main">
            <a:off x="609600" y="25050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FFFF"/>
                </a:solidFill>
                <a:latin typeface="Noto Sans CJK KR"/>
                <a:ea typeface="Noto Sans CJK KR"/>
                <a:cs typeface="Noto Sans CJK KR"/>
              </a:defRPr>
            </a:pPr>
            <a:r>
              <a:rPr sz="1575" b="1">
                <a:solidFill>
                  <a:srgbClr val="FFFFFF"/>
                </a:solidFill>
                <a:latin typeface="Noto Sans CJK KR"/>
                <a:ea typeface="Noto Sans CJK KR"/>
                <a:cs typeface="Noto Sans CJK KR"/>
              </a:rPr>
              <a:t>01</a:t>
            </a:r>
          </a:p>
        </p:txBody>
      </p:sp>
      <p:sp>
        <p:nvSpPr>
          <p:cNvPr id="15" name="">
            <a:extLst xmlns:a="http://schemas.openxmlformats.org/drawingml/2006/main">
              <a:ext uri="{FF2B5EF4-FFF2-40B4-BE49-F238E27FC236}">
                <a16:creationId xmlns:a16="http://schemas.microsoft.com/office/drawing/2014/main" id="{1814B716-B5B9-4174-8336-D4FC44F87F26}"/>
              </a:ext>
            </a:extLst>
          </p:cNvPr>
          <p:cNvSpPr>
            <a:spLocks xmlns:a="http://schemas.openxmlformats.org/drawingml/2006/main" noGrp="1"/>
          </p:cNvSpPr>
          <p:nvPr/>
        </p:nvSpPr>
        <p:spPr>
          <a:xfrm xmlns:a="http://schemas.openxmlformats.org/drawingml/2006/main">
            <a:off x="1362075" y="22479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질문 입력</a:t>
            </a:r>
          </a:p>
        </p:txBody>
      </p:sp>
      <p:sp>
        <p:nvSpPr>
          <p:cNvPr id="16" name="">
            <a:extLst xmlns:a="http://schemas.openxmlformats.org/drawingml/2006/main">
              <a:ext uri="{FF2B5EF4-FFF2-40B4-BE49-F238E27FC236}">
                <a16:creationId xmlns:a16="http://schemas.microsoft.com/office/drawing/2014/main" id="{84DD71D4-001F-4C83-8D00-D8B1634D5EC1}"/>
              </a:ext>
            </a:extLst>
          </p:cNvPr>
          <p:cNvSpPr>
            <a:spLocks xmlns:a="http://schemas.openxmlformats.org/drawingml/2006/main" noGrp="1"/>
          </p:cNvSpPr>
          <p:nvPr/>
        </p:nvSpPr>
        <p:spPr>
          <a:xfrm xmlns:a="http://schemas.openxmlformats.org/drawingml/2006/main">
            <a:off x="1362075" y="2714625"/>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공고·회사 선택</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자연어 질문</a:t>
            </a:r>
          </a:p>
        </p:txBody>
      </p:sp>
      <p:sp>
        <p:nvSpPr>
          <p:cNvPr id="17" name="">
            <a:extLst xmlns:a="http://schemas.openxmlformats.org/drawingml/2006/main">
              <a:ext uri="{FF2B5EF4-FFF2-40B4-BE49-F238E27FC236}">
                <a16:creationId xmlns:a16="http://schemas.microsoft.com/office/drawing/2014/main" id="{581272AA-B7E8-4BF5-8F80-72958A360339}"/>
              </a:ext>
            </a:extLst>
          </p:cNvPr>
          <p:cNvSpPr>
            <a:spLocks xmlns:a="http://schemas.openxmlformats.org/drawingml/2006/main" noGrp="1"/>
          </p:cNvSpPr>
          <p:nvPr/>
        </p:nvSpPr>
        <p:spPr>
          <a:xfrm xmlns:a="http://schemas.openxmlformats.org/drawingml/2006/main">
            <a:off x="4400550" y="1952625"/>
            <a:ext cx="3371850" cy="1514475"/>
          </a:xfrm>
          <a:prstGeom xmlns:a="http://schemas.openxmlformats.org/drawingml/2006/main" prst="roundRect">
            <a:avLst>
              <a:gd name="adj" fmla="val 5031"/>
            </a:avLst>
          </a:prstGeom>
          <a:solidFill xmlns:a="http://schemas.openxmlformats.org/drawingml/2006/main">
            <a:srgbClr val="102638"/>
          </a:solidFill>
          <a:ln xmlns:a="http://schemas.openxmlformats.org/drawingml/2006/main" w="11430">
            <a:solidFill>
              <a:srgbClr val="355267"/>
            </a:solidFill>
          </a:ln>
        </p:spPr>
      </p:sp>
      <p:sp>
        <p:nvSpPr>
          <p:cNvPr id="18" name="">
            <a:extLst xmlns:a="http://schemas.openxmlformats.org/drawingml/2006/main">
              <a:ext uri="{FF2B5EF4-FFF2-40B4-BE49-F238E27FC236}">
                <a16:creationId xmlns:a16="http://schemas.microsoft.com/office/drawing/2014/main" id="{ADF0901A-0F1C-4AA9-A78B-A508897F4F19}"/>
              </a:ext>
            </a:extLst>
          </p:cNvPr>
          <p:cNvSpPr>
            <a:spLocks xmlns:a="http://schemas.openxmlformats.org/drawingml/2006/main" noGrp="1"/>
          </p:cNvSpPr>
          <p:nvPr/>
        </p:nvSpPr>
        <p:spPr>
          <a:xfrm xmlns:a="http://schemas.openxmlformats.org/drawingml/2006/main">
            <a:off x="4400550" y="1952625"/>
            <a:ext cx="609600" cy="1514475"/>
          </a:xfrm>
          <a:prstGeom xmlns:a="http://schemas.openxmlformats.org/drawingml/2006/main" prst="roundRect">
            <a:avLst>
              <a:gd name="adj" fmla="val 12500"/>
            </a:avLst>
          </a:prstGeom>
          <a:solidFill xmlns:a="http://schemas.openxmlformats.org/drawingml/2006/main">
            <a:srgbClr val="2DD4BF"/>
          </a:solidFill>
          <a:ln xmlns:a="http://schemas.openxmlformats.org/drawingml/2006/main" w="11430">
            <a:solidFill>
              <a:srgbClr val="2DD4BF"/>
            </a:solidFill>
          </a:ln>
        </p:spPr>
      </p:sp>
      <p:sp>
        <p:nvSpPr>
          <p:cNvPr id="19" name="">
            <a:extLst xmlns:a="http://schemas.openxmlformats.org/drawingml/2006/main">
              <a:ext uri="{FF2B5EF4-FFF2-40B4-BE49-F238E27FC236}">
                <a16:creationId xmlns:a16="http://schemas.microsoft.com/office/drawing/2014/main" id="{745D5A38-9A37-497A-B20C-6855A8F2669A}"/>
              </a:ext>
            </a:extLst>
          </p:cNvPr>
          <p:cNvSpPr>
            <a:spLocks xmlns:a="http://schemas.openxmlformats.org/drawingml/2006/main" noGrp="1"/>
          </p:cNvSpPr>
          <p:nvPr/>
        </p:nvSpPr>
        <p:spPr>
          <a:xfrm xmlns:a="http://schemas.openxmlformats.org/drawingml/2006/main">
            <a:off x="4495800" y="25050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FFFF"/>
                </a:solidFill>
                <a:latin typeface="Noto Sans CJK KR"/>
                <a:ea typeface="Noto Sans CJK KR"/>
                <a:cs typeface="Noto Sans CJK KR"/>
              </a:defRPr>
            </a:pPr>
            <a:r>
              <a:rPr sz="1575" b="1">
                <a:solidFill>
                  <a:srgbClr val="FFFFFF"/>
                </a:solidFill>
                <a:latin typeface="Noto Sans CJK KR"/>
                <a:ea typeface="Noto Sans CJK KR"/>
                <a:cs typeface="Noto Sans CJK KR"/>
              </a:rPr>
              <a:t>02</a:t>
            </a:r>
          </a:p>
        </p:txBody>
      </p:sp>
      <p:sp>
        <p:nvSpPr>
          <p:cNvPr id="20" name="">
            <a:extLst xmlns:a="http://schemas.openxmlformats.org/drawingml/2006/main">
              <a:ext uri="{FF2B5EF4-FFF2-40B4-BE49-F238E27FC236}">
                <a16:creationId xmlns:a16="http://schemas.microsoft.com/office/drawing/2014/main" id="{0B68A75E-195A-43DE-977F-0277BDA324F3}"/>
              </a:ext>
            </a:extLst>
          </p:cNvPr>
          <p:cNvSpPr>
            <a:spLocks xmlns:a="http://schemas.openxmlformats.org/drawingml/2006/main" noGrp="1"/>
          </p:cNvSpPr>
          <p:nvPr/>
        </p:nvSpPr>
        <p:spPr>
          <a:xfrm xmlns:a="http://schemas.openxmlformats.org/drawingml/2006/main">
            <a:off x="5248275" y="22479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세션 확인</a:t>
            </a:r>
          </a:p>
        </p:txBody>
      </p:sp>
      <p:sp>
        <p:nvSpPr>
          <p:cNvPr id="21" name="">
            <a:extLst xmlns:a="http://schemas.openxmlformats.org/drawingml/2006/main">
              <a:ext uri="{FF2B5EF4-FFF2-40B4-BE49-F238E27FC236}">
                <a16:creationId xmlns:a16="http://schemas.microsoft.com/office/drawing/2014/main" id="{56A439E4-221D-404D-A817-1FB2D232A98D}"/>
              </a:ext>
            </a:extLst>
          </p:cNvPr>
          <p:cNvSpPr>
            <a:spLocks xmlns:a="http://schemas.openxmlformats.org/drawingml/2006/main" noGrp="1"/>
          </p:cNvSpPr>
          <p:nvPr/>
        </p:nvSpPr>
        <p:spPr>
          <a:xfrm xmlns:a="http://schemas.openxmlformats.org/drawingml/2006/main">
            <a:off x="5248275" y="2714625"/>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tenant · 회사</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역할 · 시나리오</a:t>
            </a:r>
          </a:p>
        </p:txBody>
      </p:sp>
      <p:sp>
        <p:nvSpPr>
          <p:cNvPr id="22" name="">
            <a:extLst xmlns:a="http://schemas.openxmlformats.org/drawingml/2006/main">
              <a:ext uri="{FF2B5EF4-FFF2-40B4-BE49-F238E27FC236}">
                <a16:creationId xmlns:a16="http://schemas.microsoft.com/office/drawing/2014/main" id="{07F8D7F5-7283-447A-8D7D-025761A96590}"/>
              </a:ext>
            </a:extLst>
          </p:cNvPr>
          <p:cNvSpPr>
            <a:spLocks xmlns:a="http://schemas.openxmlformats.org/drawingml/2006/main" noGrp="1"/>
          </p:cNvSpPr>
          <p:nvPr/>
        </p:nvSpPr>
        <p:spPr>
          <a:xfrm xmlns:a="http://schemas.openxmlformats.org/drawingml/2006/main">
            <a:off x="8286750" y="1952625"/>
            <a:ext cx="3371850" cy="1514475"/>
          </a:xfrm>
          <a:prstGeom xmlns:a="http://schemas.openxmlformats.org/drawingml/2006/main" prst="roundRect">
            <a:avLst>
              <a:gd name="adj" fmla="val 5031"/>
            </a:avLst>
          </a:prstGeom>
          <a:solidFill xmlns:a="http://schemas.openxmlformats.org/drawingml/2006/main">
            <a:srgbClr val="102638"/>
          </a:solidFill>
          <a:ln xmlns:a="http://schemas.openxmlformats.org/drawingml/2006/main" w="11430">
            <a:solidFill>
              <a:srgbClr val="355267"/>
            </a:solidFill>
          </a:ln>
        </p:spPr>
      </p:sp>
      <p:sp>
        <p:nvSpPr>
          <p:cNvPr id="23" name="">
            <a:extLst xmlns:a="http://schemas.openxmlformats.org/drawingml/2006/main">
              <a:ext uri="{FF2B5EF4-FFF2-40B4-BE49-F238E27FC236}">
                <a16:creationId xmlns:a16="http://schemas.microsoft.com/office/drawing/2014/main" id="{94B856DE-F740-4FDA-8A93-614BE6B7AA00}"/>
              </a:ext>
            </a:extLst>
          </p:cNvPr>
          <p:cNvSpPr>
            <a:spLocks xmlns:a="http://schemas.openxmlformats.org/drawingml/2006/main" noGrp="1"/>
          </p:cNvSpPr>
          <p:nvPr/>
        </p:nvSpPr>
        <p:spPr>
          <a:xfrm xmlns:a="http://schemas.openxmlformats.org/drawingml/2006/main">
            <a:off x="8286750" y="1952625"/>
            <a:ext cx="609600" cy="1514475"/>
          </a:xfrm>
          <a:prstGeom xmlns:a="http://schemas.openxmlformats.org/drawingml/2006/main" prst="roundRect">
            <a:avLst>
              <a:gd name="adj" fmla="val 12500"/>
            </a:avLst>
          </a:prstGeom>
          <a:solidFill xmlns:a="http://schemas.openxmlformats.org/drawingml/2006/main">
            <a:srgbClr val="FF6B57"/>
          </a:solidFill>
          <a:ln xmlns:a="http://schemas.openxmlformats.org/drawingml/2006/main" w="11430">
            <a:solidFill>
              <a:srgbClr val="FF6B57"/>
            </a:solidFill>
          </a:ln>
        </p:spPr>
      </p:sp>
      <p:sp>
        <p:nvSpPr>
          <p:cNvPr id="24" name="">
            <a:extLst xmlns:a="http://schemas.openxmlformats.org/drawingml/2006/main">
              <a:ext uri="{FF2B5EF4-FFF2-40B4-BE49-F238E27FC236}">
                <a16:creationId xmlns:a16="http://schemas.microsoft.com/office/drawing/2014/main" id="{A3FC4AA0-3039-4F30-B6E9-6FE66B06E53B}"/>
              </a:ext>
            </a:extLst>
          </p:cNvPr>
          <p:cNvSpPr>
            <a:spLocks xmlns:a="http://schemas.openxmlformats.org/drawingml/2006/main" noGrp="1"/>
          </p:cNvSpPr>
          <p:nvPr/>
        </p:nvSpPr>
        <p:spPr>
          <a:xfrm xmlns:a="http://schemas.openxmlformats.org/drawingml/2006/main">
            <a:off x="8382000" y="25050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FFFF"/>
                </a:solidFill>
                <a:latin typeface="Noto Sans CJK KR"/>
                <a:ea typeface="Noto Sans CJK KR"/>
                <a:cs typeface="Noto Sans CJK KR"/>
              </a:defRPr>
            </a:pPr>
            <a:r>
              <a:rPr sz="1575" b="1">
                <a:solidFill>
                  <a:srgbClr val="FFFFFF"/>
                </a:solidFill>
                <a:latin typeface="Noto Sans CJK KR"/>
                <a:ea typeface="Noto Sans CJK KR"/>
                <a:cs typeface="Noto Sans CJK KR"/>
              </a:rPr>
              <a:t>03</a:t>
            </a:r>
          </a:p>
        </p:txBody>
      </p:sp>
      <p:sp>
        <p:nvSpPr>
          <p:cNvPr id="25" name="">
            <a:extLst xmlns:a="http://schemas.openxmlformats.org/drawingml/2006/main">
              <a:ext uri="{FF2B5EF4-FFF2-40B4-BE49-F238E27FC236}">
                <a16:creationId xmlns:a16="http://schemas.microsoft.com/office/drawing/2014/main" id="{403AE03B-7864-4C17-AE40-BEFADD250B06}"/>
              </a:ext>
            </a:extLst>
          </p:cNvPr>
          <p:cNvSpPr>
            <a:spLocks xmlns:a="http://schemas.openxmlformats.org/drawingml/2006/main" noGrp="1"/>
          </p:cNvSpPr>
          <p:nvPr/>
        </p:nvSpPr>
        <p:spPr>
          <a:xfrm xmlns:a="http://schemas.openxmlformats.org/drawingml/2006/main">
            <a:off x="9134475" y="22479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권한 필터</a:t>
            </a:r>
          </a:p>
        </p:txBody>
      </p:sp>
      <p:sp>
        <p:nvSpPr>
          <p:cNvPr id="26" name="">
            <a:extLst xmlns:a="http://schemas.openxmlformats.org/drawingml/2006/main">
              <a:ext uri="{FF2B5EF4-FFF2-40B4-BE49-F238E27FC236}">
                <a16:creationId xmlns:a16="http://schemas.microsoft.com/office/drawing/2014/main" id="{8E8333C7-B5ED-4CC8-BBB5-0C9A033C3374}"/>
              </a:ext>
            </a:extLst>
          </p:cNvPr>
          <p:cNvSpPr>
            <a:spLocks xmlns:a="http://schemas.openxmlformats.org/drawingml/2006/main" noGrp="1"/>
          </p:cNvSpPr>
          <p:nvPr/>
        </p:nvSpPr>
        <p:spPr>
          <a:xfrm xmlns:a="http://schemas.openxmlformats.org/drawingml/2006/main">
            <a:off x="9134475" y="2714625"/>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허용된 문서만</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검색 후보로 유지</a:t>
            </a:r>
          </a:p>
        </p:txBody>
      </p:sp>
      <p:sp>
        <p:nvSpPr>
          <p:cNvPr id="27" name="">
            <a:extLst xmlns:a="http://schemas.openxmlformats.org/drawingml/2006/main">
              <a:ext uri="{FF2B5EF4-FFF2-40B4-BE49-F238E27FC236}">
                <a16:creationId xmlns:a16="http://schemas.microsoft.com/office/drawing/2014/main" id="{5AD5755E-7E6B-4697-B734-F47EDA5C1312}"/>
              </a:ext>
            </a:extLst>
          </p:cNvPr>
          <p:cNvSpPr>
            <a:spLocks xmlns:a="http://schemas.openxmlformats.org/drawingml/2006/main" noGrp="1"/>
          </p:cNvSpPr>
          <p:nvPr/>
        </p:nvSpPr>
        <p:spPr>
          <a:xfrm xmlns:a="http://schemas.openxmlformats.org/drawingml/2006/main">
            <a:off x="514350" y="3924300"/>
            <a:ext cx="3371850" cy="1514475"/>
          </a:xfrm>
          <a:prstGeom xmlns:a="http://schemas.openxmlformats.org/drawingml/2006/main" prst="roundRect">
            <a:avLst>
              <a:gd name="adj" fmla="val 5031"/>
            </a:avLst>
          </a:prstGeom>
          <a:solidFill xmlns:a="http://schemas.openxmlformats.org/drawingml/2006/main">
            <a:srgbClr val="102638"/>
          </a:solidFill>
          <a:ln xmlns:a="http://schemas.openxmlformats.org/drawingml/2006/main" w="11430">
            <a:solidFill>
              <a:srgbClr val="355267"/>
            </a:solidFill>
          </a:ln>
        </p:spPr>
      </p:sp>
      <p:sp>
        <p:nvSpPr>
          <p:cNvPr id="28" name="">
            <a:extLst xmlns:a="http://schemas.openxmlformats.org/drawingml/2006/main">
              <a:ext uri="{FF2B5EF4-FFF2-40B4-BE49-F238E27FC236}">
                <a16:creationId xmlns:a16="http://schemas.microsoft.com/office/drawing/2014/main" id="{D8952A9F-5D01-49CA-B243-9642733D4ACD}"/>
              </a:ext>
            </a:extLst>
          </p:cNvPr>
          <p:cNvSpPr>
            <a:spLocks xmlns:a="http://schemas.openxmlformats.org/drawingml/2006/main" noGrp="1"/>
          </p:cNvSpPr>
          <p:nvPr/>
        </p:nvSpPr>
        <p:spPr>
          <a:xfrm xmlns:a="http://schemas.openxmlformats.org/drawingml/2006/main">
            <a:off x="514350" y="3924300"/>
            <a:ext cx="609600" cy="1514475"/>
          </a:xfrm>
          <a:prstGeom xmlns:a="http://schemas.openxmlformats.org/drawingml/2006/main" prst="roundRect">
            <a:avLst>
              <a:gd name="adj" fmla="val 12500"/>
            </a:avLst>
          </a:prstGeom>
          <a:solidFill xmlns:a="http://schemas.openxmlformats.org/drawingml/2006/main">
            <a:srgbClr val="4D8DFF"/>
          </a:solidFill>
          <a:ln xmlns:a="http://schemas.openxmlformats.org/drawingml/2006/main" w="11430">
            <a:solidFill>
              <a:srgbClr val="4D8DFF"/>
            </a:solidFill>
          </a:ln>
        </p:spPr>
      </p:sp>
      <p:sp>
        <p:nvSpPr>
          <p:cNvPr id="29" name="">
            <a:extLst xmlns:a="http://schemas.openxmlformats.org/drawingml/2006/main">
              <a:ext uri="{FF2B5EF4-FFF2-40B4-BE49-F238E27FC236}">
                <a16:creationId xmlns:a16="http://schemas.microsoft.com/office/drawing/2014/main" id="{44485DC7-024A-44FE-8959-037318DAD4A8}"/>
              </a:ext>
            </a:extLst>
          </p:cNvPr>
          <p:cNvSpPr>
            <a:spLocks xmlns:a="http://schemas.openxmlformats.org/drawingml/2006/main" noGrp="1"/>
          </p:cNvSpPr>
          <p:nvPr/>
        </p:nvSpPr>
        <p:spPr>
          <a:xfrm xmlns:a="http://schemas.openxmlformats.org/drawingml/2006/main">
            <a:off x="609600" y="4476750"/>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FFFF"/>
                </a:solidFill>
                <a:latin typeface="Noto Sans CJK KR"/>
                <a:ea typeface="Noto Sans CJK KR"/>
                <a:cs typeface="Noto Sans CJK KR"/>
              </a:defRPr>
            </a:pPr>
            <a:r>
              <a:rPr sz="1575" b="1">
                <a:solidFill>
                  <a:srgbClr val="FFFFFF"/>
                </a:solidFill>
                <a:latin typeface="Noto Sans CJK KR"/>
                <a:ea typeface="Noto Sans CJK KR"/>
                <a:cs typeface="Noto Sans CJK KR"/>
              </a:rPr>
              <a:t>04</a:t>
            </a:r>
          </a:p>
        </p:txBody>
      </p:sp>
      <p:sp>
        <p:nvSpPr>
          <p:cNvPr id="30" name="">
            <a:extLst xmlns:a="http://schemas.openxmlformats.org/drawingml/2006/main">
              <a:ext uri="{FF2B5EF4-FFF2-40B4-BE49-F238E27FC236}">
                <a16:creationId xmlns:a16="http://schemas.microsoft.com/office/drawing/2014/main" id="{4C800C00-CC63-4472-96B4-C0AA12ED7099}"/>
              </a:ext>
            </a:extLst>
          </p:cNvPr>
          <p:cNvSpPr>
            <a:spLocks xmlns:a="http://schemas.openxmlformats.org/drawingml/2006/main" noGrp="1"/>
          </p:cNvSpPr>
          <p:nvPr/>
        </p:nvSpPr>
        <p:spPr>
          <a:xfrm xmlns:a="http://schemas.openxmlformats.org/drawingml/2006/main">
            <a:off x="1362075" y="421957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근거 검색</a:t>
            </a:r>
          </a:p>
        </p:txBody>
      </p:sp>
      <p:sp>
        <p:nvSpPr>
          <p:cNvPr id="31" name="">
            <a:extLst xmlns:a="http://schemas.openxmlformats.org/drawingml/2006/main">
              <a:ext uri="{FF2B5EF4-FFF2-40B4-BE49-F238E27FC236}">
                <a16:creationId xmlns:a16="http://schemas.microsoft.com/office/drawing/2014/main" id="{DCA13D2B-3AD5-4D87-AAE9-95CEC2BBCBB1}"/>
              </a:ext>
            </a:extLst>
          </p:cNvPr>
          <p:cNvSpPr>
            <a:spLocks xmlns:a="http://schemas.openxmlformats.org/drawingml/2006/main" noGrp="1"/>
          </p:cNvSpPr>
          <p:nvPr/>
        </p:nvSpPr>
        <p:spPr>
          <a:xfrm xmlns:a="http://schemas.openxmlformats.org/drawingml/2006/main">
            <a:off x="1362075" y="4686300"/>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키워드 + 벡터</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RRF 순위 결합</a:t>
            </a:r>
          </a:p>
        </p:txBody>
      </p:sp>
      <p:sp>
        <p:nvSpPr>
          <p:cNvPr id="32" name="">
            <a:extLst xmlns:a="http://schemas.openxmlformats.org/drawingml/2006/main">
              <a:ext uri="{FF2B5EF4-FFF2-40B4-BE49-F238E27FC236}">
                <a16:creationId xmlns:a16="http://schemas.microsoft.com/office/drawing/2014/main" id="{BFA04688-8753-4866-9E65-6670C8017DB5}"/>
              </a:ext>
            </a:extLst>
          </p:cNvPr>
          <p:cNvSpPr>
            <a:spLocks xmlns:a="http://schemas.openxmlformats.org/drawingml/2006/main" noGrp="1"/>
          </p:cNvSpPr>
          <p:nvPr/>
        </p:nvSpPr>
        <p:spPr>
          <a:xfrm xmlns:a="http://schemas.openxmlformats.org/drawingml/2006/main">
            <a:off x="4400550" y="3924300"/>
            <a:ext cx="3371850" cy="1514475"/>
          </a:xfrm>
          <a:prstGeom xmlns:a="http://schemas.openxmlformats.org/drawingml/2006/main" prst="roundRect">
            <a:avLst>
              <a:gd name="adj" fmla="val 5031"/>
            </a:avLst>
          </a:prstGeom>
          <a:solidFill xmlns:a="http://schemas.openxmlformats.org/drawingml/2006/main">
            <a:srgbClr val="102638"/>
          </a:solidFill>
          <a:ln xmlns:a="http://schemas.openxmlformats.org/drawingml/2006/main" w="11430">
            <a:solidFill>
              <a:srgbClr val="355267"/>
            </a:solidFill>
          </a:ln>
        </p:spPr>
      </p:sp>
      <p:sp>
        <p:nvSpPr>
          <p:cNvPr id="33" name="">
            <a:extLst xmlns:a="http://schemas.openxmlformats.org/drawingml/2006/main">
              <a:ext uri="{FF2B5EF4-FFF2-40B4-BE49-F238E27FC236}">
                <a16:creationId xmlns:a16="http://schemas.microsoft.com/office/drawing/2014/main" id="{F6814CD0-C5E9-4CEC-8021-745092BD8224}"/>
              </a:ext>
            </a:extLst>
          </p:cNvPr>
          <p:cNvSpPr>
            <a:spLocks xmlns:a="http://schemas.openxmlformats.org/drawingml/2006/main" noGrp="1"/>
          </p:cNvSpPr>
          <p:nvPr/>
        </p:nvSpPr>
        <p:spPr>
          <a:xfrm xmlns:a="http://schemas.openxmlformats.org/drawingml/2006/main">
            <a:off x="4400550" y="3924300"/>
            <a:ext cx="609600" cy="1514475"/>
          </a:xfrm>
          <a:prstGeom xmlns:a="http://schemas.openxmlformats.org/drawingml/2006/main" prst="roundRect">
            <a:avLst>
              <a:gd name="adj" fmla="val 12500"/>
            </a:avLst>
          </a:prstGeom>
          <a:solidFill xmlns:a="http://schemas.openxmlformats.org/drawingml/2006/main">
            <a:srgbClr val="F6B94A"/>
          </a:solidFill>
          <a:ln xmlns:a="http://schemas.openxmlformats.org/drawingml/2006/main" w="11430">
            <a:solidFill>
              <a:srgbClr val="F6B94A"/>
            </a:solidFill>
          </a:ln>
        </p:spPr>
      </p:sp>
      <p:sp>
        <p:nvSpPr>
          <p:cNvPr id="34" name="">
            <a:extLst xmlns:a="http://schemas.openxmlformats.org/drawingml/2006/main">
              <a:ext uri="{FF2B5EF4-FFF2-40B4-BE49-F238E27FC236}">
                <a16:creationId xmlns:a16="http://schemas.microsoft.com/office/drawing/2014/main" id="{888996D9-78CE-49C8-A9C4-99FFCECE2958}"/>
              </a:ext>
            </a:extLst>
          </p:cNvPr>
          <p:cNvSpPr>
            <a:spLocks xmlns:a="http://schemas.openxmlformats.org/drawingml/2006/main" noGrp="1"/>
          </p:cNvSpPr>
          <p:nvPr/>
        </p:nvSpPr>
        <p:spPr>
          <a:xfrm xmlns:a="http://schemas.openxmlformats.org/drawingml/2006/main">
            <a:off x="4495800" y="4476750"/>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FFFF"/>
                </a:solidFill>
                <a:latin typeface="Noto Sans CJK KR"/>
                <a:ea typeface="Noto Sans CJK KR"/>
                <a:cs typeface="Noto Sans CJK KR"/>
              </a:defRPr>
            </a:pPr>
            <a:r>
              <a:rPr sz="1575" b="1">
                <a:solidFill>
                  <a:srgbClr val="FFFFFF"/>
                </a:solidFill>
                <a:latin typeface="Noto Sans CJK KR"/>
                <a:ea typeface="Noto Sans CJK KR"/>
                <a:cs typeface="Noto Sans CJK KR"/>
              </a:rPr>
              <a:t>05</a:t>
            </a:r>
          </a:p>
        </p:txBody>
      </p:sp>
      <p:sp>
        <p:nvSpPr>
          <p:cNvPr id="35" name="">
            <a:extLst xmlns:a="http://schemas.openxmlformats.org/drawingml/2006/main">
              <a:ext uri="{FF2B5EF4-FFF2-40B4-BE49-F238E27FC236}">
                <a16:creationId xmlns:a16="http://schemas.microsoft.com/office/drawing/2014/main" id="{D18AC60F-FD79-4AD2-8580-449D53730CBE}"/>
              </a:ext>
            </a:extLst>
          </p:cNvPr>
          <p:cNvSpPr>
            <a:spLocks xmlns:a="http://schemas.openxmlformats.org/drawingml/2006/main" noGrp="1"/>
          </p:cNvSpPr>
          <p:nvPr/>
        </p:nvSpPr>
        <p:spPr>
          <a:xfrm xmlns:a="http://schemas.openxmlformats.org/drawingml/2006/main">
            <a:off x="5248275" y="421957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로컬 생성</a:t>
            </a:r>
          </a:p>
        </p:txBody>
      </p:sp>
      <p:sp>
        <p:nvSpPr>
          <p:cNvPr id="36" name="">
            <a:extLst xmlns:a="http://schemas.openxmlformats.org/drawingml/2006/main">
              <a:ext uri="{FF2B5EF4-FFF2-40B4-BE49-F238E27FC236}">
                <a16:creationId xmlns:a16="http://schemas.microsoft.com/office/drawing/2014/main" id="{4DDE6B4A-E070-4C90-9252-403E197240A9}"/>
              </a:ext>
            </a:extLst>
          </p:cNvPr>
          <p:cNvSpPr>
            <a:spLocks xmlns:a="http://schemas.openxmlformats.org/drawingml/2006/main" noGrp="1"/>
          </p:cNvSpPr>
          <p:nvPr/>
        </p:nvSpPr>
        <p:spPr>
          <a:xfrm xmlns:a="http://schemas.openxmlformats.org/drawingml/2006/main">
            <a:off x="5248275" y="4686300"/>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선택 근거로</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답변·인용 생성</a:t>
            </a:r>
          </a:p>
        </p:txBody>
      </p:sp>
      <p:sp>
        <p:nvSpPr>
          <p:cNvPr id="37" name="">
            <a:extLst xmlns:a="http://schemas.openxmlformats.org/drawingml/2006/main">
              <a:ext uri="{FF2B5EF4-FFF2-40B4-BE49-F238E27FC236}">
                <a16:creationId xmlns:a16="http://schemas.microsoft.com/office/drawing/2014/main" id="{9D39B0A2-D8E3-489B-8063-D49D06A40662}"/>
              </a:ext>
            </a:extLst>
          </p:cNvPr>
          <p:cNvSpPr>
            <a:spLocks xmlns:a="http://schemas.openxmlformats.org/drawingml/2006/main" noGrp="1"/>
          </p:cNvSpPr>
          <p:nvPr/>
        </p:nvSpPr>
        <p:spPr>
          <a:xfrm xmlns:a="http://schemas.openxmlformats.org/drawingml/2006/main">
            <a:off x="8286750" y="3924300"/>
            <a:ext cx="3371850" cy="1514475"/>
          </a:xfrm>
          <a:prstGeom xmlns:a="http://schemas.openxmlformats.org/drawingml/2006/main" prst="roundRect">
            <a:avLst>
              <a:gd name="adj" fmla="val 5031"/>
            </a:avLst>
          </a:prstGeom>
          <a:solidFill xmlns:a="http://schemas.openxmlformats.org/drawingml/2006/main">
            <a:srgbClr val="102638"/>
          </a:solidFill>
          <a:ln xmlns:a="http://schemas.openxmlformats.org/drawingml/2006/main" w="11430">
            <a:solidFill>
              <a:srgbClr val="355267"/>
            </a:solidFill>
          </a:ln>
        </p:spPr>
      </p:sp>
      <p:sp>
        <p:nvSpPr>
          <p:cNvPr id="38" name="">
            <a:extLst xmlns:a="http://schemas.openxmlformats.org/drawingml/2006/main">
              <a:ext uri="{FF2B5EF4-FFF2-40B4-BE49-F238E27FC236}">
                <a16:creationId xmlns:a16="http://schemas.microsoft.com/office/drawing/2014/main" id="{6E2E3010-516F-4276-98DF-C7E9329AA6CF}"/>
              </a:ext>
            </a:extLst>
          </p:cNvPr>
          <p:cNvSpPr>
            <a:spLocks xmlns:a="http://schemas.openxmlformats.org/drawingml/2006/main" noGrp="1"/>
          </p:cNvSpPr>
          <p:nvPr/>
        </p:nvSpPr>
        <p:spPr>
          <a:xfrm xmlns:a="http://schemas.openxmlformats.org/drawingml/2006/main">
            <a:off x="8286750" y="3924300"/>
            <a:ext cx="609600" cy="1514475"/>
          </a:xfrm>
          <a:prstGeom xmlns:a="http://schemas.openxmlformats.org/drawingml/2006/main" prst="roundRect">
            <a:avLst>
              <a:gd name="adj" fmla="val 12500"/>
            </a:avLst>
          </a:prstGeom>
          <a:solidFill xmlns:a="http://schemas.openxmlformats.org/drawingml/2006/main">
            <a:srgbClr val="2DD4BF"/>
          </a:solidFill>
          <a:ln xmlns:a="http://schemas.openxmlformats.org/drawingml/2006/main" w="11430">
            <a:solidFill>
              <a:srgbClr val="2DD4BF"/>
            </a:solidFill>
          </a:ln>
        </p:spPr>
      </p:sp>
      <p:sp>
        <p:nvSpPr>
          <p:cNvPr id="39" name="">
            <a:extLst xmlns:a="http://schemas.openxmlformats.org/drawingml/2006/main">
              <a:ext uri="{FF2B5EF4-FFF2-40B4-BE49-F238E27FC236}">
                <a16:creationId xmlns:a16="http://schemas.microsoft.com/office/drawing/2014/main" id="{5F3DAF10-0BD7-43A5-A320-A23A5D6BE938}"/>
              </a:ext>
            </a:extLst>
          </p:cNvPr>
          <p:cNvSpPr>
            <a:spLocks xmlns:a="http://schemas.openxmlformats.org/drawingml/2006/main" noGrp="1"/>
          </p:cNvSpPr>
          <p:nvPr/>
        </p:nvSpPr>
        <p:spPr>
          <a:xfrm xmlns:a="http://schemas.openxmlformats.org/drawingml/2006/main">
            <a:off x="8382000" y="4476750"/>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FFFF"/>
                </a:solidFill>
                <a:latin typeface="Noto Sans CJK KR"/>
                <a:ea typeface="Noto Sans CJK KR"/>
                <a:cs typeface="Noto Sans CJK KR"/>
              </a:defRPr>
            </a:pPr>
            <a:r>
              <a:rPr sz="1575" b="1">
                <a:solidFill>
                  <a:srgbClr val="FFFFFF"/>
                </a:solidFill>
                <a:latin typeface="Noto Sans CJK KR"/>
                <a:ea typeface="Noto Sans CJK KR"/>
                <a:cs typeface="Noto Sans CJK KR"/>
              </a:rPr>
              <a:t>06</a:t>
            </a:r>
          </a:p>
        </p:txBody>
      </p:sp>
      <p:sp>
        <p:nvSpPr>
          <p:cNvPr id="40" name="">
            <a:extLst xmlns:a="http://schemas.openxmlformats.org/drawingml/2006/main">
              <a:ext uri="{FF2B5EF4-FFF2-40B4-BE49-F238E27FC236}">
                <a16:creationId xmlns:a16="http://schemas.microsoft.com/office/drawing/2014/main" id="{D657BFA5-80B4-4197-86DB-7CADB860958A}"/>
              </a:ext>
            </a:extLst>
          </p:cNvPr>
          <p:cNvSpPr>
            <a:spLocks xmlns:a="http://schemas.openxmlformats.org/drawingml/2006/main" noGrp="1"/>
          </p:cNvSpPr>
          <p:nvPr/>
        </p:nvSpPr>
        <p:spPr>
          <a:xfrm xmlns:a="http://schemas.openxmlformats.org/drawingml/2006/main">
            <a:off x="9134475" y="421957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검증·표시</a:t>
            </a:r>
          </a:p>
        </p:txBody>
      </p:sp>
      <p:sp>
        <p:nvSpPr>
          <p:cNvPr id="41" name="">
            <a:extLst xmlns:a="http://schemas.openxmlformats.org/drawingml/2006/main">
              <a:ext uri="{FF2B5EF4-FFF2-40B4-BE49-F238E27FC236}">
                <a16:creationId xmlns:a16="http://schemas.microsoft.com/office/drawing/2014/main" id="{F2559CA8-8D7C-4BF0-A557-FDDA293FB306}"/>
              </a:ext>
            </a:extLst>
          </p:cNvPr>
          <p:cNvSpPr>
            <a:spLocks xmlns:a="http://schemas.openxmlformats.org/drawingml/2006/main" noGrp="1"/>
          </p:cNvSpPr>
          <p:nvPr/>
        </p:nvSpPr>
        <p:spPr>
          <a:xfrm xmlns:a="http://schemas.openxmlformats.org/drawingml/2006/main">
            <a:off x="9134475" y="4686300"/>
            <a:ext cx="223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규칙 + 탐지기</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근거·의심 구절</a:t>
            </a:r>
          </a:p>
        </p:txBody>
      </p:sp>
      <p:cxnSp>
        <p:nvCxnSpPr>
          <p:cNvPr id="91" name=""/>
          <p:cNvCxnSpPr>
            <a:stCxn xmlns:a="http://schemas.openxmlformats.org/drawingml/2006/main" id="12" idx="3"/>
            <a:endCxn xmlns:a="http://schemas.openxmlformats.org/drawingml/2006/main" id="17" idx="1"/>
          </p:cNvCxnSpPr>
          <p:nvPr/>
        </p:nvCxnSpPr>
        <p:spPr>
          <a:xfrm xmlns:a="http://schemas.openxmlformats.org/drawingml/2006/main">
            <a:off x="3886200" y="2709863"/>
            <a:ext cx="514350"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92" name=""/>
          <p:cNvCxnSpPr>
            <a:stCxn xmlns:a="http://schemas.openxmlformats.org/drawingml/2006/main" id="17" idx="3"/>
            <a:endCxn xmlns:a="http://schemas.openxmlformats.org/drawingml/2006/main" id="22" idx="1"/>
          </p:cNvCxnSpPr>
          <p:nvPr/>
        </p:nvCxnSpPr>
        <p:spPr>
          <a:xfrm xmlns:a="http://schemas.openxmlformats.org/drawingml/2006/main">
            <a:off x="7772400" y="2709863"/>
            <a:ext cx="514350"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93" name=""/>
          <p:cNvCxnSpPr>
            <a:stCxn xmlns:a="http://schemas.openxmlformats.org/drawingml/2006/main" id="27" idx="3"/>
            <a:endCxn xmlns:a="http://schemas.openxmlformats.org/drawingml/2006/main" id="32" idx="1"/>
          </p:cNvCxnSpPr>
          <p:nvPr/>
        </p:nvCxnSpPr>
        <p:spPr>
          <a:xfrm xmlns:a="http://schemas.openxmlformats.org/drawingml/2006/main">
            <a:off x="3886200" y="4681538"/>
            <a:ext cx="514350"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94" name=""/>
          <p:cNvCxnSpPr>
            <a:stCxn xmlns:a="http://schemas.openxmlformats.org/drawingml/2006/main" id="32" idx="3"/>
            <a:endCxn xmlns:a="http://schemas.openxmlformats.org/drawingml/2006/main" id="37" idx="1"/>
          </p:cNvCxnSpPr>
          <p:nvPr/>
        </p:nvCxnSpPr>
        <p:spPr>
          <a:xfrm xmlns:a="http://schemas.openxmlformats.org/drawingml/2006/main">
            <a:off x="7772400" y="4681538"/>
            <a:ext cx="514350" cy="0"/>
          </a:xfrm>
          <a:prstGeom xmlns:a="http://schemas.openxmlformats.org/drawingml/2006/main" prst="straightConnector1">
            <a:avLst/>
          </a:prstGeom>
          <a:ln xmlns:a="http://schemas.openxmlformats.org/drawingml/2006/main" w="19050">
            <a:solidFill>
              <a:srgbClr val="A8BDCC"/>
            </a:solidFill>
            <a:tailEnd type="triangle" w="sm" len="sm"/>
          </a:ln>
        </p:spPr>
      </p:cxnSp>
      <p:sp>
        <p:nvSpPr>
          <p:cNvPr id="46" name="">
            <a:extLst xmlns:a="http://schemas.openxmlformats.org/drawingml/2006/main">
              <a:ext uri="{FF2B5EF4-FFF2-40B4-BE49-F238E27FC236}">
                <a16:creationId xmlns:a16="http://schemas.microsoft.com/office/drawing/2014/main" id="{09C48DC9-7236-4E76-BF1E-648E83C5ADA2}"/>
              </a:ext>
            </a:extLst>
          </p:cNvPr>
          <p:cNvSpPr>
            <a:spLocks xmlns:a="http://schemas.openxmlformats.org/drawingml/2006/main" noGrp="1"/>
          </p:cNvSpPr>
          <p:nvPr/>
        </p:nvSpPr>
        <p:spPr>
          <a:xfrm xmlns:a="http://schemas.openxmlformats.org/drawingml/2006/main">
            <a:off x="11439525" y="3467100"/>
            <a:ext cx="0" cy="266700"/>
          </a:xfrm>
          <a:prstGeom xmlns:a="http://schemas.openxmlformats.org/drawingml/2006/main" prst="line">
            <a:avLst/>
          </a:prstGeom>
          <a:noFill xmlns:a="http://schemas.openxmlformats.org/drawingml/2006/main"/>
          <a:ln xmlns:a="http://schemas.openxmlformats.org/drawingml/2006/main" w="19050">
            <a:solidFill>
              <a:srgbClr val="A8BDCC"/>
            </a:solidFill>
          </a:ln>
        </p:spPr>
      </p:sp>
      <p:sp>
        <p:nvSpPr>
          <p:cNvPr id="47" name="">
            <a:extLst xmlns:a="http://schemas.openxmlformats.org/drawingml/2006/main">
              <a:ext uri="{FF2B5EF4-FFF2-40B4-BE49-F238E27FC236}">
                <a16:creationId xmlns:a16="http://schemas.microsoft.com/office/drawing/2014/main" id="{C06EB5EA-D85B-4B45-A128-5C1411A3CF47}"/>
              </a:ext>
            </a:extLst>
          </p:cNvPr>
          <p:cNvSpPr>
            <a:spLocks xmlns:a="http://schemas.openxmlformats.org/drawingml/2006/main" noGrp="1"/>
          </p:cNvSpPr>
          <p:nvPr/>
        </p:nvSpPr>
        <p:spPr>
          <a:xfrm xmlns:a="http://schemas.openxmlformats.org/drawingml/2006/main">
            <a:off x="10772775" y="3733800"/>
            <a:ext cx="666750" cy="0"/>
          </a:xfrm>
          <a:prstGeom xmlns:a="http://schemas.openxmlformats.org/drawingml/2006/main" prst="line">
            <a:avLst/>
          </a:prstGeom>
          <a:noFill xmlns:a="http://schemas.openxmlformats.org/drawingml/2006/main"/>
          <a:ln xmlns:a="http://schemas.openxmlformats.org/drawingml/2006/main" w="19050">
            <a:solidFill>
              <a:srgbClr val="A8BDCC"/>
            </a:solidFill>
          </a:ln>
        </p:spPr>
      </p:sp>
      <p:sp>
        <p:nvSpPr>
          <p:cNvPr id="48" name="">
            <a:extLst xmlns:a="http://schemas.openxmlformats.org/drawingml/2006/main">
              <a:ext uri="{FF2B5EF4-FFF2-40B4-BE49-F238E27FC236}">
                <a16:creationId xmlns:a16="http://schemas.microsoft.com/office/drawing/2014/main" id="{F10CEE80-1E56-4D1A-A9E5-303201D081C9}"/>
              </a:ext>
            </a:extLst>
          </p:cNvPr>
          <p:cNvSpPr>
            <a:spLocks xmlns:a="http://schemas.openxmlformats.org/drawingml/2006/main" noGrp="1"/>
          </p:cNvSpPr>
          <p:nvPr/>
        </p:nvSpPr>
        <p:spPr>
          <a:xfrm xmlns:a="http://schemas.openxmlformats.org/drawingml/2006/main">
            <a:off x="4343400" y="5457825"/>
            <a:ext cx="350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DD4BF"/>
                </a:solidFill>
                <a:latin typeface="Noto Sans CJK KR"/>
                <a:ea typeface="Noto Sans CJK KR"/>
                <a:cs typeface="Noto Sans CJK KR"/>
              </a:defRPr>
            </a:pPr>
            <a:r>
              <a:rPr sz="1350" b="1">
                <a:solidFill>
                  <a:srgbClr val="2DD4BF"/>
                </a:solidFill>
                <a:latin typeface="Noto Sans CJK KR"/>
                <a:ea typeface="Noto Sans CJK KR"/>
                <a:cs typeface="Noto Sans CJK KR"/>
              </a:rPr>
              <a:t>검색 범위 결정</a:t>
            </a:r>
          </a:p>
        </p:txBody>
      </p:sp>
      <p:sp>
        <p:nvSpPr>
          <p:cNvPr id="49" name="">
            <a:extLst xmlns:a="http://schemas.openxmlformats.org/drawingml/2006/main">
              <a:ext uri="{FF2B5EF4-FFF2-40B4-BE49-F238E27FC236}">
                <a16:creationId xmlns:a16="http://schemas.microsoft.com/office/drawing/2014/main" id="{9A05C19D-E1BD-4BC2-AFD5-1AAE90451BA7}"/>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브라우저의 역할 이름이 아니라 신뢰된 서버 세션이 검색 범위를 결정</a:t>
            </a:r>
          </a:p>
        </p:txBody>
      </p:sp>
    </p:spTree>
    <p:extLst>
      <p:ext uri="{BB962C8B-B14F-4D97-AF65-F5344CB8AC3E}">
        <p14:creationId xmlns:p14="http://schemas.microsoft.com/office/powerpoint/2010/main" val="1861913098"/>
      </p:ext>
    </p:extLst>
  </p:cSld>
</p:sld>
</file>

<file path=ppt/slides/slide7.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0623174-4B27-44CF-817F-833097D3F79D}"/>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03  데이터 기반</a:t>
            </a:r>
          </a:p>
        </p:txBody>
      </p:sp>
      <p:sp>
        <p:nvSpPr>
          <p:cNvPr id="2" name="">
            <a:extLst xmlns:a="http://schemas.openxmlformats.org/drawingml/2006/main">
              <a:ext uri="{FF2B5EF4-FFF2-40B4-BE49-F238E27FC236}">
                <a16:creationId xmlns:a16="http://schemas.microsoft.com/office/drawing/2014/main" id="{807844EE-343C-410E-913C-B74C937E272E}"/>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4~6월 수집에서 51건 검수 표본까지</a:t>
            </a:r>
          </a:p>
        </p:txBody>
      </p:sp>
      <p:sp>
        <p:nvSpPr>
          <p:cNvPr id="3" name="">
            <a:extLst xmlns:a="http://schemas.openxmlformats.org/drawingml/2006/main">
              <a:ext uri="{FF2B5EF4-FFF2-40B4-BE49-F238E27FC236}">
                <a16:creationId xmlns:a16="http://schemas.microsoft.com/office/drawing/2014/main" id="{06672335-AC32-47B9-8C97-2888D8AE89B4}"/>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원본 보존, 파싱 결과, 활용 가능 여부를 분리해 기록했다</a:t>
            </a:r>
          </a:p>
        </p:txBody>
      </p:sp>
      <p:sp>
        <p:nvSpPr>
          <p:cNvPr id="4" name="">
            <a:extLst xmlns:a="http://schemas.openxmlformats.org/drawingml/2006/main">
              <a:ext uri="{FF2B5EF4-FFF2-40B4-BE49-F238E27FC236}">
                <a16:creationId xmlns:a16="http://schemas.microsoft.com/office/drawing/2014/main" id="{FEFEC90E-2C1D-4FE7-8989-FCD2D7E547FE}"/>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EA07A464-9542-47CC-ABE1-4A66BE45809F}"/>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9634C098-A708-4462-8DD1-EA2CECB261E0}"/>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3FCCB0C1-EAA1-422C-A768-5641104DF7E4}"/>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8" name="">
            <a:extLst xmlns:a="http://schemas.openxmlformats.org/drawingml/2006/main">
              <a:ext uri="{FF2B5EF4-FFF2-40B4-BE49-F238E27FC236}">
                <a16:creationId xmlns:a16="http://schemas.microsoft.com/office/drawing/2014/main" id="{B0C81870-96FC-482F-BE95-D525EB3D795A}"/>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2B521611-33C7-4867-AE5B-8714E755869C}"/>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3B3DB362-5B78-43F9-BBE7-4A72780F29DA}"/>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C40BC463-BD5D-4E22-9399-122769E06760}"/>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07</a:t>
            </a:r>
          </a:p>
        </p:txBody>
      </p:sp>
      <p:sp>
        <p:nvSpPr>
          <p:cNvPr id="12" name="">
            <a:extLst xmlns:a="http://schemas.openxmlformats.org/drawingml/2006/main">
              <a:ext uri="{FF2B5EF4-FFF2-40B4-BE49-F238E27FC236}">
                <a16:creationId xmlns:a16="http://schemas.microsoft.com/office/drawing/2014/main" id="{45541DA3-64E8-45DD-B8EA-F873E701C975}"/>
              </a:ext>
            </a:extLst>
          </p:cNvPr>
          <p:cNvSpPr>
            <a:spLocks xmlns:a="http://schemas.openxmlformats.org/drawingml/2006/main" noGrp="1"/>
          </p:cNvSpPr>
          <p:nvPr/>
        </p:nvSpPr>
        <p:spPr>
          <a:xfrm xmlns:a="http://schemas.openxmlformats.org/drawingml/2006/main">
            <a:off x="514350" y="18002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4D8DFF"/>
                </a:solidFill>
                <a:latin typeface="Noto Sans CJK KR"/>
                <a:ea typeface="Noto Sans CJK KR"/>
                <a:cs typeface="Noto Sans CJK KR"/>
              </a:defRPr>
            </a:pPr>
            <a:r>
              <a:rPr sz="3450" b="1">
                <a:solidFill>
                  <a:srgbClr val="4D8DFF"/>
                </a:solidFill>
                <a:latin typeface="Noto Sans CJK KR"/>
                <a:ea typeface="Noto Sans CJK KR"/>
                <a:cs typeface="Noto Sans CJK KR"/>
              </a:rPr>
              <a:t>137,745</a:t>
            </a:r>
          </a:p>
        </p:txBody>
      </p:sp>
      <p:sp>
        <p:nvSpPr>
          <p:cNvPr id="13" name="">
            <a:extLst xmlns:a="http://schemas.openxmlformats.org/drawingml/2006/main">
              <a:ext uri="{FF2B5EF4-FFF2-40B4-BE49-F238E27FC236}">
                <a16:creationId xmlns:a16="http://schemas.microsoft.com/office/drawing/2014/main" id="{2A5CCF52-58F2-4EB7-BD07-96C8059CFB5E}"/>
              </a:ext>
            </a:extLst>
          </p:cNvPr>
          <p:cNvSpPr>
            <a:spLocks xmlns:a="http://schemas.openxmlformats.org/drawingml/2006/main" noGrp="1"/>
          </p:cNvSpPr>
          <p:nvPr/>
        </p:nvSpPr>
        <p:spPr>
          <a:xfrm xmlns:a="http://schemas.openxmlformats.org/drawingml/2006/main">
            <a:off x="514350" y="24098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공고 행 · 차수 포함</a:t>
            </a:r>
          </a:p>
        </p:txBody>
      </p:sp>
      <p:sp>
        <p:nvSpPr>
          <p:cNvPr id="14" name="">
            <a:extLst xmlns:a="http://schemas.openxmlformats.org/drawingml/2006/main">
              <a:ext uri="{FF2B5EF4-FFF2-40B4-BE49-F238E27FC236}">
                <a16:creationId xmlns:a16="http://schemas.microsoft.com/office/drawing/2014/main" id="{0F6EC1AA-2170-4DCA-9D6C-ED138D9BB300}"/>
              </a:ext>
            </a:extLst>
          </p:cNvPr>
          <p:cNvSpPr>
            <a:spLocks xmlns:a="http://schemas.openxmlformats.org/drawingml/2006/main" noGrp="1"/>
          </p:cNvSpPr>
          <p:nvPr/>
        </p:nvSpPr>
        <p:spPr>
          <a:xfrm xmlns:a="http://schemas.openxmlformats.org/drawingml/2006/main">
            <a:off x="3048000" y="1800225"/>
            <a:ext cx="2714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DD4BF"/>
                </a:solidFill>
                <a:latin typeface="Noto Sans CJK KR"/>
                <a:ea typeface="Noto Sans CJK KR"/>
                <a:cs typeface="Noto Sans CJK KR"/>
              </a:defRPr>
            </a:pPr>
            <a:r>
              <a:rPr sz="3450" b="1">
                <a:solidFill>
                  <a:srgbClr val="2DD4BF"/>
                </a:solidFill>
                <a:latin typeface="Noto Sans CJK KR"/>
                <a:ea typeface="Noto Sans CJK KR"/>
                <a:cs typeface="Noto Sans CJK KR"/>
              </a:rPr>
              <a:t>246,797</a:t>
            </a:r>
          </a:p>
        </p:txBody>
      </p:sp>
      <p:sp>
        <p:nvSpPr>
          <p:cNvPr id="15" name="">
            <a:extLst xmlns:a="http://schemas.openxmlformats.org/drawingml/2006/main">
              <a:ext uri="{FF2B5EF4-FFF2-40B4-BE49-F238E27FC236}">
                <a16:creationId xmlns:a16="http://schemas.microsoft.com/office/drawing/2014/main" id="{7E9BA5D6-65D6-49F2-A5ED-4DAC10807EF4}"/>
              </a:ext>
            </a:extLst>
          </p:cNvPr>
          <p:cNvSpPr>
            <a:spLocks xmlns:a="http://schemas.openxmlformats.org/drawingml/2006/main" noGrp="1"/>
          </p:cNvSpPr>
          <p:nvPr/>
        </p:nvSpPr>
        <p:spPr>
          <a:xfrm xmlns:a="http://schemas.openxmlformats.org/drawingml/2006/main">
            <a:off x="3048000" y="240982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사용 가능 첨부 · 전체 285,252개</a:t>
            </a:r>
          </a:p>
        </p:txBody>
      </p:sp>
      <p:sp>
        <p:nvSpPr>
          <p:cNvPr id="16" name="">
            <a:extLst xmlns:a="http://schemas.openxmlformats.org/drawingml/2006/main">
              <a:ext uri="{FF2B5EF4-FFF2-40B4-BE49-F238E27FC236}">
                <a16:creationId xmlns:a16="http://schemas.microsoft.com/office/drawing/2014/main" id="{2D98A41E-5639-4C58-A963-F6AE20BF6320}"/>
              </a:ext>
            </a:extLst>
          </p:cNvPr>
          <p:cNvSpPr>
            <a:spLocks xmlns:a="http://schemas.openxmlformats.org/drawingml/2006/main" noGrp="1"/>
          </p:cNvSpPr>
          <p:nvPr/>
        </p:nvSpPr>
        <p:spPr>
          <a:xfrm xmlns:a="http://schemas.openxmlformats.org/drawingml/2006/main">
            <a:off x="5886450" y="18002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FF6B57"/>
                </a:solidFill>
                <a:latin typeface="Noto Sans CJK KR"/>
                <a:ea typeface="Noto Sans CJK KR"/>
                <a:cs typeface="Noto Sans CJK KR"/>
              </a:defRPr>
            </a:pPr>
            <a:r>
              <a:rPr sz="3450" b="1">
                <a:solidFill>
                  <a:srgbClr val="FF6B57"/>
                </a:solidFill>
                <a:latin typeface="Noto Sans CJK KR"/>
                <a:ea typeface="Noto Sans CJK KR"/>
                <a:cs typeface="Noto Sans CJK KR"/>
              </a:rPr>
              <a:t>51</a:t>
            </a:r>
          </a:p>
        </p:txBody>
      </p:sp>
      <p:sp>
        <p:nvSpPr>
          <p:cNvPr id="17" name="">
            <a:extLst xmlns:a="http://schemas.openxmlformats.org/drawingml/2006/main">
              <a:ext uri="{FF2B5EF4-FFF2-40B4-BE49-F238E27FC236}">
                <a16:creationId xmlns:a16="http://schemas.microsoft.com/office/drawing/2014/main" id="{DEDD209D-108F-4A2E-A16B-80B854B7AD3F}"/>
              </a:ext>
            </a:extLst>
          </p:cNvPr>
          <p:cNvSpPr>
            <a:spLocks xmlns:a="http://schemas.openxmlformats.org/drawingml/2006/main" noGrp="1"/>
          </p:cNvSpPr>
          <p:nvPr/>
        </p:nvSpPr>
        <p:spPr>
          <a:xfrm xmlns:a="http://schemas.openxmlformats.org/drawingml/2006/main">
            <a:off x="5886450" y="24098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정보시스템 구축·운영 표본</a:t>
            </a:r>
          </a:p>
        </p:txBody>
      </p:sp>
      <p:sp>
        <p:nvSpPr>
          <p:cNvPr id="18" name="">
            <a:extLst xmlns:a="http://schemas.openxmlformats.org/drawingml/2006/main">
              <a:ext uri="{FF2B5EF4-FFF2-40B4-BE49-F238E27FC236}">
                <a16:creationId xmlns:a16="http://schemas.microsoft.com/office/drawing/2014/main" id="{0C20F0CD-EFD4-4100-A879-4BF4FA36BBCF}"/>
              </a:ext>
            </a:extLst>
          </p:cNvPr>
          <p:cNvSpPr>
            <a:spLocks xmlns:a="http://schemas.openxmlformats.org/drawingml/2006/main" noGrp="1"/>
          </p:cNvSpPr>
          <p:nvPr/>
        </p:nvSpPr>
        <p:spPr>
          <a:xfrm xmlns:a="http://schemas.openxmlformats.org/drawingml/2006/main">
            <a:off x="514350" y="3105150"/>
            <a:ext cx="7067550" cy="2743200"/>
          </a:xfrm>
          <a:prstGeom xmlns:a="http://schemas.openxmlformats.org/drawingml/2006/main" prst="roundRect">
            <a:avLst>
              <a:gd name="adj" fmla="val 2778"/>
            </a:avLst>
          </a:prstGeom>
          <a:solidFill xmlns:a="http://schemas.openxmlformats.org/drawingml/2006/main">
            <a:srgbClr val="F2F7FA"/>
          </a:solidFill>
          <a:ln xmlns:a="http://schemas.openxmlformats.org/drawingml/2006/main" w="11430">
            <a:solidFill>
              <a:srgbClr val="F2F7FA"/>
            </a:solidFill>
          </a:ln>
        </p:spPr>
      </p:sp>
      <p:graphicFrame>
        <p:nvGraphicFramePr>
          <p:cNvPr id="49" name="Chart"/>
          <p:cNvGraphicFramePr/>
          <p:nvPr/>
        </p:nvGraphicFramePr>
        <p:xfrm>
          <a:off xmlns:a="http://schemas.openxmlformats.org/drawingml/2006/main" x="781050" y="3371850"/>
          <a:ext xmlns:a="http://schemas.openxmlformats.org/drawingml/2006/main" cx="6524625" cy="2171700"/>
        </p:xfrm>
        <a:graphic xmlns:a="http://schemas.openxmlformats.org/drawingml/2006/main">
          <a:graphicData uri="http://schemas.openxmlformats.org/drawingml/2006/chart">
            <c:chart xmlns:r="http://schemas.openxmlformats.org/officeDocument/2006/relationships" xmlns:c="http://schemas.openxmlformats.org/drawingml/2006/chart" r:id="R595b520ec7594411"/>
          </a:graphicData>
        </a:graphic>
      </p:graphicFrame>
      <p:sp>
        <p:nvSpPr>
          <p:cNvPr id="20" name="">
            <a:extLst xmlns:a="http://schemas.openxmlformats.org/drawingml/2006/main">
              <a:ext uri="{FF2B5EF4-FFF2-40B4-BE49-F238E27FC236}">
                <a16:creationId xmlns:a16="http://schemas.microsoft.com/office/drawing/2014/main" id="{23314352-13AF-4CE1-9B8B-8A63FE93FBBF}"/>
              </a:ext>
            </a:extLst>
          </p:cNvPr>
          <p:cNvSpPr>
            <a:spLocks xmlns:a="http://schemas.openxmlformats.org/drawingml/2006/main" noGrp="1"/>
          </p:cNvSpPr>
          <p:nvPr/>
        </p:nvSpPr>
        <p:spPr>
          <a:xfrm xmlns:a="http://schemas.openxmlformats.org/drawingml/2006/main">
            <a:off x="723900" y="31527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102A43"/>
                </a:solidFill>
                <a:latin typeface="Noto Sans CJK KR"/>
                <a:ea typeface="Noto Sans CJK KR"/>
                <a:cs typeface="Noto Sans CJK KR"/>
              </a:defRPr>
            </a:pPr>
            <a:r>
              <a:rPr sz="1350" b="1">
                <a:solidFill>
                  <a:srgbClr val="102A43"/>
                </a:solidFill>
                <a:latin typeface="Noto Sans CJK KR"/>
                <a:ea typeface="Noto Sans CJK KR"/>
                <a:cs typeface="Noto Sans CJK KR"/>
              </a:rPr>
              <a:t>업무구분별 완전 공고 수</a:t>
            </a:r>
          </a:p>
        </p:txBody>
      </p:sp>
      <p:sp>
        <p:nvSpPr>
          <p:cNvPr id="21" name="">
            <a:extLst xmlns:a="http://schemas.openxmlformats.org/drawingml/2006/main">
              <a:ext uri="{FF2B5EF4-FFF2-40B4-BE49-F238E27FC236}">
                <a16:creationId xmlns:a16="http://schemas.microsoft.com/office/drawing/2014/main" id="{82106065-89D6-4D24-8FE1-82D114AC3DDA}"/>
              </a:ext>
            </a:extLst>
          </p:cNvPr>
          <p:cNvSpPr>
            <a:spLocks xmlns:a="http://schemas.openxmlformats.org/drawingml/2006/main" noGrp="1"/>
          </p:cNvSpPr>
          <p:nvPr/>
        </p:nvSpPr>
        <p:spPr>
          <a:xfrm xmlns:a="http://schemas.openxmlformats.org/drawingml/2006/main">
            <a:off x="8001000" y="3238500"/>
            <a:ext cx="1714500" cy="2019300"/>
          </a:xfrm>
          <a:prstGeom xmlns:a="http://schemas.openxmlformats.org/drawingml/2006/main" prst="roundRect">
            <a:avLst>
              <a:gd name="adj" fmla="val 4444"/>
            </a:avLst>
          </a:prstGeom>
          <a:solidFill xmlns:a="http://schemas.openxmlformats.org/drawingml/2006/main">
            <a:srgbClr val="102638"/>
          </a:solidFill>
          <a:ln xmlns:a="http://schemas.openxmlformats.org/drawingml/2006/main" w="11430">
            <a:solidFill>
              <a:srgbClr val="355267"/>
            </a:solidFill>
          </a:ln>
        </p:spPr>
      </p:sp>
      <p:sp>
        <p:nvSpPr>
          <p:cNvPr id="22" name="">
            <a:extLst xmlns:a="http://schemas.openxmlformats.org/drawingml/2006/main">
              <a:ext uri="{FF2B5EF4-FFF2-40B4-BE49-F238E27FC236}">
                <a16:creationId xmlns:a16="http://schemas.microsoft.com/office/drawing/2014/main" id="{85157E23-E93F-41C0-8928-635260289D5B}"/>
              </a:ext>
            </a:extLst>
          </p:cNvPr>
          <p:cNvSpPr>
            <a:spLocks xmlns:a="http://schemas.openxmlformats.org/drawingml/2006/main" noGrp="1"/>
          </p:cNvSpPr>
          <p:nvPr/>
        </p:nvSpPr>
        <p:spPr>
          <a:xfrm xmlns:a="http://schemas.openxmlformats.org/drawingml/2006/main">
            <a:off x="8001000" y="3238500"/>
            <a:ext cx="66675" cy="201930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23" name="">
            <a:extLst xmlns:a="http://schemas.openxmlformats.org/drawingml/2006/main">
              <a:ext uri="{FF2B5EF4-FFF2-40B4-BE49-F238E27FC236}">
                <a16:creationId xmlns:a16="http://schemas.microsoft.com/office/drawing/2014/main" id="{247E5DAE-862F-46BD-8970-AF93A47FE8B0}"/>
              </a:ext>
            </a:extLst>
          </p:cNvPr>
          <p:cNvSpPr>
            <a:spLocks xmlns:a="http://schemas.openxmlformats.org/drawingml/2006/main" noGrp="1"/>
          </p:cNvSpPr>
          <p:nvPr/>
        </p:nvSpPr>
        <p:spPr>
          <a:xfrm xmlns:a="http://schemas.openxmlformats.org/drawingml/2006/main">
            <a:off x="8210550"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수집·보존</a:t>
            </a:r>
          </a:p>
        </p:txBody>
      </p:sp>
      <p:sp>
        <p:nvSpPr>
          <p:cNvPr id="24" name="">
            <a:extLst xmlns:a="http://schemas.openxmlformats.org/drawingml/2006/main">
              <a:ext uri="{FF2B5EF4-FFF2-40B4-BE49-F238E27FC236}">
                <a16:creationId xmlns:a16="http://schemas.microsoft.com/office/drawing/2014/main" id="{1C5D9E02-5639-4E01-8E77-F8686ADC5C91}"/>
              </a:ext>
            </a:extLst>
          </p:cNvPr>
          <p:cNvSpPr>
            <a:spLocks xmlns:a="http://schemas.openxmlformats.org/drawingml/2006/main" noGrp="1"/>
          </p:cNvSpPr>
          <p:nvPr/>
        </p:nvSpPr>
        <p:spPr>
          <a:xfrm xmlns:a="http://schemas.openxmlformats.org/drawingml/2006/main">
            <a:off x="8210550" y="3829050"/>
            <a:ext cx="13144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OpenAPI 조회</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공고·첨부·해시</a:t>
            </a:r>
          </a:p>
        </p:txBody>
      </p:sp>
      <p:sp>
        <p:nvSpPr>
          <p:cNvPr id="25" name="">
            <a:extLst xmlns:a="http://schemas.openxmlformats.org/drawingml/2006/main">
              <a:ext uri="{FF2B5EF4-FFF2-40B4-BE49-F238E27FC236}">
                <a16:creationId xmlns:a16="http://schemas.microsoft.com/office/drawing/2014/main" id="{DEDA0F2D-22F6-496A-B6BD-B7FDB7A3BBB5}"/>
              </a:ext>
            </a:extLst>
          </p:cNvPr>
          <p:cNvSpPr>
            <a:spLocks xmlns:a="http://schemas.openxmlformats.org/drawingml/2006/main" noGrp="1"/>
          </p:cNvSpPr>
          <p:nvPr/>
        </p:nvSpPr>
        <p:spPr>
          <a:xfrm xmlns:a="http://schemas.openxmlformats.org/drawingml/2006/main">
            <a:off x="9925050" y="3238500"/>
            <a:ext cx="1733550" cy="2019300"/>
          </a:xfrm>
          <a:prstGeom xmlns:a="http://schemas.openxmlformats.org/drawingml/2006/main" prst="roundRect">
            <a:avLst>
              <a:gd name="adj" fmla="val 4396"/>
            </a:avLst>
          </a:prstGeom>
          <a:solidFill xmlns:a="http://schemas.openxmlformats.org/drawingml/2006/main">
            <a:srgbClr val="102638"/>
          </a:solidFill>
          <a:ln xmlns:a="http://schemas.openxmlformats.org/drawingml/2006/main" w="11430">
            <a:solidFill>
              <a:srgbClr val="355267"/>
            </a:solidFill>
          </a:ln>
        </p:spPr>
      </p:sp>
      <p:sp>
        <p:nvSpPr>
          <p:cNvPr id="26" name="">
            <a:extLst xmlns:a="http://schemas.openxmlformats.org/drawingml/2006/main">
              <a:ext uri="{FF2B5EF4-FFF2-40B4-BE49-F238E27FC236}">
                <a16:creationId xmlns:a16="http://schemas.microsoft.com/office/drawing/2014/main" id="{3FB51B47-D7A8-4955-868E-BF8B4EC2D0C0}"/>
              </a:ext>
            </a:extLst>
          </p:cNvPr>
          <p:cNvSpPr>
            <a:spLocks xmlns:a="http://schemas.openxmlformats.org/drawingml/2006/main" noGrp="1"/>
          </p:cNvSpPr>
          <p:nvPr/>
        </p:nvSpPr>
        <p:spPr>
          <a:xfrm xmlns:a="http://schemas.openxmlformats.org/drawingml/2006/main">
            <a:off x="9925050" y="3238500"/>
            <a:ext cx="66675" cy="201930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27" name="">
            <a:extLst xmlns:a="http://schemas.openxmlformats.org/drawingml/2006/main">
              <a:ext uri="{FF2B5EF4-FFF2-40B4-BE49-F238E27FC236}">
                <a16:creationId xmlns:a16="http://schemas.microsoft.com/office/drawing/2014/main" id="{648FB7CC-E8A0-4026-BD32-177E6E7AD53E}"/>
              </a:ext>
            </a:extLst>
          </p:cNvPr>
          <p:cNvSpPr>
            <a:spLocks xmlns:a="http://schemas.openxmlformats.org/drawingml/2006/main" noGrp="1"/>
          </p:cNvSpPr>
          <p:nvPr/>
        </p:nvSpPr>
        <p:spPr>
          <a:xfrm xmlns:a="http://schemas.openxmlformats.org/drawingml/2006/main">
            <a:off x="10134600" y="3409950"/>
            <a:ext cx="1352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파싱·변환</a:t>
            </a:r>
          </a:p>
        </p:txBody>
      </p:sp>
      <p:sp>
        <p:nvSpPr>
          <p:cNvPr id="28" name="">
            <a:extLst xmlns:a="http://schemas.openxmlformats.org/drawingml/2006/main">
              <a:ext uri="{FF2B5EF4-FFF2-40B4-BE49-F238E27FC236}">
                <a16:creationId xmlns:a16="http://schemas.microsoft.com/office/drawing/2014/main" id="{1D15191C-105C-434E-BD9D-D1CE5702E9BD}"/>
              </a:ext>
            </a:extLst>
          </p:cNvPr>
          <p:cNvSpPr>
            <a:spLocks xmlns:a="http://schemas.openxmlformats.org/drawingml/2006/main" noGrp="1"/>
          </p:cNvSpPr>
          <p:nvPr/>
        </p:nvSpPr>
        <p:spPr>
          <a:xfrm xmlns:a="http://schemas.openxmlformats.org/drawingml/2006/main">
            <a:off x="10134600" y="3829050"/>
            <a:ext cx="133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CPU 파싱</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선택적 GPU OCR</a:t>
            </a:r>
          </a:p>
        </p:txBody>
      </p:sp>
      <p:sp>
        <p:nvSpPr>
          <p:cNvPr id="29" name="">
            <a:extLst xmlns:a="http://schemas.openxmlformats.org/drawingml/2006/main">
              <a:ext uri="{FF2B5EF4-FFF2-40B4-BE49-F238E27FC236}">
                <a16:creationId xmlns:a16="http://schemas.microsoft.com/office/drawing/2014/main" id="{E9D05FB0-55BE-4F1B-8FCF-1707FA36B1CA}"/>
              </a:ext>
            </a:extLst>
          </p:cNvPr>
          <p:cNvSpPr>
            <a:spLocks xmlns:a="http://schemas.openxmlformats.org/drawingml/2006/main" noGrp="1"/>
          </p:cNvSpPr>
          <p:nvPr/>
        </p:nvSpPr>
        <p:spPr>
          <a:xfrm xmlns:a="http://schemas.openxmlformats.org/drawingml/2006/main">
            <a:off x="8096250" y="54292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4F8FB"/>
                </a:solidFill>
                <a:latin typeface="Noto Sans CJK KR"/>
                <a:ea typeface="Noto Sans CJK KR"/>
                <a:cs typeface="Noto Sans CJK KR"/>
              </a:defRPr>
            </a:pPr>
            <a:r>
              <a:rPr sz="1500" b="1">
                <a:solidFill>
                  <a:srgbClr val="F4F8FB"/>
                </a:solidFill>
                <a:latin typeface="Noto Sans CJK KR"/>
                <a:ea typeface="Noto Sans CJK KR"/>
                <a:cs typeface="Noto Sans CJK KR"/>
              </a:rPr>
              <a:t>4월 17건 · 5월 17건 · 6월 17건</a:t>
            </a:r>
          </a:p>
        </p:txBody>
      </p:sp>
      <p:sp>
        <p:nvSpPr>
          <p:cNvPr id="30" name="">
            <a:extLst xmlns:a="http://schemas.openxmlformats.org/drawingml/2006/main">
              <a:ext uri="{FF2B5EF4-FFF2-40B4-BE49-F238E27FC236}">
                <a16:creationId xmlns:a16="http://schemas.microsoft.com/office/drawing/2014/main" id="{9DC4274E-54A1-47A9-BAA3-B4AC5648B70C}"/>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완전 공고 = 공고문 + 제안요청서 또는 과업·규격서 · 기준 2026.09.11</a:t>
            </a:r>
          </a:p>
        </p:txBody>
      </p:sp>
    </p:spTree>
    <p:extLst>
      <p:ext uri="{BB962C8B-B14F-4D97-AF65-F5344CB8AC3E}">
        <p14:creationId xmlns:p14="http://schemas.microsoft.com/office/powerpoint/2010/main" val="774188237"/>
      </p:ext>
    </p:extLst>
  </p:cSld>
</p:sld>
</file>

<file path=ppt/slides/slide8.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74B4626-D7E3-4E67-AD0B-29DECF3E73E5}"/>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03  데이터 기반</a:t>
            </a:r>
          </a:p>
        </p:txBody>
      </p:sp>
      <p:sp>
        <p:nvSpPr>
          <p:cNvPr id="2" name="">
            <a:extLst xmlns:a="http://schemas.openxmlformats.org/drawingml/2006/main">
              <a:ext uri="{FF2B5EF4-FFF2-40B4-BE49-F238E27FC236}">
                <a16:creationId xmlns:a16="http://schemas.microsoft.com/office/drawing/2014/main" id="{B46BFD1A-770F-4D46-A537-4030A9244234}"/>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L1·L2·L3는 자료의 성격을 구분한다</a:t>
            </a:r>
          </a:p>
        </p:txBody>
      </p:sp>
      <p:sp>
        <p:nvSpPr>
          <p:cNvPr id="3" name="">
            <a:extLst xmlns:a="http://schemas.openxmlformats.org/drawingml/2006/main">
              <a:ext uri="{FF2B5EF4-FFF2-40B4-BE49-F238E27FC236}">
                <a16:creationId xmlns:a16="http://schemas.microsoft.com/office/drawing/2014/main" id="{5FF6D761-67FB-4DC8-B81B-B7B5561A0186}"/>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공개 공고에서 출발해 비교용 합성 기업 자료를 만든다</a:t>
            </a:r>
          </a:p>
        </p:txBody>
      </p:sp>
      <p:sp>
        <p:nvSpPr>
          <p:cNvPr id="4" name="">
            <a:extLst xmlns:a="http://schemas.openxmlformats.org/drawingml/2006/main">
              <a:ext uri="{FF2B5EF4-FFF2-40B4-BE49-F238E27FC236}">
                <a16:creationId xmlns:a16="http://schemas.microsoft.com/office/drawing/2014/main" id="{D6BD1B01-BC6B-4ABF-B53C-4C5E006F204B}"/>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8E016266-BA61-4D17-9577-033571D8895E}"/>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15BB28DE-8265-41D8-8261-6013FC9DBA8E}"/>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53DA4140-A6A5-415A-8E7F-579AD0E1117C}"/>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8" name="">
            <a:extLst xmlns:a="http://schemas.openxmlformats.org/drawingml/2006/main">
              <a:ext uri="{FF2B5EF4-FFF2-40B4-BE49-F238E27FC236}">
                <a16:creationId xmlns:a16="http://schemas.microsoft.com/office/drawing/2014/main" id="{DFE2F7A5-1E03-4BF1-89EB-1BD617704F90}"/>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F8AD8F02-75D2-49CF-A188-F2F3F1FDE67D}"/>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7E230203-69A1-4B75-A27C-EBEB9218436A}"/>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380ED9CD-F781-4B8A-A496-B4B33D026082}"/>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08</a:t>
            </a:r>
          </a:p>
        </p:txBody>
      </p:sp>
      <p:sp>
        <p:nvSpPr>
          <p:cNvPr id="12" name="">
            <a:extLst xmlns:a="http://schemas.openxmlformats.org/drawingml/2006/main">
              <a:ext uri="{FF2B5EF4-FFF2-40B4-BE49-F238E27FC236}">
                <a16:creationId xmlns:a16="http://schemas.microsoft.com/office/drawing/2014/main" id="{2DB78171-8631-44E8-8E36-22F8D17331FD}"/>
              </a:ext>
            </a:extLst>
          </p:cNvPr>
          <p:cNvSpPr>
            <a:spLocks xmlns:a="http://schemas.openxmlformats.org/drawingml/2006/main" noGrp="1"/>
          </p:cNvSpPr>
          <p:nvPr/>
        </p:nvSpPr>
        <p:spPr>
          <a:xfrm xmlns:a="http://schemas.openxmlformats.org/drawingml/2006/main">
            <a:off x="514350" y="1952625"/>
            <a:ext cx="11144250" cy="971550"/>
          </a:xfrm>
          <a:prstGeom xmlns:a="http://schemas.openxmlformats.org/drawingml/2006/main" prst="roundRect">
            <a:avLst>
              <a:gd name="adj" fmla="val 7843"/>
            </a:avLst>
          </a:prstGeom>
          <a:solidFill xmlns:a="http://schemas.openxmlformats.org/drawingml/2006/main">
            <a:srgbClr val="102638"/>
          </a:solidFill>
          <a:ln xmlns:a="http://schemas.openxmlformats.org/drawingml/2006/main" w="11430">
            <a:solidFill>
              <a:srgbClr val="355267"/>
            </a:solidFill>
          </a:ln>
        </p:spPr>
      </p:sp>
      <p:sp>
        <p:nvSpPr>
          <p:cNvPr id="13" name="">
            <a:extLst xmlns:a="http://schemas.openxmlformats.org/drawingml/2006/main">
              <a:ext uri="{FF2B5EF4-FFF2-40B4-BE49-F238E27FC236}">
                <a16:creationId xmlns:a16="http://schemas.microsoft.com/office/drawing/2014/main" id="{A44E87AC-FC66-4DFA-BF8F-D392C6261913}"/>
              </a:ext>
            </a:extLst>
          </p:cNvPr>
          <p:cNvSpPr>
            <a:spLocks xmlns:a="http://schemas.openxmlformats.org/drawingml/2006/main" noGrp="1"/>
          </p:cNvSpPr>
          <p:nvPr/>
        </p:nvSpPr>
        <p:spPr>
          <a:xfrm xmlns:a="http://schemas.openxmlformats.org/drawingml/2006/main">
            <a:off x="514350" y="1952625"/>
            <a:ext cx="1524000" cy="971550"/>
          </a:xfrm>
          <a:prstGeom xmlns:a="http://schemas.openxmlformats.org/drawingml/2006/main" prst="roundRect">
            <a:avLst>
              <a:gd name="adj" fmla="val 7843"/>
            </a:avLst>
          </a:prstGeom>
          <a:solidFill xmlns:a="http://schemas.openxmlformats.org/drawingml/2006/main">
            <a:srgbClr val="4D8DFF"/>
          </a:solidFill>
          <a:ln xmlns:a="http://schemas.openxmlformats.org/drawingml/2006/main" w="11430">
            <a:solidFill>
              <a:srgbClr val="4D8DFF"/>
            </a:solidFill>
          </a:ln>
        </p:spPr>
      </p:sp>
      <p:sp>
        <p:nvSpPr>
          <p:cNvPr id="14" name="">
            <a:extLst xmlns:a="http://schemas.openxmlformats.org/drawingml/2006/main">
              <a:ext uri="{FF2B5EF4-FFF2-40B4-BE49-F238E27FC236}">
                <a16:creationId xmlns:a16="http://schemas.microsoft.com/office/drawing/2014/main" id="{2B0E6C09-074E-43CD-A907-16B59AA76AC4}"/>
              </a:ext>
            </a:extLst>
          </p:cNvPr>
          <p:cNvSpPr>
            <a:spLocks xmlns:a="http://schemas.openxmlformats.org/drawingml/2006/main" noGrp="1"/>
          </p:cNvSpPr>
          <p:nvPr/>
        </p:nvSpPr>
        <p:spPr>
          <a:xfrm xmlns:a="http://schemas.openxmlformats.org/drawingml/2006/main">
            <a:off x="628650" y="22479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FFFFF"/>
                </a:solidFill>
                <a:latin typeface="Noto Sans CJK KR"/>
                <a:ea typeface="Noto Sans CJK KR"/>
                <a:cs typeface="Noto Sans CJK KR"/>
              </a:defRPr>
            </a:pPr>
            <a:r>
              <a:rPr sz="1800" b="1">
                <a:solidFill>
                  <a:srgbClr val="FFFFFF"/>
                </a:solidFill>
                <a:latin typeface="Noto Sans CJK KR"/>
                <a:ea typeface="Noto Sans CJK KR"/>
                <a:cs typeface="Noto Sans CJK KR"/>
              </a:rPr>
              <a:t>L1  공개</a:t>
            </a:r>
          </a:p>
        </p:txBody>
      </p:sp>
      <p:sp>
        <p:nvSpPr>
          <p:cNvPr id="15" name="">
            <a:extLst xmlns:a="http://schemas.openxmlformats.org/drawingml/2006/main">
              <a:ext uri="{FF2B5EF4-FFF2-40B4-BE49-F238E27FC236}">
                <a16:creationId xmlns:a16="http://schemas.microsoft.com/office/drawing/2014/main" id="{DC20A439-B034-450D-B557-3BCF7A79D7D4}"/>
              </a:ext>
            </a:extLst>
          </p:cNvPr>
          <p:cNvSpPr>
            <a:spLocks xmlns:a="http://schemas.openxmlformats.org/drawingml/2006/main" noGrp="1"/>
          </p:cNvSpPr>
          <p:nvPr/>
        </p:nvSpPr>
        <p:spPr>
          <a:xfrm xmlns:a="http://schemas.openxmlformats.org/drawingml/2006/main">
            <a:off x="2362200" y="21526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4F8FB"/>
                </a:solidFill>
                <a:latin typeface="Noto Sans CJK KR"/>
                <a:ea typeface="Noto Sans CJK KR"/>
                <a:cs typeface="Noto Sans CJK KR"/>
              </a:defRPr>
            </a:pPr>
            <a:r>
              <a:rPr sz="1875" b="1">
                <a:solidFill>
                  <a:srgbClr val="F4F8FB"/>
                </a:solidFill>
                <a:latin typeface="Noto Sans CJK KR"/>
                <a:ea typeface="Noto Sans CJK KR"/>
                <a:cs typeface="Noto Sans CJK KR"/>
              </a:rPr>
              <a:t>나라장터 공고·RFP·과업지시서</a:t>
            </a:r>
          </a:p>
        </p:txBody>
      </p:sp>
      <p:sp>
        <p:nvSpPr>
          <p:cNvPr id="16" name="">
            <a:extLst xmlns:a="http://schemas.openxmlformats.org/drawingml/2006/main">
              <a:ext uri="{FF2B5EF4-FFF2-40B4-BE49-F238E27FC236}">
                <a16:creationId xmlns:a16="http://schemas.microsoft.com/office/drawing/2014/main" id="{EE76FF7B-A656-434D-A5D1-DC43A79C0784}"/>
              </a:ext>
            </a:extLst>
          </p:cNvPr>
          <p:cNvSpPr>
            <a:spLocks xmlns:a="http://schemas.openxmlformats.org/drawingml/2006/main" noGrp="1"/>
          </p:cNvSpPr>
          <p:nvPr/>
        </p:nvSpPr>
        <p:spPr>
          <a:xfrm xmlns:a="http://schemas.openxmlformats.org/drawingml/2006/main">
            <a:off x="7505700" y="21621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4D8DFF"/>
                </a:solidFill>
                <a:latin typeface="Noto Sans CJK KR"/>
                <a:ea typeface="Noto Sans CJK KR"/>
                <a:cs typeface="Noto Sans CJK KR"/>
              </a:defRPr>
            </a:pPr>
            <a:r>
              <a:rPr sz="1875" b="1">
                <a:solidFill>
                  <a:srgbClr val="4D8DFF"/>
                </a:solidFill>
                <a:latin typeface="Noto Sans CJK KR"/>
                <a:ea typeface="Noto Sans CJK KR"/>
                <a:cs typeface="Noto Sans CJK KR"/>
              </a:rPr>
              <a:t>예산 10억 원</a:t>
            </a:r>
          </a:p>
        </p:txBody>
      </p:sp>
      <p:sp>
        <p:nvSpPr>
          <p:cNvPr id="17" name="">
            <a:extLst xmlns:a="http://schemas.openxmlformats.org/drawingml/2006/main">
              <a:ext uri="{FF2B5EF4-FFF2-40B4-BE49-F238E27FC236}">
                <a16:creationId xmlns:a16="http://schemas.microsoft.com/office/drawing/2014/main" id="{8DB57D3A-460D-438F-9FF7-D72C1AA4540D}"/>
              </a:ext>
            </a:extLst>
          </p:cNvPr>
          <p:cNvSpPr>
            <a:spLocks xmlns:a="http://schemas.openxmlformats.org/drawingml/2006/main" noGrp="1"/>
          </p:cNvSpPr>
          <p:nvPr/>
        </p:nvSpPr>
        <p:spPr>
          <a:xfrm xmlns:a="http://schemas.openxmlformats.org/drawingml/2006/main">
            <a:off x="2362200" y="25431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8BDCC"/>
                </a:solidFill>
                <a:latin typeface="Noto Sans CJK KR"/>
                <a:ea typeface="Noto Sans CJK KR"/>
                <a:cs typeface="Noto Sans CJK KR"/>
              </a:defRPr>
            </a:pPr>
            <a:r>
              <a:rPr sz="1275" b="0">
                <a:solidFill>
                  <a:srgbClr val="A8BDCC"/>
                </a:solidFill>
                <a:latin typeface="Noto Sans CJK KR"/>
                <a:ea typeface="Noto Sans CJK KR"/>
                <a:cs typeface="Noto Sans CJK KR"/>
              </a:rPr>
              <a:t>실제 공개 자료</a:t>
            </a:r>
          </a:p>
        </p:txBody>
      </p:sp>
      <p:sp>
        <p:nvSpPr>
          <p:cNvPr id="18" name="">
            <a:extLst xmlns:a="http://schemas.openxmlformats.org/drawingml/2006/main">
              <a:ext uri="{FF2B5EF4-FFF2-40B4-BE49-F238E27FC236}">
                <a16:creationId xmlns:a16="http://schemas.microsoft.com/office/drawing/2014/main" id="{F2149417-18A7-48AB-AE46-61622E9538A3}"/>
              </a:ext>
            </a:extLst>
          </p:cNvPr>
          <p:cNvSpPr>
            <a:spLocks xmlns:a="http://schemas.openxmlformats.org/drawingml/2006/main" noGrp="1"/>
          </p:cNvSpPr>
          <p:nvPr/>
        </p:nvSpPr>
        <p:spPr>
          <a:xfrm xmlns:a="http://schemas.openxmlformats.org/drawingml/2006/main">
            <a:off x="514350" y="3190875"/>
            <a:ext cx="11144250" cy="971550"/>
          </a:xfrm>
          <a:prstGeom xmlns:a="http://schemas.openxmlformats.org/drawingml/2006/main" prst="roundRect">
            <a:avLst>
              <a:gd name="adj" fmla="val 7843"/>
            </a:avLst>
          </a:prstGeom>
          <a:solidFill xmlns:a="http://schemas.openxmlformats.org/drawingml/2006/main">
            <a:srgbClr val="102638"/>
          </a:solidFill>
          <a:ln xmlns:a="http://schemas.openxmlformats.org/drawingml/2006/main" w="11430">
            <a:solidFill>
              <a:srgbClr val="355267"/>
            </a:solidFill>
          </a:ln>
        </p:spPr>
      </p:sp>
      <p:sp>
        <p:nvSpPr>
          <p:cNvPr id="19" name="">
            <a:extLst xmlns:a="http://schemas.openxmlformats.org/drawingml/2006/main">
              <a:ext uri="{FF2B5EF4-FFF2-40B4-BE49-F238E27FC236}">
                <a16:creationId xmlns:a16="http://schemas.microsoft.com/office/drawing/2014/main" id="{116C3306-6C8A-413D-973F-F9593CC37459}"/>
              </a:ext>
            </a:extLst>
          </p:cNvPr>
          <p:cNvSpPr>
            <a:spLocks xmlns:a="http://schemas.openxmlformats.org/drawingml/2006/main" noGrp="1"/>
          </p:cNvSpPr>
          <p:nvPr/>
        </p:nvSpPr>
        <p:spPr>
          <a:xfrm xmlns:a="http://schemas.openxmlformats.org/drawingml/2006/main">
            <a:off x="514350" y="3190875"/>
            <a:ext cx="1524000" cy="971550"/>
          </a:xfrm>
          <a:prstGeom xmlns:a="http://schemas.openxmlformats.org/drawingml/2006/main" prst="roundRect">
            <a:avLst>
              <a:gd name="adj" fmla="val 7843"/>
            </a:avLst>
          </a:prstGeom>
          <a:solidFill xmlns:a="http://schemas.openxmlformats.org/drawingml/2006/main">
            <a:srgbClr val="2DD4BF"/>
          </a:solidFill>
          <a:ln xmlns:a="http://schemas.openxmlformats.org/drawingml/2006/main" w="11430">
            <a:solidFill>
              <a:srgbClr val="2DD4BF"/>
            </a:solidFill>
          </a:ln>
        </p:spPr>
      </p:sp>
      <p:sp>
        <p:nvSpPr>
          <p:cNvPr id="20" name="">
            <a:extLst xmlns:a="http://schemas.openxmlformats.org/drawingml/2006/main">
              <a:ext uri="{FF2B5EF4-FFF2-40B4-BE49-F238E27FC236}">
                <a16:creationId xmlns:a16="http://schemas.microsoft.com/office/drawing/2014/main" id="{F1A5A37F-E17A-494E-B1A3-F402E12BD147}"/>
              </a:ext>
            </a:extLst>
          </p:cNvPr>
          <p:cNvSpPr>
            <a:spLocks xmlns:a="http://schemas.openxmlformats.org/drawingml/2006/main" noGrp="1"/>
          </p:cNvSpPr>
          <p:nvPr/>
        </p:nvSpPr>
        <p:spPr>
          <a:xfrm xmlns:a="http://schemas.openxmlformats.org/drawingml/2006/main">
            <a:off x="628650" y="348615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FFFFF"/>
                </a:solidFill>
                <a:latin typeface="Noto Sans CJK KR"/>
                <a:ea typeface="Noto Sans CJK KR"/>
                <a:cs typeface="Noto Sans CJK KR"/>
              </a:defRPr>
            </a:pPr>
            <a:r>
              <a:rPr sz="1800" b="1">
                <a:solidFill>
                  <a:srgbClr val="FFFFFF"/>
                </a:solidFill>
                <a:latin typeface="Noto Sans CJK KR"/>
                <a:ea typeface="Noto Sans CJK KR"/>
                <a:cs typeface="Noto Sans CJK KR"/>
              </a:rPr>
              <a:t>L2  합성 내부</a:t>
            </a:r>
          </a:p>
        </p:txBody>
      </p:sp>
      <p:sp>
        <p:nvSpPr>
          <p:cNvPr id="21" name="">
            <a:extLst xmlns:a="http://schemas.openxmlformats.org/drawingml/2006/main">
              <a:ext uri="{FF2B5EF4-FFF2-40B4-BE49-F238E27FC236}">
                <a16:creationId xmlns:a16="http://schemas.microsoft.com/office/drawing/2014/main" id="{D90149BA-C9FC-4B46-8871-855B14F56AD6}"/>
              </a:ext>
            </a:extLst>
          </p:cNvPr>
          <p:cNvSpPr>
            <a:spLocks xmlns:a="http://schemas.openxmlformats.org/drawingml/2006/main" noGrp="1"/>
          </p:cNvSpPr>
          <p:nvPr/>
        </p:nvSpPr>
        <p:spPr>
          <a:xfrm xmlns:a="http://schemas.openxmlformats.org/drawingml/2006/main">
            <a:off x="2362200" y="339090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4F8FB"/>
                </a:solidFill>
                <a:latin typeface="Noto Sans CJK KR"/>
                <a:ea typeface="Noto Sans CJK KR"/>
                <a:cs typeface="Noto Sans CJK KR"/>
              </a:defRPr>
            </a:pPr>
            <a:r>
              <a:rPr sz="1875" b="1">
                <a:solidFill>
                  <a:srgbClr val="F4F8FB"/>
                </a:solidFill>
                <a:latin typeface="Noto Sans CJK KR"/>
                <a:ea typeface="Noto Sans CJK KR"/>
                <a:cs typeface="Noto Sans CJK KR"/>
              </a:rPr>
              <a:t>가상 기업의 실적·인력·인증</a:t>
            </a:r>
          </a:p>
        </p:txBody>
      </p:sp>
      <p:sp>
        <p:nvSpPr>
          <p:cNvPr id="22" name="">
            <a:extLst xmlns:a="http://schemas.openxmlformats.org/drawingml/2006/main">
              <a:ext uri="{FF2B5EF4-FFF2-40B4-BE49-F238E27FC236}">
                <a16:creationId xmlns:a16="http://schemas.microsoft.com/office/drawing/2014/main" id="{7958EEBD-083E-45C9-90CD-9A5088529AD9}"/>
              </a:ext>
            </a:extLst>
          </p:cNvPr>
          <p:cNvSpPr>
            <a:spLocks xmlns:a="http://schemas.openxmlformats.org/drawingml/2006/main" noGrp="1"/>
          </p:cNvSpPr>
          <p:nvPr/>
        </p:nvSpPr>
        <p:spPr>
          <a:xfrm xmlns:a="http://schemas.openxmlformats.org/drawingml/2006/main">
            <a:off x="7505700" y="34004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2DD4BF"/>
                </a:solidFill>
                <a:latin typeface="Noto Sans CJK KR"/>
                <a:ea typeface="Noto Sans CJK KR"/>
                <a:cs typeface="Noto Sans CJK KR"/>
              </a:defRPr>
            </a:pPr>
            <a:r>
              <a:rPr sz="1875" b="1">
                <a:solidFill>
                  <a:srgbClr val="2DD4BF"/>
                </a:solidFill>
                <a:latin typeface="Noto Sans CJK KR"/>
                <a:ea typeface="Noto Sans CJK KR"/>
                <a:cs typeface="Noto Sans CJK KR"/>
              </a:rPr>
              <a:t>회사 실적 7억 원</a:t>
            </a:r>
          </a:p>
        </p:txBody>
      </p:sp>
      <p:sp>
        <p:nvSpPr>
          <p:cNvPr id="23" name="">
            <a:extLst xmlns:a="http://schemas.openxmlformats.org/drawingml/2006/main">
              <a:ext uri="{FF2B5EF4-FFF2-40B4-BE49-F238E27FC236}">
                <a16:creationId xmlns:a16="http://schemas.microsoft.com/office/drawing/2014/main" id="{653B1336-033B-45B2-B9DC-57F8C3308E24}"/>
              </a:ext>
            </a:extLst>
          </p:cNvPr>
          <p:cNvSpPr>
            <a:spLocks xmlns:a="http://schemas.openxmlformats.org/drawingml/2006/main" noGrp="1"/>
          </p:cNvSpPr>
          <p:nvPr/>
        </p:nvSpPr>
        <p:spPr>
          <a:xfrm xmlns:a="http://schemas.openxmlformats.org/drawingml/2006/main">
            <a:off x="2362200" y="37814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8BDCC"/>
                </a:solidFill>
                <a:latin typeface="Noto Sans CJK KR"/>
                <a:ea typeface="Noto Sans CJK KR"/>
                <a:cs typeface="Noto Sans CJK KR"/>
              </a:defRPr>
            </a:pPr>
            <a:r>
              <a:rPr sz="1275" b="0">
                <a:solidFill>
                  <a:srgbClr val="A8BDCC"/>
                </a:solidFill>
                <a:latin typeface="Noto Sans CJK KR"/>
                <a:ea typeface="Noto Sans CJK KR"/>
                <a:cs typeface="Noto Sans CJK KR"/>
              </a:rPr>
              <a:t>실제 기업 자료가 아닌 합성 설정</a:t>
            </a:r>
          </a:p>
        </p:txBody>
      </p:sp>
      <p:sp>
        <p:nvSpPr>
          <p:cNvPr id="24" name="">
            <a:extLst xmlns:a="http://schemas.openxmlformats.org/drawingml/2006/main">
              <a:ext uri="{FF2B5EF4-FFF2-40B4-BE49-F238E27FC236}">
                <a16:creationId xmlns:a16="http://schemas.microsoft.com/office/drawing/2014/main" id="{9C25C4D9-DC82-4B70-8687-68750213CF88}"/>
              </a:ext>
            </a:extLst>
          </p:cNvPr>
          <p:cNvSpPr>
            <a:spLocks xmlns:a="http://schemas.openxmlformats.org/drawingml/2006/main" noGrp="1"/>
          </p:cNvSpPr>
          <p:nvPr/>
        </p:nvSpPr>
        <p:spPr>
          <a:xfrm xmlns:a="http://schemas.openxmlformats.org/drawingml/2006/main">
            <a:off x="514350" y="4429125"/>
            <a:ext cx="11144250" cy="971550"/>
          </a:xfrm>
          <a:prstGeom xmlns:a="http://schemas.openxmlformats.org/drawingml/2006/main" prst="roundRect">
            <a:avLst>
              <a:gd name="adj" fmla="val 7843"/>
            </a:avLst>
          </a:prstGeom>
          <a:solidFill xmlns:a="http://schemas.openxmlformats.org/drawingml/2006/main">
            <a:srgbClr val="102638"/>
          </a:solidFill>
          <a:ln xmlns:a="http://schemas.openxmlformats.org/drawingml/2006/main" w="11430">
            <a:solidFill>
              <a:srgbClr val="355267"/>
            </a:solidFill>
          </a:ln>
        </p:spPr>
      </p:sp>
      <p:sp>
        <p:nvSpPr>
          <p:cNvPr id="25" name="">
            <a:extLst xmlns:a="http://schemas.openxmlformats.org/drawingml/2006/main">
              <a:ext uri="{FF2B5EF4-FFF2-40B4-BE49-F238E27FC236}">
                <a16:creationId xmlns:a16="http://schemas.microsoft.com/office/drawing/2014/main" id="{00C3CDD8-CA52-444D-B9D3-975A8916D32F}"/>
              </a:ext>
            </a:extLst>
          </p:cNvPr>
          <p:cNvSpPr>
            <a:spLocks xmlns:a="http://schemas.openxmlformats.org/drawingml/2006/main" noGrp="1"/>
          </p:cNvSpPr>
          <p:nvPr/>
        </p:nvSpPr>
        <p:spPr>
          <a:xfrm xmlns:a="http://schemas.openxmlformats.org/drawingml/2006/main">
            <a:off x="514350" y="4429125"/>
            <a:ext cx="1524000" cy="971550"/>
          </a:xfrm>
          <a:prstGeom xmlns:a="http://schemas.openxmlformats.org/drawingml/2006/main" prst="roundRect">
            <a:avLst>
              <a:gd name="adj" fmla="val 7843"/>
            </a:avLst>
          </a:prstGeom>
          <a:solidFill xmlns:a="http://schemas.openxmlformats.org/drawingml/2006/main">
            <a:srgbClr val="FF6B57"/>
          </a:solidFill>
          <a:ln xmlns:a="http://schemas.openxmlformats.org/drawingml/2006/main" w="11430">
            <a:solidFill>
              <a:srgbClr val="FF6B57"/>
            </a:solidFill>
          </a:ln>
        </p:spPr>
      </p:sp>
      <p:sp>
        <p:nvSpPr>
          <p:cNvPr id="26" name="">
            <a:extLst xmlns:a="http://schemas.openxmlformats.org/drawingml/2006/main">
              <a:ext uri="{FF2B5EF4-FFF2-40B4-BE49-F238E27FC236}">
                <a16:creationId xmlns:a16="http://schemas.microsoft.com/office/drawing/2014/main" id="{06A30388-AA0D-4594-8331-CA2968C5F5B7}"/>
              </a:ext>
            </a:extLst>
          </p:cNvPr>
          <p:cNvSpPr>
            <a:spLocks xmlns:a="http://schemas.openxmlformats.org/drawingml/2006/main" noGrp="1"/>
          </p:cNvSpPr>
          <p:nvPr/>
        </p:nvSpPr>
        <p:spPr>
          <a:xfrm xmlns:a="http://schemas.openxmlformats.org/drawingml/2006/main">
            <a:off x="628650" y="47244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FFFFF"/>
                </a:solidFill>
                <a:latin typeface="Noto Sans CJK KR"/>
                <a:ea typeface="Noto Sans CJK KR"/>
                <a:cs typeface="Noto Sans CJK KR"/>
              </a:defRPr>
            </a:pPr>
            <a:r>
              <a:rPr sz="1800" b="1">
                <a:solidFill>
                  <a:srgbClr val="FFFFFF"/>
                </a:solidFill>
                <a:latin typeface="Noto Sans CJK KR"/>
                <a:ea typeface="Noto Sans CJK KR"/>
                <a:cs typeface="Noto Sans CJK KR"/>
              </a:rPr>
              <a:t>L3  합성 민감</a:t>
            </a:r>
          </a:p>
        </p:txBody>
      </p:sp>
      <p:sp>
        <p:nvSpPr>
          <p:cNvPr id="27" name="">
            <a:extLst xmlns:a="http://schemas.openxmlformats.org/drawingml/2006/main">
              <a:ext uri="{FF2B5EF4-FFF2-40B4-BE49-F238E27FC236}">
                <a16:creationId xmlns:a16="http://schemas.microsoft.com/office/drawing/2014/main" id="{3FC90666-5069-4D8A-9B51-18BD2B3AEBCC}"/>
              </a:ext>
            </a:extLst>
          </p:cNvPr>
          <p:cNvSpPr>
            <a:spLocks xmlns:a="http://schemas.openxmlformats.org/drawingml/2006/main" noGrp="1"/>
          </p:cNvSpPr>
          <p:nvPr/>
        </p:nvSpPr>
        <p:spPr>
          <a:xfrm xmlns:a="http://schemas.openxmlformats.org/drawingml/2006/main">
            <a:off x="2362200" y="46291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4F8FB"/>
                </a:solidFill>
                <a:latin typeface="Noto Sans CJK KR"/>
                <a:ea typeface="Noto Sans CJK KR"/>
                <a:cs typeface="Noto Sans CJK KR"/>
              </a:defRPr>
            </a:pPr>
            <a:r>
              <a:rPr sz="1875" b="1">
                <a:solidFill>
                  <a:srgbClr val="F4F8FB"/>
                </a:solidFill>
                <a:latin typeface="Noto Sans CJK KR"/>
                <a:ea typeface="Noto Sans CJK KR"/>
                <a:cs typeface="Noto Sans CJK KR"/>
              </a:rPr>
              <a:t>원가·마진·투찰 검토</a:t>
            </a:r>
          </a:p>
        </p:txBody>
      </p:sp>
      <p:sp>
        <p:nvSpPr>
          <p:cNvPr id="28" name="">
            <a:extLst xmlns:a="http://schemas.openxmlformats.org/drawingml/2006/main">
              <a:ext uri="{FF2B5EF4-FFF2-40B4-BE49-F238E27FC236}">
                <a16:creationId xmlns:a16="http://schemas.microsoft.com/office/drawing/2014/main" id="{207C65CD-029A-4BC6-81EE-44BA75F09264}"/>
              </a:ext>
            </a:extLst>
          </p:cNvPr>
          <p:cNvSpPr>
            <a:spLocks xmlns:a="http://schemas.openxmlformats.org/drawingml/2006/main" noGrp="1"/>
          </p:cNvSpPr>
          <p:nvPr/>
        </p:nvSpPr>
        <p:spPr>
          <a:xfrm xmlns:a="http://schemas.openxmlformats.org/drawingml/2006/main">
            <a:off x="7505700" y="46386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F6B57"/>
                </a:solidFill>
                <a:latin typeface="Noto Sans CJK KR"/>
                <a:ea typeface="Noto Sans CJK KR"/>
                <a:cs typeface="Noto Sans CJK KR"/>
              </a:defRPr>
            </a:pPr>
            <a:r>
              <a:rPr sz="1875" b="1">
                <a:solidFill>
                  <a:srgbClr val="FF6B57"/>
                </a:solidFill>
                <a:latin typeface="Noto Sans CJK KR"/>
                <a:ea typeface="Noto Sans CJK KR"/>
                <a:cs typeface="Noto Sans CJK KR"/>
              </a:rPr>
              <a:t>내부 원가 6.4억 원</a:t>
            </a:r>
          </a:p>
        </p:txBody>
      </p:sp>
      <p:sp>
        <p:nvSpPr>
          <p:cNvPr id="29" name="">
            <a:extLst xmlns:a="http://schemas.openxmlformats.org/drawingml/2006/main">
              <a:ext uri="{FF2B5EF4-FFF2-40B4-BE49-F238E27FC236}">
                <a16:creationId xmlns:a16="http://schemas.microsoft.com/office/drawing/2014/main" id="{D3D02163-2DAA-4F60-B445-765FA5996784}"/>
              </a:ext>
            </a:extLst>
          </p:cNvPr>
          <p:cNvSpPr>
            <a:spLocks xmlns:a="http://schemas.openxmlformats.org/drawingml/2006/main" noGrp="1"/>
          </p:cNvSpPr>
          <p:nvPr/>
        </p:nvSpPr>
        <p:spPr>
          <a:xfrm xmlns:a="http://schemas.openxmlformats.org/drawingml/2006/main">
            <a:off x="2362200" y="50196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8BDCC"/>
                </a:solidFill>
                <a:latin typeface="Noto Sans CJK KR"/>
                <a:ea typeface="Noto Sans CJK KR"/>
                <a:cs typeface="Noto Sans CJK KR"/>
              </a:defRPr>
            </a:pPr>
            <a:r>
              <a:rPr sz="1275" b="0">
                <a:solidFill>
                  <a:srgbClr val="A8BDCC"/>
                </a:solidFill>
                <a:latin typeface="Noto Sans CJK KR"/>
                <a:ea typeface="Noto Sans CJK KR"/>
                <a:cs typeface="Noto Sans CJK KR"/>
              </a:rPr>
              <a:t>실제 기업 자료가 아닌 합성 설정</a:t>
            </a:r>
          </a:p>
        </p:txBody>
      </p:sp>
      <p:sp>
        <p:nvSpPr>
          <p:cNvPr id="30" name="">
            <a:extLst xmlns:a="http://schemas.openxmlformats.org/drawingml/2006/main">
              <a:ext uri="{FF2B5EF4-FFF2-40B4-BE49-F238E27FC236}">
                <a16:creationId xmlns:a16="http://schemas.microsoft.com/office/drawing/2014/main" id="{B082BE31-74AD-4EEB-8F6A-DD3D8240D384}"/>
              </a:ext>
            </a:extLst>
          </p:cNvPr>
          <p:cNvSpPr>
            <a:spLocks xmlns:a="http://schemas.openxmlformats.org/drawingml/2006/main" noGrp="1"/>
          </p:cNvSpPr>
          <p:nvPr/>
        </p:nvSpPr>
        <p:spPr>
          <a:xfrm xmlns:a="http://schemas.openxmlformats.org/drawingml/2006/main">
            <a:off x="819150" y="5772150"/>
            <a:ext cx="1055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F4F8FB"/>
                </a:solidFill>
                <a:latin typeface="Noto Sans CJK KR"/>
                <a:ea typeface="Noto Sans CJK KR"/>
                <a:cs typeface="Noto Sans CJK KR"/>
              </a:defRPr>
            </a:pPr>
            <a:r>
              <a:rPr sz="1650" b="1">
                <a:solidFill>
                  <a:srgbClr val="F4F8FB"/>
                </a:solidFill>
                <a:latin typeface="Noto Sans CJK KR"/>
                <a:ea typeface="Noto Sans CJK KR"/>
                <a:cs typeface="Noto Sans CJK KR"/>
              </a:rPr>
              <a:t>보안등급은 문서의 성격, 권한 필터는 누가 어떤 문서를 검색할 수 있는지 결정하는 정책이다.</a:t>
            </a:r>
          </a:p>
        </p:txBody>
      </p:sp>
      <p:sp>
        <p:nvSpPr>
          <p:cNvPr id="31" name="">
            <a:extLst xmlns:a="http://schemas.openxmlformats.org/drawingml/2006/main">
              <a:ext uri="{FF2B5EF4-FFF2-40B4-BE49-F238E27FC236}">
                <a16:creationId xmlns:a16="http://schemas.microsoft.com/office/drawing/2014/main" id="{50AEF59F-8840-4460-8B1F-28750BB62B13}"/>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가상 기업 5곳 · L2/L3는 실제 업체의 기밀자료가 아님</a:t>
            </a:r>
          </a:p>
        </p:txBody>
      </p:sp>
    </p:spTree>
    <p:extLst>
      <p:ext uri="{BB962C8B-B14F-4D97-AF65-F5344CB8AC3E}">
        <p14:creationId xmlns:p14="http://schemas.microsoft.com/office/powerpoint/2010/main" val="830758370"/>
      </p:ext>
    </p:extLst>
  </p:cSld>
</p:sld>
</file>

<file path=ppt/slides/slide9.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DE0E329-3BA3-4FFE-9919-3A223DA965E0}"/>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03  데이터 기반</a:t>
            </a:r>
          </a:p>
        </p:txBody>
      </p:sp>
      <p:sp>
        <p:nvSpPr>
          <p:cNvPr id="2" name="">
            <a:extLst xmlns:a="http://schemas.openxmlformats.org/drawingml/2006/main">
              <a:ext uri="{FF2B5EF4-FFF2-40B4-BE49-F238E27FC236}">
                <a16:creationId xmlns:a16="http://schemas.microsoft.com/office/drawing/2014/main" id="{8CE64DDA-3F53-464F-898B-8A9225F8ACC9}"/>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300개 Q-A-R은 검색 코퍼스가 아니라 평가 기준이다</a:t>
            </a:r>
          </a:p>
        </p:txBody>
      </p:sp>
      <p:sp>
        <p:nvSpPr>
          <p:cNvPr id="3" name="">
            <a:extLst xmlns:a="http://schemas.openxmlformats.org/drawingml/2006/main">
              <a:ext uri="{FF2B5EF4-FFF2-40B4-BE49-F238E27FC236}">
                <a16:creationId xmlns:a16="http://schemas.microsoft.com/office/drawing/2014/main" id="{A4DAFA02-1AF6-4A4A-AB97-AF6D28D9166E}"/>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4" name="">
            <a:extLst xmlns:a="http://schemas.openxmlformats.org/drawingml/2006/main">
              <a:ext uri="{FF2B5EF4-FFF2-40B4-BE49-F238E27FC236}">
                <a16:creationId xmlns:a16="http://schemas.microsoft.com/office/drawing/2014/main" id="{6ED64D9F-3264-471F-8EB9-D3B5485238C9}"/>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5" name="">
            <a:extLst xmlns:a="http://schemas.openxmlformats.org/drawingml/2006/main">
              <a:ext uri="{FF2B5EF4-FFF2-40B4-BE49-F238E27FC236}">
                <a16:creationId xmlns:a16="http://schemas.microsoft.com/office/drawing/2014/main" id="{80CCE64F-B77B-4757-9B52-6AAC83A8F554}"/>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8B06B233-6496-423D-842F-B197B83C46B9}"/>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7" name="">
            <a:extLst xmlns:a="http://schemas.openxmlformats.org/drawingml/2006/main">
              <a:ext uri="{FF2B5EF4-FFF2-40B4-BE49-F238E27FC236}">
                <a16:creationId xmlns:a16="http://schemas.microsoft.com/office/drawing/2014/main" id="{8A4784D9-DEC4-43E1-A897-61349481D829}"/>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5F732760-8F21-425B-BEEC-8B67564FA872}"/>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1152760B-C75A-406F-B28A-3F8C636F6D8B}"/>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DEDDE345-FAE6-4663-B31B-C30C3892AB3F}"/>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09</a:t>
            </a:r>
          </a:p>
        </p:txBody>
      </p:sp>
      <p:sp>
        <p:nvSpPr>
          <p:cNvPr id="11" name="">
            <a:extLst xmlns:a="http://schemas.openxmlformats.org/drawingml/2006/main">
              <a:ext uri="{FF2B5EF4-FFF2-40B4-BE49-F238E27FC236}">
                <a16:creationId xmlns:a16="http://schemas.microsoft.com/office/drawing/2014/main" id="{545DE739-70E4-442F-8E02-2729352CC770}"/>
              </a:ext>
            </a:extLst>
          </p:cNvPr>
          <p:cNvSpPr>
            <a:spLocks xmlns:a="http://schemas.openxmlformats.org/drawingml/2006/main" noGrp="1"/>
          </p:cNvSpPr>
          <p:nvPr/>
        </p:nvSpPr>
        <p:spPr>
          <a:xfrm xmlns:a="http://schemas.openxmlformats.org/drawingml/2006/main">
            <a:off x="514350" y="2162175"/>
            <a:ext cx="2857500" cy="2095500"/>
          </a:xfrm>
          <a:prstGeom xmlns:a="http://schemas.openxmlformats.org/drawingml/2006/main" prst="roundRect">
            <a:avLst>
              <a:gd name="adj" fmla="val 3636"/>
            </a:avLst>
          </a:prstGeom>
          <a:solidFill xmlns:a="http://schemas.openxmlformats.org/drawingml/2006/main">
            <a:srgbClr val="102638"/>
          </a:solidFill>
          <a:ln xmlns:a="http://schemas.openxmlformats.org/drawingml/2006/main" w="11430">
            <a:solidFill>
              <a:srgbClr val="355267"/>
            </a:solidFill>
          </a:ln>
        </p:spPr>
      </p:sp>
      <p:sp>
        <p:nvSpPr>
          <p:cNvPr id="12" name="">
            <a:extLst xmlns:a="http://schemas.openxmlformats.org/drawingml/2006/main">
              <a:ext uri="{FF2B5EF4-FFF2-40B4-BE49-F238E27FC236}">
                <a16:creationId xmlns:a16="http://schemas.microsoft.com/office/drawing/2014/main" id="{4040456A-A9B8-43FA-A565-A2E8DD57ADE1}"/>
              </a:ext>
            </a:extLst>
          </p:cNvPr>
          <p:cNvSpPr>
            <a:spLocks xmlns:a="http://schemas.openxmlformats.org/drawingml/2006/main" noGrp="1"/>
          </p:cNvSpPr>
          <p:nvPr/>
        </p:nvSpPr>
        <p:spPr>
          <a:xfrm xmlns:a="http://schemas.openxmlformats.org/drawingml/2006/main">
            <a:off x="514350" y="2162175"/>
            <a:ext cx="66675" cy="209550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13" name="">
            <a:extLst xmlns:a="http://schemas.openxmlformats.org/drawingml/2006/main">
              <a:ext uri="{FF2B5EF4-FFF2-40B4-BE49-F238E27FC236}">
                <a16:creationId xmlns:a16="http://schemas.microsoft.com/office/drawing/2014/main" id="{201F992F-1CFB-4586-A9C7-5EBA7476D7E1}"/>
              </a:ext>
            </a:extLst>
          </p:cNvPr>
          <p:cNvSpPr>
            <a:spLocks xmlns:a="http://schemas.openxmlformats.org/drawingml/2006/main" noGrp="1"/>
          </p:cNvSpPr>
          <p:nvPr/>
        </p:nvSpPr>
        <p:spPr>
          <a:xfrm xmlns:a="http://schemas.openxmlformats.org/drawingml/2006/main">
            <a:off x="723900" y="23336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51건 요건 추출</a:t>
            </a:r>
          </a:p>
        </p:txBody>
      </p:sp>
      <p:sp>
        <p:nvSpPr>
          <p:cNvPr id="14" name="">
            <a:extLst xmlns:a="http://schemas.openxmlformats.org/drawingml/2006/main">
              <a:ext uri="{FF2B5EF4-FFF2-40B4-BE49-F238E27FC236}">
                <a16:creationId xmlns:a16="http://schemas.microsoft.com/office/drawing/2014/main" id="{2819F224-37F5-42EB-A1DB-7C82EA6269EC}"/>
              </a:ext>
            </a:extLst>
          </p:cNvPr>
          <p:cNvSpPr>
            <a:spLocks xmlns:a="http://schemas.openxmlformats.org/drawingml/2006/main" noGrp="1"/>
          </p:cNvSpPr>
          <p:nvPr/>
        </p:nvSpPr>
        <p:spPr>
          <a:xfrm xmlns:a="http://schemas.openxmlformats.org/drawingml/2006/main">
            <a:off x="723900" y="2752725"/>
            <a:ext cx="24574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참가자격, 실적, 인력,</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인증, 일정, 금액, 공동수급</a:t>
            </a:r>
          </a:p>
        </p:txBody>
      </p:sp>
      <p:sp>
        <p:nvSpPr>
          <p:cNvPr id="15" name="">
            <a:extLst xmlns:a="http://schemas.openxmlformats.org/drawingml/2006/main">
              <a:ext uri="{FF2B5EF4-FFF2-40B4-BE49-F238E27FC236}">
                <a16:creationId xmlns:a16="http://schemas.microsoft.com/office/drawing/2014/main" id="{B2E40D6A-CB86-4650-A376-F650D32E4BE7}"/>
              </a:ext>
            </a:extLst>
          </p:cNvPr>
          <p:cNvSpPr>
            <a:spLocks xmlns:a="http://schemas.openxmlformats.org/drawingml/2006/main" noGrp="1"/>
          </p:cNvSpPr>
          <p:nvPr/>
        </p:nvSpPr>
        <p:spPr>
          <a:xfrm xmlns:a="http://schemas.openxmlformats.org/drawingml/2006/main">
            <a:off x="4667250" y="2162175"/>
            <a:ext cx="2857500" cy="2095500"/>
          </a:xfrm>
          <a:prstGeom xmlns:a="http://schemas.openxmlformats.org/drawingml/2006/main" prst="roundRect">
            <a:avLst>
              <a:gd name="adj" fmla="val 3636"/>
            </a:avLst>
          </a:prstGeom>
          <a:solidFill xmlns:a="http://schemas.openxmlformats.org/drawingml/2006/main">
            <a:srgbClr val="102638"/>
          </a:solidFill>
          <a:ln xmlns:a="http://schemas.openxmlformats.org/drawingml/2006/main" w="11430">
            <a:solidFill>
              <a:srgbClr val="355267"/>
            </a:solidFill>
          </a:ln>
        </p:spPr>
      </p:sp>
      <p:sp>
        <p:nvSpPr>
          <p:cNvPr id="16" name="">
            <a:extLst xmlns:a="http://schemas.openxmlformats.org/drawingml/2006/main">
              <a:ext uri="{FF2B5EF4-FFF2-40B4-BE49-F238E27FC236}">
                <a16:creationId xmlns:a16="http://schemas.microsoft.com/office/drawing/2014/main" id="{0E6E6767-3D3D-4DE7-9A5A-AEB043FEFF3D}"/>
              </a:ext>
            </a:extLst>
          </p:cNvPr>
          <p:cNvSpPr>
            <a:spLocks xmlns:a="http://schemas.openxmlformats.org/drawingml/2006/main" noGrp="1"/>
          </p:cNvSpPr>
          <p:nvPr/>
        </p:nvSpPr>
        <p:spPr>
          <a:xfrm xmlns:a="http://schemas.openxmlformats.org/drawingml/2006/main">
            <a:off x="4667250" y="2162175"/>
            <a:ext cx="66675" cy="209550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17" name="">
            <a:extLst xmlns:a="http://schemas.openxmlformats.org/drawingml/2006/main">
              <a:ext uri="{FF2B5EF4-FFF2-40B4-BE49-F238E27FC236}">
                <a16:creationId xmlns:a16="http://schemas.microsoft.com/office/drawing/2014/main" id="{5837E19B-2FD5-4C3B-900C-0A97B787EA15}"/>
              </a:ext>
            </a:extLst>
          </p:cNvPr>
          <p:cNvSpPr>
            <a:spLocks xmlns:a="http://schemas.openxmlformats.org/drawingml/2006/main" noGrp="1"/>
          </p:cNvSpPr>
          <p:nvPr/>
        </p:nvSpPr>
        <p:spPr>
          <a:xfrm xmlns:a="http://schemas.openxmlformats.org/drawingml/2006/main">
            <a:off x="4876800" y="23336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가상 기업 5곳</a:t>
            </a:r>
          </a:p>
        </p:txBody>
      </p:sp>
      <p:sp>
        <p:nvSpPr>
          <p:cNvPr id="18" name="">
            <a:extLst xmlns:a="http://schemas.openxmlformats.org/drawingml/2006/main">
              <a:ext uri="{FF2B5EF4-FFF2-40B4-BE49-F238E27FC236}">
                <a16:creationId xmlns:a16="http://schemas.microsoft.com/office/drawing/2014/main" id="{3B6DC564-D4C7-4C19-9B43-0DDC6D0678BF}"/>
              </a:ext>
            </a:extLst>
          </p:cNvPr>
          <p:cNvSpPr>
            <a:spLocks xmlns:a="http://schemas.openxmlformats.org/drawingml/2006/main" noGrp="1"/>
          </p:cNvSpPr>
          <p:nvPr/>
        </p:nvSpPr>
        <p:spPr>
          <a:xfrm xmlns:a="http://schemas.openxmlformats.org/drawingml/2006/main">
            <a:off x="4876800" y="2752725"/>
            <a:ext cx="24574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강점과 제약이 다른</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합성 회사 자료</a:t>
            </a:r>
          </a:p>
        </p:txBody>
      </p:sp>
      <p:sp>
        <p:nvSpPr>
          <p:cNvPr id="19" name="">
            <a:extLst xmlns:a="http://schemas.openxmlformats.org/drawingml/2006/main">
              <a:ext uri="{FF2B5EF4-FFF2-40B4-BE49-F238E27FC236}">
                <a16:creationId xmlns:a16="http://schemas.microsoft.com/office/drawing/2014/main" id="{2420E8E2-0F94-4C36-B2BD-ED98E7781697}"/>
              </a:ext>
            </a:extLst>
          </p:cNvPr>
          <p:cNvSpPr>
            <a:spLocks xmlns:a="http://schemas.openxmlformats.org/drawingml/2006/main" noGrp="1"/>
          </p:cNvSpPr>
          <p:nvPr/>
        </p:nvSpPr>
        <p:spPr>
          <a:xfrm xmlns:a="http://schemas.openxmlformats.org/drawingml/2006/main">
            <a:off x="8820150" y="2162175"/>
            <a:ext cx="2857500" cy="2095500"/>
          </a:xfrm>
          <a:prstGeom xmlns:a="http://schemas.openxmlformats.org/drawingml/2006/main" prst="roundRect">
            <a:avLst>
              <a:gd name="adj" fmla="val 3636"/>
            </a:avLst>
          </a:prstGeom>
          <a:solidFill xmlns:a="http://schemas.openxmlformats.org/drawingml/2006/main">
            <a:srgbClr val="102638"/>
          </a:solidFill>
          <a:ln xmlns:a="http://schemas.openxmlformats.org/drawingml/2006/main" w="11430">
            <a:solidFill>
              <a:srgbClr val="355267"/>
            </a:solidFill>
          </a:ln>
        </p:spPr>
      </p:sp>
      <p:sp>
        <p:nvSpPr>
          <p:cNvPr id="20" name="">
            <a:extLst xmlns:a="http://schemas.openxmlformats.org/drawingml/2006/main">
              <a:ext uri="{FF2B5EF4-FFF2-40B4-BE49-F238E27FC236}">
                <a16:creationId xmlns:a16="http://schemas.microsoft.com/office/drawing/2014/main" id="{162EE68F-A2BA-46E2-8082-8DAA73989FD3}"/>
              </a:ext>
            </a:extLst>
          </p:cNvPr>
          <p:cNvSpPr>
            <a:spLocks xmlns:a="http://schemas.openxmlformats.org/drawingml/2006/main" noGrp="1"/>
          </p:cNvSpPr>
          <p:nvPr/>
        </p:nvSpPr>
        <p:spPr>
          <a:xfrm xmlns:a="http://schemas.openxmlformats.org/drawingml/2006/main">
            <a:off x="8820150" y="2162175"/>
            <a:ext cx="66675" cy="209550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21" name="">
            <a:extLst xmlns:a="http://schemas.openxmlformats.org/drawingml/2006/main">
              <a:ext uri="{FF2B5EF4-FFF2-40B4-BE49-F238E27FC236}">
                <a16:creationId xmlns:a16="http://schemas.microsoft.com/office/drawing/2014/main" id="{59A5CB8B-F7DD-437C-9CCA-F794FFEA7A0A}"/>
              </a:ext>
            </a:extLst>
          </p:cNvPr>
          <p:cNvSpPr>
            <a:spLocks xmlns:a="http://schemas.openxmlformats.org/drawingml/2006/main" noGrp="1"/>
          </p:cNvSpPr>
          <p:nvPr/>
        </p:nvSpPr>
        <p:spPr>
          <a:xfrm xmlns:a="http://schemas.openxmlformats.org/drawingml/2006/main">
            <a:off x="9029700" y="23336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평가 300건</a:t>
            </a:r>
          </a:p>
        </p:txBody>
      </p:sp>
      <p:sp>
        <p:nvSpPr>
          <p:cNvPr id="22" name="">
            <a:extLst xmlns:a="http://schemas.openxmlformats.org/drawingml/2006/main">
              <a:ext uri="{FF2B5EF4-FFF2-40B4-BE49-F238E27FC236}">
                <a16:creationId xmlns:a16="http://schemas.microsoft.com/office/drawing/2014/main" id="{BE5D3C60-7576-407E-BAEC-94095A041740}"/>
              </a:ext>
            </a:extLst>
          </p:cNvPr>
          <p:cNvSpPr>
            <a:spLocks xmlns:a="http://schemas.openxmlformats.org/drawingml/2006/main" noGrp="1"/>
          </p:cNvSpPr>
          <p:nvPr/>
        </p:nvSpPr>
        <p:spPr>
          <a:xfrm xmlns:a="http://schemas.openxmlformats.org/drawingml/2006/main">
            <a:off x="9029700" y="2752725"/>
            <a:ext cx="24574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회사별 60건</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질문 + 기대답 + 근거</a:t>
            </a:r>
          </a:p>
        </p:txBody>
      </p:sp>
      <p:cxnSp>
        <p:nvCxnSpPr>
          <p:cNvPr id="54" name=""/>
          <p:cNvCxnSpPr>
            <a:stCxn xmlns:a="http://schemas.openxmlformats.org/drawingml/2006/main" id="11" idx="3"/>
            <a:endCxn xmlns:a="http://schemas.openxmlformats.org/drawingml/2006/main" id="15" idx="1"/>
          </p:cNvCxnSpPr>
          <p:nvPr/>
        </p:nvCxnSpPr>
        <p:spPr>
          <a:xfrm xmlns:a="http://schemas.openxmlformats.org/drawingml/2006/main">
            <a:off x="3371850" y="3209925"/>
            <a:ext cx="1295400"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55" name=""/>
          <p:cNvCxnSpPr>
            <a:stCxn xmlns:a="http://schemas.openxmlformats.org/drawingml/2006/main" id="15" idx="3"/>
            <a:endCxn xmlns:a="http://schemas.openxmlformats.org/drawingml/2006/main" id="19" idx="1"/>
          </p:cNvCxnSpPr>
          <p:nvPr/>
        </p:nvCxnSpPr>
        <p:spPr>
          <a:xfrm xmlns:a="http://schemas.openxmlformats.org/drawingml/2006/main">
            <a:off x="7524750" y="3209925"/>
            <a:ext cx="1295400" cy="0"/>
          </a:xfrm>
          <a:prstGeom xmlns:a="http://schemas.openxmlformats.org/drawingml/2006/main" prst="straightConnector1">
            <a:avLst/>
          </a:prstGeom>
          <a:ln xmlns:a="http://schemas.openxmlformats.org/drawingml/2006/main" w="19050">
            <a:solidFill>
              <a:srgbClr val="A8BDCC"/>
            </a:solidFill>
            <a:tailEnd type="triangle" w="sm" len="sm"/>
          </a:ln>
        </p:spPr>
      </p:cxnSp>
      <p:sp>
        <p:nvSpPr>
          <p:cNvPr id="25" name="">
            <a:extLst xmlns:a="http://schemas.openxmlformats.org/drawingml/2006/main">
              <a:ext uri="{FF2B5EF4-FFF2-40B4-BE49-F238E27FC236}">
                <a16:creationId xmlns:a16="http://schemas.microsoft.com/office/drawing/2014/main" id="{26883658-A91B-4C67-95B8-0368AEE51359}"/>
              </a:ext>
            </a:extLst>
          </p:cNvPr>
          <p:cNvSpPr>
            <a:spLocks xmlns:a="http://schemas.openxmlformats.org/drawingml/2006/main" noGrp="1"/>
          </p:cNvSpPr>
          <p:nvPr/>
        </p:nvSpPr>
        <p:spPr>
          <a:xfrm xmlns:a="http://schemas.openxmlformats.org/drawingml/2006/main">
            <a:off x="981075" y="47625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4D8DFF"/>
                </a:solidFill>
                <a:latin typeface="Noto Sans CJK KR"/>
                <a:ea typeface="Noto Sans CJK KR"/>
                <a:cs typeface="Noto Sans CJK KR"/>
              </a:defRPr>
            </a:pPr>
            <a:r>
              <a:rPr sz="1350" b="1">
                <a:solidFill>
                  <a:srgbClr val="4D8DFF"/>
                </a:solidFill>
                <a:latin typeface="Noto Sans CJK KR"/>
                <a:ea typeface="Noto Sans CJK KR"/>
                <a:cs typeface="Noto Sans CJK KR"/>
              </a:rPr>
              <a:t>RAG 검색 DB</a:t>
            </a:r>
          </a:p>
        </p:txBody>
      </p:sp>
      <p:sp>
        <p:nvSpPr>
          <p:cNvPr id="26" name="">
            <a:extLst xmlns:a="http://schemas.openxmlformats.org/drawingml/2006/main">
              <a:ext uri="{FF2B5EF4-FFF2-40B4-BE49-F238E27FC236}">
                <a16:creationId xmlns:a16="http://schemas.microsoft.com/office/drawing/2014/main" id="{689DFF4C-7A59-4DCA-B857-0D49BA000E67}"/>
              </a:ext>
            </a:extLst>
          </p:cNvPr>
          <p:cNvSpPr>
            <a:spLocks xmlns:a="http://schemas.openxmlformats.org/drawingml/2006/main" noGrp="1"/>
          </p:cNvSpPr>
          <p:nvPr/>
        </p:nvSpPr>
        <p:spPr>
          <a:xfrm xmlns:a="http://schemas.openxmlformats.org/drawingml/2006/main">
            <a:off x="3581400" y="46958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6B57"/>
                </a:solidFill>
                <a:latin typeface="Noto Sans CJK KR"/>
                <a:ea typeface="Noto Sans CJK KR"/>
                <a:cs typeface="Noto Sans CJK KR"/>
              </a:defRPr>
            </a:pPr>
            <a:r>
              <a:rPr sz="2250" b="1">
                <a:solidFill>
                  <a:srgbClr val="FF6B57"/>
                </a:solidFill>
                <a:latin typeface="Noto Sans CJK KR"/>
                <a:ea typeface="Noto Sans CJK KR"/>
                <a:cs typeface="Noto Sans CJK KR"/>
              </a:rPr>
              <a:t>≠</a:t>
            </a:r>
          </a:p>
        </p:txBody>
      </p:sp>
      <p:sp>
        <p:nvSpPr>
          <p:cNvPr id="27" name="">
            <a:extLst xmlns:a="http://schemas.openxmlformats.org/drawingml/2006/main">
              <a:ext uri="{FF2B5EF4-FFF2-40B4-BE49-F238E27FC236}">
                <a16:creationId xmlns:a16="http://schemas.microsoft.com/office/drawing/2014/main" id="{66348D1D-7EB0-48AB-8244-B74A51CA2CBB}"/>
              </a:ext>
            </a:extLst>
          </p:cNvPr>
          <p:cNvSpPr>
            <a:spLocks xmlns:a="http://schemas.openxmlformats.org/drawingml/2006/main" noGrp="1"/>
          </p:cNvSpPr>
          <p:nvPr/>
        </p:nvSpPr>
        <p:spPr>
          <a:xfrm xmlns:a="http://schemas.openxmlformats.org/drawingml/2006/main">
            <a:off x="4314825" y="4762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6B57"/>
                </a:solidFill>
                <a:latin typeface="Noto Sans CJK KR"/>
                <a:ea typeface="Noto Sans CJK KR"/>
                <a:cs typeface="Noto Sans CJK KR"/>
              </a:defRPr>
            </a:pPr>
            <a:r>
              <a:rPr sz="1350" b="1">
                <a:solidFill>
                  <a:srgbClr val="FF6B57"/>
                </a:solidFill>
                <a:latin typeface="Noto Sans CJK KR"/>
                <a:ea typeface="Noto Sans CJK KR"/>
                <a:cs typeface="Noto Sans CJK KR"/>
              </a:rPr>
              <a:t>평가 질문·기대답</a:t>
            </a:r>
          </a:p>
        </p:txBody>
      </p:sp>
      <p:sp>
        <p:nvSpPr>
          <p:cNvPr id="28" name="">
            <a:extLst xmlns:a="http://schemas.openxmlformats.org/drawingml/2006/main">
              <a:ext uri="{FF2B5EF4-FFF2-40B4-BE49-F238E27FC236}">
                <a16:creationId xmlns:a16="http://schemas.microsoft.com/office/drawing/2014/main" id="{D2770F4B-88AD-445E-ADA0-2E4FD0856BA4}"/>
              </a:ext>
            </a:extLst>
          </p:cNvPr>
          <p:cNvSpPr>
            <a:spLocks xmlns:a="http://schemas.openxmlformats.org/drawingml/2006/main" noGrp="1"/>
          </p:cNvSpPr>
          <p:nvPr/>
        </p:nvSpPr>
        <p:spPr>
          <a:xfrm xmlns:a="http://schemas.openxmlformats.org/drawingml/2006/main">
            <a:off x="7600950" y="46958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생성 답변 295건</a:t>
            </a:r>
          </a:p>
        </p:txBody>
      </p:sp>
      <p:sp>
        <p:nvSpPr>
          <p:cNvPr id="29" name="">
            <a:extLst xmlns:a="http://schemas.openxmlformats.org/drawingml/2006/main">
              <a:ext uri="{FF2B5EF4-FFF2-40B4-BE49-F238E27FC236}">
                <a16:creationId xmlns:a16="http://schemas.microsoft.com/office/drawing/2014/main" id="{63075B13-B57D-431E-AF9B-146B5C31D704}"/>
              </a:ext>
            </a:extLst>
          </p:cNvPr>
          <p:cNvSpPr>
            <a:spLocks xmlns:a="http://schemas.openxmlformats.org/drawingml/2006/main" noGrp="1"/>
          </p:cNvSpPr>
          <p:nvPr/>
        </p:nvSpPr>
        <p:spPr>
          <a:xfrm xmlns:a="http://schemas.openxmlformats.org/drawingml/2006/main">
            <a:off x="9601200" y="4695825"/>
            <a:ext cx="2076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DD4BF"/>
                </a:solidFill>
                <a:latin typeface="Noto Sans CJK KR"/>
                <a:ea typeface="Noto Sans CJK KR"/>
                <a:cs typeface="Noto Sans CJK KR"/>
              </a:defRPr>
            </a:pPr>
            <a:r>
              <a:rPr sz="1800" b="1">
                <a:solidFill>
                  <a:srgbClr val="2DD4BF"/>
                </a:solidFill>
                <a:latin typeface="Noto Sans CJK KR"/>
                <a:ea typeface="Noto Sans CJK KR"/>
                <a:cs typeface="Noto Sans CJK KR"/>
              </a:rPr>
              <a:t>정상 접근 차단 5건</a:t>
            </a:r>
          </a:p>
        </p:txBody>
      </p:sp>
      <p:sp>
        <p:nvSpPr>
          <p:cNvPr id="30" name="">
            <a:extLst xmlns:a="http://schemas.openxmlformats.org/drawingml/2006/main">
              <a:ext uri="{FF2B5EF4-FFF2-40B4-BE49-F238E27FC236}">
                <a16:creationId xmlns:a16="http://schemas.microsoft.com/office/drawing/2014/main" id="{D276EDD5-DB21-4933-8627-635CE2040E3B}"/>
              </a:ext>
            </a:extLst>
          </p:cNvPr>
          <p:cNvSpPr>
            <a:spLocks xmlns:a="http://schemas.openxmlformats.org/drawingml/2006/main" noGrp="1"/>
          </p:cNvSpPr>
          <p:nvPr/>
        </p:nvSpPr>
        <p:spPr>
          <a:xfrm xmlns:a="http://schemas.openxmlformats.org/drawingml/2006/main">
            <a:off x="2400300" y="5495925"/>
            <a:ext cx="741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6B94A"/>
                </a:solidFill>
                <a:latin typeface="Noto Sans CJK KR"/>
                <a:ea typeface="Noto Sans CJK KR"/>
                <a:cs typeface="Noto Sans CJK KR"/>
              </a:defRPr>
            </a:pPr>
            <a:r>
              <a:rPr sz="1575" b="1">
                <a:solidFill>
                  <a:srgbClr val="F6B94A"/>
                </a:solidFill>
                <a:latin typeface="Noto Sans CJK KR"/>
                <a:ea typeface="Noto Sans CJK KR"/>
                <a:cs typeface="Noto Sans CJK KR"/>
              </a:rPr>
              <a:t>25문항은 팀원 검수 접수 완료, 최종 사람 승인과 학습 내보내기는 pending</a:t>
            </a:r>
          </a:p>
        </p:txBody>
      </p:sp>
      <p:sp>
        <p:nvSpPr>
          <p:cNvPr id="31" name="">
            <a:extLst xmlns:a="http://schemas.openxmlformats.org/drawingml/2006/main">
              <a:ext uri="{FF2B5EF4-FFF2-40B4-BE49-F238E27FC236}">
                <a16:creationId xmlns:a16="http://schemas.microsoft.com/office/drawing/2014/main" id="{0C4C6861-EB08-47A5-8E9E-AA717EDA8339}"/>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기대답과 라벨은 생성 입력에서 제거 · 사람 승인 pending</a:t>
            </a:r>
          </a:p>
        </p:txBody>
      </p:sp>
    </p:spTree>
    <p:extLst>
      <p:ext uri="{BB962C8B-B14F-4D97-AF65-F5344CB8AC3E}">
        <p14:creationId xmlns:p14="http://schemas.microsoft.com/office/powerpoint/2010/main" val="571485307"/>
      </p:ext>
    </p:extLst>
  </p:cSld>
</p:sld>
</file>

<file path=ppt/slides/slide10.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EE67E0E-54D0-4B60-86F5-6DE303C7DF9C}"/>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04  RAG 엔진</a:t>
            </a:r>
          </a:p>
        </p:txBody>
      </p:sp>
      <p:sp>
        <p:nvSpPr>
          <p:cNvPr id="2" name="">
            <a:extLst xmlns:a="http://schemas.openxmlformats.org/drawingml/2006/main">
              <a:ext uri="{FF2B5EF4-FFF2-40B4-BE49-F238E27FC236}">
                <a16:creationId xmlns:a16="http://schemas.microsoft.com/office/drawing/2014/main" id="{AC95180D-2441-4D3F-BE42-DA3DCE470F8B}"/>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권한 필터는 검색 전에 문서 후보를 제한한다</a:t>
            </a:r>
          </a:p>
        </p:txBody>
      </p:sp>
      <p:sp>
        <p:nvSpPr>
          <p:cNvPr id="3" name="">
            <a:extLst xmlns:a="http://schemas.openxmlformats.org/drawingml/2006/main">
              <a:ext uri="{FF2B5EF4-FFF2-40B4-BE49-F238E27FC236}">
                <a16:creationId xmlns:a16="http://schemas.microsoft.com/office/drawing/2014/main" id="{8C86B55E-B747-491F-B69C-AB0FF9C4E035}"/>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역할, 회사, tenant, 시나리오를 서버가 함께 검사한다</a:t>
            </a:r>
          </a:p>
        </p:txBody>
      </p:sp>
      <p:sp>
        <p:nvSpPr>
          <p:cNvPr id="4" name="">
            <a:extLst xmlns:a="http://schemas.openxmlformats.org/drawingml/2006/main">
              <a:ext uri="{FF2B5EF4-FFF2-40B4-BE49-F238E27FC236}">
                <a16:creationId xmlns:a16="http://schemas.microsoft.com/office/drawing/2014/main" id="{B9925715-3410-4986-868F-5BC0269823EE}"/>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48D784B4-FA36-45D8-AC98-BC2484CFDDAB}"/>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D49B68FD-076E-4457-8A28-F2FF06797ADF}"/>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3EA14B93-DEFB-4F1B-87FA-8482AD13B45D}"/>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603CBCB6-2A4D-4E2C-AF1E-A1EB2C4A1A9B}"/>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9" name="">
            <a:extLst xmlns:a="http://schemas.openxmlformats.org/drawingml/2006/main">
              <a:ext uri="{FF2B5EF4-FFF2-40B4-BE49-F238E27FC236}">
                <a16:creationId xmlns:a16="http://schemas.microsoft.com/office/drawing/2014/main" id="{12DC6257-0491-4547-A500-E33F6F88680B}"/>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83607AEE-5748-4D31-921F-6BF5BD5E9212}"/>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1E84E07E-810D-4562-B8DE-A0B77C53423A}"/>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10</a:t>
            </a:r>
          </a:p>
        </p:txBody>
      </p:sp>
      <p:graphicFrame>
        <p:nvGraphicFramePr>
          <p:cNvPr id="34" name=""/>
          <p:cNvGraphicFramePr/>
          <p:nvPr/>
        </p:nvGraphicFramePr>
        <p:xfrm>
          <a:off xmlns:a="http://schemas.openxmlformats.org/drawingml/2006/main" x="514350" y="2028825"/>
          <a:ext xmlns:a="http://schemas.openxmlformats.org/drawingml/2006/main" cx="7239000" cy="3067050"/>
        </p:xfrm>
        <a:graphic xmlns:a="http://schemas.openxmlformats.org/drawingml/2006/main">
          <a:graphicData uri="http://schemas.openxmlformats.org/drawingml/2006/table">
            <a:tbl>
              <a:tblPr/>
              <a:tblGrid>
                <a:gridCol w="1714500"/>
                <a:gridCol w="1143000"/>
                <a:gridCol w="1143000"/>
                <a:gridCol w="1143000"/>
                <a:gridCol w="2095500"/>
              </a:tblGrid>
              <a:tr h="613410">
                <a:tc>
                  <a:txBody>
                    <a:bodyPr/>
                    <a:lstStyle/>
                    <a:p>
                      <a:r>
                        <a:rPr sz="1350" b="1">
                          <a:solidFill>
                            <a:srgbClr val="FFFFFF"/>
                          </a:solidFill>
                          <a:latin typeface="Noto Sans CJK KR"/>
                          <a:ea typeface="Noto Sans CJK KR"/>
                          <a:cs typeface="Noto Sans CJK KR"/>
                        </a:rPr>
                        <a:t>역할</a:t>
                      </a:r>
                    </a:p>
                  </a:txBody>
                  <a:tcPr marL="95250" marR="95250" marT="76200" marB="76200" anchor="ctr">
                    <a:solidFill>
                      <a:srgbClr val="18415A"/>
                    </a:solidFill>
                  </a:tcPr>
                </a:tc>
                <a:tc>
                  <a:txBody>
                    <a:bodyPr/>
                    <a:lstStyle/>
                    <a:p>
                      <a:r>
                        <a:rPr sz="1350" b="1">
                          <a:solidFill>
                            <a:srgbClr val="FFFFFF"/>
                          </a:solidFill>
                          <a:latin typeface="Noto Sans CJK KR"/>
                          <a:ea typeface="Noto Sans CJK KR"/>
                          <a:cs typeface="Noto Sans CJK KR"/>
                        </a:rPr>
                        <a:t>L1 공개</a:t>
                      </a:r>
                    </a:p>
                  </a:txBody>
                  <a:tcPr marL="95250" marR="95250" marT="76200" marB="76200" anchor="ctr">
                    <a:solidFill>
                      <a:srgbClr val="18415A"/>
                    </a:solidFill>
                  </a:tcPr>
                </a:tc>
                <a:tc>
                  <a:txBody>
                    <a:bodyPr/>
                    <a:lstStyle/>
                    <a:p>
                      <a:r>
                        <a:rPr sz="1350" b="1">
                          <a:solidFill>
                            <a:srgbClr val="FFFFFF"/>
                          </a:solidFill>
                          <a:latin typeface="Noto Sans CJK KR"/>
                          <a:ea typeface="Noto Sans CJK KR"/>
                          <a:cs typeface="Noto Sans CJK KR"/>
                        </a:rPr>
                        <a:t>L2 회사</a:t>
                      </a:r>
                    </a:p>
                  </a:txBody>
                  <a:tcPr marL="95250" marR="95250" marT="76200" marB="76200" anchor="ctr">
                    <a:solidFill>
                      <a:srgbClr val="18415A"/>
                    </a:solidFill>
                  </a:tcPr>
                </a:tc>
                <a:tc>
                  <a:txBody>
                    <a:bodyPr/>
                    <a:lstStyle/>
                    <a:p>
                      <a:r>
                        <a:rPr sz="1350" b="1">
                          <a:solidFill>
                            <a:srgbClr val="FFFFFF"/>
                          </a:solidFill>
                          <a:latin typeface="Noto Sans CJK KR"/>
                          <a:ea typeface="Noto Sans CJK KR"/>
                          <a:cs typeface="Noto Sans CJK KR"/>
                        </a:rPr>
                        <a:t>L3 민감</a:t>
                      </a:r>
                    </a:p>
                  </a:txBody>
                  <a:tcPr marL="95250" marR="95250" marT="76200" marB="76200" anchor="ctr">
                    <a:solidFill>
                      <a:srgbClr val="18415A"/>
                    </a:solidFill>
                  </a:tcPr>
                </a:tc>
                <a:tc>
                  <a:txBody>
                    <a:bodyPr/>
                    <a:lstStyle/>
                    <a:p>
                      <a:r>
                        <a:rPr sz="1350" b="1">
                          <a:solidFill>
                            <a:srgbClr val="FFFFFF"/>
                          </a:solidFill>
                          <a:latin typeface="Noto Sans CJK KR"/>
                          <a:ea typeface="Noto Sans CJK KR"/>
                          <a:cs typeface="Noto Sans CJK KR"/>
                        </a:rPr>
                        <a:t>파일럿 접근 범위</a:t>
                      </a:r>
                    </a:p>
                  </a:txBody>
                  <a:tcPr marL="95250" marR="95250" marT="76200" marB="76200" anchor="ctr">
                    <a:solidFill>
                      <a:srgbClr val="18415A"/>
                    </a:solidFill>
                  </a:tcPr>
                </a:tc>
              </a:tr>
              <a:tr h="613410">
                <a:tc>
                  <a:txBody>
                    <a:bodyPr/>
                    <a:lstStyle/>
                    <a:p>
                      <a:r>
                        <a:rPr sz="1350">
                          <a:solidFill>
                            <a:srgbClr val="F4F8FB"/>
                          </a:solidFill>
                          <a:latin typeface="Noto Sans CJK KR"/>
                          <a:ea typeface="Noto Sans CJK KR"/>
                          <a:cs typeface="Noto Sans CJK KR"/>
                        </a:rPr>
                        <a:t>viewer</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차단</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차단</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공개 공고</a:t>
                      </a:r>
                    </a:p>
                  </a:txBody>
                  <a:tcPr marL="95250" marR="95250" marT="76200" marB="76200" anchor="ctr">
                    <a:solidFill>
                      <a:srgbClr val="102638"/>
                    </a:solidFill>
                  </a:tcPr>
                </a:tc>
              </a:tr>
              <a:tr h="613410">
                <a:tc>
                  <a:txBody>
                    <a:bodyPr/>
                    <a:lstStyle/>
                    <a:p>
                      <a:r>
                        <a:rPr sz="1350">
                          <a:solidFill>
                            <a:srgbClr val="F4F8FB"/>
                          </a:solidFill>
                          <a:latin typeface="Noto Sans CJK KR"/>
                          <a:ea typeface="Noto Sans CJK KR"/>
                          <a:cs typeface="Noto Sans CJK KR"/>
                        </a:rPr>
                        <a:t>bid_analyst</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차단</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실적·인력·인증</a:t>
                      </a:r>
                    </a:p>
                  </a:txBody>
                  <a:tcPr marL="95250" marR="95250" marT="76200" marB="76200" anchor="ctr">
                    <a:solidFill>
                      <a:srgbClr val="102638"/>
                    </a:solidFill>
                  </a:tcPr>
                </a:tc>
              </a:tr>
              <a:tr h="613410">
                <a:tc>
                  <a:txBody>
                    <a:bodyPr/>
                    <a:lstStyle/>
                    <a:p>
                      <a:r>
                        <a:rPr sz="1350">
                          <a:solidFill>
                            <a:srgbClr val="F4F8FB"/>
                          </a:solidFill>
                          <a:latin typeface="Noto Sans CJK KR"/>
                          <a:ea typeface="Noto Sans CJK KR"/>
                          <a:cs typeface="Noto Sans CJK KR"/>
                        </a:rPr>
                        <a:t>cost_analyst</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원가 검토</a:t>
                      </a:r>
                    </a:p>
                  </a:txBody>
                  <a:tcPr marL="95250" marR="95250" marT="76200" marB="76200" anchor="ctr">
                    <a:solidFill>
                      <a:srgbClr val="102638"/>
                    </a:solidFill>
                  </a:tcPr>
                </a:tc>
              </a:tr>
              <a:tr h="613410">
                <a:tc>
                  <a:txBody>
                    <a:bodyPr/>
                    <a:lstStyle/>
                    <a:p>
                      <a:r>
                        <a:rPr sz="1350">
                          <a:solidFill>
                            <a:srgbClr val="F4F8FB"/>
                          </a:solidFill>
                          <a:latin typeface="Noto Sans CJK KR"/>
                          <a:ea typeface="Noto Sans CJK KR"/>
                          <a:cs typeface="Noto Sans CJK KR"/>
                        </a:rPr>
                        <a:t>bid_approver</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허용</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승인 검토</a:t>
                      </a:r>
                    </a:p>
                  </a:txBody>
                  <a:tcPr marL="95250" marR="95250" marT="76200" marB="76200" anchor="ctr">
                    <a:solidFill>
                      <a:srgbClr val="102638"/>
                    </a:solidFill>
                  </a:tcPr>
                </a:tc>
              </a:tr>
            </a:tbl>
          </a:graphicData>
        </a:graphic>
      </p:graphicFrame>
      <p:sp>
        <p:nvSpPr>
          <p:cNvPr id="13" name="">
            <a:extLst xmlns:a="http://schemas.openxmlformats.org/drawingml/2006/main">
              <a:ext uri="{FF2B5EF4-FFF2-40B4-BE49-F238E27FC236}">
                <a16:creationId xmlns:a16="http://schemas.microsoft.com/office/drawing/2014/main" id="{2658C645-E813-40E4-B94A-4478759C63CE}"/>
              </a:ext>
            </a:extLst>
          </p:cNvPr>
          <p:cNvSpPr>
            <a:spLocks xmlns:a="http://schemas.openxmlformats.org/drawingml/2006/main" noGrp="1"/>
          </p:cNvSpPr>
          <p:nvPr/>
        </p:nvSpPr>
        <p:spPr>
          <a:xfrm xmlns:a="http://schemas.openxmlformats.org/drawingml/2006/main">
            <a:off x="8143875" y="2028825"/>
            <a:ext cx="3514725" cy="1524000"/>
          </a:xfrm>
          <a:prstGeom xmlns:a="http://schemas.openxmlformats.org/drawingml/2006/main" prst="roundRect">
            <a:avLst>
              <a:gd name="adj" fmla="val 5000"/>
            </a:avLst>
          </a:prstGeom>
          <a:solidFill xmlns:a="http://schemas.openxmlformats.org/drawingml/2006/main">
            <a:srgbClr val="102638"/>
          </a:solidFill>
          <a:ln xmlns:a="http://schemas.openxmlformats.org/drawingml/2006/main" w="11430">
            <a:solidFill>
              <a:srgbClr val="355267"/>
            </a:solidFill>
          </a:ln>
        </p:spPr>
      </p:sp>
      <p:sp>
        <p:nvSpPr>
          <p:cNvPr id="14" name="">
            <a:extLst xmlns:a="http://schemas.openxmlformats.org/drawingml/2006/main">
              <a:ext uri="{FF2B5EF4-FFF2-40B4-BE49-F238E27FC236}">
                <a16:creationId xmlns:a16="http://schemas.microsoft.com/office/drawing/2014/main" id="{2AF6D972-C06B-44DC-BA73-015D1AB03836}"/>
              </a:ext>
            </a:extLst>
          </p:cNvPr>
          <p:cNvSpPr>
            <a:spLocks xmlns:a="http://schemas.openxmlformats.org/drawingml/2006/main" noGrp="1"/>
          </p:cNvSpPr>
          <p:nvPr/>
        </p:nvSpPr>
        <p:spPr>
          <a:xfrm xmlns:a="http://schemas.openxmlformats.org/drawingml/2006/main">
            <a:off x="8143875" y="2028825"/>
            <a:ext cx="66675" cy="152400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15" name="">
            <a:extLst xmlns:a="http://schemas.openxmlformats.org/drawingml/2006/main">
              <a:ext uri="{FF2B5EF4-FFF2-40B4-BE49-F238E27FC236}">
                <a16:creationId xmlns:a16="http://schemas.microsoft.com/office/drawing/2014/main" id="{866C6371-9253-4142-8BB6-9328CFCA3D39}"/>
              </a:ext>
            </a:extLst>
          </p:cNvPr>
          <p:cNvSpPr>
            <a:spLocks xmlns:a="http://schemas.openxmlformats.org/drawingml/2006/main" noGrp="1"/>
          </p:cNvSpPr>
          <p:nvPr/>
        </p:nvSpPr>
        <p:spPr>
          <a:xfrm xmlns:a="http://schemas.openxmlformats.org/drawingml/2006/main">
            <a:off x="8353425" y="2200275"/>
            <a:ext cx="3133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세션에서 확인</a:t>
            </a:r>
          </a:p>
        </p:txBody>
      </p:sp>
      <p:sp>
        <p:nvSpPr>
          <p:cNvPr id="16" name="">
            <a:extLst xmlns:a="http://schemas.openxmlformats.org/drawingml/2006/main">
              <a:ext uri="{FF2B5EF4-FFF2-40B4-BE49-F238E27FC236}">
                <a16:creationId xmlns:a16="http://schemas.microsoft.com/office/drawing/2014/main" id="{D856B86B-61E4-4386-89C6-EE9B7CD3EE30}"/>
              </a:ext>
            </a:extLst>
          </p:cNvPr>
          <p:cNvSpPr>
            <a:spLocks xmlns:a="http://schemas.openxmlformats.org/drawingml/2006/main" noGrp="1"/>
          </p:cNvSpPr>
          <p:nvPr/>
        </p:nvSpPr>
        <p:spPr>
          <a:xfrm xmlns:a="http://schemas.openxmlformats.org/drawingml/2006/main">
            <a:off x="8353425" y="2619375"/>
            <a:ext cx="31146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authenticated</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membership_active</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tenant · company · role</a:t>
            </a:r>
          </a:p>
        </p:txBody>
      </p:sp>
      <p:sp>
        <p:nvSpPr>
          <p:cNvPr id="17" name="">
            <a:extLst xmlns:a="http://schemas.openxmlformats.org/drawingml/2006/main">
              <a:ext uri="{FF2B5EF4-FFF2-40B4-BE49-F238E27FC236}">
                <a16:creationId xmlns:a16="http://schemas.microsoft.com/office/drawing/2014/main" id="{5789A059-578F-4AC5-B8DC-B27D58796BD9}"/>
              </a:ext>
            </a:extLst>
          </p:cNvPr>
          <p:cNvSpPr>
            <a:spLocks xmlns:a="http://schemas.openxmlformats.org/drawingml/2006/main" noGrp="1"/>
          </p:cNvSpPr>
          <p:nvPr/>
        </p:nvSpPr>
        <p:spPr>
          <a:xfrm xmlns:a="http://schemas.openxmlformats.org/drawingml/2006/main">
            <a:off x="8143875" y="3781425"/>
            <a:ext cx="3514725" cy="1314450"/>
          </a:xfrm>
          <a:prstGeom xmlns:a="http://schemas.openxmlformats.org/drawingml/2006/main" prst="roundRect">
            <a:avLst>
              <a:gd name="adj" fmla="val 5797"/>
            </a:avLst>
          </a:prstGeom>
          <a:solidFill xmlns:a="http://schemas.openxmlformats.org/drawingml/2006/main">
            <a:srgbClr val="102638"/>
          </a:solidFill>
          <a:ln xmlns:a="http://schemas.openxmlformats.org/drawingml/2006/main" w="11430">
            <a:solidFill>
              <a:srgbClr val="355267"/>
            </a:solidFill>
          </a:ln>
        </p:spPr>
      </p:sp>
      <p:sp>
        <p:nvSpPr>
          <p:cNvPr id="18" name="">
            <a:extLst xmlns:a="http://schemas.openxmlformats.org/drawingml/2006/main">
              <a:ext uri="{FF2B5EF4-FFF2-40B4-BE49-F238E27FC236}">
                <a16:creationId xmlns:a16="http://schemas.microsoft.com/office/drawing/2014/main" id="{418237FC-203A-48F8-A641-BCFBCEAF85C9}"/>
              </a:ext>
            </a:extLst>
          </p:cNvPr>
          <p:cNvSpPr>
            <a:spLocks xmlns:a="http://schemas.openxmlformats.org/drawingml/2006/main" noGrp="1"/>
          </p:cNvSpPr>
          <p:nvPr/>
        </p:nvSpPr>
        <p:spPr>
          <a:xfrm xmlns:a="http://schemas.openxmlformats.org/drawingml/2006/main">
            <a:off x="8143875" y="3781425"/>
            <a:ext cx="66675" cy="131445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19" name="">
            <a:extLst xmlns:a="http://schemas.openxmlformats.org/drawingml/2006/main">
              <a:ext uri="{FF2B5EF4-FFF2-40B4-BE49-F238E27FC236}">
                <a16:creationId xmlns:a16="http://schemas.microsoft.com/office/drawing/2014/main" id="{52033F6D-E608-4CE8-94B7-74DE32A51196}"/>
              </a:ext>
            </a:extLst>
          </p:cNvPr>
          <p:cNvSpPr>
            <a:spLocks xmlns:a="http://schemas.openxmlformats.org/drawingml/2006/main" noGrp="1"/>
          </p:cNvSpPr>
          <p:nvPr/>
        </p:nvSpPr>
        <p:spPr>
          <a:xfrm xmlns:a="http://schemas.openxmlformats.org/drawingml/2006/main">
            <a:off x="8353425" y="3952875"/>
            <a:ext cx="3133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검색 전에 강제</a:t>
            </a:r>
          </a:p>
        </p:txBody>
      </p:sp>
      <p:sp>
        <p:nvSpPr>
          <p:cNvPr id="20" name="">
            <a:extLst xmlns:a="http://schemas.openxmlformats.org/drawingml/2006/main">
              <a:ext uri="{FF2B5EF4-FFF2-40B4-BE49-F238E27FC236}">
                <a16:creationId xmlns:a16="http://schemas.microsoft.com/office/drawing/2014/main" id="{E6AB402E-3C22-478C-974F-A254F503792D}"/>
              </a:ext>
            </a:extLst>
          </p:cNvPr>
          <p:cNvSpPr>
            <a:spLocks xmlns:a="http://schemas.openxmlformats.org/drawingml/2006/main" noGrp="1"/>
          </p:cNvSpPr>
          <p:nvPr/>
        </p:nvSpPr>
        <p:spPr>
          <a:xfrm xmlns:a="http://schemas.openxmlformats.org/drawingml/2006/main">
            <a:off x="8353425" y="4371975"/>
            <a:ext cx="3114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허용된 문서의 벡터만 점수 계산</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문서 보기·다운로드도 같은 정책</a:t>
            </a:r>
          </a:p>
        </p:txBody>
      </p:sp>
      <p:sp>
        <p:nvSpPr>
          <p:cNvPr id="21" name="">
            <a:extLst xmlns:a="http://schemas.openxmlformats.org/drawingml/2006/main">
              <a:ext uri="{FF2B5EF4-FFF2-40B4-BE49-F238E27FC236}">
                <a16:creationId xmlns:a16="http://schemas.microsoft.com/office/drawing/2014/main" id="{8E7DE334-E805-4E43-B794-211C42841397}"/>
              </a:ext>
            </a:extLst>
          </p:cNvPr>
          <p:cNvSpPr>
            <a:spLocks xmlns:a="http://schemas.openxmlformats.org/drawingml/2006/main" noGrp="1"/>
          </p:cNvSpPr>
          <p:nvPr/>
        </p:nvSpPr>
        <p:spPr>
          <a:xfrm xmlns:a="http://schemas.openxmlformats.org/drawingml/2006/main">
            <a:off x="8134350" y="53435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6B94A"/>
                </a:solidFill>
                <a:latin typeface="Noto Sans CJK KR"/>
                <a:ea typeface="Noto Sans CJK KR"/>
                <a:cs typeface="Noto Sans CJK KR"/>
              </a:defRPr>
            </a:pPr>
            <a:r>
              <a:rPr sz="1350" b="1">
                <a:solidFill>
                  <a:srgbClr val="F6B94A"/>
                </a:solidFill>
                <a:latin typeface="Noto Sans CJK KR"/>
                <a:ea typeface="Noto Sans CJK KR"/>
                <a:cs typeface="Noto Sans CJK KR"/>
              </a:rPr>
              <a:t>파일럿 정책 구현  /  운영 인증·인가 시스템은 추가 구현 필요</a:t>
            </a:r>
          </a:p>
        </p:txBody>
      </p:sp>
      <p:sp>
        <p:nvSpPr>
          <p:cNvPr id="22" name="">
            <a:extLst xmlns:a="http://schemas.openxmlformats.org/drawingml/2006/main">
              <a:ext uri="{FF2B5EF4-FFF2-40B4-BE49-F238E27FC236}">
                <a16:creationId xmlns:a16="http://schemas.microsoft.com/office/drawing/2014/main" id="{BC7C5760-07B4-4073-A7E1-BFC67C895D11}"/>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브라우저에서 역할 이름을 바꿔도 접근 권한이 확장되지 않는 구조</a:t>
            </a:r>
          </a:p>
        </p:txBody>
      </p:sp>
    </p:spTree>
    <p:extLst>
      <p:ext uri="{BB962C8B-B14F-4D97-AF65-F5344CB8AC3E}">
        <p14:creationId xmlns:p14="http://schemas.microsoft.com/office/powerpoint/2010/main" val="1883972294"/>
      </p:ext>
    </p:extLst>
  </p:cSld>
</p:sld>
</file>

<file path=ppt/slides/slide11.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EE0D12B-B541-4FBA-828E-F3D90DDED3BC}"/>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04  RAG 엔진</a:t>
            </a:r>
          </a:p>
        </p:txBody>
      </p:sp>
      <p:sp>
        <p:nvSpPr>
          <p:cNvPr id="2" name="">
            <a:extLst xmlns:a="http://schemas.openxmlformats.org/drawingml/2006/main">
              <a:ext uri="{FF2B5EF4-FFF2-40B4-BE49-F238E27FC236}">
                <a16:creationId xmlns:a16="http://schemas.microsoft.com/office/drawing/2014/main" id="{59B2511E-7514-4678-A127-B45B4B8F9D4E}"/>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정확한 용어와 의미가 비슷한 표현을 함께 찾는다</a:t>
            </a:r>
          </a:p>
        </p:txBody>
      </p:sp>
      <p:sp>
        <p:nvSpPr>
          <p:cNvPr id="3" name="">
            <a:extLst xmlns:a="http://schemas.openxmlformats.org/drawingml/2006/main">
              <a:ext uri="{FF2B5EF4-FFF2-40B4-BE49-F238E27FC236}">
                <a16:creationId xmlns:a16="http://schemas.microsoft.com/office/drawing/2014/main" id="{F57AEA49-8DBD-47AB-ACB0-3CC76384A165}"/>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4" name="">
            <a:extLst xmlns:a="http://schemas.openxmlformats.org/drawingml/2006/main">
              <a:ext uri="{FF2B5EF4-FFF2-40B4-BE49-F238E27FC236}">
                <a16:creationId xmlns:a16="http://schemas.microsoft.com/office/drawing/2014/main" id="{A8190F7A-04A5-4EF3-866A-B73E92491768}"/>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5" name="">
            <a:extLst xmlns:a="http://schemas.openxmlformats.org/drawingml/2006/main">
              <a:ext uri="{FF2B5EF4-FFF2-40B4-BE49-F238E27FC236}">
                <a16:creationId xmlns:a16="http://schemas.microsoft.com/office/drawing/2014/main" id="{336EDF24-1EB8-49A2-8A49-D293B657DF69}"/>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97997A8E-BCEC-45D5-966F-9EB05CDA82BE}"/>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E7D6816A-B09C-4D64-940B-256F368A110C}"/>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8" name="">
            <a:extLst xmlns:a="http://schemas.openxmlformats.org/drawingml/2006/main">
              <a:ext uri="{FF2B5EF4-FFF2-40B4-BE49-F238E27FC236}">
                <a16:creationId xmlns:a16="http://schemas.microsoft.com/office/drawing/2014/main" id="{289CDE0A-C6CD-4815-85DE-F89C036DDB82}"/>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44C65B96-566F-4A04-AAC9-110C479D80A5}"/>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0DE23C23-179A-45B4-855A-575EC96BD114}"/>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11</a:t>
            </a:r>
          </a:p>
        </p:txBody>
      </p:sp>
      <p:sp>
        <p:nvSpPr>
          <p:cNvPr id="11" name="">
            <a:extLst xmlns:a="http://schemas.openxmlformats.org/drawingml/2006/main">
              <a:ext uri="{FF2B5EF4-FFF2-40B4-BE49-F238E27FC236}">
                <a16:creationId xmlns:a16="http://schemas.microsoft.com/office/drawing/2014/main" id="{16F7B9AC-C967-45DB-A500-72313964A5D7}"/>
              </a:ext>
            </a:extLst>
          </p:cNvPr>
          <p:cNvSpPr>
            <a:spLocks xmlns:a="http://schemas.openxmlformats.org/drawingml/2006/main" noGrp="1"/>
          </p:cNvSpPr>
          <p:nvPr/>
        </p:nvSpPr>
        <p:spPr>
          <a:xfrm xmlns:a="http://schemas.openxmlformats.org/drawingml/2006/main">
            <a:off x="514350" y="2114550"/>
            <a:ext cx="3257550" cy="2381250"/>
          </a:xfrm>
          <a:prstGeom xmlns:a="http://schemas.openxmlformats.org/drawingml/2006/main" prst="roundRect">
            <a:avLst>
              <a:gd name="adj" fmla="val 3200"/>
            </a:avLst>
          </a:prstGeom>
          <a:solidFill xmlns:a="http://schemas.openxmlformats.org/drawingml/2006/main">
            <a:srgbClr val="102638"/>
          </a:solidFill>
          <a:ln xmlns:a="http://schemas.openxmlformats.org/drawingml/2006/main" w="11430">
            <a:solidFill>
              <a:srgbClr val="355267"/>
            </a:solidFill>
          </a:ln>
        </p:spPr>
      </p:sp>
      <p:sp>
        <p:nvSpPr>
          <p:cNvPr id="12" name="">
            <a:extLst xmlns:a="http://schemas.openxmlformats.org/drawingml/2006/main">
              <a:ext uri="{FF2B5EF4-FFF2-40B4-BE49-F238E27FC236}">
                <a16:creationId xmlns:a16="http://schemas.microsoft.com/office/drawing/2014/main" id="{968B091E-B69D-420B-A2F6-5235283E35DC}"/>
              </a:ext>
            </a:extLst>
          </p:cNvPr>
          <p:cNvSpPr>
            <a:spLocks xmlns:a="http://schemas.openxmlformats.org/drawingml/2006/main" noGrp="1"/>
          </p:cNvSpPr>
          <p:nvPr/>
        </p:nvSpPr>
        <p:spPr>
          <a:xfrm xmlns:a="http://schemas.openxmlformats.org/drawingml/2006/main">
            <a:off x="514350" y="2114550"/>
            <a:ext cx="66675" cy="238125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13" name="">
            <a:extLst xmlns:a="http://schemas.openxmlformats.org/drawingml/2006/main">
              <a:ext uri="{FF2B5EF4-FFF2-40B4-BE49-F238E27FC236}">
                <a16:creationId xmlns:a16="http://schemas.microsoft.com/office/drawing/2014/main" id="{12B22D06-A1A0-4F6A-851A-995B19EDD2BD}"/>
              </a:ext>
            </a:extLst>
          </p:cNvPr>
          <p:cNvSpPr>
            <a:spLocks xmlns:a="http://schemas.openxmlformats.org/drawingml/2006/main" noGrp="1"/>
          </p:cNvSpPr>
          <p:nvPr/>
        </p:nvSpPr>
        <p:spPr>
          <a:xfrm xmlns:a="http://schemas.openxmlformats.org/drawingml/2006/main">
            <a:off x="723900" y="2286000"/>
            <a:ext cx="2876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키워드 검색</a:t>
            </a:r>
          </a:p>
        </p:txBody>
      </p:sp>
      <p:sp>
        <p:nvSpPr>
          <p:cNvPr id="14" name="">
            <a:extLst xmlns:a="http://schemas.openxmlformats.org/drawingml/2006/main">
              <a:ext uri="{FF2B5EF4-FFF2-40B4-BE49-F238E27FC236}">
                <a16:creationId xmlns:a16="http://schemas.microsoft.com/office/drawing/2014/main" id="{1B6D2384-B6CD-42A0-832C-28805EB5C5FD}"/>
              </a:ext>
            </a:extLst>
          </p:cNvPr>
          <p:cNvSpPr>
            <a:spLocks xmlns:a="http://schemas.openxmlformats.org/drawingml/2006/main" noGrp="1"/>
          </p:cNvSpPr>
          <p:nvPr/>
        </p:nvSpPr>
        <p:spPr>
          <a:xfrm xmlns:a="http://schemas.openxmlformats.org/drawingml/2006/main">
            <a:off x="723900" y="2705100"/>
            <a:ext cx="28575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한국어 2글자 부분어와</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영문·숫자 단어의 BM25 형태 점수</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코드·금액·날짜에 유리</a:t>
            </a:r>
          </a:p>
        </p:txBody>
      </p:sp>
      <p:sp>
        <p:nvSpPr>
          <p:cNvPr id="15" name="">
            <a:extLst xmlns:a="http://schemas.openxmlformats.org/drawingml/2006/main">
              <a:ext uri="{FF2B5EF4-FFF2-40B4-BE49-F238E27FC236}">
                <a16:creationId xmlns:a16="http://schemas.microsoft.com/office/drawing/2014/main" id="{0AC6F578-84B2-4485-B981-BFAD3A642C31}"/>
              </a:ext>
            </a:extLst>
          </p:cNvPr>
          <p:cNvSpPr>
            <a:spLocks xmlns:a="http://schemas.openxmlformats.org/drawingml/2006/main" noGrp="1"/>
          </p:cNvSpPr>
          <p:nvPr/>
        </p:nvSpPr>
        <p:spPr>
          <a:xfrm xmlns:a="http://schemas.openxmlformats.org/drawingml/2006/main">
            <a:off x="4476750" y="2114550"/>
            <a:ext cx="3257550" cy="2381250"/>
          </a:xfrm>
          <a:prstGeom xmlns:a="http://schemas.openxmlformats.org/drawingml/2006/main" prst="roundRect">
            <a:avLst>
              <a:gd name="adj" fmla="val 3200"/>
            </a:avLst>
          </a:prstGeom>
          <a:solidFill xmlns:a="http://schemas.openxmlformats.org/drawingml/2006/main">
            <a:srgbClr val="102638"/>
          </a:solidFill>
          <a:ln xmlns:a="http://schemas.openxmlformats.org/drawingml/2006/main" w="11430">
            <a:solidFill>
              <a:srgbClr val="355267"/>
            </a:solidFill>
          </a:ln>
        </p:spPr>
      </p:sp>
      <p:sp>
        <p:nvSpPr>
          <p:cNvPr id="16" name="">
            <a:extLst xmlns:a="http://schemas.openxmlformats.org/drawingml/2006/main">
              <a:ext uri="{FF2B5EF4-FFF2-40B4-BE49-F238E27FC236}">
                <a16:creationId xmlns:a16="http://schemas.microsoft.com/office/drawing/2014/main" id="{9C439EDE-FC49-4AA8-82F8-B174A220CC3A}"/>
              </a:ext>
            </a:extLst>
          </p:cNvPr>
          <p:cNvSpPr>
            <a:spLocks xmlns:a="http://schemas.openxmlformats.org/drawingml/2006/main" noGrp="1"/>
          </p:cNvSpPr>
          <p:nvPr/>
        </p:nvSpPr>
        <p:spPr>
          <a:xfrm xmlns:a="http://schemas.openxmlformats.org/drawingml/2006/main">
            <a:off x="4476750" y="2114550"/>
            <a:ext cx="66675" cy="238125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17" name="">
            <a:extLst xmlns:a="http://schemas.openxmlformats.org/drawingml/2006/main">
              <a:ext uri="{FF2B5EF4-FFF2-40B4-BE49-F238E27FC236}">
                <a16:creationId xmlns:a16="http://schemas.microsoft.com/office/drawing/2014/main" id="{553C4A9A-C0AE-4148-873B-4AD2AF91C4AA}"/>
              </a:ext>
            </a:extLst>
          </p:cNvPr>
          <p:cNvSpPr>
            <a:spLocks xmlns:a="http://schemas.openxmlformats.org/drawingml/2006/main" noGrp="1"/>
          </p:cNvSpPr>
          <p:nvPr/>
        </p:nvSpPr>
        <p:spPr>
          <a:xfrm xmlns:a="http://schemas.openxmlformats.org/drawingml/2006/main">
            <a:off x="4686300" y="2286000"/>
            <a:ext cx="2876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벡터 검색</a:t>
            </a:r>
          </a:p>
        </p:txBody>
      </p:sp>
      <p:sp>
        <p:nvSpPr>
          <p:cNvPr id="18" name="">
            <a:extLst xmlns:a="http://schemas.openxmlformats.org/drawingml/2006/main">
              <a:ext uri="{FF2B5EF4-FFF2-40B4-BE49-F238E27FC236}">
                <a16:creationId xmlns:a16="http://schemas.microsoft.com/office/drawing/2014/main" id="{24792059-F287-44D5-A676-9ACC4F15EABD}"/>
              </a:ext>
            </a:extLst>
          </p:cNvPr>
          <p:cNvSpPr>
            <a:spLocks xmlns:a="http://schemas.openxmlformats.org/drawingml/2006/main" noGrp="1"/>
          </p:cNvSpPr>
          <p:nvPr/>
        </p:nvSpPr>
        <p:spPr>
          <a:xfrm xmlns:a="http://schemas.openxmlformats.org/drawingml/2006/main">
            <a:off x="4686300" y="2705100"/>
            <a:ext cx="28575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multilingual-e5-small</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문장 표현이 달라도 의미가 가까운</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청크 후보를 찾음</a:t>
            </a:r>
          </a:p>
        </p:txBody>
      </p:sp>
      <p:sp>
        <p:nvSpPr>
          <p:cNvPr id="19" name="">
            <a:extLst xmlns:a="http://schemas.openxmlformats.org/drawingml/2006/main">
              <a:ext uri="{FF2B5EF4-FFF2-40B4-BE49-F238E27FC236}">
                <a16:creationId xmlns:a16="http://schemas.microsoft.com/office/drawing/2014/main" id="{55ED4B5E-8594-4AC8-8BBA-393765A3AB99}"/>
              </a:ext>
            </a:extLst>
          </p:cNvPr>
          <p:cNvSpPr>
            <a:spLocks xmlns:a="http://schemas.openxmlformats.org/drawingml/2006/main" noGrp="1"/>
          </p:cNvSpPr>
          <p:nvPr/>
        </p:nvSpPr>
        <p:spPr>
          <a:xfrm xmlns:a="http://schemas.openxmlformats.org/drawingml/2006/main">
            <a:off x="8439150" y="2114550"/>
            <a:ext cx="3238500" cy="2381250"/>
          </a:xfrm>
          <a:prstGeom xmlns:a="http://schemas.openxmlformats.org/drawingml/2006/main" prst="roundRect">
            <a:avLst>
              <a:gd name="adj" fmla="val 3200"/>
            </a:avLst>
          </a:prstGeom>
          <a:solidFill xmlns:a="http://schemas.openxmlformats.org/drawingml/2006/main">
            <a:srgbClr val="102638"/>
          </a:solidFill>
          <a:ln xmlns:a="http://schemas.openxmlformats.org/drawingml/2006/main" w="11430">
            <a:solidFill>
              <a:srgbClr val="355267"/>
            </a:solidFill>
          </a:ln>
        </p:spPr>
      </p:sp>
      <p:sp>
        <p:nvSpPr>
          <p:cNvPr id="20" name="">
            <a:extLst xmlns:a="http://schemas.openxmlformats.org/drawingml/2006/main">
              <a:ext uri="{FF2B5EF4-FFF2-40B4-BE49-F238E27FC236}">
                <a16:creationId xmlns:a16="http://schemas.microsoft.com/office/drawing/2014/main" id="{F15784FB-0EA3-4C92-B19F-824DD42329BF}"/>
              </a:ext>
            </a:extLst>
          </p:cNvPr>
          <p:cNvSpPr>
            <a:spLocks xmlns:a="http://schemas.openxmlformats.org/drawingml/2006/main" noGrp="1"/>
          </p:cNvSpPr>
          <p:nvPr/>
        </p:nvSpPr>
        <p:spPr>
          <a:xfrm xmlns:a="http://schemas.openxmlformats.org/drawingml/2006/main">
            <a:off x="8439150" y="2114550"/>
            <a:ext cx="66675" cy="238125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21" name="">
            <a:extLst xmlns:a="http://schemas.openxmlformats.org/drawingml/2006/main">
              <a:ext uri="{FF2B5EF4-FFF2-40B4-BE49-F238E27FC236}">
                <a16:creationId xmlns:a16="http://schemas.microsoft.com/office/drawing/2014/main" id="{204317C6-0B70-4598-82A5-96113B966FBE}"/>
              </a:ext>
            </a:extLst>
          </p:cNvPr>
          <p:cNvSpPr>
            <a:spLocks xmlns:a="http://schemas.openxmlformats.org/drawingml/2006/main" noGrp="1"/>
          </p:cNvSpPr>
          <p:nvPr/>
        </p:nvSpPr>
        <p:spPr>
          <a:xfrm xmlns:a="http://schemas.openxmlformats.org/drawingml/2006/main">
            <a:off x="8648700" y="2286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순위 결합</a:t>
            </a:r>
          </a:p>
        </p:txBody>
      </p:sp>
      <p:sp>
        <p:nvSpPr>
          <p:cNvPr id="22" name="">
            <a:extLst xmlns:a="http://schemas.openxmlformats.org/drawingml/2006/main">
              <a:ext uri="{FF2B5EF4-FFF2-40B4-BE49-F238E27FC236}">
                <a16:creationId xmlns:a16="http://schemas.microsoft.com/office/drawing/2014/main" id="{2FD63A30-4D61-4A38-BEF8-DD8A8DFFBDAD}"/>
              </a:ext>
            </a:extLst>
          </p:cNvPr>
          <p:cNvSpPr>
            <a:spLocks xmlns:a="http://schemas.openxmlformats.org/drawingml/2006/main" noGrp="1"/>
          </p:cNvSpPr>
          <p:nvPr/>
        </p:nvSpPr>
        <p:spPr>
          <a:xfrm xmlns:a="http://schemas.openxmlformats.org/drawingml/2006/main">
            <a:off x="8648700" y="2705100"/>
            <a:ext cx="2838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각 검색 순위를 RRF(k=60)로 결합</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상위 부모 청크 최대 6개 선정</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생성에는 우선 최대 4개 사용</a:t>
            </a:r>
          </a:p>
        </p:txBody>
      </p:sp>
      <p:cxnSp>
        <p:nvCxnSpPr>
          <p:cNvPr id="50" name=""/>
          <p:cNvCxnSpPr>
            <a:stCxn xmlns:a="http://schemas.openxmlformats.org/drawingml/2006/main" id="11" idx="3"/>
            <a:endCxn xmlns:a="http://schemas.openxmlformats.org/drawingml/2006/main" id="15" idx="1"/>
          </p:cNvCxnSpPr>
          <p:nvPr/>
        </p:nvCxnSpPr>
        <p:spPr>
          <a:xfrm xmlns:a="http://schemas.openxmlformats.org/drawingml/2006/main">
            <a:off x="3771900" y="3305175"/>
            <a:ext cx="704850"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51" name=""/>
          <p:cNvCxnSpPr>
            <a:stCxn xmlns:a="http://schemas.openxmlformats.org/drawingml/2006/main" id="15" idx="3"/>
            <a:endCxn xmlns:a="http://schemas.openxmlformats.org/drawingml/2006/main" id="19" idx="1"/>
          </p:cNvCxnSpPr>
          <p:nvPr/>
        </p:nvCxnSpPr>
        <p:spPr>
          <a:xfrm xmlns:a="http://schemas.openxmlformats.org/drawingml/2006/main">
            <a:off x="7734300" y="3305175"/>
            <a:ext cx="704850" cy="0"/>
          </a:xfrm>
          <a:prstGeom xmlns:a="http://schemas.openxmlformats.org/drawingml/2006/main" prst="straightConnector1">
            <a:avLst/>
          </a:prstGeom>
          <a:ln xmlns:a="http://schemas.openxmlformats.org/drawingml/2006/main" w="19050">
            <a:solidFill>
              <a:srgbClr val="A8BDCC"/>
            </a:solidFill>
            <a:tailEnd type="triangle" w="sm" len="sm"/>
          </a:ln>
        </p:spPr>
      </p:cxnSp>
      <p:sp>
        <p:nvSpPr>
          <p:cNvPr id="25" name="">
            <a:extLst xmlns:a="http://schemas.openxmlformats.org/drawingml/2006/main">
              <a:ext uri="{FF2B5EF4-FFF2-40B4-BE49-F238E27FC236}">
                <a16:creationId xmlns:a16="http://schemas.microsoft.com/office/drawing/2014/main" id="{A8AB992A-3415-4B0D-8ED5-5EBC170C51A0}"/>
              </a:ext>
            </a:extLst>
          </p:cNvPr>
          <p:cNvSpPr>
            <a:spLocks xmlns:a="http://schemas.openxmlformats.org/drawingml/2006/main" noGrp="1"/>
          </p:cNvSpPr>
          <p:nvPr/>
        </p:nvSpPr>
        <p:spPr>
          <a:xfrm xmlns:a="http://schemas.openxmlformats.org/drawingml/2006/main">
            <a:off x="1609725" y="4895850"/>
            <a:ext cx="8972550" cy="742950"/>
          </a:xfrm>
          <a:prstGeom xmlns:a="http://schemas.openxmlformats.org/drawingml/2006/main" prst="roundRect">
            <a:avLst>
              <a:gd name="adj" fmla="val 10256"/>
            </a:avLst>
          </a:prstGeom>
          <a:solidFill xmlns:a="http://schemas.openxmlformats.org/drawingml/2006/main">
            <a:srgbClr val="132E3C"/>
          </a:solidFill>
          <a:ln xmlns:a="http://schemas.openxmlformats.org/drawingml/2006/main" w="11430">
            <a:solidFill>
              <a:srgbClr val="24526A"/>
            </a:solidFill>
          </a:ln>
        </p:spPr>
      </p:sp>
      <p:sp>
        <p:nvSpPr>
          <p:cNvPr id="26" name="">
            <a:extLst xmlns:a="http://schemas.openxmlformats.org/drawingml/2006/main">
              <a:ext uri="{FF2B5EF4-FFF2-40B4-BE49-F238E27FC236}">
                <a16:creationId xmlns:a16="http://schemas.microsoft.com/office/drawing/2014/main" id="{60522ECB-A991-458A-B30D-C0CBF846A6D5}"/>
              </a:ext>
            </a:extLst>
          </p:cNvPr>
          <p:cNvSpPr>
            <a:spLocks xmlns:a="http://schemas.openxmlformats.org/drawingml/2006/main" noGrp="1"/>
          </p:cNvSpPr>
          <p:nvPr/>
        </p:nvSpPr>
        <p:spPr>
          <a:xfrm xmlns:a="http://schemas.openxmlformats.org/drawingml/2006/main">
            <a:off x="1809750" y="5095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4F8FB"/>
                </a:solidFill>
                <a:latin typeface="Noto Sans CJK KR"/>
                <a:ea typeface="Noto Sans CJK KR"/>
                <a:cs typeface="Noto Sans CJK KR"/>
              </a:defRPr>
            </a:pPr>
            <a:r>
              <a:rPr sz="2025" b="1">
                <a:solidFill>
                  <a:srgbClr val="F4F8FB"/>
                </a:solidFill>
                <a:latin typeface="Noto Sans CJK KR"/>
                <a:ea typeface="Noto Sans CJK KR"/>
                <a:cs typeface="Noto Sans CJK KR"/>
              </a:rPr>
              <a:t>권한 필터 → 키워드 순위 + 벡터 순위 → RRF 결합 → 상위 근거</a:t>
            </a:r>
          </a:p>
        </p:txBody>
      </p:sp>
      <p:sp>
        <p:nvSpPr>
          <p:cNvPr id="27" name="">
            <a:extLst xmlns:a="http://schemas.openxmlformats.org/drawingml/2006/main">
              <a:ext uri="{FF2B5EF4-FFF2-40B4-BE49-F238E27FC236}">
                <a16:creationId xmlns:a16="http://schemas.microsoft.com/office/drawing/2014/main" id="{457972DF-A450-428D-BD0D-1AA2E8E05C24}"/>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현재 파일럿은 권한형 하이브리드 RAG · 별도 그래프 DB 기반 GraphRAG로 표현하지 않음</a:t>
            </a:r>
          </a:p>
        </p:txBody>
      </p:sp>
    </p:spTree>
    <p:extLst>
      <p:ext uri="{BB962C8B-B14F-4D97-AF65-F5344CB8AC3E}">
        <p14:creationId xmlns:p14="http://schemas.microsoft.com/office/powerpoint/2010/main" val="427059350"/>
      </p:ext>
    </p:extLst>
  </p:cSld>
</p:sld>
</file>

<file path=ppt/slides/slide12.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AD61051-5B54-4C07-992F-D2D2E589CE77}"/>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04  RAG 엔진</a:t>
            </a:r>
          </a:p>
        </p:txBody>
      </p:sp>
      <p:sp>
        <p:nvSpPr>
          <p:cNvPr id="2" name="">
            <a:extLst xmlns:a="http://schemas.openxmlformats.org/drawingml/2006/main">
              <a:ext uri="{FF2B5EF4-FFF2-40B4-BE49-F238E27FC236}">
                <a16:creationId xmlns:a16="http://schemas.microsoft.com/office/drawing/2014/main" id="{1CFAE1C6-B757-4E0C-B188-C99BEAB43505}"/>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생성 모델에는 실제 선택 근거만 전달한다</a:t>
            </a:r>
          </a:p>
        </p:txBody>
      </p:sp>
      <p:sp>
        <p:nvSpPr>
          <p:cNvPr id="3" name="">
            <a:extLst xmlns:a="http://schemas.openxmlformats.org/drawingml/2006/main">
              <a:ext uri="{FF2B5EF4-FFF2-40B4-BE49-F238E27FC236}">
                <a16:creationId xmlns:a16="http://schemas.microsoft.com/office/drawing/2014/main" id="{E68C7C66-B265-4662-99D8-8570B75EBC25}"/>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평가 정답과 금지 주장 목록은 런타임 입력에서 제거한다</a:t>
            </a:r>
          </a:p>
        </p:txBody>
      </p:sp>
      <p:sp>
        <p:nvSpPr>
          <p:cNvPr id="4" name="">
            <a:extLst xmlns:a="http://schemas.openxmlformats.org/drawingml/2006/main">
              <a:ext uri="{FF2B5EF4-FFF2-40B4-BE49-F238E27FC236}">
                <a16:creationId xmlns:a16="http://schemas.microsoft.com/office/drawing/2014/main" id="{1D9662E5-6C8C-4A8A-9E1B-36DFDC1B15FE}"/>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098530A4-3A65-45FA-ABA1-57C532CE13E9}"/>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C8B75F09-363C-4C25-867F-7F2BA6CD22EB}"/>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38F9E99C-E457-4817-878D-CAE179F6E67A}"/>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BEB52311-4275-4E07-93BA-4810992C72EB}"/>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9" name="">
            <a:extLst xmlns:a="http://schemas.openxmlformats.org/drawingml/2006/main">
              <a:ext uri="{FF2B5EF4-FFF2-40B4-BE49-F238E27FC236}">
                <a16:creationId xmlns:a16="http://schemas.microsoft.com/office/drawing/2014/main" id="{7B4A7562-2960-4FD4-8327-0834DADEBDCF}"/>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437BD83D-E5C8-41B9-90C2-F2AFB7014778}"/>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24F0C295-96CE-48EF-86A2-52F1F16CB340}"/>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12</a:t>
            </a:r>
          </a:p>
        </p:txBody>
      </p:sp>
      <p:sp>
        <p:nvSpPr>
          <p:cNvPr id="12" name="">
            <a:extLst xmlns:a="http://schemas.openxmlformats.org/drawingml/2006/main">
              <a:ext uri="{FF2B5EF4-FFF2-40B4-BE49-F238E27FC236}">
                <a16:creationId xmlns:a16="http://schemas.microsoft.com/office/drawing/2014/main" id="{4D75C3E5-A2C7-4C7A-953E-5111A60B1072}"/>
              </a:ext>
            </a:extLst>
          </p:cNvPr>
          <p:cNvSpPr>
            <a:spLocks xmlns:a="http://schemas.openxmlformats.org/drawingml/2006/main" noGrp="1"/>
          </p:cNvSpPr>
          <p:nvPr/>
        </p:nvSpPr>
        <p:spPr>
          <a:xfrm xmlns:a="http://schemas.openxmlformats.org/drawingml/2006/main">
            <a:off x="514350" y="1952625"/>
            <a:ext cx="4905375" cy="3467100"/>
          </a:xfrm>
          <a:prstGeom xmlns:a="http://schemas.openxmlformats.org/drawingml/2006/main" prst="roundRect">
            <a:avLst>
              <a:gd name="adj" fmla="val 2198"/>
            </a:avLst>
          </a:prstGeom>
          <a:solidFill xmlns:a="http://schemas.openxmlformats.org/drawingml/2006/main">
            <a:srgbClr val="102638"/>
          </a:solidFill>
          <a:ln xmlns:a="http://schemas.openxmlformats.org/drawingml/2006/main" w="11430">
            <a:solidFill>
              <a:srgbClr val="355267"/>
            </a:solidFill>
          </a:ln>
        </p:spPr>
      </p:sp>
      <p:sp>
        <p:nvSpPr>
          <p:cNvPr id="13" name="">
            <a:extLst xmlns:a="http://schemas.openxmlformats.org/drawingml/2006/main">
              <a:ext uri="{FF2B5EF4-FFF2-40B4-BE49-F238E27FC236}">
                <a16:creationId xmlns:a16="http://schemas.microsoft.com/office/drawing/2014/main" id="{73D49AC5-515C-48C1-BBDA-4731A8E40ED0}"/>
              </a:ext>
            </a:extLst>
          </p:cNvPr>
          <p:cNvSpPr>
            <a:spLocks xmlns:a="http://schemas.openxmlformats.org/drawingml/2006/main" noGrp="1"/>
          </p:cNvSpPr>
          <p:nvPr/>
        </p:nvSpPr>
        <p:spPr>
          <a:xfrm xmlns:a="http://schemas.openxmlformats.org/drawingml/2006/main">
            <a:off x="762000" y="21812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DD4BF"/>
                </a:solidFill>
                <a:latin typeface="Noto Sans CJK KR"/>
                <a:ea typeface="Noto Sans CJK KR"/>
                <a:cs typeface="Noto Sans CJK KR"/>
              </a:defRPr>
            </a:pPr>
            <a:r>
              <a:rPr sz="2025" b="1">
                <a:solidFill>
                  <a:srgbClr val="2DD4BF"/>
                </a:solidFill>
                <a:latin typeface="Noto Sans CJK KR"/>
                <a:ea typeface="Noto Sans CJK KR"/>
                <a:cs typeface="Noto Sans CJK KR"/>
              </a:rPr>
              <a:t>로컬 LLM 입력</a:t>
            </a:r>
          </a:p>
        </p:txBody>
      </p:sp>
      <p:sp>
        <p:nvSpPr>
          <p:cNvPr id="14" name="">
            <a:extLst xmlns:a="http://schemas.openxmlformats.org/drawingml/2006/main">
              <a:ext uri="{FF2B5EF4-FFF2-40B4-BE49-F238E27FC236}">
                <a16:creationId xmlns:a16="http://schemas.microsoft.com/office/drawing/2014/main" id="{FB2FB6C6-FAA5-471B-BB9A-4FF070CE92A2}"/>
              </a:ext>
            </a:extLst>
          </p:cNvPr>
          <p:cNvSpPr>
            <a:spLocks xmlns:a="http://schemas.openxmlformats.org/drawingml/2006/main" noGrp="1"/>
          </p:cNvSpPr>
          <p:nvPr/>
        </p:nvSpPr>
        <p:spPr>
          <a:xfrm xmlns:a="http://schemas.openxmlformats.org/drawingml/2006/main">
            <a:off x="800100" y="2771775"/>
            <a:ext cx="228600" cy="228600"/>
          </a:xfrm>
          <a:prstGeom xmlns:a="http://schemas.openxmlformats.org/drawingml/2006/main" prst="ellipse">
            <a:avLst/>
          </a:prstGeom>
          <a:solidFill xmlns:a="http://schemas.openxmlformats.org/drawingml/2006/main">
            <a:srgbClr val="4D8DFF"/>
          </a:solidFill>
          <a:ln xmlns:a="http://schemas.openxmlformats.org/drawingml/2006/main" w="9525">
            <a:solidFill>
              <a:srgbClr val="4D8DFF"/>
            </a:solidFill>
          </a:ln>
        </p:spPr>
      </p:sp>
      <p:sp>
        <p:nvSpPr>
          <p:cNvPr id="15" name="">
            <a:extLst xmlns:a="http://schemas.openxmlformats.org/drawingml/2006/main">
              <a:ext uri="{FF2B5EF4-FFF2-40B4-BE49-F238E27FC236}">
                <a16:creationId xmlns:a16="http://schemas.microsoft.com/office/drawing/2014/main" id="{9904DEBF-2D82-4743-A382-61C35206C9C4}"/>
              </a:ext>
            </a:extLst>
          </p:cNvPr>
          <p:cNvSpPr>
            <a:spLocks xmlns:a="http://schemas.openxmlformats.org/drawingml/2006/main" noGrp="1"/>
          </p:cNvSpPr>
          <p:nvPr/>
        </p:nvSpPr>
        <p:spPr>
          <a:xfrm xmlns:a="http://schemas.openxmlformats.org/drawingml/2006/main">
            <a:off x="800100" y="28003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07111E"/>
                </a:solidFill>
                <a:latin typeface="Noto Sans CJK KR"/>
                <a:ea typeface="Noto Sans CJK KR"/>
                <a:cs typeface="Noto Sans CJK KR"/>
              </a:defRPr>
            </a:pPr>
            <a:r>
              <a:rPr sz="975" b="1">
                <a:solidFill>
                  <a:srgbClr val="07111E"/>
                </a:solidFill>
                <a:latin typeface="Noto Sans CJK KR"/>
                <a:ea typeface="Noto Sans CJK KR"/>
                <a:cs typeface="Noto Sans CJK KR"/>
              </a:rPr>
              <a:t>1</a:t>
            </a:r>
          </a:p>
        </p:txBody>
      </p:sp>
      <p:sp>
        <p:nvSpPr>
          <p:cNvPr id="16" name="">
            <a:extLst xmlns:a="http://schemas.openxmlformats.org/drawingml/2006/main">
              <a:ext uri="{FF2B5EF4-FFF2-40B4-BE49-F238E27FC236}">
                <a16:creationId xmlns:a16="http://schemas.microsoft.com/office/drawing/2014/main" id="{0B8045E1-3BBB-4554-8758-F5F01F0BC513}"/>
              </a:ext>
            </a:extLst>
          </p:cNvPr>
          <p:cNvSpPr>
            <a:spLocks xmlns:a="http://schemas.openxmlformats.org/drawingml/2006/main" noGrp="1"/>
          </p:cNvSpPr>
          <p:nvPr/>
        </p:nvSpPr>
        <p:spPr>
          <a:xfrm xmlns:a="http://schemas.openxmlformats.org/drawingml/2006/main">
            <a:off x="1162050" y="27527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F4F8FB"/>
                </a:solidFill>
                <a:latin typeface="Noto Sans CJK KR"/>
                <a:ea typeface="Noto Sans CJK KR"/>
                <a:cs typeface="Noto Sans CJK KR"/>
              </a:defRPr>
            </a:pPr>
            <a:r>
              <a:rPr sz="1425" b="1">
                <a:solidFill>
                  <a:srgbClr val="F4F8FB"/>
                </a:solidFill>
                <a:latin typeface="Noto Sans CJK KR"/>
                <a:ea typeface="Noto Sans CJK KR"/>
                <a:cs typeface="Noto Sans CJK KR"/>
              </a:rPr>
              <a:t>시스템 규칙</a:t>
            </a:r>
          </a:p>
        </p:txBody>
      </p:sp>
      <p:sp>
        <p:nvSpPr>
          <p:cNvPr id="17" name="">
            <a:extLst xmlns:a="http://schemas.openxmlformats.org/drawingml/2006/main">
              <a:ext uri="{FF2B5EF4-FFF2-40B4-BE49-F238E27FC236}">
                <a16:creationId xmlns:a16="http://schemas.microsoft.com/office/drawing/2014/main" id="{1AF1F20F-E046-447B-B9AA-C617BB9A60EB}"/>
              </a:ext>
            </a:extLst>
          </p:cNvPr>
          <p:cNvSpPr>
            <a:spLocks xmlns:a="http://schemas.openxmlformats.org/drawingml/2006/main" noGrp="1"/>
          </p:cNvSpPr>
          <p:nvPr/>
        </p:nvSpPr>
        <p:spPr>
          <a:xfrm xmlns:a="http://schemas.openxmlformats.org/drawingml/2006/main">
            <a:off x="800100" y="3257550"/>
            <a:ext cx="228600" cy="228600"/>
          </a:xfrm>
          <a:prstGeom xmlns:a="http://schemas.openxmlformats.org/drawingml/2006/main" prst="ellipse">
            <a:avLst/>
          </a:prstGeom>
          <a:solidFill xmlns:a="http://schemas.openxmlformats.org/drawingml/2006/main">
            <a:srgbClr val="4D8DFF"/>
          </a:solidFill>
          <a:ln xmlns:a="http://schemas.openxmlformats.org/drawingml/2006/main" w="9525">
            <a:solidFill>
              <a:srgbClr val="4D8DFF"/>
            </a:solidFill>
          </a:ln>
        </p:spPr>
      </p:sp>
      <p:sp>
        <p:nvSpPr>
          <p:cNvPr id="18" name="">
            <a:extLst xmlns:a="http://schemas.openxmlformats.org/drawingml/2006/main">
              <a:ext uri="{FF2B5EF4-FFF2-40B4-BE49-F238E27FC236}">
                <a16:creationId xmlns:a16="http://schemas.microsoft.com/office/drawing/2014/main" id="{BB3B27C8-BE7E-4952-B864-69980E0AE2C0}"/>
              </a:ext>
            </a:extLst>
          </p:cNvPr>
          <p:cNvSpPr>
            <a:spLocks xmlns:a="http://schemas.openxmlformats.org/drawingml/2006/main" noGrp="1"/>
          </p:cNvSpPr>
          <p:nvPr/>
        </p:nvSpPr>
        <p:spPr>
          <a:xfrm xmlns:a="http://schemas.openxmlformats.org/drawingml/2006/main">
            <a:off x="800100" y="3286125"/>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07111E"/>
                </a:solidFill>
                <a:latin typeface="Noto Sans CJK KR"/>
                <a:ea typeface="Noto Sans CJK KR"/>
                <a:cs typeface="Noto Sans CJK KR"/>
              </a:defRPr>
            </a:pPr>
            <a:r>
              <a:rPr sz="975" b="1">
                <a:solidFill>
                  <a:srgbClr val="07111E"/>
                </a:solidFill>
                <a:latin typeface="Noto Sans CJK KR"/>
                <a:ea typeface="Noto Sans CJK KR"/>
                <a:cs typeface="Noto Sans CJK KR"/>
              </a:rPr>
              <a:t>2</a:t>
            </a:r>
          </a:p>
        </p:txBody>
      </p:sp>
      <p:sp>
        <p:nvSpPr>
          <p:cNvPr id="19" name="">
            <a:extLst xmlns:a="http://schemas.openxmlformats.org/drawingml/2006/main">
              <a:ext uri="{FF2B5EF4-FFF2-40B4-BE49-F238E27FC236}">
                <a16:creationId xmlns:a16="http://schemas.microsoft.com/office/drawing/2014/main" id="{CB9B0236-3117-4CE3-81C8-125D83ADDA37}"/>
              </a:ext>
            </a:extLst>
          </p:cNvPr>
          <p:cNvSpPr>
            <a:spLocks xmlns:a="http://schemas.openxmlformats.org/drawingml/2006/main" noGrp="1"/>
          </p:cNvSpPr>
          <p:nvPr/>
        </p:nvSpPr>
        <p:spPr>
          <a:xfrm xmlns:a="http://schemas.openxmlformats.org/drawingml/2006/main">
            <a:off x="1162050" y="323850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F4F8FB"/>
                </a:solidFill>
                <a:latin typeface="Noto Sans CJK KR"/>
                <a:ea typeface="Noto Sans CJK KR"/>
                <a:cs typeface="Noto Sans CJK KR"/>
              </a:defRPr>
            </a:pPr>
            <a:r>
              <a:rPr sz="1425" b="1">
                <a:solidFill>
                  <a:srgbClr val="F4F8FB"/>
                </a:solidFill>
                <a:latin typeface="Noto Sans CJK KR"/>
                <a:ea typeface="Noto Sans CJK KR"/>
                <a:cs typeface="Noto Sans CJK KR"/>
              </a:rPr>
              <a:t>사용자 질문</a:t>
            </a:r>
          </a:p>
        </p:txBody>
      </p:sp>
      <p:sp>
        <p:nvSpPr>
          <p:cNvPr id="20" name="">
            <a:extLst xmlns:a="http://schemas.openxmlformats.org/drawingml/2006/main">
              <a:ext uri="{FF2B5EF4-FFF2-40B4-BE49-F238E27FC236}">
                <a16:creationId xmlns:a16="http://schemas.microsoft.com/office/drawing/2014/main" id="{35E32D04-76C3-400B-B23A-3A44ADBB6D72}"/>
              </a:ext>
            </a:extLst>
          </p:cNvPr>
          <p:cNvSpPr>
            <a:spLocks xmlns:a="http://schemas.openxmlformats.org/drawingml/2006/main" noGrp="1"/>
          </p:cNvSpPr>
          <p:nvPr/>
        </p:nvSpPr>
        <p:spPr>
          <a:xfrm xmlns:a="http://schemas.openxmlformats.org/drawingml/2006/main">
            <a:off x="800100" y="3743325"/>
            <a:ext cx="228600" cy="228600"/>
          </a:xfrm>
          <a:prstGeom xmlns:a="http://schemas.openxmlformats.org/drawingml/2006/main" prst="ellipse">
            <a:avLst/>
          </a:prstGeom>
          <a:solidFill xmlns:a="http://schemas.openxmlformats.org/drawingml/2006/main">
            <a:srgbClr val="2DD4BF"/>
          </a:solidFill>
          <a:ln xmlns:a="http://schemas.openxmlformats.org/drawingml/2006/main" w="9525">
            <a:solidFill>
              <a:srgbClr val="2DD4BF"/>
            </a:solidFill>
          </a:ln>
        </p:spPr>
      </p:sp>
      <p:sp>
        <p:nvSpPr>
          <p:cNvPr id="21" name="">
            <a:extLst xmlns:a="http://schemas.openxmlformats.org/drawingml/2006/main">
              <a:ext uri="{FF2B5EF4-FFF2-40B4-BE49-F238E27FC236}">
                <a16:creationId xmlns:a16="http://schemas.microsoft.com/office/drawing/2014/main" id="{27A2DA6F-7A69-436D-895C-1FAB875CAC3D}"/>
              </a:ext>
            </a:extLst>
          </p:cNvPr>
          <p:cNvSpPr>
            <a:spLocks xmlns:a="http://schemas.openxmlformats.org/drawingml/2006/main" noGrp="1"/>
          </p:cNvSpPr>
          <p:nvPr/>
        </p:nvSpPr>
        <p:spPr>
          <a:xfrm xmlns:a="http://schemas.openxmlformats.org/drawingml/2006/main">
            <a:off x="800100" y="377190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07111E"/>
                </a:solidFill>
                <a:latin typeface="Noto Sans CJK KR"/>
                <a:ea typeface="Noto Sans CJK KR"/>
                <a:cs typeface="Noto Sans CJK KR"/>
              </a:defRPr>
            </a:pPr>
            <a:r>
              <a:rPr sz="975" b="1">
                <a:solidFill>
                  <a:srgbClr val="07111E"/>
                </a:solidFill>
                <a:latin typeface="Noto Sans CJK KR"/>
                <a:ea typeface="Noto Sans CJK KR"/>
                <a:cs typeface="Noto Sans CJK KR"/>
              </a:rPr>
              <a:t>3</a:t>
            </a:r>
          </a:p>
        </p:txBody>
      </p:sp>
      <p:sp>
        <p:nvSpPr>
          <p:cNvPr id="22" name="">
            <a:extLst xmlns:a="http://schemas.openxmlformats.org/drawingml/2006/main">
              <a:ext uri="{FF2B5EF4-FFF2-40B4-BE49-F238E27FC236}">
                <a16:creationId xmlns:a16="http://schemas.microsoft.com/office/drawing/2014/main" id="{B5AEA731-4EBD-4A2A-831E-6ADEDB9F80F2}"/>
              </a:ext>
            </a:extLst>
          </p:cNvPr>
          <p:cNvSpPr>
            <a:spLocks xmlns:a="http://schemas.openxmlformats.org/drawingml/2006/main" noGrp="1"/>
          </p:cNvSpPr>
          <p:nvPr/>
        </p:nvSpPr>
        <p:spPr>
          <a:xfrm xmlns:a="http://schemas.openxmlformats.org/drawingml/2006/main">
            <a:off x="1162050" y="372427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F4F8FB"/>
                </a:solidFill>
                <a:latin typeface="Noto Sans CJK KR"/>
                <a:ea typeface="Noto Sans CJK KR"/>
                <a:cs typeface="Noto Sans CJK KR"/>
              </a:defRPr>
            </a:pPr>
            <a:r>
              <a:rPr sz="1425" b="0">
                <a:solidFill>
                  <a:srgbClr val="F4F8FB"/>
                </a:solidFill>
                <a:latin typeface="Noto Sans CJK KR"/>
                <a:ea typeface="Noto Sans CJK KR"/>
                <a:cs typeface="Noto Sans CJK KR"/>
              </a:rPr>
              <a:t>[1] 파일명 + 근거 원문</a:t>
            </a:r>
          </a:p>
        </p:txBody>
      </p:sp>
      <p:sp>
        <p:nvSpPr>
          <p:cNvPr id="23" name="">
            <a:extLst xmlns:a="http://schemas.openxmlformats.org/drawingml/2006/main">
              <a:ext uri="{FF2B5EF4-FFF2-40B4-BE49-F238E27FC236}">
                <a16:creationId xmlns:a16="http://schemas.microsoft.com/office/drawing/2014/main" id="{A9C12116-C27F-45D0-97FA-4ED2F7625A6A}"/>
              </a:ext>
            </a:extLst>
          </p:cNvPr>
          <p:cNvSpPr>
            <a:spLocks xmlns:a="http://schemas.openxmlformats.org/drawingml/2006/main" noGrp="1"/>
          </p:cNvSpPr>
          <p:nvPr/>
        </p:nvSpPr>
        <p:spPr>
          <a:xfrm xmlns:a="http://schemas.openxmlformats.org/drawingml/2006/main">
            <a:off x="800100" y="4229100"/>
            <a:ext cx="228600" cy="228600"/>
          </a:xfrm>
          <a:prstGeom xmlns:a="http://schemas.openxmlformats.org/drawingml/2006/main" prst="ellipse">
            <a:avLst/>
          </a:prstGeom>
          <a:solidFill xmlns:a="http://schemas.openxmlformats.org/drawingml/2006/main">
            <a:srgbClr val="2DD4BF"/>
          </a:solidFill>
          <a:ln xmlns:a="http://schemas.openxmlformats.org/drawingml/2006/main" w="9525">
            <a:solidFill>
              <a:srgbClr val="2DD4BF"/>
            </a:solidFill>
          </a:ln>
        </p:spPr>
      </p:sp>
      <p:sp>
        <p:nvSpPr>
          <p:cNvPr id="24" name="">
            <a:extLst xmlns:a="http://schemas.openxmlformats.org/drawingml/2006/main">
              <a:ext uri="{FF2B5EF4-FFF2-40B4-BE49-F238E27FC236}">
                <a16:creationId xmlns:a16="http://schemas.microsoft.com/office/drawing/2014/main" id="{F40CBB52-EE88-4EE1-A30B-C27ADEE046CF}"/>
              </a:ext>
            </a:extLst>
          </p:cNvPr>
          <p:cNvSpPr>
            <a:spLocks xmlns:a="http://schemas.openxmlformats.org/drawingml/2006/main" noGrp="1"/>
          </p:cNvSpPr>
          <p:nvPr/>
        </p:nvSpPr>
        <p:spPr>
          <a:xfrm xmlns:a="http://schemas.openxmlformats.org/drawingml/2006/main">
            <a:off x="800100" y="4257675"/>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07111E"/>
                </a:solidFill>
                <a:latin typeface="Noto Sans CJK KR"/>
                <a:ea typeface="Noto Sans CJK KR"/>
                <a:cs typeface="Noto Sans CJK KR"/>
              </a:defRPr>
            </a:pPr>
            <a:r>
              <a:rPr sz="975" b="1">
                <a:solidFill>
                  <a:srgbClr val="07111E"/>
                </a:solidFill>
                <a:latin typeface="Noto Sans CJK KR"/>
                <a:ea typeface="Noto Sans CJK KR"/>
                <a:cs typeface="Noto Sans CJK KR"/>
              </a:rPr>
              <a:t>4</a:t>
            </a:r>
          </a:p>
        </p:txBody>
      </p:sp>
      <p:sp>
        <p:nvSpPr>
          <p:cNvPr id="25" name="">
            <a:extLst xmlns:a="http://schemas.openxmlformats.org/drawingml/2006/main">
              <a:ext uri="{FF2B5EF4-FFF2-40B4-BE49-F238E27FC236}">
                <a16:creationId xmlns:a16="http://schemas.microsoft.com/office/drawing/2014/main" id="{3AF27B74-E3AB-4439-A6E5-67C809BF8D9E}"/>
              </a:ext>
            </a:extLst>
          </p:cNvPr>
          <p:cNvSpPr>
            <a:spLocks xmlns:a="http://schemas.openxmlformats.org/drawingml/2006/main" noGrp="1"/>
          </p:cNvSpPr>
          <p:nvPr/>
        </p:nvSpPr>
        <p:spPr>
          <a:xfrm xmlns:a="http://schemas.openxmlformats.org/drawingml/2006/main">
            <a:off x="1162050" y="42100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F4F8FB"/>
                </a:solidFill>
                <a:latin typeface="Noto Sans CJK KR"/>
                <a:ea typeface="Noto Sans CJK KR"/>
                <a:cs typeface="Noto Sans CJK KR"/>
              </a:defRPr>
            </a:pPr>
            <a:r>
              <a:rPr sz="1425" b="0">
                <a:solidFill>
                  <a:srgbClr val="F4F8FB"/>
                </a:solidFill>
                <a:latin typeface="Noto Sans CJK KR"/>
                <a:ea typeface="Noto Sans CJK KR"/>
                <a:cs typeface="Noto Sans CJK KR"/>
              </a:rPr>
              <a:t>[2] 파일명 + 근거 원문</a:t>
            </a:r>
          </a:p>
        </p:txBody>
      </p:sp>
      <p:sp>
        <p:nvSpPr>
          <p:cNvPr id="26" name="">
            <a:extLst xmlns:a="http://schemas.openxmlformats.org/drawingml/2006/main">
              <a:ext uri="{FF2B5EF4-FFF2-40B4-BE49-F238E27FC236}">
                <a16:creationId xmlns:a16="http://schemas.microsoft.com/office/drawing/2014/main" id="{F7D72BC8-F832-4079-8FB4-DD5FA214F7D2}"/>
              </a:ext>
            </a:extLst>
          </p:cNvPr>
          <p:cNvSpPr>
            <a:spLocks xmlns:a="http://schemas.openxmlformats.org/drawingml/2006/main" noGrp="1"/>
          </p:cNvSpPr>
          <p:nvPr/>
        </p:nvSpPr>
        <p:spPr>
          <a:xfrm xmlns:a="http://schemas.openxmlformats.org/drawingml/2006/main">
            <a:off x="800100" y="4714875"/>
            <a:ext cx="228600" cy="228600"/>
          </a:xfrm>
          <a:prstGeom xmlns:a="http://schemas.openxmlformats.org/drawingml/2006/main" prst="ellipse">
            <a:avLst/>
          </a:prstGeom>
          <a:solidFill xmlns:a="http://schemas.openxmlformats.org/drawingml/2006/main">
            <a:srgbClr val="2DD4BF"/>
          </a:solidFill>
          <a:ln xmlns:a="http://schemas.openxmlformats.org/drawingml/2006/main" w="9525">
            <a:solidFill>
              <a:srgbClr val="2DD4BF"/>
            </a:solidFill>
          </a:ln>
        </p:spPr>
      </p:sp>
      <p:sp>
        <p:nvSpPr>
          <p:cNvPr id="27" name="">
            <a:extLst xmlns:a="http://schemas.openxmlformats.org/drawingml/2006/main">
              <a:ext uri="{FF2B5EF4-FFF2-40B4-BE49-F238E27FC236}">
                <a16:creationId xmlns:a16="http://schemas.microsoft.com/office/drawing/2014/main" id="{61D22590-4E61-4A0A-98A5-672CB840D464}"/>
              </a:ext>
            </a:extLst>
          </p:cNvPr>
          <p:cNvSpPr>
            <a:spLocks xmlns:a="http://schemas.openxmlformats.org/drawingml/2006/main" noGrp="1"/>
          </p:cNvSpPr>
          <p:nvPr/>
        </p:nvSpPr>
        <p:spPr>
          <a:xfrm xmlns:a="http://schemas.openxmlformats.org/drawingml/2006/main">
            <a:off x="800100" y="47434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07111E"/>
                </a:solidFill>
                <a:latin typeface="Noto Sans CJK KR"/>
                <a:ea typeface="Noto Sans CJK KR"/>
                <a:cs typeface="Noto Sans CJK KR"/>
              </a:defRPr>
            </a:pPr>
            <a:r>
              <a:rPr sz="975" b="1">
                <a:solidFill>
                  <a:srgbClr val="07111E"/>
                </a:solidFill>
                <a:latin typeface="Noto Sans CJK KR"/>
                <a:ea typeface="Noto Sans CJK KR"/>
                <a:cs typeface="Noto Sans CJK KR"/>
              </a:rPr>
              <a:t>5</a:t>
            </a:r>
          </a:p>
        </p:txBody>
      </p:sp>
      <p:sp>
        <p:nvSpPr>
          <p:cNvPr id="28" name="">
            <a:extLst xmlns:a="http://schemas.openxmlformats.org/drawingml/2006/main">
              <a:ext uri="{FF2B5EF4-FFF2-40B4-BE49-F238E27FC236}">
                <a16:creationId xmlns:a16="http://schemas.microsoft.com/office/drawing/2014/main" id="{ED3B7DBC-E7BB-42D4-818C-0BB5C4933910}"/>
              </a:ext>
            </a:extLst>
          </p:cNvPr>
          <p:cNvSpPr>
            <a:spLocks xmlns:a="http://schemas.openxmlformats.org/drawingml/2006/main" noGrp="1"/>
          </p:cNvSpPr>
          <p:nvPr/>
        </p:nvSpPr>
        <p:spPr>
          <a:xfrm xmlns:a="http://schemas.openxmlformats.org/drawingml/2006/main">
            <a:off x="1162050" y="46958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F4F8FB"/>
                </a:solidFill>
                <a:latin typeface="Noto Sans CJK KR"/>
                <a:ea typeface="Noto Sans CJK KR"/>
                <a:cs typeface="Noto Sans CJK KR"/>
              </a:defRPr>
            </a:pPr>
            <a:r>
              <a:rPr sz="1425" b="0">
                <a:solidFill>
                  <a:srgbClr val="F4F8FB"/>
                </a:solidFill>
                <a:latin typeface="Noto Sans CJK KR"/>
                <a:ea typeface="Noto Sans CJK KR"/>
                <a:cs typeface="Noto Sans CJK KR"/>
              </a:rPr>
              <a:t>문서 ID·버전·offset은 감사 기록</a:t>
            </a:r>
          </a:p>
        </p:txBody>
      </p:sp>
      <p:sp>
        <p:nvSpPr>
          <p:cNvPr id="29" name="">
            <a:extLst xmlns:a="http://schemas.openxmlformats.org/drawingml/2006/main">
              <a:ext uri="{FF2B5EF4-FFF2-40B4-BE49-F238E27FC236}">
                <a16:creationId xmlns:a16="http://schemas.microsoft.com/office/drawing/2014/main" id="{6EB33FD5-5325-440C-8514-EFCDC908497C}"/>
              </a:ext>
            </a:extLst>
          </p:cNvPr>
          <p:cNvSpPr>
            <a:spLocks xmlns:a="http://schemas.openxmlformats.org/drawingml/2006/main" noGrp="1"/>
          </p:cNvSpPr>
          <p:nvPr/>
        </p:nvSpPr>
        <p:spPr>
          <a:xfrm xmlns:a="http://schemas.openxmlformats.org/drawingml/2006/main">
            <a:off x="5819775" y="1952625"/>
            <a:ext cx="5838825" cy="3467100"/>
          </a:xfrm>
          <a:prstGeom xmlns:a="http://schemas.openxmlformats.org/drawingml/2006/main" prst="roundRect">
            <a:avLst>
              <a:gd name="adj" fmla="val 2198"/>
            </a:avLst>
          </a:prstGeom>
          <a:solidFill xmlns:a="http://schemas.openxmlformats.org/drawingml/2006/main">
            <a:srgbClr val="102638"/>
          </a:solidFill>
          <a:ln xmlns:a="http://schemas.openxmlformats.org/drawingml/2006/main" w="11430">
            <a:solidFill>
              <a:srgbClr val="355267"/>
            </a:solidFill>
          </a:ln>
        </p:spPr>
      </p:sp>
      <p:sp>
        <p:nvSpPr>
          <p:cNvPr id="30" name="">
            <a:extLst xmlns:a="http://schemas.openxmlformats.org/drawingml/2006/main">
              <a:ext uri="{FF2B5EF4-FFF2-40B4-BE49-F238E27FC236}">
                <a16:creationId xmlns:a16="http://schemas.microsoft.com/office/drawing/2014/main" id="{E6923744-84D7-4134-A3C0-C6FEF5951BF4}"/>
              </a:ext>
            </a:extLst>
          </p:cNvPr>
          <p:cNvSpPr>
            <a:spLocks xmlns:a="http://schemas.openxmlformats.org/drawingml/2006/main" noGrp="1"/>
          </p:cNvSpPr>
          <p:nvPr/>
        </p:nvSpPr>
        <p:spPr>
          <a:xfrm xmlns:a="http://schemas.openxmlformats.org/drawingml/2006/main">
            <a:off x="6076950" y="218122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6B57"/>
                </a:solidFill>
                <a:latin typeface="Noto Sans CJK KR"/>
                <a:ea typeface="Noto Sans CJK KR"/>
                <a:cs typeface="Noto Sans CJK KR"/>
              </a:defRPr>
            </a:pPr>
            <a:r>
              <a:rPr sz="2025" b="1">
                <a:solidFill>
                  <a:srgbClr val="FF6B57"/>
                </a:solidFill>
                <a:latin typeface="Noto Sans CJK KR"/>
                <a:ea typeface="Noto Sans CJK KR"/>
                <a:cs typeface="Noto Sans CJK KR"/>
              </a:rPr>
              <a:t>저장된 실행 결과</a:t>
            </a:r>
          </a:p>
        </p:txBody>
      </p:sp>
      <p:sp>
        <p:nvSpPr>
          <p:cNvPr id="31" name="">
            <a:extLst xmlns:a="http://schemas.openxmlformats.org/drawingml/2006/main">
              <a:ext uri="{FF2B5EF4-FFF2-40B4-BE49-F238E27FC236}">
                <a16:creationId xmlns:a16="http://schemas.microsoft.com/office/drawing/2014/main" id="{4B491D9A-CAA8-431D-8F64-912A37319356}"/>
              </a:ext>
            </a:extLst>
          </p:cNvPr>
          <p:cNvSpPr>
            <a:spLocks xmlns:a="http://schemas.openxmlformats.org/drawingml/2006/main" noGrp="1"/>
          </p:cNvSpPr>
          <p:nvPr/>
        </p:nvSpPr>
        <p:spPr>
          <a:xfrm xmlns:a="http://schemas.openxmlformats.org/drawingml/2006/main">
            <a:off x="6096000" y="27908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FF6B57"/>
                </a:solidFill>
                <a:latin typeface="Noto Sans CJK KR"/>
                <a:ea typeface="Noto Sans CJK KR"/>
                <a:cs typeface="Noto Sans CJK KR"/>
              </a:defRPr>
            </a:pPr>
            <a:r>
              <a:rPr sz="3450" b="1">
                <a:solidFill>
                  <a:srgbClr val="FF6B57"/>
                </a:solidFill>
                <a:latin typeface="Noto Sans CJK KR"/>
                <a:ea typeface="Noto Sans CJK KR"/>
                <a:cs typeface="Noto Sans CJK KR"/>
              </a:rPr>
              <a:t>295</a:t>
            </a:r>
          </a:p>
        </p:txBody>
      </p:sp>
      <p:sp>
        <p:nvSpPr>
          <p:cNvPr id="32" name="">
            <a:extLst xmlns:a="http://schemas.openxmlformats.org/drawingml/2006/main">
              <a:ext uri="{FF2B5EF4-FFF2-40B4-BE49-F238E27FC236}">
                <a16:creationId xmlns:a16="http://schemas.microsoft.com/office/drawing/2014/main" id="{0B8B147A-D090-4600-B254-4CD8AB96D640}"/>
              </a:ext>
            </a:extLst>
          </p:cNvPr>
          <p:cNvSpPr>
            <a:spLocks xmlns:a="http://schemas.openxmlformats.org/drawingml/2006/main" noGrp="1"/>
          </p:cNvSpPr>
          <p:nvPr/>
        </p:nvSpPr>
        <p:spPr>
          <a:xfrm xmlns:a="http://schemas.openxmlformats.org/drawingml/2006/main">
            <a:off x="6096000" y="340042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Qwen3-4B Q4_K_M 생성 답변</a:t>
            </a:r>
          </a:p>
        </p:txBody>
      </p:sp>
      <p:sp>
        <p:nvSpPr>
          <p:cNvPr id="33" name="">
            <a:extLst xmlns:a="http://schemas.openxmlformats.org/drawingml/2006/main">
              <a:ext uri="{FF2B5EF4-FFF2-40B4-BE49-F238E27FC236}">
                <a16:creationId xmlns:a16="http://schemas.microsoft.com/office/drawing/2014/main" id="{69500BC7-D7B8-486C-A661-47FD32AB24EF}"/>
              </a:ext>
            </a:extLst>
          </p:cNvPr>
          <p:cNvSpPr>
            <a:spLocks xmlns:a="http://schemas.openxmlformats.org/drawingml/2006/main" noGrp="1"/>
          </p:cNvSpPr>
          <p:nvPr/>
        </p:nvSpPr>
        <p:spPr>
          <a:xfrm xmlns:a="http://schemas.openxmlformats.org/drawingml/2006/main">
            <a:off x="8886825" y="279082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DD4BF"/>
                </a:solidFill>
                <a:latin typeface="Noto Sans CJK KR"/>
                <a:ea typeface="Noto Sans CJK KR"/>
                <a:cs typeface="Noto Sans CJK KR"/>
              </a:defRPr>
            </a:pPr>
            <a:r>
              <a:rPr sz="3450" b="1">
                <a:solidFill>
                  <a:srgbClr val="2DD4BF"/>
                </a:solidFill>
                <a:latin typeface="Noto Sans CJK KR"/>
                <a:ea typeface="Noto Sans CJK KR"/>
                <a:cs typeface="Noto Sans CJK KR"/>
              </a:rPr>
              <a:t>5</a:t>
            </a:r>
          </a:p>
        </p:txBody>
      </p:sp>
      <p:sp>
        <p:nvSpPr>
          <p:cNvPr id="34" name="">
            <a:extLst xmlns:a="http://schemas.openxmlformats.org/drawingml/2006/main">
              <a:ext uri="{FF2B5EF4-FFF2-40B4-BE49-F238E27FC236}">
                <a16:creationId xmlns:a16="http://schemas.microsoft.com/office/drawing/2014/main" id="{11A21C9C-2520-484F-809C-F8271962D7F1}"/>
              </a:ext>
            </a:extLst>
          </p:cNvPr>
          <p:cNvSpPr>
            <a:spLocks xmlns:a="http://schemas.openxmlformats.org/drawingml/2006/main" noGrp="1"/>
          </p:cNvSpPr>
          <p:nvPr/>
        </p:nvSpPr>
        <p:spPr>
          <a:xfrm xmlns:a="http://schemas.openxmlformats.org/drawingml/2006/main">
            <a:off x="8886825" y="340042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LLM 미호출 정상 차단</a:t>
            </a:r>
          </a:p>
        </p:txBody>
      </p:sp>
      <p:sp>
        <p:nvSpPr>
          <p:cNvPr id="35" name="">
            <a:extLst xmlns:a="http://schemas.openxmlformats.org/drawingml/2006/main">
              <a:ext uri="{FF2B5EF4-FFF2-40B4-BE49-F238E27FC236}">
                <a16:creationId xmlns:a16="http://schemas.microsoft.com/office/drawing/2014/main" id="{DBDB8426-A339-4475-959D-B398E4F6E706}"/>
              </a:ext>
            </a:extLst>
          </p:cNvPr>
          <p:cNvSpPr>
            <a:spLocks xmlns:a="http://schemas.openxmlformats.org/drawingml/2006/main" noGrp="1"/>
          </p:cNvSpPr>
          <p:nvPr/>
        </p:nvSpPr>
        <p:spPr>
          <a:xfrm xmlns:a="http://schemas.openxmlformats.org/drawingml/2006/main">
            <a:off x="6096000" y="410527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F6B94A"/>
                </a:solidFill>
                <a:latin typeface="Noto Sans CJK KR"/>
                <a:ea typeface="Noto Sans CJK KR"/>
                <a:cs typeface="Noto Sans CJK KR"/>
              </a:defRPr>
            </a:pPr>
            <a:r>
              <a:rPr sz="1425" b="1">
                <a:solidFill>
                  <a:srgbClr val="F6B94A"/>
                </a:solidFill>
                <a:latin typeface="Noto Sans CJK KR"/>
                <a:ea typeface="Noto Sans CJK KR"/>
                <a:cs typeface="Noto Sans CJK KR"/>
              </a:rPr>
              <a:t>근거 번호가 유효해도 주장을 지지한다는 보장은 없음</a:t>
            </a:r>
          </a:p>
        </p:txBody>
      </p:sp>
      <p:sp>
        <p:nvSpPr>
          <p:cNvPr id="36" name="">
            <a:extLst xmlns:a="http://schemas.openxmlformats.org/drawingml/2006/main">
              <a:ext uri="{FF2B5EF4-FFF2-40B4-BE49-F238E27FC236}">
                <a16:creationId xmlns:a16="http://schemas.microsoft.com/office/drawing/2014/main" id="{5E3B4828-D544-4118-B63F-4A6420FAE231}"/>
              </a:ext>
            </a:extLst>
          </p:cNvPr>
          <p:cNvSpPr>
            <a:spLocks xmlns:a="http://schemas.openxmlformats.org/drawingml/2006/main" noGrp="1"/>
          </p:cNvSpPr>
          <p:nvPr/>
        </p:nvSpPr>
        <p:spPr>
          <a:xfrm xmlns:a="http://schemas.openxmlformats.org/drawingml/2006/main">
            <a:off x="6096000" y="452437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BDCC"/>
                </a:solidFill>
                <a:latin typeface="Noto Sans CJK KR"/>
                <a:ea typeface="Noto Sans CJK KR"/>
                <a:cs typeface="Noto Sans CJK KR"/>
              </a:defRPr>
            </a:pPr>
            <a:r>
              <a:rPr sz="1425" b="0">
                <a:solidFill>
                  <a:srgbClr val="A8BDCC"/>
                </a:solidFill>
                <a:latin typeface="Noto Sans CJK KR"/>
                <a:ea typeface="Noto Sans CJK KR"/>
                <a:cs typeface="Noto Sans CJK KR"/>
              </a:rPr>
              <a:t>출력 잘림 4건 · 잘못된 인용번호 1건을 그대로 보존</a:t>
            </a:r>
          </a:p>
        </p:txBody>
      </p:sp>
      <p:sp>
        <p:nvSpPr>
          <p:cNvPr id="37" name="">
            <a:extLst xmlns:a="http://schemas.openxmlformats.org/drawingml/2006/main">
              <a:ext uri="{FF2B5EF4-FFF2-40B4-BE49-F238E27FC236}">
                <a16:creationId xmlns:a16="http://schemas.microsoft.com/office/drawing/2014/main" id="{3C544E14-E871-4EE7-BA82-2312188BFFCE}"/>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로컬 GPU 생성 · 외부 추론·유료 API 미사용 · 사람 승인 pending</a:t>
            </a:r>
          </a:p>
        </p:txBody>
      </p:sp>
    </p:spTree>
    <p:extLst>
      <p:ext uri="{BB962C8B-B14F-4D97-AF65-F5344CB8AC3E}">
        <p14:creationId xmlns:p14="http://schemas.microsoft.com/office/powerpoint/2010/main" val="1207506012"/>
      </p:ext>
    </p:extLst>
  </p:cSld>
</p:sld>
</file>

<file path=ppt/slides/slide13.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2425B56-826B-47F3-8783-EAD47097FA6B}"/>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05  환각 검증</a:t>
            </a:r>
          </a:p>
        </p:txBody>
      </p:sp>
      <p:sp>
        <p:nvSpPr>
          <p:cNvPr id="2" name="">
            <a:extLst xmlns:a="http://schemas.openxmlformats.org/drawingml/2006/main">
              <a:ext uri="{FF2B5EF4-FFF2-40B4-BE49-F238E27FC236}">
                <a16:creationId xmlns:a16="http://schemas.microsoft.com/office/drawing/2014/main" id="{E96D52B4-A23C-4637-AF1E-2AE3BE52C650}"/>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환각 탐지는 답변과 실제 생성 근거를 직접 비교한다</a:t>
            </a:r>
          </a:p>
        </p:txBody>
      </p:sp>
      <p:sp>
        <p:nvSpPr>
          <p:cNvPr id="3" name="">
            <a:extLst xmlns:a="http://schemas.openxmlformats.org/drawingml/2006/main">
              <a:ext uri="{FF2B5EF4-FFF2-40B4-BE49-F238E27FC236}">
                <a16:creationId xmlns:a16="http://schemas.microsoft.com/office/drawing/2014/main" id="{D07DC19D-3B23-4A19-A8DB-A9A978868742}"/>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문장 전체 O/X 대신 의심 구절의 Unicode 문자 위치를 반환한다</a:t>
            </a:r>
          </a:p>
        </p:txBody>
      </p:sp>
      <p:sp>
        <p:nvSpPr>
          <p:cNvPr id="4" name="">
            <a:extLst xmlns:a="http://schemas.openxmlformats.org/drawingml/2006/main">
              <a:ext uri="{FF2B5EF4-FFF2-40B4-BE49-F238E27FC236}">
                <a16:creationId xmlns:a16="http://schemas.microsoft.com/office/drawing/2014/main" id="{2B0A537B-1E42-432C-91EE-082450D5536A}"/>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998FEBEC-EDF1-4D9D-8027-F3E8E956EC06}"/>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7FA06E94-5482-43A6-BC96-49CF3005B908}"/>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44AF3F4B-C2C9-4195-A43C-2C81EE05142F}"/>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9EBFF160-B894-4BA4-9AEA-A50F50F763EA}"/>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26A0D358-0F34-48E6-806A-163DB9310949}"/>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0" name="">
            <a:extLst xmlns:a="http://schemas.openxmlformats.org/drawingml/2006/main">
              <a:ext uri="{FF2B5EF4-FFF2-40B4-BE49-F238E27FC236}">
                <a16:creationId xmlns:a16="http://schemas.microsoft.com/office/drawing/2014/main" id="{C254212B-8FC7-410E-98DD-F79B01445668}"/>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0634CEE1-7765-40E9-8A8C-582860124675}"/>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13</a:t>
            </a:r>
          </a:p>
        </p:txBody>
      </p:sp>
      <p:sp>
        <p:nvSpPr>
          <p:cNvPr id="12" name="">
            <a:extLst xmlns:a="http://schemas.openxmlformats.org/drawingml/2006/main">
              <a:ext uri="{FF2B5EF4-FFF2-40B4-BE49-F238E27FC236}">
                <a16:creationId xmlns:a16="http://schemas.microsoft.com/office/drawing/2014/main" id="{335F1DB8-39EC-4C94-95EF-540A699CE663}"/>
              </a:ext>
            </a:extLst>
          </p:cNvPr>
          <p:cNvSpPr>
            <a:spLocks xmlns:a="http://schemas.openxmlformats.org/drawingml/2006/main" noGrp="1"/>
          </p:cNvSpPr>
          <p:nvPr/>
        </p:nvSpPr>
        <p:spPr>
          <a:xfrm xmlns:a="http://schemas.openxmlformats.org/drawingml/2006/main">
            <a:off x="514350" y="2190750"/>
            <a:ext cx="2333625" cy="2133600"/>
          </a:xfrm>
          <a:prstGeom xmlns:a="http://schemas.openxmlformats.org/drawingml/2006/main" prst="roundRect">
            <a:avLst>
              <a:gd name="adj" fmla="val 3571"/>
            </a:avLst>
          </a:prstGeom>
          <a:solidFill xmlns:a="http://schemas.openxmlformats.org/drawingml/2006/main">
            <a:srgbClr val="102638"/>
          </a:solidFill>
          <a:ln xmlns:a="http://schemas.openxmlformats.org/drawingml/2006/main" w="11430">
            <a:solidFill>
              <a:srgbClr val="355267"/>
            </a:solidFill>
          </a:ln>
        </p:spPr>
      </p:sp>
      <p:sp>
        <p:nvSpPr>
          <p:cNvPr id="13" name="">
            <a:extLst xmlns:a="http://schemas.openxmlformats.org/drawingml/2006/main">
              <a:ext uri="{FF2B5EF4-FFF2-40B4-BE49-F238E27FC236}">
                <a16:creationId xmlns:a16="http://schemas.microsoft.com/office/drawing/2014/main" id="{CA7B7605-5BC7-4022-941F-ACC3D3FB3722}"/>
              </a:ext>
            </a:extLst>
          </p:cNvPr>
          <p:cNvSpPr>
            <a:spLocks xmlns:a="http://schemas.openxmlformats.org/drawingml/2006/main" noGrp="1"/>
          </p:cNvSpPr>
          <p:nvPr/>
        </p:nvSpPr>
        <p:spPr>
          <a:xfrm xmlns:a="http://schemas.openxmlformats.org/drawingml/2006/main">
            <a:off x="514350" y="2190750"/>
            <a:ext cx="66675" cy="213360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14" name="">
            <a:extLst xmlns:a="http://schemas.openxmlformats.org/drawingml/2006/main">
              <a:ext uri="{FF2B5EF4-FFF2-40B4-BE49-F238E27FC236}">
                <a16:creationId xmlns:a16="http://schemas.microsoft.com/office/drawing/2014/main" id="{709FA606-85B4-4010-9D3B-9DE743B77FCF}"/>
              </a:ext>
            </a:extLst>
          </p:cNvPr>
          <p:cNvSpPr>
            <a:spLocks xmlns:a="http://schemas.openxmlformats.org/drawingml/2006/main" noGrp="1"/>
          </p:cNvSpPr>
          <p:nvPr/>
        </p:nvSpPr>
        <p:spPr>
          <a:xfrm xmlns:a="http://schemas.openxmlformats.org/drawingml/2006/main">
            <a:off x="723900" y="236220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생성 근거 + 답변</a:t>
            </a:r>
          </a:p>
        </p:txBody>
      </p:sp>
      <p:sp>
        <p:nvSpPr>
          <p:cNvPr id="15" name="">
            <a:extLst xmlns:a="http://schemas.openxmlformats.org/drawingml/2006/main">
              <a:ext uri="{FF2B5EF4-FFF2-40B4-BE49-F238E27FC236}">
                <a16:creationId xmlns:a16="http://schemas.microsoft.com/office/drawing/2014/main" id="{2A957E0A-94BE-42CA-BF89-EE47B9DB37FE}"/>
              </a:ext>
            </a:extLst>
          </p:cNvPr>
          <p:cNvSpPr>
            <a:spLocks xmlns:a="http://schemas.openxmlformats.org/drawingml/2006/main" noGrp="1"/>
          </p:cNvSpPr>
          <p:nvPr/>
        </p:nvSpPr>
        <p:spPr>
          <a:xfrm xmlns:a="http://schemas.openxmlformats.org/drawingml/2006/main">
            <a:off x="723900" y="2781300"/>
            <a:ext cx="19335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당시 프롬프트에 들어간 근거</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정본 답변 문자열</a:t>
            </a:r>
          </a:p>
        </p:txBody>
      </p:sp>
      <p:sp>
        <p:nvSpPr>
          <p:cNvPr id="16" name="">
            <a:extLst xmlns:a="http://schemas.openxmlformats.org/drawingml/2006/main">
              <a:ext uri="{FF2B5EF4-FFF2-40B4-BE49-F238E27FC236}">
                <a16:creationId xmlns:a16="http://schemas.microsoft.com/office/drawing/2014/main" id="{31ED2563-EDE0-497D-876D-7194BB8A8EEF}"/>
              </a:ext>
            </a:extLst>
          </p:cNvPr>
          <p:cNvSpPr>
            <a:spLocks xmlns:a="http://schemas.openxmlformats.org/drawingml/2006/main" noGrp="1"/>
          </p:cNvSpPr>
          <p:nvPr/>
        </p:nvSpPr>
        <p:spPr>
          <a:xfrm xmlns:a="http://schemas.openxmlformats.org/drawingml/2006/main">
            <a:off x="3467100" y="2190750"/>
            <a:ext cx="2333625" cy="2133600"/>
          </a:xfrm>
          <a:prstGeom xmlns:a="http://schemas.openxmlformats.org/drawingml/2006/main" prst="roundRect">
            <a:avLst>
              <a:gd name="adj" fmla="val 3571"/>
            </a:avLst>
          </a:prstGeom>
          <a:solidFill xmlns:a="http://schemas.openxmlformats.org/drawingml/2006/main">
            <a:srgbClr val="102638"/>
          </a:solidFill>
          <a:ln xmlns:a="http://schemas.openxmlformats.org/drawingml/2006/main" w="11430">
            <a:solidFill>
              <a:srgbClr val="355267"/>
            </a:solidFill>
          </a:ln>
        </p:spPr>
      </p:sp>
      <p:sp>
        <p:nvSpPr>
          <p:cNvPr id="17" name="">
            <a:extLst xmlns:a="http://schemas.openxmlformats.org/drawingml/2006/main">
              <a:ext uri="{FF2B5EF4-FFF2-40B4-BE49-F238E27FC236}">
                <a16:creationId xmlns:a16="http://schemas.microsoft.com/office/drawing/2014/main" id="{A6B8587E-27A9-4848-AA88-7AA3BDFDD60B}"/>
              </a:ext>
            </a:extLst>
          </p:cNvPr>
          <p:cNvSpPr>
            <a:spLocks xmlns:a="http://schemas.openxmlformats.org/drawingml/2006/main" noGrp="1"/>
          </p:cNvSpPr>
          <p:nvPr/>
        </p:nvSpPr>
        <p:spPr>
          <a:xfrm xmlns:a="http://schemas.openxmlformats.org/drawingml/2006/main">
            <a:off x="3467100" y="2190750"/>
            <a:ext cx="66675" cy="213360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18" name="">
            <a:extLst xmlns:a="http://schemas.openxmlformats.org/drawingml/2006/main">
              <a:ext uri="{FF2B5EF4-FFF2-40B4-BE49-F238E27FC236}">
                <a16:creationId xmlns:a16="http://schemas.microsoft.com/office/drawing/2014/main" id="{96C93F34-D8DF-41E9-8B5F-E48DECFDF86D}"/>
              </a:ext>
            </a:extLst>
          </p:cNvPr>
          <p:cNvSpPr>
            <a:spLocks xmlns:a="http://schemas.openxmlformats.org/drawingml/2006/main" noGrp="1"/>
          </p:cNvSpPr>
          <p:nvPr/>
        </p:nvSpPr>
        <p:spPr>
          <a:xfrm xmlns:a="http://schemas.openxmlformats.org/drawingml/2006/main">
            <a:off x="3676650" y="236220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윈도우·토큰 정렬</a:t>
            </a:r>
          </a:p>
        </p:txBody>
      </p:sp>
      <p:sp>
        <p:nvSpPr>
          <p:cNvPr id="19" name="">
            <a:extLst xmlns:a="http://schemas.openxmlformats.org/drawingml/2006/main">
              <a:ext uri="{FF2B5EF4-FFF2-40B4-BE49-F238E27FC236}">
                <a16:creationId xmlns:a16="http://schemas.microsoft.com/office/drawing/2014/main" id="{737C8181-C8EA-46AD-B684-0EC6025D1BB1}"/>
              </a:ext>
            </a:extLst>
          </p:cNvPr>
          <p:cNvSpPr>
            <a:spLocks xmlns:a="http://schemas.openxmlformats.org/drawingml/2006/main" noGrp="1"/>
          </p:cNvSpPr>
          <p:nvPr/>
        </p:nvSpPr>
        <p:spPr>
          <a:xfrm xmlns:a="http://schemas.openxmlformats.org/drawingml/2006/main">
            <a:off x="3676650" y="2781300"/>
            <a:ext cx="19335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긴 문맥을 나누고</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답변 토큰 offset 유지</a:t>
            </a:r>
          </a:p>
        </p:txBody>
      </p:sp>
      <p:sp>
        <p:nvSpPr>
          <p:cNvPr id="20" name="">
            <a:extLst xmlns:a="http://schemas.openxmlformats.org/drawingml/2006/main">
              <a:ext uri="{FF2B5EF4-FFF2-40B4-BE49-F238E27FC236}">
                <a16:creationId xmlns:a16="http://schemas.microsoft.com/office/drawing/2014/main" id="{D60DF8E0-ED1D-4127-864D-234050AA1DB6}"/>
              </a:ext>
            </a:extLst>
          </p:cNvPr>
          <p:cNvSpPr>
            <a:spLocks xmlns:a="http://schemas.openxmlformats.org/drawingml/2006/main" noGrp="1"/>
          </p:cNvSpPr>
          <p:nvPr/>
        </p:nvSpPr>
        <p:spPr>
          <a:xfrm xmlns:a="http://schemas.openxmlformats.org/drawingml/2006/main">
            <a:off x="6419850" y="2190750"/>
            <a:ext cx="2333625" cy="2133600"/>
          </a:xfrm>
          <a:prstGeom xmlns:a="http://schemas.openxmlformats.org/drawingml/2006/main" prst="roundRect">
            <a:avLst>
              <a:gd name="adj" fmla="val 3571"/>
            </a:avLst>
          </a:prstGeom>
          <a:solidFill xmlns:a="http://schemas.openxmlformats.org/drawingml/2006/main">
            <a:srgbClr val="102638"/>
          </a:solidFill>
          <a:ln xmlns:a="http://schemas.openxmlformats.org/drawingml/2006/main" w="11430">
            <a:solidFill>
              <a:srgbClr val="355267"/>
            </a:solidFill>
          </a:ln>
        </p:spPr>
      </p:sp>
      <p:sp>
        <p:nvSpPr>
          <p:cNvPr id="21" name="">
            <a:extLst xmlns:a="http://schemas.openxmlformats.org/drawingml/2006/main">
              <a:ext uri="{FF2B5EF4-FFF2-40B4-BE49-F238E27FC236}">
                <a16:creationId xmlns:a16="http://schemas.microsoft.com/office/drawing/2014/main" id="{D5840452-1567-405F-A450-18CEF96096B7}"/>
              </a:ext>
            </a:extLst>
          </p:cNvPr>
          <p:cNvSpPr>
            <a:spLocks xmlns:a="http://schemas.openxmlformats.org/drawingml/2006/main" noGrp="1"/>
          </p:cNvSpPr>
          <p:nvPr/>
        </p:nvSpPr>
        <p:spPr>
          <a:xfrm xmlns:a="http://schemas.openxmlformats.org/drawingml/2006/main">
            <a:off x="6419850" y="2190750"/>
            <a:ext cx="66675" cy="2133600"/>
          </a:xfrm>
          <a:prstGeom xmlns:a="http://schemas.openxmlformats.org/drawingml/2006/main" prst="rect">
            <a:avLst/>
          </a:prstGeom>
          <a:solidFill xmlns:a="http://schemas.openxmlformats.org/drawingml/2006/main">
            <a:srgbClr val="F6B94A"/>
          </a:solidFill>
          <a:ln xmlns:a="http://schemas.openxmlformats.org/drawingml/2006/main" w="11430">
            <a:solidFill>
              <a:srgbClr val="F6B94A"/>
            </a:solidFill>
          </a:ln>
        </p:spPr>
      </p:sp>
      <p:sp>
        <p:nvSpPr>
          <p:cNvPr id="22" name="">
            <a:extLst xmlns:a="http://schemas.openxmlformats.org/drawingml/2006/main">
              <a:ext uri="{FF2B5EF4-FFF2-40B4-BE49-F238E27FC236}">
                <a16:creationId xmlns:a16="http://schemas.microsoft.com/office/drawing/2014/main" id="{946CDBC8-3837-4AAF-B325-E691236C466B}"/>
              </a:ext>
            </a:extLst>
          </p:cNvPr>
          <p:cNvSpPr>
            <a:spLocks xmlns:a="http://schemas.openxmlformats.org/drawingml/2006/main" noGrp="1"/>
          </p:cNvSpPr>
          <p:nvPr/>
        </p:nvSpPr>
        <p:spPr>
          <a:xfrm xmlns:a="http://schemas.openxmlformats.org/drawingml/2006/main">
            <a:off x="6629400" y="236220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토큰 분류</a:t>
            </a:r>
          </a:p>
        </p:txBody>
      </p:sp>
      <p:sp>
        <p:nvSpPr>
          <p:cNvPr id="23" name="">
            <a:extLst xmlns:a="http://schemas.openxmlformats.org/drawingml/2006/main">
              <a:ext uri="{FF2B5EF4-FFF2-40B4-BE49-F238E27FC236}">
                <a16:creationId xmlns:a16="http://schemas.microsoft.com/office/drawing/2014/main" id="{AAE2DD09-7267-4059-98D9-2993A5682CE1}"/>
              </a:ext>
            </a:extLst>
          </p:cNvPr>
          <p:cNvSpPr>
            <a:spLocks xmlns:a="http://schemas.openxmlformats.org/drawingml/2006/main" noGrp="1"/>
          </p:cNvSpPr>
          <p:nvPr/>
        </p:nvSpPr>
        <p:spPr>
          <a:xfrm xmlns:a="http://schemas.openxmlformats.org/drawingml/2006/main">
            <a:off x="6629400" y="2781300"/>
            <a:ext cx="19335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KLUE · XLM-R · BGE-M3</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근거 없음 / 모순 후보</a:t>
            </a:r>
          </a:p>
        </p:txBody>
      </p:sp>
      <p:sp>
        <p:nvSpPr>
          <p:cNvPr id="24" name="">
            <a:extLst xmlns:a="http://schemas.openxmlformats.org/drawingml/2006/main">
              <a:ext uri="{FF2B5EF4-FFF2-40B4-BE49-F238E27FC236}">
                <a16:creationId xmlns:a16="http://schemas.microsoft.com/office/drawing/2014/main" id="{75408CC1-3139-49C8-9A85-6CD5246C580C}"/>
              </a:ext>
            </a:extLst>
          </p:cNvPr>
          <p:cNvSpPr>
            <a:spLocks xmlns:a="http://schemas.openxmlformats.org/drawingml/2006/main" noGrp="1"/>
          </p:cNvSpPr>
          <p:nvPr/>
        </p:nvSpPr>
        <p:spPr>
          <a:xfrm xmlns:a="http://schemas.openxmlformats.org/drawingml/2006/main">
            <a:off x="9372600" y="2190750"/>
            <a:ext cx="2305050" cy="2133600"/>
          </a:xfrm>
          <a:prstGeom xmlns:a="http://schemas.openxmlformats.org/drawingml/2006/main" prst="roundRect">
            <a:avLst>
              <a:gd name="adj" fmla="val 3571"/>
            </a:avLst>
          </a:prstGeom>
          <a:solidFill xmlns:a="http://schemas.openxmlformats.org/drawingml/2006/main">
            <a:srgbClr val="102638"/>
          </a:solidFill>
          <a:ln xmlns:a="http://schemas.openxmlformats.org/drawingml/2006/main" w="11430">
            <a:solidFill>
              <a:srgbClr val="355267"/>
            </a:solidFill>
          </a:ln>
        </p:spPr>
      </p:sp>
      <p:sp>
        <p:nvSpPr>
          <p:cNvPr id="25" name="">
            <a:extLst xmlns:a="http://schemas.openxmlformats.org/drawingml/2006/main">
              <a:ext uri="{FF2B5EF4-FFF2-40B4-BE49-F238E27FC236}">
                <a16:creationId xmlns:a16="http://schemas.microsoft.com/office/drawing/2014/main" id="{79E76D9C-2170-43C3-9DE4-786DF3426316}"/>
              </a:ext>
            </a:extLst>
          </p:cNvPr>
          <p:cNvSpPr>
            <a:spLocks xmlns:a="http://schemas.openxmlformats.org/drawingml/2006/main" noGrp="1"/>
          </p:cNvSpPr>
          <p:nvPr/>
        </p:nvSpPr>
        <p:spPr>
          <a:xfrm xmlns:a="http://schemas.openxmlformats.org/drawingml/2006/main">
            <a:off x="9372600" y="2190750"/>
            <a:ext cx="66675" cy="213360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26" name="">
            <a:extLst xmlns:a="http://schemas.openxmlformats.org/drawingml/2006/main">
              <a:ext uri="{FF2B5EF4-FFF2-40B4-BE49-F238E27FC236}">
                <a16:creationId xmlns:a16="http://schemas.microsoft.com/office/drawing/2014/main" id="{0D421CC6-CBE7-4979-9C1C-513B6845BB41}"/>
              </a:ext>
            </a:extLst>
          </p:cNvPr>
          <p:cNvSpPr>
            <a:spLocks xmlns:a="http://schemas.openxmlformats.org/drawingml/2006/main" noGrp="1"/>
          </p:cNvSpPr>
          <p:nvPr/>
        </p:nvSpPr>
        <p:spPr>
          <a:xfrm xmlns:a="http://schemas.openxmlformats.org/drawingml/2006/main">
            <a:off x="9582150" y="2362200"/>
            <a:ext cx="1924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F4F8FB"/>
                </a:solidFill>
                <a:latin typeface="Noto Sans CJK KR"/>
                <a:ea typeface="Noto Sans CJK KR"/>
                <a:cs typeface="Noto Sans CJK KR"/>
              </a:defRPr>
            </a:pPr>
            <a:r>
              <a:rPr sz="1800" b="1">
                <a:solidFill>
                  <a:srgbClr val="F4F8FB"/>
                </a:solidFill>
                <a:latin typeface="Noto Sans CJK KR"/>
                <a:ea typeface="Noto Sans CJK KR"/>
                <a:cs typeface="Noto Sans CJK KR"/>
              </a:rPr>
              <a:t>문자 구절 표시</a:t>
            </a:r>
          </a:p>
        </p:txBody>
      </p:sp>
      <p:sp>
        <p:nvSpPr>
          <p:cNvPr id="27" name="">
            <a:extLst xmlns:a="http://schemas.openxmlformats.org/drawingml/2006/main">
              <a:ext uri="{FF2B5EF4-FFF2-40B4-BE49-F238E27FC236}">
                <a16:creationId xmlns:a16="http://schemas.microsoft.com/office/drawing/2014/main" id="{4DEF5FB5-F154-46B4-916C-A950F923228F}"/>
              </a:ext>
            </a:extLst>
          </p:cNvPr>
          <p:cNvSpPr>
            <a:spLocks xmlns:a="http://schemas.openxmlformats.org/drawingml/2006/main" noGrp="1"/>
          </p:cNvSpPr>
          <p:nvPr/>
        </p:nvSpPr>
        <p:spPr>
          <a:xfrm xmlns:a="http://schemas.openxmlformats.org/drawingml/2006/main">
            <a:off x="9582150" y="2781300"/>
            <a:ext cx="1905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토큰을 Unicode [start,end)로</a:t>
            </a:r>
          </a:p>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되돌려 UI 형광펜 표시</a:t>
            </a:r>
          </a:p>
        </p:txBody>
      </p:sp>
      <p:cxnSp>
        <p:nvCxnSpPr>
          <p:cNvPr id="61" name=""/>
          <p:cNvCxnSpPr>
            <a:stCxn xmlns:a="http://schemas.openxmlformats.org/drawingml/2006/main" id="12" idx="3"/>
            <a:endCxn xmlns:a="http://schemas.openxmlformats.org/drawingml/2006/main" id="16" idx="1"/>
          </p:cNvCxnSpPr>
          <p:nvPr/>
        </p:nvCxnSpPr>
        <p:spPr>
          <a:xfrm xmlns:a="http://schemas.openxmlformats.org/drawingml/2006/main">
            <a:off x="2847975" y="3257550"/>
            <a:ext cx="619125"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62" name=""/>
          <p:cNvCxnSpPr>
            <a:stCxn xmlns:a="http://schemas.openxmlformats.org/drawingml/2006/main" id="16" idx="3"/>
            <a:endCxn xmlns:a="http://schemas.openxmlformats.org/drawingml/2006/main" id="20" idx="1"/>
          </p:cNvCxnSpPr>
          <p:nvPr/>
        </p:nvCxnSpPr>
        <p:spPr>
          <a:xfrm xmlns:a="http://schemas.openxmlformats.org/drawingml/2006/main">
            <a:off x="5800725" y="3257550"/>
            <a:ext cx="619125" cy="0"/>
          </a:xfrm>
          <a:prstGeom xmlns:a="http://schemas.openxmlformats.org/drawingml/2006/main" prst="straightConnector1">
            <a:avLst/>
          </a:prstGeom>
          <a:ln xmlns:a="http://schemas.openxmlformats.org/drawingml/2006/main" w="19050">
            <a:solidFill>
              <a:srgbClr val="A8BDCC"/>
            </a:solidFill>
            <a:tailEnd type="triangle" w="sm" len="sm"/>
          </a:ln>
        </p:spPr>
      </p:cxnSp>
      <p:cxnSp>
        <p:nvCxnSpPr>
          <p:cNvPr id="63" name=""/>
          <p:cNvCxnSpPr>
            <a:stCxn xmlns:a="http://schemas.openxmlformats.org/drawingml/2006/main" id="20" idx="3"/>
            <a:endCxn xmlns:a="http://schemas.openxmlformats.org/drawingml/2006/main" id="24" idx="1"/>
          </p:cNvCxnSpPr>
          <p:nvPr/>
        </p:nvCxnSpPr>
        <p:spPr>
          <a:xfrm xmlns:a="http://schemas.openxmlformats.org/drawingml/2006/main">
            <a:off x="8753475" y="3257550"/>
            <a:ext cx="619125" cy="0"/>
          </a:xfrm>
          <a:prstGeom xmlns:a="http://schemas.openxmlformats.org/drawingml/2006/main" prst="straightConnector1">
            <a:avLst/>
          </a:prstGeom>
          <a:ln xmlns:a="http://schemas.openxmlformats.org/drawingml/2006/main" w="19050">
            <a:solidFill>
              <a:srgbClr val="A8BDCC"/>
            </a:solidFill>
            <a:tailEnd type="triangle" w="sm" len="sm"/>
          </a:ln>
        </p:spPr>
      </p:cxnSp>
      <p:sp>
        <p:nvSpPr>
          <p:cNvPr id="31" name="">
            <a:extLst xmlns:a="http://schemas.openxmlformats.org/drawingml/2006/main">
              <a:ext uri="{FF2B5EF4-FFF2-40B4-BE49-F238E27FC236}">
                <a16:creationId xmlns:a16="http://schemas.microsoft.com/office/drawing/2014/main" id="{51D36D39-6816-4E02-BFB4-A6F283FD82D5}"/>
              </a:ext>
            </a:extLst>
          </p:cNvPr>
          <p:cNvSpPr>
            <a:spLocks xmlns:a="http://schemas.openxmlformats.org/drawingml/2006/main" noGrp="1"/>
          </p:cNvSpPr>
          <p:nvPr/>
        </p:nvSpPr>
        <p:spPr>
          <a:xfrm xmlns:a="http://schemas.openxmlformats.org/drawingml/2006/main">
            <a:off x="1619250" y="4810125"/>
            <a:ext cx="8953500" cy="800100"/>
          </a:xfrm>
          <a:prstGeom xmlns:a="http://schemas.openxmlformats.org/drawingml/2006/main" prst="roundRect">
            <a:avLst>
              <a:gd name="adj" fmla="val 9524"/>
            </a:avLst>
          </a:prstGeom>
          <a:solidFill xmlns:a="http://schemas.openxmlformats.org/drawingml/2006/main">
            <a:srgbClr val="132E3C"/>
          </a:solidFill>
          <a:ln xmlns:a="http://schemas.openxmlformats.org/drawingml/2006/main" w="11430">
            <a:solidFill>
              <a:srgbClr val="24526A"/>
            </a:solidFill>
          </a:ln>
        </p:spPr>
      </p:sp>
      <p:sp>
        <p:nvSpPr>
          <p:cNvPr id="32" name="">
            <a:extLst xmlns:a="http://schemas.openxmlformats.org/drawingml/2006/main">
              <a:ext uri="{FF2B5EF4-FFF2-40B4-BE49-F238E27FC236}">
                <a16:creationId xmlns:a16="http://schemas.microsoft.com/office/drawing/2014/main" id="{9CA8D731-452E-4CFF-89B4-39577E2D9E8C}"/>
              </a:ext>
            </a:extLst>
          </p:cNvPr>
          <p:cNvSpPr>
            <a:spLocks xmlns:a="http://schemas.openxmlformats.org/drawingml/2006/main" noGrp="1"/>
          </p:cNvSpPr>
          <p:nvPr/>
        </p:nvSpPr>
        <p:spPr>
          <a:xfrm xmlns:a="http://schemas.openxmlformats.org/drawingml/2006/main">
            <a:off x="1866900" y="5057775"/>
            <a:ext cx="8458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F4F8FB"/>
                </a:solidFill>
                <a:latin typeface="Noto Sans CJK KR"/>
                <a:ea typeface="Noto Sans CJK KR"/>
                <a:cs typeface="Noto Sans CJK KR"/>
              </a:defRPr>
            </a:pPr>
            <a:r>
              <a:rPr sz="1650" b="1">
                <a:solidFill>
                  <a:srgbClr val="F4F8FB"/>
                </a:solidFill>
                <a:latin typeface="Noto Sans CJK KR"/>
                <a:ea typeface="Noto Sans CJK KR"/>
                <a:cs typeface="Noto Sans CJK KR"/>
              </a:rPr>
              <a:t>규칙 검증: 금액 · VAT · 날짜 · 자격 · FTE     /     학습 탐지: 문서가 지지하지 않는 구절</a:t>
            </a:r>
          </a:p>
        </p:txBody>
      </p:sp>
      <p:sp>
        <p:nvSpPr>
          <p:cNvPr id="33" name="">
            <a:extLst xmlns:a="http://schemas.openxmlformats.org/drawingml/2006/main">
              <a:ext uri="{FF2B5EF4-FFF2-40B4-BE49-F238E27FC236}">
                <a16:creationId xmlns:a16="http://schemas.microsoft.com/office/drawing/2014/main" id="{80D1CA09-84E2-4879-999E-642ACF529BE6}"/>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검색 임베딩 모델과 환각 탐지용 체크포인트를 구분</a:t>
            </a:r>
          </a:p>
        </p:txBody>
      </p:sp>
    </p:spTree>
    <p:extLst>
      <p:ext uri="{BB962C8B-B14F-4D97-AF65-F5344CB8AC3E}">
        <p14:creationId xmlns:p14="http://schemas.microsoft.com/office/powerpoint/2010/main" val="48886712"/>
      </p:ext>
    </p:extLst>
  </p:cSld>
</p:sld>
</file>

<file path=ppt/slides/slide14.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85C8C83-B43F-4052-9075-A85672B52597}"/>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05  환각 검증</a:t>
            </a:r>
          </a:p>
        </p:txBody>
      </p:sp>
      <p:sp>
        <p:nvSpPr>
          <p:cNvPr id="2" name="">
            <a:extLst xmlns:a="http://schemas.openxmlformats.org/drawingml/2006/main">
              <a:ext uri="{FF2B5EF4-FFF2-40B4-BE49-F238E27FC236}">
                <a16:creationId xmlns:a16="http://schemas.microsoft.com/office/drawing/2014/main" id="{BA29474F-DCEF-4A93-B175-7696474C7A6B}"/>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나라장터 도메인 모델 비교는 평가 진행 중</a:t>
            </a:r>
          </a:p>
        </p:txBody>
      </p:sp>
      <p:sp>
        <p:nvSpPr>
          <p:cNvPr id="3" name="">
            <a:extLst xmlns:a="http://schemas.openxmlformats.org/drawingml/2006/main">
              <a:ext uri="{FF2B5EF4-FFF2-40B4-BE49-F238E27FC236}">
                <a16:creationId xmlns:a16="http://schemas.microsoft.com/office/drawing/2014/main" id="{B672E4D1-9696-40D9-98B6-A07A1AF950C9}"/>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체크포인트 존재와 검증된 성능을 구분한다</a:t>
            </a:r>
          </a:p>
        </p:txBody>
      </p:sp>
      <p:sp>
        <p:nvSpPr>
          <p:cNvPr id="4" name="">
            <a:extLst xmlns:a="http://schemas.openxmlformats.org/drawingml/2006/main">
              <a:ext uri="{FF2B5EF4-FFF2-40B4-BE49-F238E27FC236}">
                <a16:creationId xmlns:a16="http://schemas.microsoft.com/office/drawing/2014/main" id="{75652280-C464-4B31-AD12-CD10314642B3}"/>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4CCB2FBF-1C98-4AD0-BB7A-89CEFE3A942E}"/>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4802E5B0-8F47-4915-8E78-847D707CE240}"/>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FD0F21B4-BC8D-4668-A15C-97A5D111BFE7}"/>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AE0BA16F-EB91-4A44-BF59-D12B89A0AEB2}"/>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9B1E7879-9DE8-493D-83A6-DC64147D732E}"/>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0" name="">
            <a:extLst xmlns:a="http://schemas.openxmlformats.org/drawingml/2006/main">
              <a:ext uri="{FF2B5EF4-FFF2-40B4-BE49-F238E27FC236}">
                <a16:creationId xmlns:a16="http://schemas.microsoft.com/office/drawing/2014/main" id="{B094D989-487D-4C46-B8B9-1D7F80BAB778}"/>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D25429BA-1233-4023-B44D-E162321985DA}"/>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14</a:t>
            </a:r>
          </a:p>
        </p:txBody>
      </p:sp>
      <p:graphicFrame>
        <p:nvGraphicFramePr>
          <p:cNvPr id="29" name=""/>
          <p:cNvGraphicFramePr/>
          <p:nvPr/>
        </p:nvGraphicFramePr>
        <p:xfrm>
          <a:off xmlns:a="http://schemas.openxmlformats.org/drawingml/2006/main" x="514350" y="1952625"/>
          <a:ext xmlns:a="http://schemas.openxmlformats.org/drawingml/2006/main" cx="11163300" cy="2552700"/>
        </p:xfrm>
        <a:graphic xmlns:a="http://schemas.openxmlformats.org/drawingml/2006/main">
          <a:graphicData uri="http://schemas.openxmlformats.org/drawingml/2006/table">
            <a:tbl>
              <a:tblPr/>
              <a:tblGrid>
                <a:gridCol w="2000250"/>
                <a:gridCol w="2381250"/>
                <a:gridCol w="2381250"/>
                <a:gridCol w="4400550"/>
              </a:tblGrid>
              <a:tr h="638175">
                <a:tc>
                  <a:txBody>
                    <a:bodyPr/>
                    <a:lstStyle/>
                    <a:p>
                      <a:r>
                        <a:rPr sz="1425" b="1">
                          <a:solidFill>
                            <a:srgbClr val="FFFFFF"/>
                          </a:solidFill>
                          <a:latin typeface="Noto Sans CJK KR"/>
                          <a:ea typeface="Noto Sans CJK KR"/>
                          <a:cs typeface="Noto Sans CJK KR"/>
                        </a:rPr>
                        <a:t>후보</a:t>
                      </a:r>
                    </a:p>
                  </a:txBody>
                  <a:tcPr marL="95250" marR="95250" marT="76200" marB="76200" anchor="ctr">
                    <a:solidFill>
                      <a:srgbClr val="18415A"/>
                    </a:solidFill>
                  </a:tcPr>
                </a:tc>
                <a:tc>
                  <a:txBody>
                    <a:bodyPr/>
                    <a:lstStyle/>
                    <a:p>
                      <a:r>
                        <a:rPr sz="1425" b="1">
                          <a:solidFill>
                            <a:srgbClr val="FFFFFF"/>
                          </a:solidFill>
                          <a:latin typeface="Noto Sans CJK KR"/>
                          <a:ea typeface="Noto Sans CJK KR"/>
                          <a:cs typeface="Noto Sans CJK KR"/>
                        </a:rPr>
                        <a:t>입력 길이 설계</a:t>
                      </a:r>
                    </a:p>
                  </a:txBody>
                  <a:tcPr marL="95250" marR="95250" marT="76200" marB="76200" anchor="ctr">
                    <a:solidFill>
                      <a:srgbClr val="18415A"/>
                    </a:solidFill>
                  </a:tcPr>
                </a:tc>
                <a:tc>
                  <a:txBody>
                    <a:bodyPr/>
                    <a:lstStyle/>
                    <a:p>
                      <a:r>
                        <a:rPr sz="1425" b="1">
                          <a:solidFill>
                            <a:srgbClr val="FFFFFF"/>
                          </a:solidFill>
                          <a:latin typeface="Noto Sans CJK KR"/>
                          <a:ea typeface="Noto Sans CJK KR"/>
                          <a:cs typeface="Noto Sans CJK KR"/>
                        </a:rPr>
                        <a:t>평가 상태</a:t>
                      </a:r>
                    </a:p>
                  </a:txBody>
                  <a:tcPr marL="95250" marR="95250" marT="76200" marB="76200" anchor="ctr">
                    <a:solidFill>
                      <a:srgbClr val="18415A"/>
                    </a:solidFill>
                  </a:tcPr>
                </a:tc>
                <a:tc>
                  <a:txBody>
                    <a:bodyPr/>
                    <a:lstStyle/>
                    <a:p>
                      <a:r>
                        <a:rPr sz="1425" b="1">
                          <a:solidFill>
                            <a:srgbClr val="FFFFFF"/>
                          </a:solidFill>
                          <a:latin typeface="Noto Sans CJK KR"/>
                          <a:ea typeface="Noto Sans CJK KR"/>
                          <a:cs typeface="Noto Sans CJK KR"/>
                        </a:rPr>
                        <a:t>발표 가능한 결론</a:t>
                      </a:r>
                    </a:p>
                  </a:txBody>
                  <a:tcPr marL="95250" marR="95250" marT="76200" marB="76200" anchor="ctr">
                    <a:solidFill>
                      <a:srgbClr val="18415A"/>
                    </a:solidFill>
                  </a:tcPr>
                </a:tc>
              </a:tr>
              <a:tr h="638175">
                <a:tc>
                  <a:txBody>
                    <a:bodyPr/>
                    <a:lstStyle/>
                    <a:p>
                      <a:r>
                        <a:rPr sz="1425">
                          <a:solidFill>
                            <a:srgbClr val="F4F8FB"/>
                          </a:solidFill>
                          <a:latin typeface="Noto Sans CJK KR"/>
                          <a:ea typeface="Noto Sans CJK KR"/>
                          <a:cs typeface="Noto Sans CJK KR"/>
                        </a:rPr>
                        <a:t>KLUE</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512 기반 윈도우</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평가 진행 중</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성능 우열 미확정</a:t>
                      </a:r>
                    </a:p>
                  </a:txBody>
                  <a:tcPr marL="95250" marR="95250" marT="76200" marB="76200" anchor="ctr">
                    <a:solidFill>
                      <a:srgbClr val="102638"/>
                    </a:solidFill>
                  </a:tcPr>
                </a:tc>
              </a:tr>
              <a:tr h="638175">
                <a:tc>
                  <a:txBody>
                    <a:bodyPr/>
                    <a:lstStyle/>
                    <a:p>
                      <a:r>
                        <a:rPr sz="1425">
                          <a:solidFill>
                            <a:srgbClr val="F4F8FB"/>
                          </a:solidFill>
                          <a:latin typeface="Noto Sans CJK KR"/>
                          <a:ea typeface="Noto Sans CJK KR"/>
                          <a:cs typeface="Noto Sans CJK KR"/>
                        </a:rPr>
                        <a:t>XLM-R</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512 기반 윈도우</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평가 진행 중</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성능 우열 미확정</a:t>
                      </a:r>
                    </a:p>
                  </a:txBody>
                  <a:tcPr marL="95250" marR="95250" marT="76200" marB="76200" anchor="ctr">
                    <a:solidFill>
                      <a:srgbClr val="102638"/>
                    </a:solidFill>
                  </a:tcPr>
                </a:tc>
              </a:tr>
              <a:tr h="638175">
                <a:tc>
                  <a:txBody>
                    <a:bodyPr/>
                    <a:lstStyle/>
                    <a:p>
                      <a:r>
                        <a:rPr sz="1425">
                          <a:solidFill>
                            <a:srgbClr val="F4F8FB"/>
                          </a:solidFill>
                          <a:latin typeface="Noto Sans CJK KR"/>
                          <a:ea typeface="Noto Sans CJK KR"/>
                          <a:cs typeface="Noto Sans CJK KR"/>
                        </a:rPr>
                        <a:t>BGE-M3</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장문 체크포인트 후보</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평가 진행 중</a:t>
                      </a:r>
                    </a:p>
                  </a:txBody>
                  <a:tcPr marL="95250" marR="95250" marT="76200" marB="76200" anchor="ctr">
                    <a:solidFill>
                      <a:srgbClr val="102638"/>
                    </a:solidFill>
                  </a:tcPr>
                </a:tc>
                <a:tc>
                  <a:txBody>
                    <a:bodyPr/>
                    <a:lstStyle/>
                    <a:p>
                      <a:r>
                        <a:rPr sz="1425">
                          <a:solidFill>
                            <a:srgbClr val="F4F8FB"/>
                          </a:solidFill>
                          <a:latin typeface="Noto Sans CJK KR"/>
                          <a:ea typeface="Noto Sans CJK KR"/>
                          <a:cs typeface="Noto Sans CJK KR"/>
                        </a:rPr>
                        <a:t>성능 우열 미확정</a:t>
                      </a:r>
                    </a:p>
                  </a:txBody>
                  <a:tcPr marL="95250" marR="95250" marT="76200" marB="76200" anchor="ctr">
                    <a:solidFill>
                      <a:srgbClr val="102638"/>
                    </a:solidFill>
                  </a:tcPr>
                </a:tc>
              </a:tr>
            </a:tbl>
          </a:graphicData>
        </a:graphic>
      </p:graphicFrame>
      <p:sp>
        <p:nvSpPr>
          <p:cNvPr id="13" name="">
            <a:extLst xmlns:a="http://schemas.openxmlformats.org/drawingml/2006/main">
              <a:ext uri="{FF2B5EF4-FFF2-40B4-BE49-F238E27FC236}">
                <a16:creationId xmlns:a16="http://schemas.microsoft.com/office/drawing/2014/main" id="{53BB0885-FD5D-467E-BC9D-7EB7596B643B}"/>
              </a:ext>
            </a:extLst>
          </p:cNvPr>
          <p:cNvSpPr>
            <a:spLocks xmlns:a="http://schemas.openxmlformats.org/drawingml/2006/main" noGrp="1"/>
          </p:cNvSpPr>
          <p:nvPr/>
        </p:nvSpPr>
        <p:spPr>
          <a:xfrm xmlns:a="http://schemas.openxmlformats.org/drawingml/2006/main">
            <a:off x="514350" y="4829175"/>
            <a:ext cx="11163300" cy="981075"/>
          </a:xfrm>
          <a:prstGeom xmlns:a="http://schemas.openxmlformats.org/drawingml/2006/main" prst="roundRect">
            <a:avLst>
              <a:gd name="adj" fmla="val 7767"/>
            </a:avLst>
          </a:prstGeom>
          <a:solidFill xmlns:a="http://schemas.openxmlformats.org/drawingml/2006/main">
            <a:srgbClr val="132E3C"/>
          </a:solidFill>
          <a:ln xmlns:a="http://schemas.openxmlformats.org/drawingml/2006/main" w="11430">
            <a:solidFill>
              <a:srgbClr val="24526A"/>
            </a:solidFill>
          </a:ln>
        </p:spPr>
      </p:sp>
      <p:sp>
        <p:nvSpPr>
          <p:cNvPr id="14" name="">
            <a:extLst xmlns:a="http://schemas.openxmlformats.org/drawingml/2006/main">
              <a:ext uri="{FF2B5EF4-FFF2-40B4-BE49-F238E27FC236}">
                <a16:creationId xmlns:a16="http://schemas.microsoft.com/office/drawing/2014/main" id="{CC4379AA-28E5-4520-AEF3-AC8DE43E1154}"/>
              </a:ext>
            </a:extLst>
          </p:cNvPr>
          <p:cNvSpPr>
            <a:spLocks xmlns:a="http://schemas.openxmlformats.org/drawingml/2006/main" noGrp="1"/>
          </p:cNvSpPr>
          <p:nvPr/>
        </p:nvSpPr>
        <p:spPr>
          <a:xfrm xmlns:a="http://schemas.openxmlformats.org/drawingml/2006/main">
            <a:off x="762000" y="5067300"/>
            <a:ext cx="1064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F4F8FB"/>
                </a:solidFill>
                <a:latin typeface="Noto Sans CJK KR"/>
                <a:ea typeface="Noto Sans CJK KR"/>
                <a:cs typeface="Noto Sans CJK KR"/>
              </a:defRPr>
            </a:pPr>
            <a:r>
              <a:rPr sz="1650" b="1">
                <a:solidFill>
                  <a:srgbClr val="F4F8FB"/>
                </a:solidFill>
                <a:latin typeface="Noto Sans CJK KR"/>
                <a:ea typeface="Noto Sans CJK KR"/>
                <a:cs typeface="Noto Sans CJK KR"/>
              </a:rPr>
              <a:t>보고 예정  데이터 범위 · 사람 정답지 상태 · 기준일 · threshold · 잘림 처리 · Precision · Recall · Span F1</a:t>
            </a:r>
          </a:p>
        </p:txBody>
      </p:sp>
      <p:sp>
        <p:nvSpPr>
          <p:cNvPr id="15" name="">
            <a:extLst xmlns:a="http://schemas.openxmlformats.org/drawingml/2006/main">
              <a:ext uri="{FF2B5EF4-FFF2-40B4-BE49-F238E27FC236}">
                <a16:creationId xmlns:a16="http://schemas.microsoft.com/office/drawing/2014/main" id="{8AB193F6-3BD6-425E-A8EF-DDE7A45A5D39}"/>
              </a:ext>
            </a:extLst>
          </p:cNvPr>
          <p:cNvSpPr>
            <a:spLocks xmlns:a="http://schemas.openxmlformats.org/drawingml/2006/main" noGrp="1"/>
          </p:cNvSpPr>
          <p:nvPr/>
        </p:nvSpPr>
        <p:spPr>
          <a:xfrm xmlns:a="http://schemas.openxmlformats.org/drawingml/2006/main">
            <a:off x="9886950" y="1123950"/>
            <a:ext cx="1619250" cy="285750"/>
          </a:xfrm>
          <a:prstGeom xmlns:a="http://schemas.openxmlformats.org/drawingml/2006/main" prst="roundRect">
            <a:avLst>
              <a:gd name="adj" fmla="val 26667"/>
            </a:avLst>
          </a:prstGeom>
          <a:solidFill xmlns:a="http://schemas.openxmlformats.org/drawingml/2006/main">
            <a:srgbClr val="FF6B57"/>
          </a:solidFill>
          <a:ln xmlns:a="http://schemas.openxmlformats.org/drawingml/2006/main" w="11430">
            <a:solidFill>
              <a:srgbClr val="FF6B57"/>
            </a:solidFill>
          </a:ln>
        </p:spPr>
      </p:sp>
      <p:sp>
        <p:nvSpPr>
          <p:cNvPr id="16" name="">
            <a:extLst xmlns:a="http://schemas.openxmlformats.org/drawingml/2006/main">
              <a:ext uri="{FF2B5EF4-FFF2-40B4-BE49-F238E27FC236}">
                <a16:creationId xmlns:a16="http://schemas.microsoft.com/office/drawing/2014/main" id="{590F4B2F-99D4-4A3A-B62E-E91D7B723351}"/>
              </a:ext>
            </a:extLst>
          </p:cNvPr>
          <p:cNvSpPr>
            <a:spLocks xmlns:a="http://schemas.openxmlformats.org/drawingml/2006/main" noGrp="1"/>
          </p:cNvSpPr>
          <p:nvPr/>
        </p:nvSpPr>
        <p:spPr>
          <a:xfrm xmlns:a="http://schemas.openxmlformats.org/drawingml/2006/main">
            <a:off x="9886950" y="11620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평가 진행 중</a:t>
            </a:r>
          </a:p>
        </p:txBody>
      </p:sp>
      <p:sp>
        <p:nvSpPr>
          <p:cNvPr id="17" name="">
            <a:extLst xmlns:a="http://schemas.openxmlformats.org/drawingml/2006/main">
              <a:ext uri="{FF2B5EF4-FFF2-40B4-BE49-F238E27FC236}">
                <a16:creationId xmlns:a16="http://schemas.microsoft.com/office/drawing/2014/main" id="{6C07F472-830F-481C-800F-0E43509A4A40}"/>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기준 브랜치에는 295답변 × 3모델의 완료 결과가 없음 · 검증되지 않은 수치 미사용</a:t>
            </a:r>
          </a:p>
        </p:txBody>
      </p:sp>
    </p:spTree>
    <p:extLst>
      <p:ext uri="{BB962C8B-B14F-4D97-AF65-F5344CB8AC3E}">
        <p14:creationId xmlns:p14="http://schemas.microsoft.com/office/powerpoint/2010/main" val="588778187"/>
      </p:ext>
    </p:extLst>
  </p:cSld>
</p:sld>
</file>

<file path=ppt/slides/slide15.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4373DA1-7973-4A18-8BC3-561CF47174EB}"/>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05  환각 검증</a:t>
            </a:r>
          </a:p>
        </p:txBody>
      </p:sp>
      <p:sp>
        <p:nvSpPr>
          <p:cNvPr id="2" name="">
            <a:extLst xmlns:a="http://schemas.openxmlformats.org/drawingml/2006/main">
              <a:ext uri="{FF2B5EF4-FFF2-40B4-BE49-F238E27FC236}">
                <a16:creationId xmlns:a16="http://schemas.microsoft.com/office/drawing/2014/main" id="{E95D3DDD-A5B4-4E95-A0B0-4CA51174A05B}"/>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오류는 결론, 근거, 인용 위치에서 각각 발생한다</a:t>
            </a:r>
          </a:p>
        </p:txBody>
      </p:sp>
      <p:sp>
        <p:nvSpPr>
          <p:cNvPr id="3" name="">
            <a:extLst xmlns:a="http://schemas.openxmlformats.org/drawingml/2006/main">
              <a:ext uri="{FF2B5EF4-FFF2-40B4-BE49-F238E27FC236}">
                <a16:creationId xmlns:a16="http://schemas.microsoft.com/office/drawing/2014/main" id="{BE867BF8-309B-4893-8D52-C8C9D5CF9700}"/>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25문항 통합 조정안의 대표 사례 · 최종 사람 승인 pending</a:t>
            </a:r>
          </a:p>
        </p:txBody>
      </p:sp>
      <p:sp>
        <p:nvSpPr>
          <p:cNvPr id="4" name="">
            <a:extLst xmlns:a="http://schemas.openxmlformats.org/drawingml/2006/main">
              <a:ext uri="{FF2B5EF4-FFF2-40B4-BE49-F238E27FC236}">
                <a16:creationId xmlns:a16="http://schemas.microsoft.com/office/drawing/2014/main" id="{A348B64E-66AC-464F-9F55-9B5D2C5C09EC}"/>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6D3DC2B8-2F62-4C5F-A0B4-407097284593}"/>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CE5961B7-B5CB-4332-A036-3E7AB2C8F204}"/>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9517204B-88EF-483F-8EC0-E1E1531CAF56}"/>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2FEEA38D-E11C-44FD-BDF3-612D41C8DDB1}"/>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15E8309E-28F9-417E-ABB9-B93CD2819080}"/>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0" name="">
            <a:extLst xmlns:a="http://schemas.openxmlformats.org/drawingml/2006/main">
              <a:ext uri="{FF2B5EF4-FFF2-40B4-BE49-F238E27FC236}">
                <a16:creationId xmlns:a16="http://schemas.microsoft.com/office/drawing/2014/main" id="{8DBB5913-C77E-45EC-8AF7-1A332FAA7B00}"/>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1" name="">
            <a:extLst xmlns:a="http://schemas.openxmlformats.org/drawingml/2006/main">
              <a:ext uri="{FF2B5EF4-FFF2-40B4-BE49-F238E27FC236}">
                <a16:creationId xmlns:a16="http://schemas.microsoft.com/office/drawing/2014/main" id="{C736291F-BC8D-480A-9C2B-07BCE9D69297}"/>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15</a:t>
            </a:r>
          </a:p>
        </p:txBody>
      </p:sp>
      <p:sp>
        <p:nvSpPr>
          <p:cNvPr id="12" name="">
            <a:extLst xmlns:a="http://schemas.openxmlformats.org/drawingml/2006/main">
              <a:ext uri="{FF2B5EF4-FFF2-40B4-BE49-F238E27FC236}">
                <a16:creationId xmlns:a16="http://schemas.microsoft.com/office/drawing/2014/main" id="{1B4486B9-B4A6-4E07-8F1E-A30B79EF953E}"/>
              </a:ext>
            </a:extLst>
          </p:cNvPr>
          <p:cNvSpPr>
            <a:spLocks xmlns:a="http://schemas.openxmlformats.org/drawingml/2006/main" noGrp="1"/>
          </p:cNvSpPr>
          <p:nvPr/>
        </p:nvSpPr>
        <p:spPr>
          <a:xfrm xmlns:a="http://schemas.openxmlformats.org/drawingml/2006/main">
            <a:off x="514350" y="1924050"/>
            <a:ext cx="11163300" cy="1000125"/>
          </a:xfrm>
          <a:prstGeom xmlns:a="http://schemas.openxmlformats.org/drawingml/2006/main" prst="roundRect">
            <a:avLst>
              <a:gd name="adj" fmla="val 7619"/>
            </a:avLst>
          </a:prstGeom>
          <a:solidFill xmlns:a="http://schemas.openxmlformats.org/drawingml/2006/main">
            <a:srgbClr val="102638"/>
          </a:solidFill>
          <a:ln xmlns:a="http://schemas.openxmlformats.org/drawingml/2006/main" w="11430">
            <a:solidFill>
              <a:srgbClr val="355267"/>
            </a:solidFill>
          </a:ln>
        </p:spPr>
      </p:sp>
      <p:sp>
        <p:nvSpPr>
          <p:cNvPr id="13" name="">
            <a:extLst xmlns:a="http://schemas.openxmlformats.org/drawingml/2006/main">
              <a:ext uri="{FF2B5EF4-FFF2-40B4-BE49-F238E27FC236}">
                <a16:creationId xmlns:a16="http://schemas.microsoft.com/office/drawing/2014/main" id="{A4C501DE-B4FE-4586-BA3A-5E9DECDE2972}"/>
              </a:ext>
            </a:extLst>
          </p:cNvPr>
          <p:cNvSpPr>
            <a:spLocks xmlns:a="http://schemas.openxmlformats.org/drawingml/2006/main" noGrp="1"/>
          </p:cNvSpPr>
          <p:nvPr/>
        </p:nvSpPr>
        <p:spPr>
          <a:xfrm xmlns:a="http://schemas.openxmlformats.org/drawingml/2006/main">
            <a:off x="685800" y="2095500"/>
            <a:ext cx="1066800" cy="285750"/>
          </a:xfrm>
          <a:prstGeom xmlns:a="http://schemas.openxmlformats.org/drawingml/2006/main" prst="roundRect">
            <a:avLst>
              <a:gd name="adj" fmla="val 26667"/>
            </a:avLst>
          </a:prstGeom>
          <a:solidFill xmlns:a="http://schemas.openxmlformats.org/drawingml/2006/main">
            <a:srgbClr val="FF6B57"/>
          </a:solidFill>
          <a:ln xmlns:a="http://schemas.openxmlformats.org/drawingml/2006/main" w="11430">
            <a:solidFill>
              <a:srgbClr val="FF6B57"/>
            </a:solidFill>
          </a:ln>
        </p:spPr>
      </p:sp>
      <p:sp>
        <p:nvSpPr>
          <p:cNvPr id="14" name="">
            <a:extLst xmlns:a="http://schemas.openxmlformats.org/drawingml/2006/main">
              <a:ext uri="{FF2B5EF4-FFF2-40B4-BE49-F238E27FC236}">
                <a16:creationId xmlns:a16="http://schemas.microsoft.com/office/drawing/2014/main" id="{61030C79-F2E4-406E-BC51-EC7E659D3213}"/>
              </a:ext>
            </a:extLst>
          </p:cNvPr>
          <p:cNvSpPr>
            <a:spLocks xmlns:a="http://schemas.openxmlformats.org/drawingml/2006/main" noGrp="1"/>
          </p:cNvSpPr>
          <p:nvPr/>
        </p:nvSpPr>
        <p:spPr>
          <a:xfrm xmlns:a="http://schemas.openxmlformats.org/drawingml/2006/main">
            <a:off x="685800" y="213360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모순</a:t>
            </a:r>
          </a:p>
        </p:txBody>
      </p:sp>
      <p:sp>
        <p:nvSpPr>
          <p:cNvPr id="15" name="">
            <a:extLst xmlns:a="http://schemas.openxmlformats.org/drawingml/2006/main">
              <a:ext uri="{FF2B5EF4-FFF2-40B4-BE49-F238E27FC236}">
                <a16:creationId xmlns:a16="http://schemas.microsoft.com/office/drawing/2014/main" id="{89F35F1F-B2B5-4690-9A2B-6346048ABD71}"/>
              </a:ext>
            </a:extLst>
          </p:cNvPr>
          <p:cNvSpPr>
            <a:spLocks xmlns:a="http://schemas.openxmlformats.org/drawingml/2006/main" noGrp="1"/>
          </p:cNvSpPr>
          <p:nvPr/>
        </p:nvSpPr>
        <p:spPr>
          <a:xfrm xmlns:a="http://schemas.openxmlformats.org/drawingml/2006/main">
            <a:off x="2019300" y="20859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F4F8FB"/>
                </a:solidFill>
                <a:latin typeface="Noto Sans CJK KR"/>
                <a:ea typeface="Noto Sans CJK KR"/>
                <a:cs typeface="Noto Sans CJK KR"/>
              </a:defRPr>
            </a:pPr>
            <a:r>
              <a:rPr sz="1725" b="1">
                <a:solidFill>
                  <a:srgbClr val="F4F8FB"/>
                </a:solidFill>
                <a:latin typeface="Noto Sans CJK KR"/>
                <a:ea typeface="Noto Sans CJK KR"/>
                <a:cs typeface="Noto Sans CJK KR"/>
              </a:rPr>
              <a:t>“인천을 제외해도 된다”</a:t>
            </a:r>
          </a:p>
        </p:txBody>
      </p:sp>
      <p:sp>
        <p:nvSpPr>
          <p:cNvPr id="16" name="">
            <a:extLst xmlns:a="http://schemas.openxmlformats.org/drawingml/2006/main">
              <a:ext uri="{FF2B5EF4-FFF2-40B4-BE49-F238E27FC236}">
                <a16:creationId xmlns:a16="http://schemas.microsoft.com/office/drawing/2014/main" id="{B4EDF50B-CAC6-4A64-B12B-317C5A4A5F69}"/>
              </a:ext>
            </a:extLst>
          </p:cNvPr>
          <p:cNvSpPr>
            <a:spLocks xmlns:a="http://schemas.openxmlformats.org/drawingml/2006/main" noGrp="1"/>
          </p:cNvSpPr>
          <p:nvPr/>
        </p:nvSpPr>
        <p:spPr>
          <a:xfrm xmlns:a="http://schemas.openxmlformats.org/drawingml/2006/main">
            <a:off x="5810250" y="20859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BDCC"/>
                </a:solidFill>
                <a:latin typeface="Noto Sans CJK KR"/>
                <a:ea typeface="Noto Sans CJK KR"/>
                <a:cs typeface="Noto Sans CJK KR"/>
              </a:defRPr>
            </a:pPr>
            <a:r>
              <a:rPr sz="1425" b="0">
                <a:solidFill>
                  <a:srgbClr val="A8BDCC"/>
                </a:solidFill>
                <a:latin typeface="Noto Sans CJK KR"/>
                <a:ea typeface="Noto Sans CJK KR"/>
                <a:cs typeface="Noto Sans CJK KR"/>
              </a:rPr>
              <a:t>원문은 서울·경기(인천 포함)</a:t>
            </a:r>
          </a:p>
        </p:txBody>
      </p:sp>
      <p:sp>
        <p:nvSpPr>
          <p:cNvPr id="17" name="">
            <a:extLst xmlns:a="http://schemas.openxmlformats.org/drawingml/2006/main">
              <a:ext uri="{FF2B5EF4-FFF2-40B4-BE49-F238E27FC236}">
                <a16:creationId xmlns:a16="http://schemas.microsoft.com/office/drawing/2014/main" id="{2D2F8E3F-CC9D-4048-862F-B28E53149CD6}"/>
              </a:ext>
            </a:extLst>
          </p:cNvPr>
          <p:cNvSpPr>
            <a:spLocks xmlns:a="http://schemas.openxmlformats.org/drawingml/2006/main" noGrp="1"/>
          </p:cNvSpPr>
          <p:nvPr/>
        </p:nvSpPr>
        <p:spPr>
          <a:xfrm xmlns:a="http://schemas.openxmlformats.org/drawingml/2006/main">
            <a:off x="9772650" y="2514600"/>
            <a:ext cx="1619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6B57"/>
                </a:solidFill>
                <a:latin typeface="Noto Sans CJK KR"/>
                <a:ea typeface="Noto Sans CJK KR"/>
                <a:cs typeface="Noto Sans CJK KR"/>
              </a:defRPr>
            </a:pPr>
            <a:r>
              <a:rPr sz="1050" b="1">
                <a:solidFill>
                  <a:srgbClr val="FF6B57"/>
                </a:solidFill>
                <a:latin typeface="Noto Sans CJK KR"/>
                <a:ea typeface="Noto Sans CJK KR"/>
                <a:cs typeface="Noto Sans CJK KR"/>
              </a:rPr>
              <a:t>CONTRADICTION</a:t>
            </a:r>
          </a:p>
        </p:txBody>
      </p:sp>
      <p:sp>
        <p:nvSpPr>
          <p:cNvPr id="18" name="">
            <a:extLst xmlns:a="http://schemas.openxmlformats.org/drawingml/2006/main">
              <a:ext uri="{FF2B5EF4-FFF2-40B4-BE49-F238E27FC236}">
                <a16:creationId xmlns:a16="http://schemas.microsoft.com/office/drawing/2014/main" id="{98864B59-4E25-4AAE-AAEB-F9079A17496A}"/>
              </a:ext>
            </a:extLst>
          </p:cNvPr>
          <p:cNvSpPr>
            <a:spLocks xmlns:a="http://schemas.openxmlformats.org/drawingml/2006/main" noGrp="1"/>
          </p:cNvSpPr>
          <p:nvPr/>
        </p:nvSpPr>
        <p:spPr>
          <a:xfrm xmlns:a="http://schemas.openxmlformats.org/drawingml/2006/main">
            <a:off x="514350" y="3181350"/>
            <a:ext cx="11163300" cy="1000125"/>
          </a:xfrm>
          <a:prstGeom xmlns:a="http://schemas.openxmlformats.org/drawingml/2006/main" prst="roundRect">
            <a:avLst>
              <a:gd name="adj" fmla="val 7619"/>
            </a:avLst>
          </a:prstGeom>
          <a:solidFill xmlns:a="http://schemas.openxmlformats.org/drawingml/2006/main">
            <a:srgbClr val="102638"/>
          </a:solidFill>
          <a:ln xmlns:a="http://schemas.openxmlformats.org/drawingml/2006/main" w="11430">
            <a:solidFill>
              <a:srgbClr val="355267"/>
            </a:solidFill>
          </a:ln>
        </p:spPr>
      </p:sp>
      <p:sp>
        <p:nvSpPr>
          <p:cNvPr id="19" name="">
            <a:extLst xmlns:a="http://schemas.openxmlformats.org/drawingml/2006/main">
              <a:ext uri="{FF2B5EF4-FFF2-40B4-BE49-F238E27FC236}">
                <a16:creationId xmlns:a16="http://schemas.microsoft.com/office/drawing/2014/main" id="{469ECE84-DE93-49A8-840C-C06B834F6096}"/>
              </a:ext>
            </a:extLst>
          </p:cNvPr>
          <p:cNvSpPr>
            <a:spLocks xmlns:a="http://schemas.openxmlformats.org/drawingml/2006/main" noGrp="1"/>
          </p:cNvSpPr>
          <p:nvPr/>
        </p:nvSpPr>
        <p:spPr>
          <a:xfrm xmlns:a="http://schemas.openxmlformats.org/drawingml/2006/main">
            <a:off x="685800" y="3352800"/>
            <a:ext cx="1066800" cy="285750"/>
          </a:xfrm>
          <a:prstGeom xmlns:a="http://schemas.openxmlformats.org/drawingml/2006/main" prst="roundRect">
            <a:avLst>
              <a:gd name="adj" fmla="val 26667"/>
            </a:avLst>
          </a:prstGeom>
          <a:solidFill xmlns:a="http://schemas.openxmlformats.org/drawingml/2006/main">
            <a:srgbClr val="F6B94A"/>
          </a:solidFill>
          <a:ln xmlns:a="http://schemas.openxmlformats.org/drawingml/2006/main" w="11430">
            <a:solidFill>
              <a:srgbClr val="F6B94A"/>
            </a:solidFill>
          </a:ln>
        </p:spPr>
      </p:sp>
      <p:sp>
        <p:nvSpPr>
          <p:cNvPr id="20" name="">
            <a:extLst xmlns:a="http://schemas.openxmlformats.org/drawingml/2006/main">
              <a:ext uri="{FF2B5EF4-FFF2-40B4-BE49-F238E27FC236}">
                <a16:creationId xmlns:a16="http://schemas.microsoft.com/office/drawing/2014/main" id="{33DBA11B-CB1A-4BB0-97BD-02DD4959BE2A}"/>
              </a:ext>
            </a:extLst>
          </p:cNvPr>
          <p:cNvSpPr>
            <a:spLocks xmlns:a="http://schemas.openxmlformats.org/drawingml/2006/main" noGrp="1"/>
          </p:cNvSpPr>
          <p:nvPr/>
        </p:nvSpPr>
        <p:spPr>
          <a:xfrm xmlns:a="http://schemas.openxmlformats.org/drawingml/2006/main">
            <a:off x="685800" y="339090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근거 없음</a:t>
            </a:r>
          </a:p>
        </p:txBody>
      </p:sp>
      <p:sp>
        <p:nvSpPr>
          <p:cNvPr id="21" name="">
            <a:extLst xmlns:a="http://schemas.openxmlformats.org/drawingml/2006/main">
              <a:ext uri="{FF2B5EF4-FFF2-40B4-BE49-F238E27FC236}">
                <a16:creationId xmlns:a16="http://schemas.microsoft.com/office/drawing/2014/main" id="{C5F0B5CD-D4D1-4B8C-B7BB-D3AC69D3AAC5}"/>
              </a:ext>
            </a:extLst>
          </p:cNvPr>
          <p:cNvSpPr>
            <a:spLocks xmlns:a="http://schemas.openxmlformats.org/drawingml/2006/main" noGrp="1"/>
          </p:cNvSpPr>
          <p:nvPr/>
        </p:nvSpPr>
        <p:spPr>
          <a:xfrm xmlns:a="http://schemas.openxmlformats.org/drawingml/2006/main">
            <a:off x="2019300" y="33432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F4F8FB"/>
                </a:solidFill>
                <a:latin typeface="Noto Sans CJK KR"/>
                <a:ea typeface="Noto Sans CJK KR"/>
                <a:cs typeface="Noto Sans CJK KR"/>
              </a:defRPr>
            </a:pPr>
            <a:r>
              <a:rPr sz="1725" b="1">
                <a:solidFill>
                  <a:srgbClr val="F4F8FB"/>
                </a:solidFill>
                <a:latin typeface="Noto Sans CJK KR"/>
                <a:ea typeface="Noto Sans CJK KR"/>
                <a:cs typeface="Noto Sans CJK KR"/>
              </a:rPr>
              <a:t>“기존 배치의 잔여 FTE가 0.0”</a:t>
            </a:r>
          </a:p>
        </p:txBody>
      </p:sp>
      <p:sp>
        <p:nvSpPr>
          <p:cNvPr id="22" name="">
            <a:extLst xmlns:a="http://schemas.openxmlformats.org/drawingml/2006/main">
              <a:ext uri="{FF2B5EF4-FFF2-40B4-BE49-F238E27FC236}">
                <a16:creationId xmlns:a16="http://schemas.microsoft.com/office/drawing/2014/main" id="{5EAC80C6-4E64-4A2F-BD45-ABC011A23684}"/>
              </a:ext>
            </a:extLst>
          </p:cNvPr>
          <p:cNvSpPr>
            <a:spLocks xmlns:a="http://schemas.openxmlformats.org/drawingml/2006/main" noGrp="1"/>
          </p:cNvSpPr>
          <p:nvPr/>
        </p:nvSpPr>
        <p:spPr>
          <a:xfrm xmlns:a="http://schemas.openxmlformats.org/drawingml/2006/main">
            <a:off x="5810250" y="33432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BDCC"/>
                </a:solidFill>
                <a:latin typeface="Noto Sans CJK KR"/>
                <a:ea typeface="Noto Sans CJK KR"/>
                <a:cs typeface="Noto Sans CJK KR"/>
              </a:defRPr>
            </a:pPr>
            <a:r>
              <a:rPr sz="1425" b="0">
                <a:solidFill>
                  <a:srgbClr val="A8BDCC"/>
                </a:solidFill>
                <a:latin typeface="Noto Sans CJK KR"/>
                <a:ea typeface="Noto Sans CJK KR"/>
                <a:cs typeface="Noto Sans CJK KR"/>
              </a:rPr>
              <a:t>다른 인력의 값을 목표 인력에 재사용</a:t>
            </a:r>
          </a:p>
        </p:txBody>
      </p:sp>
      <p:sp>
        <p:nvSpPr>
          <p:cNvPr id="23" name="">
            <a:extLst xmlns:a="http://schemas.openxmlformats.org/drawingml/2006/main">
              <a:ext uri="{FF2B5EF4-FFF2-40B4-BE49-F238E27FC236}">
                <a16:creationId xmlns:a16="http://schemas.microsoft.com/office/drawing/2014/main" id="{EC2EE31B-6F62-431E-AB53-F0CCFFA23385}"/>
              </a:ext>
            </a:extLst>
          </p:cNvPr>
          <p:cNvSpPr>
            <a:spLocks xmlns:a="http://schemas.openxmlformats.org/drawingml/2006/main" noGrp="1"/>
          </p:cNvSpPr>
          <p:nvPr/>
        </p:nvSpPr>
        <p:spPr>
          <a:xfrm xmlns:a="http://schemas.openxmlformats.org/drawingml/2006/main">
            <a:off x="9772650" y="3771900"/>
            <a:ext cx="1619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6B94A"/>
                </a:solidFill>
                <a:latin typeface="Noto Sans CJK KR"/>
                <a:ea typeface="Noto Sans CJK KR"/>
                <a:cs typeface="Noto Sans CJK KR"/>
              </a:defRPr>
            </a:pPr>
            <a:r>
              <a:rPr sz="1050" b="1">
                <a:solidFill>
                  <a:srgbClr val="F6B94A"/>
                </a:solidFill>
                <a:latin typeface="Noto Sans CJK KR"/>
                <a:ea typeface="Noto Sans CJK KR"/>
                <a:cs typeface="Noto Sans CJK KR"/>
              </a:rPr>
              <a:t>UNSUPPORTED</a:t>
            </a:r>
          </a:p>
        </p:txBody>
      </p:sp>
      <p:sp>
        <p:nvSpPr>
          <p:cNvPr id="24" name="">
            <a:extLst xmlns:a="http://schemas.openxmlformats.org/drawingml/2006/main">
              <a:ext uri="{FF2B5EF4-FFF2-40B4-BE49-F238E27FC236}">
                <a16:creationId xmlns:a16="http://schemas.microsoft.com/office/drawing/2014/main" id="{C1DFAFE3-556E-423B-8D10-A7E833EE8FC1}"/>
              </a:ext>
            </a:extLst>
          </p:cNvPr>
          <p:cNvSpPr>
            <a:spLocks xmlns:a="http://schemas.openxmlformats.org/drawingml/2006/main" noGrp="1"/>
          </p:cNvSpPr>
          <p:nvPr/>
        </p:nvSpPr>
        <p:spPr>
          <a:xfrm xmlns:a="http://schemas.openxmlformats.org/drawingml/2006/main">
            <a:off x="514350" y="4438650"/>
            <a:ext cx="11163300" cy="1000125"/>
          </a:xfrm>
          <a:prstGeom xmlns:a="http://schemas.openxmlformats.org/drawingml/2006/main" prst="roundRect">
            <a:avLst>
              <a:gd name="adj" fmla="val 7619"/>
            </a:avLst>
          </a:prstGeom>
          <a:solidFill xmlns:a="http://schemas.openxmlformats.org/drawingml/2006/main">
            <a:srgbClr val="102638"/>
          </a:solidFill>
          <a:ln xmlns:a="http://schemas.openxmlformats.org/drawingml/2006/main" w="11430">
            <a:solidFill>
              <a:srgbClr val="355267"/>
            </a:solidFill>
          </a:ln>
        </p:spPr>
      </p:sp>
      <p:sp>
        <p:nvSpPr>
          <p:cNvPr id="25" name="">
            <a:extLst xmlns:a="http://schemas.openxmlformats.org/drawingml/2006/main">
              <a:ext uri="{FF2B5EF4-FFF2-40B4-BE49-F238E27FC236}">
                <a16:creationId xmlns:a16="http://schemas.microsoft.com/office/drawing/2014/main" id="{EE725F18-1B24-49CA-A3F7-ED85A1421FDD}"/>
              </a:ext>
            </a:extLst>
          </p:cNvPr>
          <p:cNvSpPr>
            <a:spLocks xmlns:a="http://schemas.openxmlformats.org/drawingml/2006/main" noGrp="1"/>
          </p:cNvSpPr>
          <p:nvPr/>
        </p:nvSpPr>
        <p:spPr>
          <a:xfrm xmlns:a="http://schemas.openxmlformats.org/drawingml/2006/main">
            <a:off x="685800" y="4610100"/>
            <a:ext cx="1066800" cy="285750"/>
          </a:xfrm>
          <a:prstGeom xmlns:a="http://schemas.openxmlformats.org/drawingml/2006/main" prst="roundRect">
            <a:avLst>
              <a:gd name="adj" fmla="val 26667"/>
            </a:avLst>
          </a:prstGeom>
          <a:solidFill xmlns:a="http://schemas.openxmlformats.org/drawingml/2006/main">
            <a:srgbClr val="4D8DFF"/>
          </a:solidFill>
          <a:ln xmlns:a="http://schemas.openxmlformats.org/drawingml/2006/main" w="11430">
            <a:solidFill>
              <a:srgbClr val="4D8DFF"/>
            </a:solidFill>
          </a:ln>
        </p:spPr>
      </p:sp>
      <p:sp>
        <p:nvSpPr>
          <p:cNvPr id="26" name="">
            <a:extLst xmlns:a="http://schemas.openxmlformats.org/drawingml/2006/main">
              <a:ext uri="{FF2B5EF4-FFF2-40B4-BE49-F238E27FC236}">
                <a16:creationId xmlns:a16="http://schemas.microsoft.com/office/drawing/2014/main" id="{F65E9318-1459-4818-B30E-9A6ED8FB9B03}"/>
              </a:ext>
            </a:extLst>
          </p:cNvPr>
          <p:cNvSpPr>
            <a:spLocks xmlns:a="http://schemas.openxmlformats.org/drawingml/2006/main" noGrp="1"/>
          </p:cNvSpPr>
          <p:nvPr/>
        </p:nvSpPr>
        <p:spPr>
          <a:xfrm xmlns:a="http://schemas.openxmlformats.org/drawingml/2006/main">
            <a:off x="685800" y="464820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인용 오류</a:t>
            </a:r>
          </a:p>
        </p:txBody>
      </p:sp>
      <p:sp>
        <p:nvSpPr>
          <p:cNvPr id="27" name="">
            <a:extLst xmlns:a="http://schemas.openxmlformats.org/drawingml/2006/main">
              <a:ext uri="{FF2B5EF4-FFF2-40B4-BE49-F238E27FC236}">
                <a16:creationId xmlns:a16="http://schemas.microsoft.com/office/drawing/2014/main" id="{C4E4D88A-034B-4786-8E16-BDEC6EA9820C}"/>
              </a:ext>
            </a:extLst>
          </p:cNvPr>
          <p:cNvSpPr>
            <a:spLocks xmlns:a="http://schemas.openxmlformats.org/drawingml/2006/main" noGrp="1"/>
          </p:cNvSpPr>
          <p:nvPr/>
        </p:nvSpPr>
        <p:spPr>
          <a:xfrm xmlns:a="http://schemas.openxmlformats.org/drawingml/2006/main">
            <a:off x="2019300" y="46005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F4F8FB"/>
                </a:solidFill>
                <a:latin typeface="Noto Sans CJK KR"/>
                <a:ea typeface="Noto Sans CJK KR"/>
                <a:cs typeface="Noto Sans CJK KR"/>
              </a:defRPr>
            </a:pPr>
            <a:r>
              <a:rPr sz="1725" b="1">
                <a:solidFill>
                  <a:srgbClr val="F4F8FB"/>
                </a:solidFill>
                <a:latin typeface="Noto Sans CJK KR"/>
                <a:ea typeface="Noto Sans CJK KR"/>
                <a:cs typeface="Noto Sans CJK KR"/>
              </a:rPr>
              <a:t>답변의 “[3]”</a:t>
            </a:r>
          </a:p>
        </p:txBody>
      </p:sp>
      <p:sp>
        <p:nvSpPr>
          <p:cNvPr id="28" name="">
            <a:extLst xmlns:a="http://schemas.openxmlformats.org/drawingml/2006/main">
              <a:ext uri="{FF2B5EF4-FFF2-40B4-BE49-F238E27FC236}">
                <a16:creationId xmlns:a16="http://schemas.microsoft.com/office/drawing/2014/main" id="{34C98C6D-E6D4-4FF9-906E-55CD78CFF67F}"/>
              </a:ext>
            </a:extLst>
          </p:cNvPr>
          <p:cNvSpPr>
            <a:spLocks xmlns:a="http://schemas.openxmlformats.org/drawingml/2006/main" noGrp="1"/>
          </p:cNvSpPr>
          <p:nvPr/>
        </p:nvSpPr>
        <p:spPr>
          <a:xfrm xmlns:a="http://schemas.openxmlformats.org/drawingml/2006/main">
            <a:off x="5810250" y="46005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BDCC"/>
                </a:solidFill>
                <a:latin typeface="Noto Sans CJK KR"/>
                <a:ea typeface="Noto Sans CJK KR"/>
                <a:cs typeface="Noto Sans CJK KR"/>
              </a:defRPr>
            </a:pPr>
            <a:r>
              <a:rPr sz="1425" b="0">
                <a:solidFill>
                  <a:srgbClr val="A8BDCC"/>
                </a:solidFill>
                <a:latin typeface="Noto Sans CJK KR"/>
                <a:ea typeface="Noto Sans CJK KR"/>
                <a:cs typeface="Noto Sans CJK KR"/>
              </a:rPr>
              <a:t>실제 프롬프트 인용은 [1], [2]뿐</a:t>
            </a:r>
          </a:p>
        </p:txBody>
      </p:sp>
      <p:sp>
        <p:nvSpPr>
          <p:cNvPr id="29" name="">
            <a:extLst xmlns:a="http://schemas.openxmlformats.org/drawingml/2006/main">
              <a:ext uri="{FF2B5EF4-FFF2-40B4-BE49-F238E27FC236}">
                <a16:creationId xmlns:a16="http://schemas.microsoft.com/office/drawing/2014/main" id="{31C3067D-B65A-45AB-9562-233BAB53F385}"/>
              </a:ext>
            </a:extLst>
          </p:cNvPr>
          <p:cNvSpPr>
            <a:spLocks xmlns:a="http://schemas.openxmlformats.org/drawingml/2006/main" noGrp="1"/>
          </p:cNvSpPr>
          <p:nvPr/>
        </p:nvSpPr>
        <p:spPr>
          <a:xfrm xmlns:a="http://schemas.openxmlformats.org/drawingml/2006/main">
            <a:off x="9772650" y="5029200"/>
            <a:ext cx="1619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4D8DFF"/>
                </a:solidFill>
                <a:latin typeface="Noto Sans CJK KR"/>
                <a:ea typeface="Noto Sans CJK KR"/>
                <a:cs typeface="Noto Sans CJK KR"/>
              </a:defRPr>
            </a:pPr>
            <a:r>
              <a:rPr sz="1050" b="1">
                <a:solidFill>
                  <a:srgbClr val="4D8DFF"/>
                </a:solidFill>
                <a:latin typeface="Noto Sans CJK KR"/>
                <a:ea typeface="Noto Sans CJK KR"/>
                <a:cs typeface="Noto Sans CJK KR"/>
              </a:rPr>
              <a:t>CITATION_ERROR</a:t>
            </a:r>
          </a:p>
        </p:txBody>
      </p:sp>
      <p:sp>
        <p:nvSpPr>
          <p:cNvPr id="30" name="">
            <a:extLst xmlns:a="http://schemas.openxmlformats.org/drawingml/2006/main">
              <a:ext uri="{FF2B5EF4-FFF2-40B4-BE49-F238E27FC236}">
                <a16:creationId xmlns:a16="http://schemas.microsoft.com/office/drawing/2014/main" id="{6767B75E-60E9-45FA-B540-891B20D05B35}"/>
              </a:ext>
            </a:extLst>
          </p:cNvPr>
          <p:cNvSpPr>
            <a:spLocks xmlns:a="http://schemas.openxmlformats.org/drawingml/2006/main" noGrp="1"/>
          </p:cNvSpPr>
          <p:nvPr/>
        </p:nvSpPr>
        <p:spPr>
          <a:xfrm xmlns:a="http://schemas.openxmlformats.org/drawingml/2006/main">
            <a:off x="514350" y="58197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8BDCC"/>
                </a:solidFill>
                <a:latin typeface="Noto Sans CJK KR"/>
                <a:ea typeface="Noto Sans CJK KR"/>
                <a:cs typeface="Noto Sans CJK KR"/>
              </a:defRPr>
            </a:pPr>
            <a:r>
              <a:rPr sz="1275" b="1">
                <a:solidFill>
                  <a:srgbClr val="A8BDCC"/>
                </a:solidFill>
                <a:latin typeface="Noto Sans CJK KR"/>
                <a:ea typeface="Noto Sans CJK KR"/>
                <a:cs typeface="Noto Sans CJK KR"/>
              </a:rPr>
              <a:t>모델 예측 비교</a:t>
            </a:r>
          </a:p>
        </p:txBody>
      </p:sp>
      <p:sp>
        <p:nvSpPr>
          <p:cNvPr id="31" name="">
            <a:extLst xmlns:a="http://schemas.openxmlformats.org/drawingml/2006/main">
              <a:ext uri="{FF2B5EF4-FFF2-40B4-BE49-F238E27FC236}">
                <a16:creationId xmlns:a16="http://schemas.microsoft.com/office/drawing/2014/main" id="{BCEF2828-0642-4BBC-8C37-4B9A4DA54193}"/>
              </a:ext>
            </a:extLst>
          </p:cNvPr>
          <p:cNvSpPr>
            <a:spLocks xmlns:a="http://schemas.openxmlformats.org/drawingml/2006/main" noGrp="1"/>
          </p:cNvSpPr>
          <p:nvPr/>
        </p:nvSpPr>
        <p:spPr>
          <a:xfrm xmlns:a="http://schemas.openxmlformats.org/drawingml/2006/main">
            <a:off x="2324100" y="5800725"/>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F6B57"/>
                </a:solidFill>
                <a:latin typeface="Noto Sans CJK KR"/>
                <a:ea typeface="Noto Sans CJK KR"/>
                <a:cs typeface="Noto Sans CJK KR"/>
              </a:defRPr>
            </a:pPr>
            <a:r>
              <a:rPr sz="1500" b="1">
                <a:solidFill>
                  <a:srgbClr val="FF6B57"/>
                </a:solidFill>
                <a:latin typeface="Noto Sans CJK KR"/>
                <a:ea typeface="Noto Sans CJK KR"/>
                <a:cs typeface="Noto Sans CJK KR"/>
              </a:rPr>
              <a:t>평가 진행 중</a:t>
            </a:r>
          </a:p>
        </p:txBody>
      </p:sp>
      <p:sp>
        <p:nvSpPr>
          <p:cNvPr id="32" name="">
            <a:extLst xmlns:a="http://schemas.openxmlformats.org/drawingml/2006/main">
              <a:ext uri="{FF2B5EF4-FFF2-40B4-BE49-F238E27FC236}">
                <a16:creationId xmlns:a16="http://schemas.microsoft.com/office/drawing/2014/main" id="{B932BC22-2748-4C61-B323-F2BADD7907C1}"/>
              </a:ext>
            </a:extLst>
          </p:cNvPr>
          <p:cNvSpPr>
            <a:spLocks xmlns:a="http://schemas.openxmlformats.org/drawingml/2006/main" noGrp="1"/>
          </p:cNvSpPr>
          <p:nvPr/>
        </p:nvSpPr>
        <p:spPr>
          <a:xfrm xmlns:a="http://schemas.openxmlformats.org/drawingml/2006/main">
            <a:off x="5334000" y="5800725"/>
            <a:ext cx="6343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6B94A"/>
                </a:solidFill>
                <a:latin typeface="Noto Sans CJK KR"/>
                <a:ea typeface="Noto Sans CJK KR"/>
                <a:cs typeface="Noto Sans CJK KR"/>
              </a:defRPr>
            </a:pPr>
            <a:r>
              <a:rPr sz="1350" b="1">
                <a:solidFill>
                  <a:srgbClr val="F6B94A"/>
                </a:solidFill>
                <a:latin typeface="Noto Sans CJK KR"/>
                <a:ea typeface="Noto Sans CJK KR"/>
                <a:cs typeface="Noto Sans CJK KR"/>
              </a:rPr>
              <a:t>출력 잘림 4건과 잘못된 인용번호 1건은 생성 품질 이슈로 별도 추적</a:t>
            </a:r>
          </a:p>
        </p:txBody>
      </p:sp>
      <p:sp>
        <p:nvSpPr>
          <p:cNvPr id="33" name="">
            <a:extLst xmlns:a="http://schemas.openxmlformats.org/drawingml/2006/main">
              <a:ext uri="{FF2B5EF4-FFF2-40B4-BE49-F238E27FC236}">
                <a16:creationId xmlns:a16="http://schemas.microsoft.com/office/drawing/2014/main" id="{46744FF4-05A5-4B9F-812A-20DD0607C504}"/>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조정안 88구절 중 채택 제안 70 · 보류 16 · 품질 메모 2 · approved_spans=null</a:t>
            </a:r>
          </a:p>
        </p:txBody>
      </p:sp>
    </p:spTree>
    <p:extLst>
      <p:ext uri="{BB962C8B-B14F-4D97-AF65-F5344CB8AC3E}">
        <p14:creationId xmlns:p14="http://schemas.microsoft.com/office/powerpoint/2010/main" val="283518562"/>
      </p:ext>
    </p:extLst>
  </p:cSld>
</p:sld>
</file>

<file path=ppt/slides/slide16.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BACA883-22EE-47C7-8DCF-EF776F767001}"/>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06  검증과 시연</a:t>
            </a:r>
          </a:p>
        </p:txBody>
      </p:sp>
      <p:sp>
        <p:nvSpPr>
          <p:cNvPr id="2" name="">
            <a:extLst xmlns:a="http://schemas.openxmlformats.org/drawingml/2006/main">
              <a:ext uri="{FF2B5EF4-FFF2-40B4-BE49-F238E27FC236}">
                <a16:creationId xmlns:a16="http://schemas.microsoft.com/office/drawing/2014/main" id="{2AAB82B6-A4C6-4B98-BDCB-9090F69DA42C}"/>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통합 평가는 검색, 생성, 탐지를 따로 보고한다</a:t>
            </a:r>
          </a:p>
        </p:txBody>
      </p:sp>
      <p:sp>
        <p:nvSpPr>
          <p:cNvPr id="3" name="">
            <a:extLst xmlns:a="http://schemas.openxmlformats.org/drawingml/2006/main">
              <a:ext uri="{FF2B5EF4-FFF2-40B4-BE49-F238E27FC236}">
                <a16:creationId xmlns:a16="http://schemas.microsoft.com/office/drawing/2014/main" id="{7534D9E8-FF23-4139-9BF1-D6069C324EFE}"/>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4" name="">
            <a:extLst xmlns:a="http://schemas.openxmlformats.org/drawingml/2006/main">
              <a:ext uri="{FF2B5EF4-FFF2-40B4-BE49-F238E27FC236}">
                <a16:creationId xmlns:a16="http://schemas.microsoft.com/office/drawing/2014/main" id="{39FD7222-0DBB-4655-A02D-74D0F6B263A7}"/>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5" name="">
            <a:extLst xmlns:a="http://schemas.openxmlformats.org/drawingml/2006/main">
              <a:ext uri="{FF2B5EF4-FFF2-40B4-BE49-F238E27FC236}">
                <a16:creationId xmlns:a16="http://schemas.microsoft.com/office/drawing/2014/main" id="{89DE5A75-15BF-497F-8088-D8A4DF6473B0}"/>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7C14086D-E74F-41F5-8EBE-C4363CED2326}"/>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836F975E-D03A-4D78-889D-ABCAA159BB7F}"/>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45878F9A-10E1-47F7-8FCB-63B8453B39E9}"/>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A5FAA43A-DF94-477F-B95C-E398DCDA8F68}"/>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0" name="">
            <a:extLst xmlns:a="http://schemas.openxmlformats.org/drawingml/2006/main">
              <a:ext uri="{FF2B5EF4-FFF2-40B4-BE49-F238E27FC236}">
                <a16:creationId xmlns:a16="http://schemas.microsoft.com/office/drawing/2014/main" id="{EC2ADB87-AC1E-4766-9502-EF7ADF511F10}"/>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16</a:t>
            </a:r>
          </a:p>
        </p:txBody>
      </p:sp>
      <p:graphicFrame>
        <p:nvGraphicFramePr>
          <p:cNvPr id="25" name=""/>
          <p:cNvGraphicFramePr/>
          <p:nvPr/>
        </p:nvGraphicFramePr>
        <p:xfrm>
          <a:off xmlns:a="http://schemas.openxmlformats.org/drawingml/2006/main" x="514350" y="1924050"/>
          <a:ext xmlns:a="http://schemas.openxmlformats.org/drawingml/2006/main" cx="11163300" cy="3238500"/>
        </p:xfrm>
        <a:graphic xmlns:a="http://schemas.openxmlformats.org/drawingml/2006/main">
          <a:graphicData uri="http://schemas.openxmlformats.org/drawingml/2006/table">
            <a:tbl>
              <a:tblPr/>
              <a:tblGrid>
                <a:gridCol w="1952625"/>
                <a:gridCol w="2762250"/>
                <a:gridCol w="2476500"/>
                <a:gridCol w="3971925"/>
              </a:tblGrid>
              <a:tr h="647700">
                <a:tc>
                  <a:txBody>
                    <a:bodyPr/>
                    <a:lstStyle/>
                    <a:p>
                      <a:r>
                        <a:rPr sz="1350" b="1">
                          <a:solidFill>
                            <a:srgbClr val="FFFFFF"/>
                          </a:solidFill>
                          <a:latin typeface="Noto Sans CJK KR"/>
                          <a:ea typeface="Noto Sans CJK KR"/>
                          <a:cs typeface="Noto Sans CJK KR"/>
                        </a:rPr>
                        <a:t>평가 축</a:t>
                      </a:r>
                    </a:p>
                  </a:txBody>
                  <a:tcPr marL="95250" marR="95250" marT="76200" marB="76200" anchor="ctr">
                    <a:solidFill>
                      <a:srgbClr val="18415A"/>
                    </a:solidFill>
                  </a:tcPr>
                </a:tc>
                <a:tc>
                  <a:txBody>
                    <a:bodyPr/>
                    <a:lstStyle/>
                    <a:p>
                      <a:r>
                        <a:rPr sz="1350" b="1">
                          <a:solidFill>
                            <a:srgbClr val="FFFFFF"/>
                          </a:solidFill>
                          <a:latin typeface="Noto Sans CJK KR"/>
                          <a:ea typeface="Noto Sans CJK KR"/>
                          <a:cs typeface="Noto Sans CJK KR"/>
                        </a:rPr>
                        <a:t>현재 확인 범위</a:t>
                      </a:r>
                    </a:p>
                  </a:txBody>
                  <a:tcPr marL="95250" marR="95250" marT="76200" marB="76200" anchor="ctr">
                    <a:solidFill>
                      <a:srgbClr val="18415A"/>
                    </a:solidFill>
                  </a:tcPr>
                </a:tc>
                <a:tc>
                  <a:txBody>
                    <a:bodyPr/>
                    <a:lstStyle/>
                    <a:p>
                      <a:r>
                        <a:rPr sz="1350" b="1">
                          <a:solidFill>
                            <a:srgbClr val="FFFFFF"/>
                          </a:solidFill>
                          <a:latin typeface="Noto Sans CJK KR"/>
                          <a:ea typeface="Noto Sans CJK KR"/>
                          <a:cs typeface="Noto Sans CJK KR"/>
                        </a:rPr>
                        <a:t>상태</a:t>
                      </a:r>
                    </a:p>
                  </a:txBody>
                  <a:tcPr marL="95250" marR="95250" marT="76200" marB="76200" anchor="ctr">
                    <a:solidFill>
                      <a:srgbClr val="18415A"/>
                    </a:solidFill>
                  </a:tcPr>
                </a:tc>
                <a:tc>
                  <a:txBody>
                    <a:bodyPr/>
                    <a:lstStyle/>
                    <a:p>
                      <a:r>
                        <a:rPr sz="1350" b="1">
                          <a:solidFill>
                            <a:srgbClr val="FFFFFF"/>
                          </a:solidFill>
                          <a:latin typeface="Noto Sans CJK KR"/>
                          <a:ea typeface="Noto Sans CJK KR"/>
                          <a:cs typeface="Noto Sans CJK KR"/>
                        </a:rPr>
                        <a:t>다음 검증</a:t>
                      </a:r>
                    </a:p>
                  </a:txBody>
                  <a:tcPr marL="95250" marR="95250" marT="76200" marB="76200" anchor="ctr">
                    <a:solidFill>
                      <a:srgbClr val="18415A"/>
                    </a:solidFill>
                  </a:tcPr>
                </a:tc>
              </a:tr>
              <a:tr h="647700">
                <a:tc>
                  <a:txBody>
                    <a:bodyPr/>
                    <a:lstStyle/>
                    <a:p>
                      <a:r>
                        <a:rPr sz="1350">
                          <a:solidFill>
                            <a:srgbClr val="F4F8FB"/>
                          </a:solidFill>
                          <a:latin typeface="Noto Sans CJK KR"/>
                          <a:ea typeface="Noto Sans CJK KR"/>
                          <a:cs typeface="Noto Sans CJK KR"/>
                        </a:rPr>
                        <a:t>검색</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223문서 · 3,275청크 색인</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구조·해시 확인</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검색 품질 지표</a:t>
                      </a:r>
                    </a:p>
                  </a:txBody>
                  <a:tcPr marL="95250" marR="95250" marT="76200" marB="76200" anchor="ctr">
                    <a:solidFill>
                      <a:srgbClr val="102638"/>
                    </a:solidFill>
                  </a:tcPr>
                </a:tc>
              </a:tr>
              <a:tr h="647700">
                <a:tc>
                  <a:txBody>
                    <a:bodyPr/>
                    <a:lstStyle/>
                    <a:p>
                      <a:r>
                        <a:rPr sz="1350">
                          <a:solidFill>
                            <a:srgbClr val="F4F8FB"/>
                          </a:solidFill>
                          <a:latin typeface="Noto Sans CJK KR"/>
                          <a:ea typeface="Noto Sans CJK KR"/>
                          <a:cs typeface="Noto Sans CJK KR"/>
                        </a:rPr>
                        <a:t>생성</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295답변 · 정상 차단 5건</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실행 완료</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사람 승인 확대</a:t>
                      </a:r>
                    </a:p>
                  </a:txBody>
                  <a:tcPr marL="95250" marR="95250" marT="76200" marB="76200" anchor="ctr">
                    <a:solidFill>
                      <a:srgbClr val="102638"/>
                    </a:solidFill>
                  </a:tcPr>
                </a:tc>
              </a:tr>
              <a:tr h="647700">
                <a:tc>
                  <a:txBody>
                    <a:bodyPr/>
                    <a:lstStyle/>
                    <a:p>
                      <a:r>
                        <a:rPr sz="1350">
                          <a:solidFill>
                            <a:srgbClr val="F4F8FB"/>
                          </a:solidFill>
                          <a:latin typeface="Noto Sans CJK KR"/>
                          <a:ea typeface="Noto Sans CJK KR"/>
                          <a:cs typeface="Noto Sans CJK KR"/>
                        </a:rPr>
                        <a:t>사람 라벨</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25문항 제출 검수</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최종 승인 pending</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조정안 확정</a:t>
                      </a:r>
                    </a:p>
                  </a:txBody>
                  <a:tcPr marL="95250" marR="95250" marT="76200" marB="76200" anchor="ctr">
                    <a:solidFill>
                      <a:srgbClr val="102638"/>
                    </a:solidFill>
                  </a:tcPr>
                </a:tc>
              </a:tr>
              <a:tr h="647700">
                <a:tc>
                  <a:txBody>
                    <a:bodyPr/>
                    <a:lstStyle/>
                    <a:p>
                      <a:r>
                        <a:rPr sz="1350">
                          <a:solidFill>
                            <a:srgbClr val="F4F8FB"/>
                          </a:solidFill>
                          <a:latin typeface="Noto Sans CJK KR"/>
                          <a:ea typeface="Noto Sans CJK KR"/>
                          <a:cs typeface="Noto Sans CJK KR"/>
                        </a:rPr>
                        <a:t>환각 탐지</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3모델 × 295답변 = 885슬롯</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평가 진행 중</a:t>
                      </a:r>
                    </a:p>
                  </a:txBody>
                  <a:tcPr marL="95250" marR="95250" marT="76200" marB="76200" anchor="ctr">
                    <a:solidFill>
                      <a:srgbClr val="102638"/>
                    </a:solidFill>
                  </a:tcPr>
                </a:tc>
                <a:tc>
                  <a:txBody>
                    <a:bodyPr/>
                    <a:lstStyle/>
                    <a:p>
                      <a:r>
                        <a:rPr sz="1350">
                          <a:solidFill>
                            <a:srgbClr val="F4F8FB"/>
                          </a:solidFill>
                          <a:latin typeface="Noto Sans CJK KR"/>
                          <a:ea typeface="Noto Sans CJK KR"/>
                          <a:cs typeface="Noto Sans CJK KR"/>
                        </a:rPr>
                        <a:t>P/R/Span F1</a:t>
                      </a:r>
                    </a:p>
                  </a:txBody>
                  <a:tcPr marL="95250" marR="95250" marT="76200" marB="76200" anchor="ctr">
                    <a:solidFill>
                      <a:srgbClr val="102638"/>
                    </a:solidFill>
                  </a:tcPr>
                </a:tc>
              </a:tr>
            </a:tbl>
          </a:graphicData>
        </a:graphic>
      </p:graphicFrame>
      <p:sp>
        <p:nvSpPr>
          <p:cNvPr id="12" name="">
            <a:extLst xmlns:a="http://schemas.openxmlformats.org/drawingml/2006/main">
              <a:ext uri="{FF2B5EF4-FFF2-40B4-BE49-F238E27FC236}">
                <a16:creationId xmlns:a16="http://schemas.microsoft.com/office/drawing/2014/main" id="{479ECB0C-8838-434B-B94F-78F70753D9B4}"/>
              </a:ext>
            </a:extLst>
          </p:cNvPr>
          <p:cNvSpPr>
            <a:spLocks xmlns:a="http://schemas.openxmlformats.org/drawingml/2006/main" noGrp="1"/>
          </p:cNvSpPr>
          <p:nvPr/>
        </p:nvSpPr>
        <p:spPr>
          <a:xfrm xmlns:a="http://schemas.openxmlformats.org/drawingml/2006/main">
            <a:off x="1628775" y="5524500"/>
            <a:ext cx="8934450" cy="552450"/>
          </a:xfrm>
          <a:prstGeom xmlns:a="http://schemas.openxmlformats.org/drawingml/2006/main" prst="roundRect">
            <a:avLst>
              <a:gd name="adj" fmla="val 13793"/>
            </a:avLst>
          </a:prstGeom>
          <a:solidFill xmlns:a="http://schemas.openxmlformats.org/drawingml/2006/main">
            <a:srgbClr val="132E3C"/>
          </a:solidFill>
          <a:ln xmlns:a="http://schemas.openxmlformats.org/drawingml/2006/main" w="11430">
            <a:solidFill>
              <a:srgbClr val="24526A"/>
            </a:solidFill>
          </a:ln>
        </p:spPr>
      </p:sp>
      <p:sp>
        <p:nvSpPr>
          <p:cNvPr id="13" name="">
            <a:extLst xmlns:a="http://schemas.openxmlformats.org/drawingml/2006/main">
              <a:ext uri="{FF2B5EF4-FFF2-40B4-BE49-F238E27FC236}">
                <a16:creationId xmlns:a16="http://schemas.microsoft.com/office/drawing/2014/main" id="{871057C0-07D7-4F98-9A1F-AB18EE16C6B0}"/>
              </a:ext>
            </a:extLst>
          </p:cNvPr>
          <p:cNvSpPr>
            <a:spLocks xmlns:a="http://schemas.openxmlformats.org/drawingml/2006/main" noGrp="1"/>
          </p:cNvSpPr>
          <p:nvPr/>
        </p:nvSpPr>
        <p:spPr>
          <a:xfrm xmlns:a="http://schemas.openxmlformats.org/drawingml/2006/main">
            <a:off x="1828800" y="5676900"/>
            <a:ext cx="853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F4F8FB"/>
                </a:solidFill>
                <a:latin typeface="Noto Sans CJK KR"/>
                <a:ea typeface="Noto Sans CJK KR"/>
                <a:cs typeface="Noto Sans CJK KR"/>
              </a:defRPr>
            </a:pPr>
            <a:r>
              <a:rPr sz="1650" b="1">
                <a:solidFill>
                  <a:srgbClr val="F4F8FB"/>
                </a:solidFill>
                <a:latin typeface="Noto Sans CJK KR"/>
                <a:ea typeface="Noto Sans CJK KR"/>
                <a:cs typeface="Noto Sans CJK KR"/>
              </a:rPr>
              <a:t>자동 검사 통과 ≠ 사람 승인 완료     탐지 구절 0개 ≠ 답변 정확</a:t>
            </a:r>
          </a:p>
        </p:txBody>
      </p:sp>
      <p:sp>
        <p:nvSpPr>
          <p:cNvPr id="14" name="">
            <a:extLst xmlns:a="http://schemas.openxmlformats.org/drawingml/2006/main">
              <a:ext uri="{FF2B5EF4-FFF2-40B4-BE49-F238E27FC236}">
                <a16:creationId xmlns:a16="http://schemas.microsoft.com/office/drawing/2014/main" id="{F2CCDB9F-C82F-4C31-9442-68FAD0137B9E}"/>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검색·생성·탐지 점수를 하나의 종합 정확도로 합치지 않음</a:t>
            </a:r>
          </a:p>
        </p:txBody>
      </p:sp>
    </p:spTree>
    <p:extLst>
      <p:ext uri="{BB962C8B-B14F-4D97-AF65-F5344CB8AC3E}">
        <p14:creationId xmlns:p14="http://schemas.microsoft.com/office/powerpoint/2010/main" val="104086425"/>
      </p:ext>
    </p:extLst>
  </p:cSld>
</p:sld>
</file>

<file path=ppt/slides/slide17.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CFFF33A-B6D8-4BA9-9650-C4D966DB3B04}"/>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06  검증과 시연</a:t>
            </a:r>
          </a:p>
        </p:txBody>
      </p:sp>
      <p:sp>
        <p:nvSpPr>
          <p:cNvPr id="2" name="">
            <a:extLst xmlns:a="http://schemas.openxmlformats.org/drawingml/2006/main">
              <a:ext uri="{FF2B5EF4-FFF2-40B4-BE49-F238E27FC236}">
                <a16:creationId xmlns:a16="http://schemas.microsoft.com/office/drawing/2014/main" id="{F3A4EE3D-E941-43EE-A8DB-1FA0B7250FBD}"/>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라이브 데모는 실행 모드를 먼저 밝힌다</a:t>
            </a:r>
          </a:p>
        </p:txBody>
      </p:sp>
      <p:sp>
        <p:nvSpPr>
          <p:cNvPr id="3" name="">
            <a:extLst xmlns:a="http://schemas.openxmlformats.org/drawingml/2006/main">
              <a:ext uri="{FF2B5EF4-FFF2-40B4-BE49-F238E27FC236}">
                <a16:creationId xmlns:a16="http://schemas.microsoft.com/office/drawing/2014/main" id="{C6EBA0E3-C5A4-40DE-ADCF-AE8072159D32}"/>
              </a:ext>
            </a:extLst>
          </p:cNvPr>
          <p:cNvSpPr>
            <a:spLocks xmlns:a="http://schemas.openxmlformats.org/drawingml/2006/main" noGrp="1"/>
          </p:cNvSpPr>
          <p:nvPr/>
        </p:nvSpPr>
        <p:spPr>
          <a:xfrm xmlns:a="http://schemas.openxmlformats.org/drawingml/2006/main">
            <a:off x="533400" y="1104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A8BDCC"/>
                </a:solidFill>
                <a:latin typeface="Noto Sans CJK KR"/>
                <a:ea typeface="Noto Sans CJK KR"/>
                <a:cs typeface="Noto Sans CJK KR"/>
              </a:defRPr>
            </a:pPr>
            <a:r>
              <a:rPr sz="1350" b="0">
                <a:solidFill>
                  <a:srgbClr val="A8BDCC"/>
                </a:solidFill>
                <a:latin typeface="Noto Sans CJK KR"/>
                <a:ea typeface="Noto Sans CJK KR"/>
                <a:cs typeface="Noto Sans CJK KR"/>
              </a:rPr>
              <a:t>공고 선택부터 답변·근거·의심 구절 확인까지</a:t>
            </a:r>
          </a:p>
        </p:txBody>
      </p:sp>
      <p:sp>
        <p:nvSpPr>
          <p:cNvPr id="4" name="">
            <a:extLst xmlns:a="http://schemas.openxmlformats.org/drawingml/2006/main">
              <a:ext uri="{FF2B5EF4-FFF2-40B4-BE49-F238E27FC236}">
                <a16:creationId xmlns:a16="http://schemas.microsoft.com/office/drawing/2014/main" id="{53C7CF96-F73F-44F7-AD3A-828868EF8C92}"/>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5" name="">
            <a:extLst xmlns:a="http://schemas.openxmlformats.org/drawingml/2006/main">
              <a:ext uri="{FF2B5EF4-FFF2-40B4-BE49-F238E27FC236}">
                <a16:creationId xmlns:a16="http://schemas.microsoft.com/office/drawing/2014/main" id="{1523F375-5465-4B2E-A977-722F50AA06DC}"/>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44213ECC-0724-4D2D-83FF-903BDC69C11E}"/>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BBFB95E3-243C-4D53-B94E-850B07405EAF}"/>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A08CEBEB-3A85-492C-BA30-CFC796A55C8B}"/>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FEB97504-3401-4100-BB42-8C3081C38CA9}"/>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10" name="">
            <a:extLst xmlns:a="http://schemas.openxmlformats.org/drawingml/2006/main">
              <a:ext uri="{FF2B5EF4-FFF2-40B4-BE49-F238E27FC236}">
                <a16:creationId xmlns:a16="http://schemas.microsoft.com/office/drawing/2014/main" id="{F0C5413B-1223-4D69-9AED-734B220B654B}"/>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1" name="">
            <a:extLst xmlns:a="http://schemas.openxmlformats.org/drawingml/2006/main">
              <a:ext uri="{FF2B5EF4-FFF2-40B4-BE49-F238E27FC236}">
                <a16:creationId xmlns:a16="http://schemas.microsoft.com/office/drawing/2014/main" id="{C082E627-FFC3-4E06-A9F8-703FB652A551}"/>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17</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81e92c880fb438d"/>
          <a:srcRect xmlns:a="http://schemas.openxmlformats.org/drawingml/2006/main" l="68" t="0" r="68" b="0"/>
          <a:stretch xmlns:a="http://schemas.openxmlformats.org/drawingml/2006/main">
            <a:fillRect l="0" t="0" r="0" b="0"/>
          </a:stretch>
        </p:blipFill>
        <p:spPr>
          <a:xfrm xmlns:a="http://schemas.openxmlformats.org/drawingml/2006/main">
            <a:off x="514350" y="1809750"/>
            <a:ext cx="7000875" cy="39433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8522046-0B6F-4444-B4F1-D7F1F46D7411}"/>
              </a:ext>
            </a:extLst>
          </p:cNvPr>
          <p:cNvSpPr>
            <a:spLocks xmlns:a="http://schemas.openxmlformats.org/drawingml/2006/main" noGrp="1"/>
          </p:cNvSpPr>
          <p:nvPr/>
        </p:nvSpPr>
        <p:spPr>
          <a:xfrm xmlns:a="http://schemas.openxmlformats.org/drawingml/2006/main">
            <a:off x="514350" y="1809750"/>
            <a:ext cx="7000875" cy="3943350"/>
          </a:xfrm>
          <a:prstGeom xmlns:a="http://schemas.openxmlformats.org/drawingml/2006/main" prst="roundRect">
            <a:avLst>
              <a:gd name="adj" fmla="val 1932"/>
            </a:avLst>
          </a:prstGeom>
          <a:noFill xmlns:a="http://schemas.openxmlformats.org/drawingml/2006/main"/>
          <a:ln xmlns:a="http://schemas.openxmlformats.org/drawingml/2006/main" w="11430">
            <a:solidFill>
              <a:srgbClr val="355267"/>
            </a:solidFill>
          </a:ln>
        </p:spPr>
      </p:sp>
      <p:sp>
        <p:nvSpPr>
          <p:cNvPr id="14" name="">
            <a:extLst xmlns:a="http://schemas.openxmlformats.org/drawingml/2006/main">
              <a:ext uri="{FF2B5EF4-FFF2-40B4-BE49-F238E27FC236}">
                <a16:creationId xmlns:a16="http://schemas.microsoft.com/office/drawing/2014/main" id="{BF22BF0A-566B-4AB6-AF74-A2858161122A}"/>
              </a:ext>
            </a:extLst>
          </p:cNvPr>
          <p:cNvSpPr>
            <a:spLocks xmlns:a="http://schemas.openxmlformats.org/drawingml/2006/main" noGrp="1"/>
          </p:cNvSpPr>
          <p:nvPr/>
        </p:nvSpPr>
        <p:spPr>
          <a:xfrm xmlns:a="http://schemas.openxmlformats.org/drawingml/2006/main">
            <a:off x="704850" y="1981200"/>
            <a:ext cx="1657350" cy="285750"/>
          </a:xfrm>
          <a:prstGeom xmlns:a="http://schemas.openxmlformats.org/drawingml/2006/main" prst="roundRect">
            <a:avLst>
              <a:gd name="adj" fmla="val 26667"/>
            </a:avLst>
          </a:prstGeom>
          <a:solidFill xmlns:a="http://schemas.openxmlformats.org/drawingml/2006/main">
            <a:srgbClr val="FF6B57"/>
          </a:solidFill>
          <a:ln xmlns:a="http://schemas.openxmlformats.org/drawingml/2006/main" w="11430">
            <a:solidFill>
              <a:srgbClr val="FF6B57"/>
            </a:solidFill>
          </a:ln>
        </p:spPr>
      </p:sp>
      <p:sp>
        <p:nvSpPr>
          <p:cNvPr id="15" name="">
            <a:extLst xmlns:a="http://schemas.openxmlformats.org/drawingml/2006/main">
              <a:ext uri="{FF2B5EF4-FFF2-40B4-BE49-F238E27FC236}">
                <a16:creationId xmlns:a16="http://schemas.microsoft.com/office/drawing/2014/main" id="{F142F992-F2BA-4034-BFC9-0019803392CC}"/>
              </a:ext>
            </a:extLst>
          </p:cNvPr>
          <p:cNvSpPr>
            <a:spLocks xmlns:a="http://schemas.openxmlformats.org/drawingml/2006/main" noGrp="1"/>
          </p:cNvSpPr>
          <p:nvPr/>
        </p:nvSpPr>
        <p:spPr>
          <a:xfrm xmlns:a="http://schemas.openxmlformats.org/drawingml/2006/main">
            <a:off x="704850" y="201930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FFF"/>
                </a:solidFill>
                <a:latin typeface="Noto Sans CJK KR"/>
                <a:ea typeface="Noto Sans CJK KR"/>
                <a:cs typeface="Noto Sans CJK KR"/>
              </a:defRPr>
            </a:pPr>
            <a:r>
              <a:rPr sz="1050" b="1">
                <a:solidFill>
                  <a:srgbClr val="FFFFFF"/>
                </a:solidFill>
                <a:latin typeface="Noto Sans CJK KR"/>
                <a:ea typeface="Noto Sans CJK KR"/>
                <a:cs typeface="Noto Sans CJK KR"/>
              </a:rPr>
              <a:t>기존 공간 UI 목업</a:t>
            </a:r>
          </a:p>
        </p:txBody>
      </p:sp>
      <p:sp>
        <p:nvSpPr>
          <p:cNvPr id="16" name="">
            <a:extLst xmlns:a="http://schemas.openxmlformats.org/drawingml/2006/main">
              <a:ext uri="{FF2B5EF4-FFF2-40B4-BE49-F238E27FC236}">
                <a16:creationId xmlns:a16="http://schemas.microsoft.com/office/drawing/2014/main" id="{1C261203-9801-484A-8AB3-E2BFD1DDBE06}"/>
              </a:ext>
            </a:extLst>
          </p:cNvPr>
          <p:cNvSpPr>
            <a:spLocks xmlns:a="http://schemas.openxmlformats.org/drawingml/2006/main" noGrp="1"/>
          </p:cNvSpPr>
          <p:nvPr/>
        </p:nvSpPr>
        <p:spPr>
          <a:xfrm xmlns:a="http://schemas.openxmlformats.org/drawingml/2006/main">
            <a:off x="7981950" y="1933575"/>
            <a:ext cx="323850" cy="323850"/>
          </a:xfrm>
          <a:prstGeom xmlns:a="http://schemas.openxmlformats.org/drawingml/2006/main" prst="ellipse">
            <a:avLst/>
          </a:prstGeom>
          <a:solidFill xmlns:a="http://schemas.openxmlformats.org/drawingml/2006/main">
            <a:srgbClr val="4D8DFF"/>
          </a:solidFill>
          <a:ln xmlns:a="http://schemas.openxmlformats.org/drawingml/2006/main" w="9525">
            <a:solidFill>
              <a:srgbClr val="4D8DFF"/>
            </a:solidFill>
          </a:ln>
        </p:spPr>
      </p:sp>
      <p:sp>
        <p:nvSpPr>
          <p:cNvPr id="17" name="">
            <a:extLst xmlns:a="http://schemas.openxmlformats.org/drawingml/2006/main">
              <a:ext uri="{FF2B5EF4-FFF2-40B4-BE49-F238E27FC236}">
                <a16:creationId xmlns:a16="http://schemas.microsoft.com/office/drawing/2014/main" id="{E7300439-4EFA-4070-9A65-9BC586994C06}"/>
              </a:ext>
            </a:extLst>
          </p:cNvPr>
          <p:cNvSpPr>
            <a:spLocks xmlns:a="http://schemas.openxmlformats.org/drawingml/2006/main" noGrp="1"/>
          </p:cNvSpPr>
          <p:nvPr/>
        </p:nvSpPr>
        <p:spPr>
          <a:xfrm xmlns:a="http://schemas.openxmlformats.org/drawingml/2006/main">
            <a:off x="7981950" y="1990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07111E"/>
                </a:solidFill>
                <a:latin typeface="Noto Sans CJK KR"/>
                <a:ea typeface="Noto Sans CJK KR"/>
                <a:cs typeface="Noto Sans CJK KR"/>
              </a:defRPr>
            </a:pPr>
            <a:r>
              <a:rPr sz="1125" b="1">
                <a:solidFill>
                  <a:srgbClr val="07111E"/>
                </a:solidFill>
                <a:latin typeface="Noto Sans CJK KR"/>
                <a:ea typeface="Noto Sans CJK KR"/>
                <a:cs typeface="Noto Sans CJK KR"/>
              </a:rPr>
              <a:t>1</a:t>
            </a:r>
          </a:p>
        </p:txBody>
      </p:sp>
      <p:sp>
        <p:nvSpPr>
          <p:cNvPr id="18" name="">
            <a:extLst xmlns:a="http://schemas.openxmlformats.org/drawingml/2006/main">
              <a:ext uri="{FF2B5EF4-FFF2-40B4-BE49-F238E27FC236}">
                <a16:creationId xmlns:a16="http://schemas.microsoft.com/office/drawing/2014/main" id="{324BCCF5-A77B-4031-8A39-1B2FF2FDD591}"/>
              </a:ext>
            </a:extLst>
          </p:cNvPr>
          <p:cNvSpPr>
            <a:spLocks xmlns:a="http://schemas.openxmlformats.org/drawingml/2006/main" noGrp="1"/>
          </p:cNvSpPr>
          <p:nvPr/>
        </p:nvSpPr>
        <p:spPr>
          <a:xfrm xmlns:a="http://schemas.openxmlformats.org/drawingml/2006/main">
            <a:off x="8477250" y="196215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4F8FB"/>
                </a:solidFill>
                <a:latin typeface="Noto Sans CJK KR"/>
                <a:ea typeface="Noto Sans CJK KR"/>
                <a:cs typeface="Noto Sans CJK KR"/>
              </a:defRPr>
            </a:pPr>
            <a:r>
              <a:rPr sz="1500" b="1">
                <a:solidFill>
                  <a:srgbClr val="F4F8FB"/>
                </a:solidFill>
                <a:latin typeface="Noto Sans CJK KR"/>
                <a:ea typeface="Noto Sans CJK KR"/>
                <a:cs typeface="Noto Sans CJK KR"/>
              </a:rPr>
              <a:t>지도에서 공고 선택</a:t>
            </a:r>
          </a:p>
        </p:txBody>
      </p:sp>
      <p:sp>
        <p:nvSpPr>
          <p:cNvPr id="19" name="">
            <a:extLst xmlns:a="http://schemas.openxmlformats.org/drawingml/2006/main">
              <a:ext uri="{FF2B5EF4-FFF2-40B4-BE49-F238E27FC236}">
                <a16:creationId xmlns:a16="http://schemas.microsoft.com/office/drawing/2014/main" id="{4E9431D5-F171-4E2B-BA3E-5ED3A9DFC910}"/>
              </a:ext>
            </a:extLst>
          </p:cNvPr>
          <p:cNvSpPr>
            <a:spLocks xmlns:a="http://schemas.openxmlformats.org/drawingml/2006/main" noGrp="1"/>
          </p:cNvSpPr>
          <p:nvPr/>
        </p:nvSpPr>
        <p:spPr>
          <a:xfrm xmlns:a="http://schemas.openxmlformats.org/drawingml/2006/main">
            <a:off x="7981950" y="2724150"/>
            <a:ext cx="323850" cy="323850"/>
          </a:xfrm>
          <a:prstGeom xmlns:a="http://schemas.openxmlformats.org/drawingml/2006/main" prst="ellipse">
            <a:avLst/>
          </a:prstGeom>
          <a:solidFill xmlns:a="http://schemas.openxmlformats.org/drawingml/2006/main">
            <a:srgbClr val="2DD4BF"/>
          </a:solidFill>
          <a:ln xmlns:a="http://schemas.openxmlformats.org/drawingml/2006/main" w="9525">
            <a:solidFill>
              <a:srgbClr val="2DD4BF"/>
            </a:solidFill>
          </a:ln>
        </p:spPr>
      </p:sp>
      <p:sp>
        <p:nvSpPr>
          <p:cNvPr id="20" name="">
            <a:extLst xmlns:a="http://schemas.openxmlformats.org/drawingml/2006/main">
              <a:ext uri="{FF2B5EF4-FFF2-40B4-BE49-F238E27FC236}">
                <a16:creationId xmlns:a16="http://schemas.microsoft.com/office/drawing/2014/main" id="{8FCEA2AD-25D6-4DAF-9619-43E3A036097F}"/>
              </a:ext>
            </a:extLst>
          </p:cNvPr>
          <p:cNvSpPr>
            <a:spLocks xmlns:a="http://schemas.openxmlformats.org/drawingml/2006/main" noGrp="1"/>
          </p:cNvSpPr>
          <p:nvPr/>
        </p:nvSpPr>
        <p:spPr>
          <a:xfrm xmlns:a="http://schemas.openxmlformats.org/drawingml/2006/main">
            <a:off x="7981950" y="27813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07111E"/>
                </a:solidFill>
                <a:latin typeface="Noto Sans CJK KR"/>
                <a:ea typeface="Noto Sans CJK KR"/>
                <a:cs typeface="Noto Sans CJK KR"/>
              </a:defRPr>
            </a:pPr>
            <a:r>
              <a:rPr sz="1125" b="1">
                <a:solidFill>
                  <a:srgbClr val="07111E"/>
                </a:solidFill>
                <a:latin typeface="Noto Sans CJK KR"/>
                <a:ea typeface="Noto Sans CJK KR"/>
                <a:cs typeface="Noto Sans CJK KR"/>
              </a:rPr>
              <a:t>2</a:t>
            </a:r>
          </a:p>
        </p:txBody>
      </p:sp>
      <p:sp>
        <p:nvSpPr>
          <p:cNvPr id="21" name="">
            <a:extLst xmlns:a="http://schemas.openxmlformats.org/drawingml/2006/main">
              <a:ext uri="{FF2B5EF4-FFF2-40B4-BE49-F238E27FC236}">
                <a16:creationId xmlns:a16="http://schemas.microsoft.com/office/drawing/2014/main" id="{25B8319B-7CC7-4467-B98C-CB38162F07A3}"/>
              </a:ext>
            </a:extLst>
          </p:cNvPr>
          <p:cNvSpPr>
            <a:spLocks xmlns:a="http://schemas.openxmlformats.org/drawingml/2006/main" noGrp="1"/>
          </p:cNvSpPr>
          <p:nvPr/>
        </p:nvSpPr>
        <p:spPr>
          <a:xfrm xmlns:a="http://schemas.openxmlformats.org/drawingml/2006/main">
            <a:off x="8477250" y="27527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4F8FB"/>
                </a:solidFill>
                <a:latin typeface="Noto Sans CJK KR"/>
                <a:ea typeface="Noto Sans CJK KR"/>
                <a:cs typeface="Noto Sans CJK KR"/>
              </a:defRPr>
            </a:pPr>
            <a:r>
              <a:rPr sz="1500" b="1">
                <a:solidFill>
                  <a:srgbClr val="F4F8FB"/>
                </a:solidFill>
                <a:latin typeface="Noto Sans CJK KR"/>
                <a:ea typeface="Noto Sans CJK KR"/>
                <a:cs typeface="Noto Sans CJK KR"/>
              </a:rPr>
              <a:t>저장 예시 또는 자유 질문</a:t>
            </a:r>
          </a:p>
        </p:txBody>
      </p:sp>
      <p:sp>
        <p:nvSpPr>
          <p:cNvPr id="22" name="">
            <a:extLst xmlns:a="http://schemas.openxmlformats.org/drawingml/2006/main">
              <a:ext uri="{FF2B5EF4-FFF2-40B4-BE49-F238E27FC236}">
                <a16:creationId xmlns:a16="http://schemas.microsoft.com/office/drawing/2014/main" id="{E60C1076-6372-4BCC-814D-4EABAD3775F6}"/>
              </a:ext>
            </a:extLst>
          </p:cNvPr>
          <p:cNvSpPr>
            <a:spLocks xmlns:a="http://schemas.openxmlformats.org/drawingml/2006/main" noGrp="1"/>
          </p:cNvSpPr>
          <p:nvPr/>
        </p:nvSpPr>
        <p:spPr>
          <a:xfrm xmlns:a="http://schemas.openxmlformats.org/drawingml/2006/main">
            <a:off x="7981950" y="3514725"/>
            <a:ext cx="323850" cy="323850"/>
          </a:xfrm>
          <a:prstGeom xmlns:a="http://schemas.openxmlformats.org/drawingml/2006/main" prst="ellipse">
            <a:avLst/>
          </a:prstGeom>
          <a:solidFill xmlns:a="http://schemas.openxmlformats.org/drawingml/2006/main">
            <a:srgbClr val="F6B94A"/>
          </a:solidFill>
          <a:ln xmlns:a="http://schemas.openxmlformats.org/drawingml/2006/main" w="9525">
            <a:solidFill>
              <a:srgbClr val="F6B94A"/>
            </a:solidFill>
          </a:ln>
        </p:spPr>
      </p:sp>
      <p:sp>
        <p:nvSpPr>
          <p:cNvPr id="23" name="">
            <a:extLst xmlns:a="http://schemas.openxmlformats.org/drawingml/2006/main">
              <a:ext uri="{FF2B5EF4-FFF2-40B4-BE49-F238E27FC236}">
                <a16:creationId xmlns:a16="http://schemas.microsoft.com/office/drawing/2014/main" id="{AAC19B24-E661-4713-8048-3888DBBB4B0C}"/>
              </a:ext>
            </a:extLst>
          </p:cNvPr>
          <p:cNvSpPr>
            <a:spLocks xmlns:a="http://schemas.openxmlformats.org/drawingml/2006/main" noGrp="1"/>
          </p:cNvSpPr>
          <p:nvPr/>
        </p:nvSpPr>
        <p:spPr>
          <a:xfrm xmlns:a="http://schemas.openxmlformats.org/drawingml/2006/main">
            <a:off x="7981950" y="35718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07111E"/>
                </a:solidFill>
                <a:latin typeface="Noto Sans CJK KR"/>
                <a:ea typeface="Noto Sans CJK KR"/>
                <a:cs typeface="Noto Sans CJK KR"/>
              </a:defRPr>
            </a:pPr>
            <a:r>
              <a:rPr sz="1125" b="1">
                <a:solidFill>
                  <a:srgbClr val="07111E"/>
                </a:solidFill>
                <a:latin typeface="Noto Sans CJK KR"/>
                <a:ea typeface="Noto Sans CJK KR"/>
                <a:cs typeface="Noto Sans CJK KR"/>
              </a:rPr>
              <a:t>3</a:t>
            </a:r>
          </a:p>
        </p:txBody>
      </p:sp>
      <p:sp>
        <p:nvSpPr>
          <p:cNvPr id="24" name="">
            <a:extLst xmlns:a="http://schemas.openxmlformats.org/drawingml/2006/main">
              <a:ext uri="{FF2B5EF4-FFF2-40B4-BE49-F238E27FC236}">
                <a16:creationId xmlns:a16="http://schemas.microsoft.com/office/drawing/2014/main" id="{18EFDCE9-7904-457B-B924-35262F5911B0}"/>
              </a:ext>
            </a:extLst>
          </p:cNvPr>
          <p:cNvSpPr>
            <a:spLocks xmlns:a="http://schemas.openxmlformats.org/drawingml/2006/main" noGrp="1"/>
          </p:cNvSpPr>
          <p:nvPr/>
        </p:nvSpPr>
        <p:spPr>
          <a:xfrm xmlns:a="http://schemas.openxmlformats.org/drawingml/2006/main">
            <a:off x="8477250" y="35433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4F8FB"/>
                </a:solidFill>
                <a:latin typeface="Noto Sans CJK KR"/>
                <a:ea typeface="Noto Sans CJK KR"/>
                <a:cs typeface="Noto Sans CJK KR"/>
              </a:defRPr>
            </a:pPr>
            <a:r>
              <a:rPr sz="1500" b="1">
                <a:solidFill>
                  <a:srgbClr val="F4F8FB"/>
                </a:solidFill>
                <a:latin typeface="Noto Sans CJK KR"/>
                <a:ea typeface="Noto Sans CJK KR"/>
                <a:cs typeface="Noto Sans CJK KR"/>
              </a:rPr>
              <a:t>답변·출처·근거 경로 확인</a:t>
            </a:r>
          </a:p>
        </p:txBody>
      </p:sp>
      <p:sp>
        <p:nvSpPr>
          <p:cNvPr id="25" name="">
            <a:extLst xmlns:a="http://schemas.openxmlformats.org/drawingml/2006/main">
              <a:ext uri="{FF2B5EF4-FFF2-40B4-BE49-F238E27FC236}">
                <a16:creationId xmlns:a16="http://schemas.microsoft.com/office/drawing/2014/main" id="{8660652B-1CB1-45A0-8216-A15F9E667064}"/>
              </a:ext>
            </a:extLst>
          </p:cNvPr>
          <p:cNvSpPr>
            <a:spLocks xmlns:a="http://schemas.openxmlformats.org/drawingml/2006/main" noGrp="1"/>
          </p:cNvSpPr>
          <p:nvPr/>
        </p:nvSpPr>
        <p:spPr>
          <a:xfrm xmlns:a="http://schemas.openxmlformats.org/drawingml/2006/main">
            <a:off x="7981950" y="4305300"/>
            <a:ext cx="323850" cy="323850"/>
          </a:xfrm>
          <a:prstGeom xmlns:a="http://schemas.openxmlformats.org/drawingml/2006/main" prst="ellipse">
            <a:avLst/>
          </a:prstGeom>
          <a:solidFill xmlns:a="http://schemas.openxmlformats.org/drawingml/2006/main">
            <a:srgbClr val="FF6B57"/>
          </a:solidFill>
          <a:ln xmlns:a="http://schemas.openxmlformats.org/drawingml/2006/main" w="9525">
            <a:solidFill>
              <a:srgbClr val="FF6B57"/>
            </a:solidFill>
          </a:ln>
        </p:spPr>
      </p:sp>
      <p:sp>
        <p:nvSpPr>
          <p:cNvPr id="26" name="">
            <a:extLst xmlns:a="http://schemas.openxmlformats.org/drawingml/2006/main">
              <a:ext uri="{FF2B5EF4-FFF2-40B4-BE49-F238E27FC236}">
                <a16:creationId xmlns:a16="http://schemas.microsoft.com/office/drawing/2014/main" id="{5A3DC59C-E48F-4224-B35E-0F3A2D4BA243}"/>
              </a:ext>
            </a:extLst>
          </p:cNvPr>
          <p:cNvSpPr>
            <a:spLocks xmlns:a="http://schemas.openxmlformats.org/drawingml/2006/main" noGrp="1"/>
          </p:cNvSpPr>
          <p:nvPr/>
        </p:nvSpPr>
        <p:spPr>
          <a:xfrm xmlns:a="http://schemas.openxmlformats.org/drawingml/2006/main">
            <a:off x="7981950" y="436245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07111E"/>
                </a:solidFill>
                <a:latin typeface="Noto Sans CJK KR"/>
                <a:ea typeface="Noto Sans CJK KR"/>
                <a:cs typeface="Noto Sans CJK KR"/>
              </a:defRPr>
            </a:pPr>
            <a:r>
              <a:rPr sz="1125" b="1">
                <a:solidFill>
                  <a:srgbClr val="07111E"/>
                </a:solidFill>
                <a:latin typeface="Noto Sans CJK KR"/>
                <a:ea typeface="Noto Sans CJK KR"/>
                <a:cs typeface="Noto Sans CJK KR"/>
              </a:rPr>
              <a:t>4</a:t>
            </a:r>
          </a:p>
        </p:txBody>
      </p:sp>
      <p:sp>
        <p:nvSpPr>
          <p:cNvPr id="27" name="">
            <a:extLst xmlns:a="http://schemas.openxmlformats.org/drawingml/2006/main">
              <a:ext uri="{FF2B5EF4-FFF2-40B4-BE49-F238E27FC236}">
                <a16:creationId xmlns:a16="http://schemas.microsoft.com/office/drawing/2014/main" id="{284DEF44-CF74-4CCD-A153-61E22CCED533}"/>
              </a:ext>
            </a:extLst>
          </p:cNvPr>
          <p:cNvSpPr>
            <a:spLocks xmlns:a="http://schemas.openxmlformats.org/drawingml/2006/main" noGrp="1"/>
          </p:cNvSpPr>
          <p:nvPr/>
        </p:nvSpPr>
        <p:spPr>
          <a:xfrm xmlns:a="http://schemas.openxmlformats.org/drawingml/2006/main">
            <a:off x="8477250" y="43338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4F8FB"/>
                </a:solidFill>
                <a:latin typeface="Noto Sans CJK KR"/>
                <a:ea typeface="Noto Sans CJK KR"/>
                <a:cs typeface="Noto Sans CJK KR"/>
              </a:defRPr>
            </a:pPr>
            <a:r>
              <a:rPr sz="1500" b="1">
                <a:solidFill>
                  <a:srgbClr val="F4F8FB"/>
                </a:solidFill>
                <a:latin typeface="Noto Sans CJK KR"/>
                <a:ea typeface="Noto Sans CJK KR"/>
                <a:cs typeface="Noto Sans CJK KR"/>
              </a:rPr>
              <a:t>환각 의심 구절 형광펜 확인</a:t>
            </a:r>
          </a:p>
        </p:txBody>
      </p:sp>
      <p:sp>
        <p:nvSpPr>
          <p:cNvPr id="28" name="">
            <a:extLst xmlns:a="http://schemas.openxmlformats.org/drawingml/2006/main">
              <a:ext uri="{FF2B5EF4-FFF2-40B4-BE49-F238E27FC236}">
                <a16:creationId xmlns:a16="http://schemas.microsoft.com/office/drawing/2014/main" id="{9600E605-1FDD-4959-859B-95346105615C}"/>
              </a:ext>
            </a:extLst>
          </p:cNvPr>
          <p:cNvSpPr>
            <a:spLocks xmlns:a="http://schemas.openxmlformats.org/drawingml/2006/main" noGrp="1"/>
          </p:cNvSpPr>
          <p:nvPr/>
        </p:nvSpPr>
        <p:spPr>
          <a:xfrm xmlns:a="http://schemas.openxmlformats.org/drawingml/2006/main">
            <a:off x="7877175" y="5162550"/>
            <a:ext cx="3800475" cy="590550"/>
          </a:xfrm>
          <a:prstGeom xmlns:a="http://schemas.openxmlformats.org/drawingml/2006/main" prst="roundRect">
            <a:avLst>
              <a:gd name="adj" fmla="val 12903"/>
            </a:avLst>
          </a:prstGeom>
          <a:solidFill xmlns:a="http://schemas.openxmlformats.org/drawingml/2006/main">
            <a:srgbClr val="132E3C"/>
          </a:solidFill>
          <a:ln xmlns:a="http://schemas.openxmlformats.org/drawingml/2006/main" w="11430">
            <a:solidFill>
              <a:srgbClr val="24526A"/>
            </a:solidFill>
          </a:ln>
        </p:spPr>
      </p:sp>
      <p:sp>
        <p:nvSpPr>
          <p:cNvPr id="29" name="">
            <a:extLst xmlns:a="http://schemas.openxmlformats.org/drawingml/2006/main">
              <a:ext uri="{FF2B5EF4-FFF2-40B4-BE49-F238E27FC236}">
                <a16:creationId xmlns:a16="http://schemas.microsoft.com/office/drawing/2014/main" id="{46892588-020C-49E7-8AC8-E8CE2DF2D9D6}"/>
              </a:ext>
            </a:extLst>
          </p:cNvPr>
          <p:cNvSpPr>
            <a:spLocks xmlns:a="http://schemas.openxmlformats.org/drawingml/2006/main" noGrp="1"/>
          </p:cNvSpPr>
          <p:nvPr/>
        </p:nvSpPr>
        <p:spPr>
          <a:xfrm xmlns:a="http://schemas.openxmlformats.org/drawingml/2006/main">
            <a:off x="8039100" y="530542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6B94A"/>
                </a:solidFill>
                <a:latin typeface="Noto Sans CJK KR"/>
                <a:ea typeface="Noto Sans CJK KR"/>
                <a:cs typeface="Noto Sans CJK KR"/>
              </a:defRPr>
            </a:pPr>
            <a:r>
              <a:rPr sz="1350" b="1">
                <a:solidFill>
                  <a:srgbClr val="F6B94A"/>
                </a:solidFill>
                <a:latin typeface="Noto Sans CJK KR"/>
                <a:ea typeface="Noto Sans CJK KR"/>
                <a:cs typeface="Noto Sans CJK KR"/>
              </a:rPr>
              <a:t>저장 결과 재생 · L1 테스트 · 실제 생성 모드 구분</a:t>
            </a:r>
          </a:p>
        </p:txBody>
      </p:sp>
      <p:sp>
        <p:nvSpPr>
          <p:cNvPr id="30" name="">
            <a:extLst xmlns:a="http://schemas.openxmlformats.org/drawingml/2006/main">
              <a:ext uri="{FF2B5EF4-FFF2-40B4-BE49-F238E27FC236}">
                <a16:creationId xmlns:a16="http://schemas.microsoft.com/office/drawing/2014/main" id="{E956A843-9281-4BF5-AA09-4394A79FACE8}"/>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로그인·역할 선택 UI는 시연용 목업 · 실제 운영 인증으로 설명하지 않음</a:t>
            </a:r>
          </a:p>
        </p:txBody>
      </p:sp>
    </p:spTree>
    <p:extLst>
      <p:ext uri="{BB962C8B-B14F-4D97-AF65-F5344CB8AC3E}">
        <p14:creationId xmlns:p14="http://schemas.microsoft.com/office/powerpoint/2010/main" val="997080638"/>
      </p:ext>
    </p:extLst>
  </p:cSld>
</p:sld>
</file>

<file path=ppt/slides/slide18.xml><?xml version="1.0" encoding="utf-8"?>
<p:sld xmlns:p="http://schemas.openxmlformats.org/presentationml/2006/main">
  <p:cSld>
    <p:bg>
      <p:bgPr>
        <a:solidFill xmlns:a="http://schemas.openxmlformats.org/drawingml/2006/main">
          <a:srgbClr val="07111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912CAB-A77C-4987-88B9-F6E7454B5B36}"/>
              </a:ext>
            </a:extLst>
          </p:cNvPr>
          <p:cNvSpPr>
            <a:spLocks xmlns:a="http://schemas.openxmlformats.org/drawingml/2006/main" noGrp="1"/>
          </p:cNvSpPr>
          <p:nvPr/>
        </p:nvSpPr>
        <p:spPr>
          <a:xfrm xmlns:a="http://schemas.openxmlformats.org/drawingml/2006/main">
            <a:off x="514350" y="2667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2DD4BF"/>
                </a:solidFill>
                <a:latin typeface="Noto Sans CJK KR"/>
                <a:ea typeface="Noto Sans CJK KR"/>
                <a:cs typeface="Noto Sans CJK KR"/>
              </a:defRPr>
            </a:pPr>
            <a:r>
              <a:rPr sz="1050" b="1">
                <a:solidFill>
                  <a:srgbClr val="2DD4BF"/>
                </a:solidFill>
                <a:latin typeface="Noto Sans CJK KR"/>
                <a:ea typeface="Noto Sans CJK KR"/>
                <a:cs typeface="Noto Sans CJK KR"/>
              </a:rPr>
              <a:t>CHAPTER 06  검증과 시연</a:t>
            </a:r>
          </a:p>
        </p:txBody>
      </p:sp>
      <p:sp>
        <p:nvSpPr>
          <p:cNvPr id="2" name="">
            <a:extLst xmlns:a="http://schemas.openxmlformats.org/drawingml/2006/main">
              <a:ext uri="{FF2B5EF4-FFF2-40B4-BE49-F238E27FC236}">
                <a16:creationId xmlns:a16="http://schemas.microsoft.com/office/drawing/2014/main" id="{F61B910B-0C17-465C-9951-B77581015BE1}"/>
              </a:ext>
            </a:extLst>
          </p:cNvPr>
          <p:cNvSpPr>
            <a:spLocks xmlns:a="http://schemas.openxmlformats.org/drawingml/2006/main" noGrp="1"/>
          </p:cNvSpPr>
          <p:nvPr/>
        </p:nvSpPr>
        <p:spPr>
          <a:xfrm xmlns:a="http://schemas.openxmlformats.org/drawingml/2006/main">
            <a:off x="514350" y="590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4F8FB"/>
                </a:solidFill>
                <a:latin typeface="Noto Sans CJK KR"/>
                <a:ea typeface="Noto Sans CJK KR"/>
                <a:cs typeface="Noto Sans CJK KR"/>
              </a:defRPr>
            </a:pPr>
            <a:r>
              <a:rPr sz="2700" b="1">
                <a:solidFill>
                  <a:srgbClr val="F4F8FB"/>
                </a:solidFill>
                <a:latin typeface="Noto Sans CJK KR"/>
                <a:ea typeface="Noto Sans CJK KR"/>
                <a:cs typeface="Noto Sans CJK KR"/>
              </a:rPr>
              <a:t>구현 자산은 남았고, 성능 검증은 계속된다</a:t>
            </a:r>
          </a:p>
        </p:txBody>
      </p:sp>
      <p:sp>
        <p:nvSpPr>
          <p:cNvPr id="3" name="">
            <a:extLst xmlns:a="http://schemas.openxmlformats.org/drawingml/2006/main">
              <a:ext uri="{FF2B5EF4-FFF2-40B4-BE49-F238E27FC236}">
                <a16:creationId xmlns:a16="http://schemas.microsoft.com/office/drawing/2014/main" id="{04F8D08D-A347-462F-ADD8-29412F8BE61A}"/>
              </a:ext>
            </a:extLst>
          </p:cNvPr>
          <p:cNvSpPr>
            <a:spLocks xmlns:a="http://schemas.openxmlformats.org/drawingml/2006/main" noGrp="1"/>
          </p:cNvSpPr>
          <p:nvPr/>
        </p:nvSpPr>
        <p:spPr>
          <a:xfrm xmlns:a="http://schemas.openxmlformats.org/drawingml/2006/main">
            <a:off x="514350" y="1485900"/>
            <a:ext cx="11163300" cy="0"/>
          </a:xfrm>
          <a:prstGeom xmlns:a="http://schemas.openxmlformats.org/drawingml/2006/main" prst="line">
            <a:avLst/>
          </a:prstGeom>
          <a:noFill xmlns:a="http://schemas.openxmlformats.org/drawingml/2006/main"/>
          <a:ln xmlns:a="http://schemas.openxmlformats.org/drawingml/2006/main" w="9525">
            <a:solidFill>
              <a:srgbClr val="355267"/>
            </a:solidFill>
          </a:ln>
        </p:spPr>
      </p:sp>
      <p:sp>
        <p:nvSpPr>
          <p:cNvPr id="4" name="">
            <a:extLst xmlns:a="http://schemas.openxmlformats.org/drawingml/2006/main">
              <a:ext uri="{FF2B5EF4-FFF2-40B4-BE49-F238E27FC236}">
                <a16:creationId xmlns:a16="http://schemas.microsoft.com/office/drawing/2014/main" id="{9DDF8EC1-589D-499B-B0C6-E66E01E834F6}"/>
              </a:ext>
            </a:extLst>
          </p:cNvPr>
          <p:cNvSpPr>
            <a:spLocks xmlns:a="http://schemas.openxmlformats.org/drawingml/2006/main" noGrp="1"/>
          </p:cNvSpPr>
          <p:nvPr/>
        </p:nvSpPr>
        <p:spPr>
          <a:xfrm xmlns:a="http://schemas.openxmlformats.org/drawingml/2006/main">
            <a:off x="514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5" name="">
            <a:extLst xmlns:a="http://schemas.openxmlformats.org/drawingml/2006/main">
              <a:ext uri="{FF2B5EF4-FFF2-40B4-BE49-F238E27FC236}">
                <a16:creationId xmlns:a16="http://schemas.microsoft.com/office/drawing/2014/main" id="{053C3935-5DE2-4346-AAD8-4998C160E70E}"/>
              </a:ext>
            </a:extLst>
          </p:cNvPr>
          <p:cNvSpPr>
            <a:spLocks xmlns:a="http://schemas.openxmlformats.org/drawingml/2006/main" noGrp="1"/>
          </p:cNvSpPr>
          <p:nvPr/>
        </p:nvSpPr>
        <p:spPr>
          <a:xfrm xmlns:a="http://schemas.openxmlformats.org/drawingml/2006/main">
            <a:off x="23876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6" name="">
            <a:extLst xmlns:a="http://schemas.openxmlformats.org/drawingml/2006/main">
              <a:ext uri="{FF2B5EF4-FFF2-40B4-BE49-F238E27FC236}">
                <a16:creationId xmlns:a16="http://schemas.microsoft.com/office/drawing/2014/main" id="{C507FC56-A4E0-49A3-A12B-F81A3D49A5FE}"/>
              </a:ext>
            </a:extLst>
          </p:cNvPr>
          <p:cNvSpPr>
            <a:spLocks xmlns:a="http://schemas.openxmlformats.org/drawingml/2006/main" noGrp="1"/>
          </p:cNvSpPr>
          <p:nvPr/>
        </p:nvSpPr>
        <p:spPr>
          <a:xfrm xmlns:a="http://schemas.openxmlformats.org/drawingml/2006/main">
            <a:off x="42608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7" name="">
            <a:extLst xmlns:a="http://schemas.openxmlformats.org/drawingml/2006/main">
              <a:ext uri="{FF2B5EF4-FFF2-40B4-BE49-F238E27FC236}">
                <a16:creationId xmlns:a16="http://schemas.microsoft.com/office/drawing/2014/main" id="{4C8C3DEE-666B-45D9-BEE1-C31A560BB344}"/>
              </a:ext>
            </a:extLst>
          </p:cNvPr>
          <p:cNvSpPr>
            <a:spLocks xmlns:a="http://schemas.openxmlformats.org/drawingml/2006/main" noGrp="1"/>
          </p:cNvSpPr>
          <p:nvPr/>
        </p:nvSpPr>
        <p:spPr>
          <a:xfrm xmlns:a="http://schemas.openxmlformats.org/drawingml/2006/main">
            <a:off x="613410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8" name="">
            <a:extLst xmlns:a="http://schemas.openxmlformats.org/drawingml/2006/main">
              <a:ext uri="{FF2B5EF4-FFF2-40B4-BE49-F238E27FC236}">
                <a16:creationId xmlns:a16="http://schemas.microsoft.com/office/drawing/2014/main" id="{704625F1-365C-42E3-A64F-9E834C4F1609}"/>
              </a:ext>
            </a:extLst>
          </p:cNvPr>
          <p:cNvSpPr>
            <a:spLocks xmlns:a="http://schemas.openxmlformats.org/drawingml/2006/main" noGrp="1"/>
          </p:cNvSpPr>
          <p:nvPr/>
        </p:nvSpPr>
        <p:spPr>
          <a:xfrm xmlns:a="http://schemas.openxmlformats.org/drawingml/2006/main">
            <a:off x="8007350" y="6572250"/>
            <a:ext cx="1797050" cy="47625"/>
          </a:xfrm>
          <a:prstGeom xmlns:a="http://schemas.openxmlformats.org/drawingml/2006/main" prst="rect">
            <a:avLst/>
          </a:prstGeom>
          <a:solidFill xmlns:a="http://schemas.openxmlformats.org/drawingml/2006/main">
            <a:srgbClr val="355267"/>
          </a:solidFill>
          <a:ln xmlns:a="http://schemas.openxmlformats.org/drawingml/2006/main" w="11430">
            <a:solidFill>
              <a:srgbClr val="355267"/>
            </a:solidFill>
          </a:ln>
        </p:spPr>
      </p:sp>
      <p:sp>
        <p:nvSpPr>
          <p:cNvPr id="9" name="">
            <a:extLst xmlns:a="http://schemas.openxmlformats.org/drawingml/2006/main">
              <a:ext uri="{FF2B5EF4-FFF2-40B4-BE49-F238E27FC236}">
                <a16:creationId xmlns:a16="http://schemas.microsoft.com/office/drawing/2014/main" id="{3C0734B9-1CB3-4F39-A619-C3F80F15517A}"/>
              </a:ext>
            </a:extLst>
          </p:cNvPr>
          <p:cNvSpPr>
            <a:spLocks xmlns:a="http://schemas.openxmlformats.org/drawingml/2006/main" noGrp="1"/>
          </p:cNvSpPr>
          <p:nvPr/>
        </p:nvSpPr>
        <p:spPr>
          <a:xfrm xmlns:a="http://schemas.openxmlformats.org/drawingml/2006/main">
            <a:off x="9880600" y="6572250"/>
            <a:ext cx="1797050" cy="47625"/>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0" name="">
            <a:extLst xmlns:a="http://schemas.openxmlformats.org/drawingml/2006/main">
              <a:ext uri="{FF2B5EF4-FFF2-40B4-BE49-F238E27FC236}">
                <a16:creationId xmlns:a16="http://schemas.microsoft.com/office/drawing/2014/main" id="{A3E139CE-B526-4D3A-B4C7-4E40E1F2B354}"/>
              </a:ext>
            </a:extLst>
          </p:cNvPr>
          <p:cNvSpPr>
            <a:spLocks xmlns:a="http://schemas.openxmlformats.org/drawingml/2006/main" noGrp="1"/>
          </p:cNvSpPr>
          <p:nvPr/>
        </p:nvSpPr>
        <p:spPr>
          <a:xfrm xmlns:a="http://schemas.openxmlformats.org/drawingml/2006/main">
            <a:off x="11344275" y="2667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A8BDCC"/>
                </a:solidFill>
                <a:latin typeface="Noto Sans CJK KR"/>
                <a:ea typeface="Noto Sans CJK KR"/>
                <a:cs typeface="Noto Sans CJK KR"/>
              </a:defRPr>
            </a:pPr>
            <a:r>
              <a:rPr sz="1050" b="1">
                <a:solidFill>
                  <a:srgbClr val="A8BDCC"/>
                </a:solidFill>
                <a:latin typeface="Noto Sans CJK KR"/>
                <a:ea typeface="Noto Sans CJK KR"/>
                <a:cs typeface="Noto Sans CJK KR"/>
              </a:rPr>
              <a:t>18</a:t>
            </a:r>
          </a:p>
        </p:txBody>
      </p:sp>
      <p:sp>
        <p:nvSpPr>
          <p:cNvPr id="11" name="">
            <a:extLst xmlns:a="http://schemas.openxmlformats.org/drawingml/2006/main">
              <a:ext uri="{FF2B5EF4-FFF2-40B4-BE49-F238E27FC236}">
                <a16:creationId xmlns:a16="http://schemas.microsoft.com/office/drawing/2014/main" id="{1F0CF8B9-0659-45A2-9333-41549370975B}"/>
              </a:ext>
            </a:extLst>
          </p:cNvPr>
          <p:cNvSpPr>
            <a:spLocks xmlns:a="http://schemas.openxmlformats.org/drawingml/2006/main" noGrp="1"/>
          </p:cNvSpPr>
          <p:nvPr/>
        </p:nvSpPr>
        <p:spPr>
          <a:xfrm xmlns:a="http://schemas.openxmlformats.org/drawingml/2006/main">
            <a:off x="514350" y="1924050"/>
            <a:ext cx="3524250" cy="3429000"/>
          </a:xfrm>
          <a:prstGeom xmlns:a="http://schemas.openxmlformats.org/drawingml/2006/main" prst="roundRect">
            <a:avLst>
              <a:gd name="adj" fmla="val 2222"/>
            </a:avLst>
          </a:prstGeom>
          <a:solidFill xmlns:a="http://schemas.openxmlformats.org/drawingml/2006/main">
            <a:srgbClr val="102638"/>
          </a:solidFill>
          <a:ln xmlns:a="http://schemas.openxmlformats.org/drawingml/2006/main" w="11430">
            <a:solidFill>
              <a:srgbClr val="355267"/>
            </a:solidFill>
          </a:ln>
        </p:spPr>
      </p:sp>
      <p:sp>
        <p:nvSpPr>
          <p:cNvPr id="12" name="">
            <a:extLst xmlns:a="http://schemas.openxmlformats.org/drawingml/2006/main">
              <a:ext uri="{FF2B5EF4-FFF2-40B4-BE49-F238E27FC236}">
                <a16:creationId xmlns:a16="http://schemas.microsoft.com/office/drawing/2014/main" id="{CA5C5BB1-B974-41CB-B573-C8827EA39FFF}"/>
              </a:ext>
            </a:extLst>
          </p:cNvPr>
          <p:cNvSpPr>
            <a:spLocks xmlns:a="http://schemas.openxmlformats.org/drawingml/2006/main" noGrp="1"/>
          </p:cNvSpPr>
          <p:nvPr/>
        </p:nvSpPr>
        <p:spPr>
          <a:xfrm xmlns:a="http://schemas.openxmlformats.org/drawingml/2006/main">
            <a:off x="514350" y="1924050"/>
            <a:ext cx="3524250" cy="76200"/>
          </a:xfrm>
          <a:prstGeom xmlns:a="http://schemas.openxmlformats.org/drawingml/2006/main" prst="rect">
            <a:avLst/>
          </a:prstGeom>
          <a:solidFill xmlns:a="http://schemas.openxmlformats.org/drawingml/2006/main">
            <a:srgbClr val="2DD4BF"/>
          </a:solidFill>
          <a:ln xmlns:a="http://schemas.openxmlformats.org/drawingml/2006/main" w="11430">
            <a:solidFill>
              <a:srgbClr val="2DD4BF"/>
            </a:solidFill>
          </a:ln>
        </p:spPr>
      </p:sp>
      <p:sp>
        <p:nvSpPr>
          <p:cNvPr id="13" name="">
            <a:extLst xmlns:a="http://schemas.openxmlformats.org/drawingml/2006/main">
              <a:ext uri="{FF2B5EF4-FFF2-40B4-BE49-F238E27FC236}">
                <a16:creationId xmlns:a16="http://schemas.microsoft.com/office/drawing/2014/main" id="{E2AE5F68-3F36-4E60-AC33-0B5126C858C1}"/>
              </a:ext>
            </a:extLst>
          </p:cNvPr>
          <p:cNvSpPr>
            <a:spLocks xmlns:a="http://schemas.openxmlformats.org/drawingml/2006/main" noGrp="1"/>
          </p:cNvSpPr>
          <p:nvPr/>
        </p:nvSpPr>
        <p:spPr>
          <a:xfrm xmlns:a="http://schemas.openxmlformats.org/drawingml/2006/main">
            <a:off x="723900" y="2152650"/>
            <a:ext cx="310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DD4BF"/>
                </a:solidFill>
                <a:latin typeface="Noto Sans CJK KR"/>
                <a:ea typeface="Noto Sans CJK KR"/>
                <a:cs typeface="Noto Sans CJK KR"/>
              </a:defRPr>
            </a:pPr>
            <a:r>
              <a:rPr sz="2100" b="1">
                <a:solidFill>
                  <a:srgbClr val="2DD4BF"/>
                </a:solidFill>
                <a:latin typeface="Noto Sans CJK KR"/>
                <a:ea typeface="Noto Sans CJK KR"/>
                <a:cs typeface="Noto Sans CJK KR"/>
              </a:rPr>
              <a:t>구현 완료</a:t>
            </a:r>
          </a:p>
        </p:txBody>
      </p:sp>
      <p:sp>
        <p:nvSpPr>
          <p:cNvPr id="14" name="">
            <a:extLst xmlns:a="http://schemas.openxmlformats.org/drawingml/2006/main">
              <a:ext uri="{FF2B5EF4-FFF2-40B4-BE49-F238E27FC236}">
                <a16:creationId xmlns:a16="http://schemas.microsoft.com/office/drawing/2014/main" id="{D54953A2-7570-4624-BB69-64BCBE6F1B09}"/>
              </a:ext>
            </a:extLst>
          </p:cNvPr>
          <p:cNvSpPr>
            <a:spLocks xmlns:a="http://schemas.openxmlformats.org/drawingml/2006/main" noGrp="1"/>
          </p:cNvSpPr>
          <p:nvPr/>
        </p:nvSpPr>
        <p:spPr>
          <a:xfrm xmlns:a="http://schemas.openxmlformats.org/drawingml/2006/main">
            <a:off x="723900" y="2809875"/>
            <a:ext cx="3105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4~6월 수집·파싱·변환 파이프라인</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51건 표본과 합성 기업 5곳</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223문서·3,275청크 파일럿 색인</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300문항과 295 생성 답변</a:t>
            </a:r>
          </a:p>
        </p:txBody>
      </p:sp>
      <p:sp>
        <p:nvSpPr>
          <p:cNvPr id="15" name="">
            <a:extLst xmlns:a="http://schemas.openxmlformats.org/drawingml/2006/main">
              <a:ext uri="{FF2B5EF4-FFF2-40B4-BE49-F238E27FC236}">
                <a16:creationId xmlns:a16="http://schemas.microsoft.com/office/drawing/2014/main" id="{CA3CBBB8-30AD-488B-8B86-F201C113535C}"/>
              </a:ext>
            </a:extLst>
          </p:cNvPr>
          <p:cNvSpPr>
            <a:spLocks xmlns:a="http://schemas.openxmlformats.org/drawingml/2006/main" noGrp="1"/>
          </p:cNvSpPr>
          <p:nvPr/>
        </p:nvSpPr>
        <p:spPr>
          <a:xfrm xmlns:a="http://schemas.openxmlformats.org/drawingml/2006/main">
            <a:off x="4343400" y="1924050"/>
            <a:ext cx="3524250" cy="3429000"/>
          </a:xfrm>
          <a:prstGeom xmlns:a="http://schemas.openxmlformats.org/drawingml/2006/main" prst="roundRect">
            <a:avLst>
              <a:gd name="adj" fmla="val 2222"/>
            </a:avLst>
          </a:prstGeom>
          <a:solidFill xmlns:a="http://schemas.openxmlformats.org/drawingml/2006/main">
            <a:srgbClr val="102638"/>
          </a:solidFill>
          <a:ln xmlns:a="http://schemas.openxmlformats.org/drawingml/2006/main" w="11430">
            <a:solidFill>
              <a:srgbClr val="355267"/>
            </a:solidFill>
          </a:ln>
        </p:spPr>
      </p:sp>
      <p:sp>
        <p:nvSpPr>
          <p:cNvPr id="16" name="">
            <a:extLst xmlns:a="http://schemas.openxmlformats.org/drawingml/2006/main">
              <a:ext uri="{FF2B5EF4-FFF2-40B4-BE49-F238E27FC236}">
                <a16:creationId xmlns:a16="http://schemas.microsoft.com/office/drawing/2014/main" id="{317DA1DE-254E-49E0-ABFB-800D1A226674}"/>
              </a:ext>
            </a:extLst>
          </p:cNvPr>
          <p:cNvSpPr>
            <a:spLocks xmlns:a="http://schemas.openxmlformats.org/drawingml/2006/main" noGrp="1"/>
          </p:cNvSpPr>
          <p:nvPr/>
        </p:nvSpPr>
        <p:spPr>
          <a:xfrm xmlns:a="http://schemas.openxmlformats.org/drawingml/2006/main">
            <a:off x="4343400" y="1924050"/>
            <a:ext cx="3524250" cy="76200"/>
          </a:xfrm>
          <a:prstGeom xmlns:a="http://schemas.openxmlformats.org/drawingml/2006/main" prst="rect">
            <a:avLst/>
          </a:prstGeom>
          <a:solidFill xmlns:a="http://schemas.openxmlformats.org/drawingml/2006/main">
            <a:srgbClr val="FF6B57"/>
          </a:solidFill>
          <a:ln xmlns:a="http://schemas.openxmlformats.org/drawingml/2006/main" w="11430">
            <a:solidFill>
              <a:srgbClr val="FF6B57"/>
            </a:solidFill>
          </a:ln>
        </p:spPr>
      </p:sp>
      <p:sp>
        <p:nvSpPr>
          <p:cNvPr id="17" name="">
            <a:extLst xmlns:a="http://schemas.openxmlformats.org/drawingml/2006/main">
              <a:ext uri="{FF2B5EF4-FFF2-40B4-BE49-F238E27FC236}">
                <a16:creationId xmlns:a16="http://schemas.microsoft.com/office/drawing/2014/main" id="{55994B70-671D-42C0-B952-066C5FE56926}"/>
              </a:ext>
            </a:extLst>
          </p:cNvPr>
          <p:cNvSpPr>
            <a:spLocks xmlns:a="http://schemas.openxmlformats.org/drawingml/2006/main" noGrp="1"/>
          </p:cNvSpPr>
          <p:nvPr/>
        </p:nvSpPr>
        <p:spPr>
          <a:xfrm xmlns:a="http://schemas.openxmlformats.org/drawingml/2006/main">
            <a:off x="4552950" y="2152650"/>
            <a:ext cx="310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FF6B57"/>
                </a:solidFill>
                <a:latin typeface="Noto Sans CJK KR"/>
                <a:ea typeface="Noto Sans CJK KR"/>
                <a:cs typeface="Noto Sans CJK KR"/>
              </a:defRPr>
            </a:pPr>
            <a:r>
              <a:rPr sz="2100" b="1">
                <a:solidFill>
                  <a:srgbClr val="FF6B57"/>
                </a:solidFill>
                <a:latin typeface="Noto Sans CJK KR"/>
                <a:ea typeface="Noto Sans CJK KR"/>
                <a:cs typeface="Noto Sans CJK KR"/>
              </a:rPr>
              <a:t>현재 한계</a:t>
            </a:r>
          </a:p>
        </p:txBody>
      </p:sp>
      <p:sp>
        <p:nvSpPr>
          <p:cNvPr id="18" name="">
            <a:extLst xmlns:a="http://schemas.openxmlformats.org/drawingml/2006/main">
              <a:ext uri="{FF2B5EF4-FFF2-40B4-BE49-F238E27FC236}">
                <a16:creationId xmlns:a16="http://schemas.microsoft.com/office/drawing/2014/main" id="{A92146F1-83BA-47C3-9507-1AE39AE34302}"/>
              </a:ext>
            </a:extLst>
          </p:cNvPr>
          <p:cNvSpPr>
            <a:spLocks xmlns:a="http://schemas.openxmlformats.org/drawingml/2006/main" noGrp="1"/>
          </p:cNvSpPr>
          <p:nvPr/>
        </p:nvSpPr>
        <p:spPr>
          <a:xfrm xmlns:a="http://schemas.openxmlformats.org/drawingml/2006/main">
            <a:off x="4552950" y="2809875"/>
            <a:ext cx="3105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탐지 3종 비교 결과 미완료</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25문항 최종 사람 승인 pending</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운영 인증·인가 미연결</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L2·L3 자유 질문과 Live DB 미연결</a:t>
            </a:r>
          </a:p>
        </p:txBody>
      </p:sp>
      <p:sp>
        <p:nvSpPr>
          <p:cNvPr id="19" name="">
            <a:extLst xmlns:a="http://schemas.openxmlformats.org/drawingml/2006/main">
              <a:ext uri="{FF2B5EF4-FFF2-40B4-BE49-F238E27FC236}">
                <a16:creationId xmlns:a16="http://schemas.microsoft.com/office/drawing/2014/main" id="{6B915029-5FB9-467E-AAF5-1097F17A3F2F}"/>
              </a:ext>
            </a:extLst>
          </p:cNvPr>
          <p:cNvSpPr>
            <a:spLocks xmlns:a="http://schemas.openxmlformats.org/drawingml/2006/main" noGrp="1"/>
          </p:cNvSpPr>
          <p:nvPr/>
        </p:nvSpPr>
        <p:spPr>
          <a:xfrm xmlns:a="http://schemas.openxmlformats.org/drawingml/2006/main">
            <a:off x="8172450" y="1924050"/>
            <a:ext cx="3524250" cy="3429000"/>
          </a:xfrm>
          <a:prstGeom xmlns:a="http://schemas.openxmlformats.org/drawingml/2006/main" prst="roundRect">
            <a:avLst>
              <a:gd name="adj" fmla="val 2222"/>
            </a:avLst>
          </a:prstGeom>
          <a:solidFill xmlns:a="http://schemas.openxmlformats.org/drawingml/2006/main">
            <a:srgbClr val="102638"/>
          </a:solidFill>
          <a:ln xmlns:a="http://schemas.openxmlformats.org/drawingml/2006/main" w="11430">
            <a:solidFill>
              <a:srgbClr val="355267"/>
            </a:solidFill>
          </a:ln>
        </p:spPr>
      </p:sp>
      <p:sp>
        <p:nvSpPr>
          <p:cNvPr id="20" name="">
            <a:extLst xmlns:a="http://schemas.openxmlformats.org/drawingml/2006/main">
              <a:ext uri="{FF2B5EF4-FFF2-40B4-BE49-F238E27FC236}">
                <a16:creationId xmlns:a16="http://schemas.microsoft.com/office/drawing/2014/main" id="{F9AFDB33-F3AA-4762-A993-83C3B66D901E}"/>
              </a:ext>
            </a:extLst>
          </p:cNvPr>
          <p:cNvSpPr>
            <a:spLocks xmlns:a="http://schemas.openxmlformats.org/drawingml/2006/main" noGrp="1"/>
          </p:cNvSpPr>
          <p:nvPr/>
        </p:nvSpPr>
        <p:spPr>
          <a:xfrm xmlns:a="http://schemas.openxmlformats.org/drawingml/2006/main">
            <a:off x="8172450" y="1924050"/>
            <a:ext cx="3524250" cy="76200"/>
          </a:xfrm>
          <a:prstGeom xmlns:a="http://schemas.openxmlformats.org/drawingml/2006/main" prst="rect">
            <a:avLst/>
          </a:prstGeom>
          <a:solidFill xmlns:a="http://schemas.openxmlformats.org/drawingml/2006/main">
            <a:srgbClr val="4D8DFF"/>
          </a:solidFill>
          <a:ln xmlns:a="http://schemas.openxmlformats.org/drawingml/2006/main" w="11430">
            <a:solidFill>
              <a:srgbClr val="4D8DFF"/>
            </a:solidFill>
          </a:ln>
        </p:spPr>
      </p:sp>
      <p:sp>
        <p:nvSpPr>
          <p:cNvPr id="21" name="">
            <a:extLst xmlns:a="http://schemas.openxmlformats.org/drawingml/2006/main">
              <a:ext uri="{FF2B5EF4-FFF2-40B4-BE49-F238E27FC236}">
                <a16:creationId xmlns:a16="http://schemas.microsoft.com/office/drawing/2014/main" id="{CA2BD3D6-EBCC-4D69-A71F-04174128C832}"/>
              </a:ext>
            </a:extLst>
          </p:cNvPr>
          <p:cNvSpPr>
            <a:spLocks xmlns:a="http://schemas.openxmlformats.org/drawingml/2006/main" noGrp="1"/>
          </p:cNvSpPr>
          <p:nvPr/>
        </p:nvSpPr>
        <p:spPr>
          <a:xfrm xmlns:a="http://schemas.openxmlformats.org/drawingml/2006/main">
            <a:off x="8382000" y="2152650"/>
            <a:ext cx="310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4D8DFF"/>
                </a:solidFill>
                <a:latin typeface="Noto Sans CJK KR"/>
                <a:ea typeface="Noto Sans CJK KR"/>
                <a:cs typeface="Noto Sans CJK KR"/>
              </a:defRPr>
            </a:pPr>
            <a:r>
              <a:rPr sz="2100" b="1">
                <a:solidFill>
                  <a:srgbClr val="4D8DFF"/>
                </a:solidFill>
                <a:latin typeface="Noto Sans CJK KR"/>
                <a:ea typeface="Noto Sans CJK KR"/>
                <a:cs typeface="Noto Sans CJK KR"/>
              </a:rPr>
              <a:t>다음 단계</a:t>
            </a:r>
          </a:p>
        </p:txBody>
      </p:sp>
      <p:sp>
        <p:nvSpPr>
          <p:cNvPr id="22" name="">
            <a:extLst xmlns:a="http://schemas.openxmlformats.org/drawingml/2006/main">
              <a:ext uri="{FF2B5EF4-FFF2-40B4-BE49-F238E27FC236}">
                <a16:creationId xmlns:a16="http://schemas.microsoft.com/office/drawing/2014/main" id="{DD07E0A7-B461-4ED0-BBD3-4C0D5958D4E3}"/>
              </a:ext>
            </a:extLst>
          </p:cNvPr>
          <p:cNvSpPr>
            <a:spLocks xmlns:a="http://schemas.openxmlformats.org/drawingml/2006/main" noGrp="1"/>
          </p:cNvSpPr>
          <p:nvPr/>
        </p:nvSpPr>
        <p:spPr>
          <a:xfrm xmlns:a="http://schemas.openxmlformats.org/drawingml/2006/main">
            <a:off x="8382000" y="2809875"/>
            <a:ext cx="3105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전체 295답변 탐지 평가</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사람 승인 라벨과 오류 분석</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운영 인증과 UI 실연결</a:t>
            </a:r>
          </a:p>
          <a:p xmlns:a="http://schemas.openxmlformats.org/drawingml/2006/main">
            <a:pPr marL="190500" indent="-101600">
              <a:spcAft>
                <a:spcPts val="1000"/>
              </a:spcAft>
              <a:buChar char="•"/>
              <a:defRPr sz="1500" b="0">
                <a:solidFill>
                  <a:srgbClr val="F4F8FB"/>
                </a:solidFill>
                <a:latin typeface="Noto Sans CJK KR"/>
                <a:ea typeface="Noto Sans CJK KR"/>
                <a:cs typeface="Noto Sans CJK KR"/>
              </a:defRPr>
            </a:pPr>
            <a:r>
              <a:rPr sz="1500" b="0">
                <a:solidFill>
                  <a:srgbClr val="F4F8FB"/>
                </a:solidFill>
                <a:latin typeface="Noto Sans CJK KR"/>
                <a:ea typeface="Noto Sans CJK KR"/>
                <a:cs typeface="Noto Sans CJK KR"/>
              </a:rPr>
              <a:t>데모 모드와 실시간 모드 분리 검증</a:t>
            </a:r>
          </a:p>
        </p:txBody>
      </p:sp>
      <p:sp>
        <p:nvSpPr>
          <p:cNvPr id="23" name="">
            <a:extLst xmlns:a="http://schemas.openxmlformats.org/drawingml/2006/main">
              <a:ext uri="{FF2B5EF4-FFF2-40B4-BE49-F238E27FC236}">
                <a16:creationId xmlns:a16="http://schemas.microsoft.com/office/drawing/2014/main" id="{998D396A-C393-4D87-AA3E-B79B1041DD68}"/>
              </a:ext>
            </a:extLst>
          </p:cNvPr>
          <p:cNvSpPr>
            <a:spLocks xmlns:a="http://schemas.openxmlformats.org/drawingml/2006/main" noGrp="1"/>
          </p:cNvSpPr>
          <p:nvPr/>
        </p:nvSpPr>
        <p:spPr>
          <a:xfrm xmlns:a="http://schemas.openxmlformats.org/drawingml/2006/main">
            <a:off x="1095375" y="57531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4F8FB"/>
                </a:solidFill>
                <a:latin typeface="Noto Sans CJK KR"/>
                <a:ea typeface="Noto Sans CJK KR"/>
                <a:cs typeface="Noto Sans CJK KR"/>
              </a:defRPr>
            </a:pPr>
            <a:r>
              <a:rPr sz="2025" b="1">
                <a:solidFill>
                  <a:srgbClr val="F4F8FB"/>
                </a:solidFill>
                <a:latin typeface="Noto Sans CJK KR"/>
                <a:ea typeface="Noto Sans CJK KR"/>
                <a:cs typeface="Noto Sans CJK KR"/>
              </a:rPr>
              <a:t>AI가 대신 확정하는 시스템보다, 사람이 근거를 더 빨리 확인하는 시스템</a:t>
            </a:r>
          </a:p>
        </p:txBody>
      </p:sp>
      <p:sp>
        <p:nvSpPr>
          <p:cNvPr id="24" name="">
            <a:extLst xmlns:a="http://schemas.openxmlformats.org/drawingml/2006/main">
              <a:ext uri="{FF2B5EF4-FFF2-40B4-BE49-F238E27FC236}">
                <a16:creationId xmlns:a16="http://schemas.microsoft.com/office/drawing/2014/main" id="{72C713CF-D0E1-42E9-B425-049EA710FC2E}"/>
              </a:ext>
            </a:extLst>
          </p:cNvPr>
          <p:cNvSpPr>
            <a:spLocks xmlns:a="http://schemas.openxmlformats.org/drawingml/2006/main" noGrp="1"/>
          </p:cNvSpPr>
          <p:nvPr/>
        </p:nvSpPr>
        <p:spPr>
          <a:xfrm xmlns:a="http://schemas.openxmlformats.org/drawingml/2006/main">
            <a:off x="533400" y="62388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A8BDCC"/>
                </a:solidFill>
                <a:latin typeface="Noto Sans CJK KR"/>
                <a:ea typeface="Noto Sans CJK KR"/>
                <a:cs typeface="Noto Sans CJK KR"/>
              </a:defRPr>
            </a:pPr>
            <a:r>
              <a:rPr sz="1125" b="0">
                <a:solidFill>
                  <a:srgbClr val="A8BDCC"/>
                </a:solidFill>
                <a:latin typeface="Noto Sans CJK KR"/>
                <a:ea typeface="Noto Sans CJK KR"/>
                <a:cs typeface="Noto Sans CJK KR"/>
              </a:rPr>
              <a:t>최종 발표 전 확인: 데모 서버 상태 · 사람 승인 범위 · 탐지 평가 결과 반영 여부</a:t>
            </a:r>
          </a:p>
        </p:txBody>
      </p:sp>
    </p:spTree>
    <p:extLst>
      <p:ext uri="{BB962C8B-B14F-4D97-AF65-F5344CB8AC3E}">
        <p14:creationId xmlns:p14="http://schemas.microsoft.com/office/powerpoint/2010/main" val="9182861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2026-09-16T08:32:48.3560000Z</dcterms:created>
  <dcterms:modified xsi:type="dcterms:W3CDTF">2026-09-16T08:32:48.3570000Z</dcterms:modified>
</coreProperties>
</file>