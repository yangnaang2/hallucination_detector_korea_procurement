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1위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F2937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Qwen3-8B</c:v>
                  </c:pt>
                  <c:pt idx="1">
                    <c:v>Qwen3-4B (현행)</c:v>
                  </c:pt>
                  <c:pt idx="2">
                    <c:v>Llama-3.1-8B</c:v>
                  </c:pt>
                  <c:pt idx="3">
                    <c:v>Qwen3-1.7B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rgbClr val="B4B2A9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F2937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Qwen3-8B</c:v>
                  </c:pt>
                  <c:pt idx="1">
                    <c:v>Qwen3-4B (현행)</c:v>
                  </c:pt>
                  <c:pt idx="2">
                    <c:v>Llama-3.1-8B</c:v>
                  </c:pt>
                  <c:pt idx="3">
                    <c:v>Qwen3-1.7B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63.3</c:v>
                </c:pt>
                <c:pt idx="2">
                  <c:v>60.1</c:v>
                </c:pt>
                <c:pt idx="3">
                  <c:v>10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1" i="0" strike="noStrike" sz="1300" u="none">
                  <a:solidFill>
                    <a:srgbClr val="1F2937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1단계 관문입니다. 세로는 형식 하한(지시문 5종 중 가장 낮은 형식 준수율), 가로는 메모리이며 오른쪽으로 갈수록 작습니다. 점선은 관문 기준인 형식 하한 90%와 메모리 11GB이고, 오른쪽 위 파란 칸이 관문 통과 영역입니다.
메모리는 Qwen3-4B·8B·14B만 실측했고, 점선 버블 7종은 모델 크기로 추정한 값입니다. Llama-3.1-8B는 추정 10.98GB로 기준과 0.02GB 차이라 실측 시 탈락할 수 있습니다. 네 칸을 같은 크기로 맞추기 위해 기준선 양쪽의 축척을 다르게 잡았습니다.
오른쪽은 2단계 가중 점수입니다. 정답률·환각률 ×3, 정답 하한 ×2, 인용 정확도·응답 시간 ×1. 점수는 통과 모델 사이의 상대 점수입니다.
교체 시 기대 효과: 정답률 76.9%→86.9%, 환각률 22.1%→11.0%, 인용 정확도 82.9%→90.1%. 치르는 비용: 응답 p50 10.8초→19.8초, 메모리 8.93GB→10.73GB. 메모리 10.73GB는 다른 프로그램을 모두 끈 상태의 측정값이라 실제 업무 환경에서는 여유가 부족할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계산식: 가중치 합이 10이라 결과가 0~100점. 각 지표는 관문 통과 모델 4종 안에서 최고값 100, 최저값 0으로 비례 환산하며, 이 방식으로 보고서 점수가 소수점까지 재현됩니다. 상대 점수라 비교 대상이 바뀌면 점수도 바뀝니다.
정답·환각·무응답은 모든 답변을 셋 중 하나로 나눈 것이라 합이 100%입니다. 무응답률은 점수에 직접 들어가지 않고 정답률이 낮아지는 형태로 간접 반영됩니다.
환각 유형(RAGTruth): Evident Conflict — 근거와 정면으로 어긋남(예: "4개사 이하"→"5개사 가능"). Subtle Conflict — 조건·범위가 미묘하게 어긋남(예: "10년 이상"→"정확히 10년은 제외"). Evident Baseless — 없는 조항·금액을 지어냄. Subtle Baseless — "사전에 협의하시기 바랍니다"처럼 근거를 넘는 조언을 덧붙임.
무응답 유형: 근거 반복, 절차 서술, 파편, 질문 반복.
측정: 사람 판정은 295문항 중 층화 추출한 58문항(판정자 1인, 모델명 가림), 나머지는 자동 계산. 응답 시간은 도입 대상 노트북 CPU 실측이며 일부 모델은 워크스테이션 측정값을 환산했습니다.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Qwen3-8B로 교체 권고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11GB 조건에서 관문을 통과한 4종 중 가중 점수 1위 — 가중치를 3,000번 바꿔도 98.1% 1위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· 관문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68980" y="1783080"/>
            <a:ext cx="2080260" cy="208026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783080"/>
            <a:ext cx="4160520" cy="4160520"/>
          </a:xfrm>
          <a:prstGeom prst="rect">
            <a:avLst/>
          </a:prstGeom>
          <a:ln w="9525">
            <a:solidFill>
              <a:srgbClr val="C9CB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68980" y="1783080"/>
            <a:ext cx="0" cy="416052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188720" y="3863340"/>
            <a:ext cx="416052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3813048" y="1847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관문 통과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35707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초과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39273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탈락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13048" y="39273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붕괴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98017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16GB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903220" y="598017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11GB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598017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1GB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020062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53612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90%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667451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0%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62179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→ 작음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65760" y="24688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하한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안정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68393" y="1993411"/>
            <a:ext cx="272758" cy="272758"/>
          </a:xfrm>
          <a:prstGeom prst="ellipse">
            <a:avLst/>
          </a:prstGeom>
          <a:solidFill>
            <a:srgbClr val="D3D1C7"/>
          </a:solidFill>
          <a:ln w="9525">
            <a:solidFill>
              <a:srgbClr val="8887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86871" y="2029206"/>
            <a:ext cx="7845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Qwen3-14B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6412" y="1993411"/>
            <a:ext cx="272758" cy="272758"/>
          </a:xfrm>
          <a:prstGeom prst="ellipse">
            <a:avLst/>
          </a:prstGeom>
          <a:solidFill>
            <a:srgbClr val="2A78D6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05556" y="1801368"/>
            <a:ext cx="12033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Qwen3-8B · 1위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296412" y="2284457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여유 0.27GB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74805" y="2594408"/>
            <a:ext cx="249578" cy="249578"/>
          </a:xfrm>
          <a:prstGeom prst="ellipse">
            <a:avLst/>
          </a:prstGeom>
          <a:solidFill>
            <a:srgbClr val="85B7EB"/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70103" y="2618613"/>
            <a:ext cx="12508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Qwen3-4B (현행)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19156" y="2150341"/>
            <a:ext cx="201595" cy="201595"/>
          </a:xfrm>
          <a:prstGeom prst="ellipse">
            <a:avLst/>
          </a:prstGeom>
          <a:ln w="12700">
            <a:solidFill>
              <a:srgbClr val="888780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4166471" y="2150555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Qwen3-1.7B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6412" y="2820117"/>
            <a:ext cx="248882" cy="248882"/>
          </a:xfrm>
          <a:prstGeom prst="ellipse">
            <a:avLst/>
          </a:prstGeom>
          <a:ln w="12700">
            <a:solidFill>
              <a:srgbClr val="888780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3591014" y="2843975"/>
            <a:ext cx="1009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Llama-3.1-8B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56127" y="4268176"/>
            <a:ext cx="231961" cy="231961"/>
          </a:xfrm>
          <a:prstGeom prst="ellipse">
            <a:avLst/>
          </a:prstGeom>
          <a:ln w="12700">
            <a:solidFill>
              <a:srgbClr val="888780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3354888" y="40487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Kanana-1.5-2.1B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86829" y="4927934"/>
            <a:ext cx="246333" cy="246333"/>
          </a:xfrm>
          <a:prstGeom prst="ellipse">
            <a:avLst/>
          </a:prstGeom>
          <a:ln w="12700">
            <a:solidFill>
              <a:srgbClr val="888780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3305556" y="470847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Gemma-3-4B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046647" y="4996662"/>
            <a:ext cx="108875" cy="108875"/>
          </a:xfrm>
          <a:prstGeom prst="ellipse">
            <a:avLst/>
          </a:prstGeom>
          <a:ln w="12700">
            <a:solidFill>
              <a:srgbClr val="888780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4201241" y="495051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Gemma-3-1B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848781" y="5495375"/>
            <a:ext cx="196727" cy="196727"/>
          </a:xfrm>
          <a:prstGeom prst="ellipse">
            <a:avLst/>
          </a:prstGeom>
          <a:ln w="12700">
            <a:solidFill>
              <a:srgbClr val="888780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4091228" y="5493154"/>
            <a:ext cx="1159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Mi:dm-2.0-Mini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96412" y="5112847"/>
            <a:ext cx="228020" cy="228020"/>
          </a:xfrm>
          <a:prstGeom prst="ellipse">
            <a:avLst/>
          </a:prstGeom>
          <a:ln w="12700">
            <a:solidFill>
              <a:srgbClr val="888780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3570152" y="5199425"/>
            <a:ext cx="10844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Kanana-1.5-8B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188720" y="6611112"/>
            <a:ext cx="128016" cy="128016"/>
          </a:xfrm>
          <a:prstGeom prst="ellipse">
            <a:avLst/>
          </a:prstGeom>
          <a:solidFill>
            <a:srgbClr val="2A78D6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371600" y="65653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실측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40280" y="6611112"/>
            <a:ext cx="128016" cy="128016"/>
          </a:xfrm>
          <a:prstGeom prst="ellipse">
            <a:avLst/>
          </a:prstGeom>
          <a:ln w="12700">
            <a:solidFill>
              <a:srgbClr val="888780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2423160" y="65653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추정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3337560" y="65653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버블 크기 = 정답률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· 관문 통과 4종 가중 점수</a:t>
            </a:r>
            <a:endParaRPr lang="en-US" sz="1400" dirty="0"/>
          </a:p>
        </p:txBody>
      </p:sp>
      <p:graphicFrame>
        <p:nvGraphicFramePr>
          <p:cNvPr id="48" name="Chart 0" descr=""/>
          <p:cNvGraphicFramePr/>
          <p:nvPr/>
        </p:nvGraphicFramePr>
        <p:xfrm>
          <a:off x="6400800" y="178308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점수는 이렇게 계산했다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 가중 점수를 구성하는 지표와 답변 분류 기준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11274552" cy="89611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= ( </a:t>
            </a:r>
            <a:pPr algn="ctr" indent="0" marL="0">
              <a:buNone/>
            </a:pPr>
            <a:r>
              <a:rPr lang="en-US" sz="1600" b="1" dirty="0">
                <a:solidFill>
                  <a:srgbClr val="8DB9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×정답률 + </a:t>
            </a:r>
            <a:pPr algn="ctr" indent="0" marL="0">
              <a:buNone/>
            </a:pPr>
            <a:r>
              <a:rPr lang="en-US" sz="1600" b="1" dirty="0">
                <a:solidFill>
                  <a:srgbClr val="8DB9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×환각률 + </a:t>
            </a:r>
            <a:pPr algn="ctr" indent="0" marL="0">
              <a:buNone/>
            </a:pPr>
            <a:r>
              <a:rPr lang="en-US" sz="1600" b="1" dirty="0">
                <a:solidFill>
                  <a:srgbClr val="8DB9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×정답 하한 + </a:t>
            </a:r>
            <a:pPr algn="ctr" indent="0" marL="0">
              <a:buNone/>
            </a:pPr>
            <a:r>
              <a:rPr lang="en-US" sz="1600" b="1" dirty="0">
                <a:solidFill>
                  <a:srgbClr val="8DB9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×인용 정확도 + </a:t>
            </a:r>
            <a:pPr algn="ctr" indent="0" marL="0">
              <a:buNone/>
            </a:pPr>
            <a:r>
              <a:rPr lang="en-US" sz="1600" b="1" dirty="0">
                <a:solidFill>
                  <a:srgbClr val="8DB9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×응답 시간 ) ÷ 10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1965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지표는 관문을 통과한 모델 안에서 최고값 100, 최저값 0으로 환산   ·   환각률과 응답 시간은 낮을수록 100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640080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468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3분류  ·  세 비율의 합 = 100%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0" y="2468880"/>
            <a:ext cx="4782312" cy="274320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0" y="2468880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지표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52928"/>
            <a:ext cx="1600200" cy="3657600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E8F1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" y="2999232"/>
            <a:ext cx="1307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정답률</a:t>
            </a:r>
            <a:pPr indent="0" marL="0">
              <a:buNone/>
            </a:pPr>
            <a:r>
              <a:rPr lang="en-US" sz="11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▲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" y="3401568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" y="340156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" y="3813048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결론이 맞고 모든 내용이 근거 안에 있는 답의 비율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48840" y="2852928"/>
            <a:ext cx="2377440" cy="3657600"/>
          </a:xfrm>
          <a:prstGeom prst="roundRect">
            <a:avLst>
              <a:gd name="adj" fmla="val 5385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95144" y="2999232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환각률</a:t>
            </a:r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▼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295144" y="3401568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95144" y="340156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295144" y="381304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근거에 없거나 근거와 어긋나는 내용이 섞인 답의 비율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40280" y="4453128"/>
            <a:ext cx="2194560" cy="1947672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50008" y="4590288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· RAGTruth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13432" y="5047488"/>
            <a:ext cx="82296" cy="8229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459736" y="4956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정면 어긋남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Evident Conflict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13432" y="5394960"/>
            <a:ext cx="82296" cy="8229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459736" y="5303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미묘한 어긋남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Subtle Conflict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13432" y="5742432"/>
            <a:ext cx="82296" cy="8229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459736" y="5650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내용 생성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Evident Baseless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313432" y="6089904"/>
            <a:ext cx="82296" cy="8229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59736" y="5998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밖 조언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Subtle Baseless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2852928"/>
            <a:ext cx="2240280" cy="3657600"/>
          </a:xfrm>
          <a:prstGeom prst="roundRect">
            <a:avLst>
              <a:gd name="adj" fmla="val 5714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64024" y="2999232"/>
            <a:ext cx="1947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무응답률</a:t>
            </a:r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▼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764024" y="340156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5F5E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64024" y="34015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제외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696712" y="3401568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정답률로 간접 반영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764024" y="3813048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질문에 대한 판단이 담기지 않은 답의 비율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4453128"/>
            <a:ext cx="2057400" cy="1947672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18888" y="4590288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82312" y="5047488"/>
            <a:ext cx="82296" cy="82296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928616" y="49560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반복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판단 없이 근거만 옮김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82312" y="5394960"/>
            <a:ext cx="82296" cy="82296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928616" y="5303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 서술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결과값 없이 방법만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82312" y="5742432"/>
            <a:ext cx="82296" cy="82296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928616" y="5650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파편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조각·인용 번호만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82312" y="6089904"/>
            <a:ext cx="82296" cy="82296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928616" y="59984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반복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질문만 되풀이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949440" y="2852928"/>
            <a:ext cx="1554480" cy="3657600"/>
          </a:xfrm>
          <a:prstGeom prst="roundRect">
            <a:avLst>
              <a:gd name="adj" fmla="val 8235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095744" y="299923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하한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▲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7095744" y="3401568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095744" y="340156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×2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095744" y="3813048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 5종 중 가장 낮은 정답률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595360" y="2852928"/>
            <a:ext cx="1554480" cy="3657600"/>
          </a:xfrm>
          <a:prstGeom prst="roundRect">
            <a:avLst>
              <a:gd name="adj" fmla="val 8235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741664" y="299923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정확도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▲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8741664" y="3401568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741664" y="340156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×1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8741664" y="3813048"/>
            <a:ext cx="1261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답변의 근거 번호가 실제 제공 범위 안인 비율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0241280" y="2852928"/>
            <a:ext cx="1490472" cy="3657600"/>
          </a:xfrm>
          <a:prstGeom prst="roundRect">
            <a:avLst>
              <a:gd name="adj" fmla="val 858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387584" y="2999232"/>
            <a:ext cx="1197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시간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▼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10387584" y="3401568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387584" y="340156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×1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0387584" y="3813048"/>
            <a:ext cx="1197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답변까지 걸린 시간의 중앙값(p50)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2026-09-21T12:40:35Z</dcterms:created>
  <dcterms:modified xsi:type="dcterms:W3CDTF">2026-09-21T12:40:35Z</dcterms:modified>
</cp:coreProperties>
</file>