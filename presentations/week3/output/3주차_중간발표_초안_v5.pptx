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fcc0d5f0e241c5" /><Relationship Type="http://schemas.openxmlformats.org/officeDocument/2006/relationships/extended-properties" Target="/docProps/app.xml" Id="Rdd68d845ec0e42fc" /><Relationship Type="http://schemas.openxmlformats.org/officeDocument/2006/relationships/officeDocument" Target="/ppt/presentation.xml" Id="R5991287aaecd4a9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8eaeb1d01144e9a"/>
  </p:sldMasterIdLst>
  <p:notesMasterIdLst>
    <p:notesMasterId xmlns:r="http://schemas.openxmlformats.org/officeDocument/2006/relationships" r:id="Rf87ae29fdb4c410c"/>
  </p:notesMasterIdLst>
  <p:sldIdLst>
    <p:sldId xmlns:r="http://schemas.openxmlformats.org/officeDocument/2006/relationships" id="256" r:id="R61ee60152e6c4f22"/>
    <p:sldId xmlns:r="http://schemas.openxmlformats.org/officeDocument/2006/relationships" id="257" r:id="R28644375620c495f"/>
    <p:sldId xmlns:r="http://schemas.openxmlformats.org/officeDocument/2006/relationships" id="258" r:id="Re5e230bf312d454f"/>
    <p:sldId xmlns:r="http://schemas.openxmlformats.org/officeDocument/2006/relationships" id="259" r:id="R5bbd45f799744d7d"/>
    <p:sldId xmlns:r="http://schemas.openxmlformats.org/officeDocument/2006/relationships" id="260" r:id="R855c0b639e044925"/>
    <p:sldId xmlns:r="http://schemas.openxmlformats.org/officeDocument/2006/relationships" id="261" r:id="R07b96e5ccd8e4cc8"/>
    <p:sldId xmlns:r="http://schemas.openxmlformats.org/officeDocument/2006/relationships" id="262" r:id="Rd2b2f1694e1549a0"/>
  </p:sldIdLst>
  <p:sldSz cx="12192000" cy="6858000"/>
  <p:notesSz cx="6858000" cy="9144000"/>
  <p:embeddedFontLst>
    <p:embeddedFont>
      <p:font typeface="Lora Medium"/>
      <p:regular xmlns:r="http://schemas.openxmlformats.org/officeDocument/2006/relationships" r:id="R05c96bb888274a4e"/>
      <p:italic xmlns:r="http://schemas.openxmlformats.org/officeDocument/2006/relationships" r:id="R6bc47646928f43dc"/>
    </p:embeddedFont>
    <p:embeddedFont>
      <p:font typeface="Lora SemiBold"/>
      <p:regular xmlns:r="http://schemas.openxmlformats.org/officeDocument/2006/relationships" r:id="R30d1d300ee6a47f0"/>
      <p:bold xmlns:r="http://schemas.openxmlformats.org/officeDocument/2006/relationships" r:id="R93f1cbac3c544d4b"/>
      <p:italic xmlns:r="http://schemas.openxmlformats.org/officeDocument/2006/relationships" r:id="R65203add3d6b40aa"/>
      <p:boldItalic xmlns:r="http://schemas.openxmlformats.org/officeDocument/2006/relationships" r:id="R7da2a3d470784281"/>
    </p:embeddedFont>
    <p:embeddedFont>
      <p:font typeface="OpenAI Sans"/>
      <p:regular xmlns:r="http://schemas.openxmlformats.org/officeDocument/2006/relationships" r:id="R29ced92358984370"/>
      <p:bold xmlns:r="http://schemas.openxmlformats.org/officeDocument/2006/relationships" r:id="Ra0664673c3244380"/>
      <p:italic xmlns:r="http://schemas.openxmlformats.org/officeDocument/2006/relationships" r:id="Recb7d55395974aa6"/>
      <p:boldItalic xmlns:r="http://schemas.openxmlformats.org/officeDocument/2006/relationships" r:id="R3db6bfb13ecb44f1"/>
    </p:embeddedFont>
    <p:embeddedFont>
      <p:font typeface="Roboto"/>
      <p:regular xmlns:r="http://schemas.openxmlformats.org/officeDocument/2006/relationships" r:id="Rc12a633f6f4e4126"/>
      <p:bold xmlns:r="http://schemas.openxmlformats.org/officeDocument/2006/relationships" r:id="R62403591f9d14ac3"/>
      <p:italic xmlns:r="http://schemas.openxmlformats.org/officeDocument/2006/relationships" r:id="Rfeeac08858004b0e"/>
      <p:boldItalic xmlns:r="http://schemas.openxmlformats.org/officeDocument/2006/relationships" r:id="R269a94851cdb425e"/>
    </p:embeddedFont>
    <p:embeddedFont>
      <p:font typeface="Roboto Medium"/>
      <p:regular xmlns:r="http://schemas.openxmlformats.org/officeDocument/2006/relationships" r:id="R2bd4515d1a3f42be"/>
      <p:italic xmlns:r="http://schemas.openxmlformats.org/officeDocument/2006/relationships" r:id="Rad00864415e041dd"/>
    </p:embeddedFont>
    <p:embeddedFont>
      <p:font typeface="Roboto SemiBold"/>
      <p:regular xmlns:r="http://schemas.openxmlformats.org/officeDocument/2006/relationships" r:id="R8366d2ed10f14a20"/>
      <p:bold xmlns:r="http://schemas.openxmlformats.org/officeDocument/2006/relationships" r:id="R1f2e26021bb1428d"/>
      <p:italic xmlns:r="http://schemas.openxmlformats.org/officeDocument/2006/relationships" r:id="Rcdcbf9ec903f465e"/>
      <p:boldItalic xmlns:r="http://schemas.openxmlformats.org/officeDocument/2006/relationships" r:id="R2310107ccda84df1"/>
    </p:embeddedFont>
    <p:embeddedFont>
      <p:font typeface="Roboto Serif 14pt"/>
      <p:regular xmlns:r="http://schemas.openxmlformats.org/officeDocument/2006/relationships" r:id="R22c4713b32194071"/>
      <p:bold xmlns:r="http://schemas.openxmlformats.org/officeDocument/2006/relationships" r:id="Ra5fbae1392a74ee8"/>
      <p:italic xmlns:r="http://schemas.openxmlformats.org/officeDocument/2006/relationships" r:id="Rbace0bb4a6d44106"/>
      <p:boldItalic xmlns:r="http://schemas.openxmlformats.org/officeDocument/2006/relationships" r:id="R282d70809507407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920e731cac34f97" /><Relationship Type="http://schemas.openxmlformats.org/officeDocument/2006/relationships/slideMaster" Target="/ppt/slideMasters/slideMaster1.xml" Id="R58eaeb1d01144e9a" /><Relationship Type="http://schemas.openxmlformats.org/officeDocument/2006/relationships/notesMaster" Target="/ppt/notesMasters/notesMaster1.xml" Id="Rf87ae29fdb4c410c" /><Relationship Type="http://schemas.openxmlformats.org/officeDocument/2006/relationships/presProps" Target="/ppt/presProps.xml" Id="R3727fdc1d02b429d" /><Relationship Type="http://schemas.openxmlformats.org/officeDocument/2006/relationships/viewProps" Target="/ppt/viewProps.xml" Id="R1f2d7e66d82c43c9" /><Relationship Type="http://schemas.openxmlformats.org/officeDocument/2006/relationships/tableStyles" Target="/ppt/tableStyles.xml" Id="Re958096d7f484938" /><Relationship Type="http://schemas.openxmlformats.org/officeDocument/2006/relationships/font" Target="/ppt/fonts/font.dat" Id="R05c96bb888274a4e" /><Relationship Type="http://schemas.openxmlformats.org/officeDocument/2006/relationships/font" Target="/ppt/fonts/font2.dat" Id="R6bc47646928f43dc" /><Relationship Type="http://schemas.openxmlformats.org/officeDocument/2006/relationships/font" Target="/ppt/fonts/font3.dat" Id="R30d1d300ee6a47f0" /><Relationship Type="http://schemas.openxmlformats.org/officeDocument/2006/relationships/font" Target="/ppt/fonts/font4.dat" Id="R93f1cbac3c544d4b" /><Relationship Type="http://schemas.openxmlformats.org/officeDocument/2006/relationships/font" Target="/ppt/fonts/font5.dat" Id="R65203add3d6b40aa" /><Relationship Type="http://schemas.openxmlformats.org/officeDocument/2006/relationships/font" Target="/ppt/fonts/font6.dat" Id="R7da2a3d470784281" /><Relationship Type="http://schemas.openxmlformats.org/officeDocument/2006/relationships/font" Target="/ppt/fonts/font7.dat" Id="R29ced92358984370" /><Relationship Type="http://schemas.openxmlformats.org/officeDocument/2006/relationships/font" Target="/ppt/fonts/font8.dat" Id="Ra0664673c3244380" /><Relationship Type="http://schemas.openxmlformats.org/officeDocument/2006/relationships/font" Target="/ppt/fonts/font9.dat" Id="Recb7d55395974aa6" /><Relationship Type="http://schemas.openxmlformats.org/officeDocument/2006/relationships/font" Target="/ppt/fonts/font10.dat" Id="R3db6bfb13ecb44f1" /><Relationship Type="http://schemas.openxmlformats.org/officeDocument/2006/relationships/font" Target="/ppt/fonts/font11.dat" Id="Rc12a633f6f4e4126" /><Relationship Type="http://schemas.openxmlformats.org/officeDocument/2006/relationships/font" Target="/ppt/fonts/font12.dat" Id="R62403591f9d14ac3" /><Relationship Type="http://schemas.openxmlformats.org/officeDocument/2006/relationships/font" Target="/ppt/fonts/font13.dat" Id="Rfeeac08858004b0e" /><Relationship Type="http://schemas.openxmlformats.org/officeDocument/2006/relationships/font" Target="/ppt/fonts/font14.dat" Id="R269a94851cdb425e" /><Relationship Type="http://schemas.openxmlformats.org/officeDocument/2006/relationships/font" Target="/ppt/fonts/font15.dat" Id="R2bd4515d1a3f42be" /><Relationship Type="http://schemas.openxmlformats.org/officeDocument/2006/relationships/font" Target="/ppt/fonts/font16.dat" Id="Rad00864415e041dd" /><Relationship Type="http://schemas.openxmlformats.org/officeDocument/2006/relationships/font" Target="/ppt/fonts/font17.dat" Id="R8366d2ed10f14a20" /><Relationship Type="http://schemas.openxmlformats.org/officeDocument/2006/relationships/font" Target="/ppt/fonts/font18.dat" Id="R1f2e26021bb1428d" /><Relationship Type="http://schemas.openxmlformats.org/officeDocument/2006/relationships/font" Target="/ppt/fonts/font19.dat" Id="Rcdcbf9ec903f465e" /><Relationship Type="http://schemas.openxmlformats.org/officeDocument/2006/relationships/font" Target="/ppt/fonts/font20.dat" Id="R2310107ccda84df1" /><Relationship Type="http://schemas.openxmlformats.org/officeDocument/2006/relationships/font" Target="/ppt/fonts/font21.dat" Id="R22c4713b32194071" /><Relationship Type="http://schemas.openxmlformats.org/officeDocument/2006/relationships/font" Target="/ppt/fonts/font22.dat" Id="Ra5fbae1392a74ee8" /><Relationship Type="http://schemas.openxmlformats.org/officeDocument/2006/relationships/font" Target="/ppt/fonts/font23.dat" Id="Rbace0bb4a6d44106" /><Relationship Type="http://schemas.openxmlformats.org/officeDocument/2006/relationships/font" Target="/ppt/fonts/font24.dat" Id="R282d708095074071" /><Relationship Type="http://schemas.openxmlformats.org/officeDocument/2006/relationships/slide" Target="/ppt/slides/slide1.xml" Id="R61ee60152e6c4f22" /><Relationship Type="http://schemas.openxmlformats.org/officeDocument/2006/relationships/slide" Target="/ppt/slides/slide2.xml" Id="R28644375620c495f" /><Relationship Type="http://schemas.openxmlformats.org/officeDocument/2006/relationships/slide" Target="/ppt/slides/slide3.xml" Id="Re5e230bf312d454f" /><Relationship Type="http://schemas.openxmlformats.org/officeDocument/2006/relationships/slide" Target="/ppt/slides/slide4.xml" Id="R5bbd45f799744d7d" /><Relationship Type="http://schemas.openxmlformats.org/officeDocument/2006/relationships/slide" Target="/ppt/slides/slide5.xml" Id="R855c0b639e044925" /><Relationship Type="http://schemas.openxmlformats.org/officeDocument/2006/relationships/slide" Target="/ppt/slides/slide6.xml" Id="R07b96e5ccd8e4cc8" /><Relationship Type="http://schemas.openxmlformats.org/officeDocument/2006/relationships/slide" Target="/ppt/slides/slide7.xml" Id="Rd2b2f1694e1549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ca0a517ad64a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b5429fb8e94191" /><Relationship Type="http://schemas.openxmlformats.org/officeDocument/2006/relationships/notesMaster" Target="/ppt/notesMasters/notesMaster1.xml" Id="R357c6f166dec4c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c4f81db2ae4e4c" /><Relationship Type="http://schemas.openxmlformats.org/officeDocument/2006/relationships/notesMaster" Target="/ppt/notesMasters/notesMaster1.xml" Id="R5aac68b7305b47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3eefa4ba8a4185" /><Relationship Type="http://schemas.openxmlformats.org/officeDocument/2006/relationships/notesMaster" Target="/ppt/notesMasters/notesMaster1.xml" Id="R012af3a245244a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e491b5ca80452c" /><Relationship Type="http://schemas.openxmlformats.org/officeDocument/2006/relationships/notesMaster" Target="/ppt/notesMasters/notesMaster1.xml" Id="R969bc17cfaa344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5ca7e2449342bd" /><Relationship Type="http://schemas.openxmlformats.org/officeDocument/2006/relationships/notesMaster" Target="/ppt/notesMasters/notesMaster1.xml" Id="Radd79556163549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ce46f4e263466b" /><Relationship Type="http://schemas.openxmlformats.org/officeDocument/2006/relationships/notesMaster" Target="/ppt/notesMasters/notesMaster1.xml" Id="Rc7644067c80c47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a2090f9d19494a" /><Relationship Type="http://schemas.openxmlformats.org/officeDocument/2006/relationships/notesMaster" Target="/ppt/notesMasters/notesMaster1.xml" Id="Rf4a811cfc1c54d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 한국어 환각 탐지와 권한 기반 RAG 나라장터 입찰 검토 시스템</a:t>
            </a:r>
            <a:endParaRPr/>
          </a:p>
          <a:p xmlns:a="http://schemas.openxmlformats.org/drawingml/2006/main">
            <a:r>
              <a:t/>
            </a:r>
            <a:endParaRPr/>
          </a:p>
          <a:p xmlns:a="http://schemas.openxmlformats.org/drawingml/2006/main">
            <a:r>
              <a:t>### 화면 본문</a:t>
            </a:r>
            <a:endParaRPr/>
          </a:p>
          <a:p xmlns:a="http://schemas.openxmlformats.org/drawingml/2006/main">
            <a:r>
              <a:t/>
            </a:r>
            <a:endParaRPr/>
          </a:p>
          <a:p xmlns:a="http://schemas.openxmlformats.org/drawingml/2006/main">
            <a:r>
              <a:t>- Finding Hallucination · 허용된 근거로 답하고, 의심 구간을 확인하다</a:t>
            </a:r>
            <a:endParaRPr/>
          </a:p>
          <a:p xmlns:a="http://schemas.openxmlformats.org/drawingml/2006/main">
            <a:r>
              <a:t>- 포스코 AI·Big Data 아카데미 B1조</a:t>
            </a:r>
            <a:endParaRPr/>
          </a:p>
          <a:p xmlns:a="http://schemas.openxmlformats.org/drawingml/2006/main">
            <a:r>
              <a:t>- 양진우 외 팀원 5명</a:t>
            </a:r>
            <a:endParaRPr/>
          </a:p>
          <a:p xmlns:a="http://schemas.openxmlformats.org/drawingml/2006/main">
            <a:r>
              <a:t>- 3주차 중간 보고 · 2026.09.12 기준</a:t>
            </a:r>
            <a:endParaRPr/>
          </a:p>
          <a:p xmlns:a="http://schemas.openxmlformats.org/drawingml/2006/main">
            <a:r>
              <a:t/>
            </a:r>
            <a:endParaRPr/>
          </a:p>
          <a:p xmlns:a="http://schemas.openxmlformats.org/drawingml/2006/main">
            <a:r>
              <a:t>### 발표 대본</a:t>
            </a:r>
            <a:endParaRPr/>
          </a:p>
          <a:p xmlns:a="http://schemas.openxmlformats.org/drawingml/2006/main">
            <a:r>
              <a:t/>
            </a:r>
            <a:endParaRPr/>
          </a:p>
          <a:p xmlns:a="http://schemas.openxmlformats.org/drawingml/2006/main">
            <a:r>
              <a:t>저희는 나라장터 입찰을 준비하는 기업의 제안팀을 대상으로, 한국어 AI 답변의 근거를 확인하는 시스템을 만들고 있습니다. 중심 주제는 한국어 환각 탐지입니다. 여기에 사내 문서의 접근 권한을 결합해, 허용된 자료만으로 답변을 만들고 의심되는 구절은 원문과 함께 검토하도록 설계했습니다. 이번 발표에서는 이 목표, 학습과 데이터 준비 현황, 실제 서비스로 연결할 계획을 설명하겠습니다.</a:t>
            </a:r>
            <a:endParaRPr/>
          </a:p>
          <a:p xmlns:a="http://schemas.openxmlformats.org/drawingml/2006/main">
            <a:r>
              <a:t/>
            </a:r>
            <a:endParaRPr/>
          </a:p>
          <a:p xmlns:a="http://schemas.openxmlformats.org/drawingml/2006/main">
            <a:r>
              <a:t>### 화면 레이아웃</a:t>
            </a:r>
            <a:endParaRPr/>
          </a:p>
          <a:p xmlns:a="http://schemas.openxmlformats.org/drawingml/2006/main">
            <a:r>
              <a:t/>
            </a:r>
            <a:endParaRPr/>
          </a:p>
          <a:p xmlns:a="http://schemas.openxmlformats.org/drawingml/2006/main">
            <a:r>
              <a:t>기존 Business Review 표지의 파란 제목과 가로 구분선을 유지한다. 제목 두 줄, 아래에 발표 회차와 부제를 배치한다. 비공개 공간 시연 이미지는 넣지 않는다.</a:t>
            </a:r>
            <a:endParaRPr/>
          </a:p>
          <a:p xmlns:a="http://schemas.openxmlformats.org/drawingml/2006/main">
            <a:r>
              <a:t/>
            </a:r>
            <a:endParaRPr/>
          </a:p>
          <a:p xmlns:a="http://schemas.openxmlformats.org/drawingml/2006/main">
            <a:r>
              <a:t>### 근거</a:t>
            </a:r>
            <a:endParaRPr/>
          </a:p>
          <a:p xmlns:a="http://schemas.openxmlformats.org/drawingml/2006/main">
            <a:r>
              <a:t/>
            </a:r>
            <a:endParaRPr/>
          </a:p>
          <a:p xmlns:a="http://schemas.openxmlformats.org/drawingml/2006/main">
            <a:r>
              <a:t>[팀공유 문서 7절](https://github.com/YangNaang2/ko-lettucedetect/blob/c6858e4/project-docs/프로젝트_진행현황_팀공유_2026-09-11.md), [팀원별 업무 분담](https://github.com/YangNaang2/ko-lettucedetect/blob/c6858e4/project-docs/팀원별_업무분담_2026-09-12.md). 소속은 기존 발표 생성 자료에 기재된 표기를 유지했다.</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2. 입찰 제안팀에는 답변 검증과 문서 보호가 함께 필요하다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대상: 정보시스템 구축·운영 입찰을 준비하는 기업의 제안팀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추진 배경 | 발표할 내용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문서 근거가 있어도 생기는 오류 | RAG 답변에도 근거 없는 내용·모순이 남을 수 있다. 자격·실적·기간을 원문과 대조해야 한다. |</a:t>
            </a:r>
            <a:endParaRPr/>
          </a:p>
          <a:p xmlns:a="http://schemas.openxmlformats.org/drawingml/2006/main">
            <a:pPr marL="0" lvl="0" indent="0" algn="l">
              <a:spcBef>
                <a:spcPts val="0"/>
              </a:spcBef>
              <a:spcAft>
                <a:spcPts val="0"/>
              </a:spcAft>
              <a:buNone/>
            </a:pPr>
            <a:r>
              <a:t>| 서로 다른 공개 범위의 자료 | 공개 RFP와 사내 실적·인력·원가를 함께 검토한다. 회사·프로젝트·승인 조건에 따라 검색 범위를 제한한다. |</a:t>
            </a:r>
            <a:endParaRPr/>
          </a:p>
          <a:p xmlns:a="http://schemas.openxmlformats.org/drawingml/2006/main">
            <a:pPr marL="0" lvl="0" indent="0" algn="l">
              <a:spcBef>
                <a:spcPts val="0"/>
              </a:spcBef>
              <a:spcAft>
                <a:spcPts val="0"/>
              </a:spcAft>
              <a:buNone/>
            </a:pPr>
            <a:r>
              <a:t>| 왜 나라장터 RFP인가 | 공개 공고를 확보할 수 있고, 자격요건과 기업 증빙을 대조하는 업무 흐름이 분명하다. |</a:t>
            </a:r>
            <a:endParaRPr/>
          </a:p>
          <a:p xmlns:a="http://schemas.openxmlformats.org/drawingml/2006/main">
            <a:pPr marL="0" lvl="0" indent="0" algn="l">
              <a:spcBef>
                <a:spcPts val="0"/>
              </a:spcBef>
              <a:spcAft>
                <a:spcPts val="0"/>
              </a:spcAft>
              <a:buNone/>
            </a:pPr>
            <a:r>
              <a:t>| 왜 사내 실행을 지향하는가 | 민감 자료의 처리 경계를 통제하고, 로컬 서버 자원에 맞는 모델 구성을 검토한다.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입찰 제안팀은 공고의 자격요건을 읽고 회사 실적과 인력 자료를 대조합니다. RAG로 관련 문서를 제공해도 답변에 근거 없는 설명이나 원문과 모순되는 내용이 생길 수 있다는 점은 RAGTruth 연구에서도 확인됩니다. 따라서 저희는 답변을 자연스럽게 만드는 것에 더해, 어떤 구절을 다시 확인해야 하는지 보여주려 합니다.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이 업무에는 공개 공고와 비공개 회사 자료가 함께 등장합니다. 답변이 문서에 부합하더라도 질문자가 그 문서를 볼 권한이 없다면 적절한 결과가 아닙니다. 그래서 검색 전에 회사와 프로젝트, 승인 조건을 확인하는 구조가 필요합니다. 사내 실행은 민감 자료의 처리 범위를 통제하기 위한 프로젝트의 운영 목표이며, 현재 폐쇄망 운영을 검증했다는 뜻은 아닙니다.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두 열로 정리한다. 위쪽 왼쪽은 환각 문제, 오른쪽은 접근 권한 문제다. 아래쪽에 RFP 선정 이유와 사내 실행 이유를 각각 연결한다. 별도 성능 비교 차트와 평가지표는 사용하지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근거와 편집 판단</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사용자 첨부 `추진배경_타겟팅_배경설정.md`의 RFP 전환, 제안팀 페르소나, 조건부 접근, 사내 처리 방향을 반영했다. 다음 문구는 근거가 충분하지 않거나 팀공유 7절과 충돌하여 사용하지 않았다: 도구가 전무하다는 주장, 모델 성능과 환각률의 보편적 관계, 외부 API 전송이 항상 위법·형사책임이라는 단정, 실측되지 않은 CPU 지연 시간. 첨부 문서의 법률·정부 가이드북 해석을 인증 또는 준수 실적으로 확대하지 않았다.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RAG에서도 근거 없는 주장이나 모순이 발생할 수 있다는 설명은 [RAGTruth, ACL 2024](https://aclanthology.org/2024.acl-long.585/)의 연구 범위에 한정한다. 조달 분야의 성능이나 피해 증가율로 해석하지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3. 한국어 환각 탐지와 권한 기반 RAG 전체 구조</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첨부 SVG의 두 트랙을 유지하고, 발표용으로 간추린 [전체 구조도](source/보안RAG_전체구조_발표용.svg)를 화면 전체에 배치한다.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TRACK A: 학습 파이프라인 | TRACK B: 질의 처리 목표 구조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RAGTruth 원본·환각 구간 확보 | 회사·프로젝트·승인 조건 확인 |</a:t>
            </a:r>
            <a:endParaRPr/>
          </a:p>
          <a:p xmlns:a="http://schemas.openxmlformats.org/drawingml/2006/main">
            <a:pPr marL="0" lvl="0" indent="0" algn="l">
              <a:spcBef>
                <a:spcPts val="0"/>
              </a:spcBef>
              <a:spcAft>
                <a:spcPts val="0"/>
              </a:spcAft>
              <a:buNone/>
            </a:pPr>
            <a:r>
              <a:t>| 한국어 번역·태그 검사 | 허용된 문서 안에서 근거 검색 |</a:t>
            </a:r>
            <a:endParaRPr/>
          </a:p>
          <a:p xmlns:a="http://schemas.openxmlformats.org/drawingml/2006/main">
            <a:pPr marL="0" lvl="0" indent="0" algn="l">
              <a:spcBef>
                <a:spcPts val="0"/>
              </a:spcBef>
              <a:spcAft>
                <a:spcPts val="0"/>
              </a:spcAft>
              <a:buNone/>
            </a:pPr>
            <a:r>
              <a:t>| 한국어 라벨 좌표 재계산 | 인가 문맥으로 로컬 답변 생성 |</a:t>
            </a:r>
            <a:endParaRPr/>
          </a:p>
          <a:p xmlns:a="http://schemas.openxmlformats.org/drawingml/2006/main">
            <a:pPr marL="0" lvl="0" indent="0" algn="l">
              <a:spcBef>
                <a:spcPts val="0"/>
              </a:spcBef>
              <a:spcAft>
                <a:spcPts val="0"/>
              </a:spcAft>
              <a:buNone/>
            </a:pPr>
            <a:r>
              <a:t>| 인코더 모델 학습 완료 | 문서 지지 여부와 수치 조건 검토 |</a:t>
            </a:r>
            <a:endParaRPr/>
          </a:p>
          <a:p xmlns:a="http://schemas.openxmlformats.org/drawingml/2006/main">
            <a:pPr marL="0" lvl="0" indent="0" algn="l">
              <a:spcBef>
                <a:spcPts val="0"/>
              </a:spcBef>
              <a:spcAft>
                <a:spcPts val="0"/>
              </a:spcAft>
              <a:buNone/>
            </a:pPr>
            <a:r>
              <a:t>| 서비스용 탐지기 연결 예정 | 근거 원문과 의심 구간 함께 표시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TRACK A에는 학습 완료와 서비스 연결 예정, TRACK B에는 목표 구조와 실제 통합 예정 상태를 표시한다. 학습한 가중치를 질의 처리의 탐지 단계에 연결하는 선을 유지한다.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전체 구조는 두 트랙입니다. 왼쪽은 질문이 들어오기 전에 탐지기를 준비하는 과정입니다. RAGTruth의 환각 구간을 태그로 감싸 번역하고, 한국어에서 달라진 문자 위치를 다시 계산해 토큰 라벨을 만듭니다. 여러 인코더의 학습은 완료된 상태이며 서비스에 사용할 모델과 처리 조건을 고정해 연결해야 합니다.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오른쪽은 사용자가 질문했을 때의 목표 흐름입니다. 먼저 서버가 문서 접근 조건을 검사하고, 허용된 자료에서 근거를 검색합니다. 생성 모델은 그 근거로 답하고, 탐지기는 같은 근거와 답변을 비교합니다. 숫자와 기간 비교는 별도 규칙으로 처리합니다. 마지막으로 사용자는 의심 구간과 원문을 함께 확인합니다. 오른쪽의 실제 인증·인가와 검색·생성·탐지 통합은 다음 단계의 작업입니다.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첨부 SVG의 어두운 배경, 파란 학습 트랙과 분홍 질의 트랙, 단계 번호와 화살표를 유지한다. 세부 문장을 단계별 두 줄로 축약해 글자를 키운다. 전체 구조 설명에 집중하고, 권한 예시는 5페이지, 실연결 기술은 6페이지로 분리한다.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구조도 수정 기록과 근거</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원본: 사용자 첨부 `gemini-svg.svg`. 발표용 파생 SVG만 저장소에 포함한다. 원본 첨부 파일은 변경하지 않았다.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원본에 포함된 F1 수치, 번역 손실 없음, 태그 통과율, CPU 지연 실적, KLUE 최종 확정, 외교부 표준 완벽 대응, 외부 통신 차단 완료 등의 표현을 제거했다. 단순 개인 등급 필터를 회사·프로젝트·승인 조건 검사로 고쳤다. 학습한 BGE-M3 탐지기와 검색용 원본 BGE-M3를 구분했다.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[팀공유 문서](https://github.com/YangNaang2/ko-lettucedetect/blob/c6858e4/project-docs/프로젝트_진행현황_팀공유_2026-09-11.md), [Live RAG 전환 설계](https://github.com/YangNaang2/ko-lettucedetect/blob/c6858e4/demo-ui/spatial-poc/live-design/Live_RAG_전환설계.md). 숫자 변조 탐지의 취약점은 아직 남아 있으며, 구조도는 문제 해결 완료를 뜻하지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4. 데이터와 한국어 탐지 모델 준비 현황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**왼쪽: 나라장터 데이터**</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- 4~6월 공고 행 137,745건: 차수 포함</a:t>
            </a:r>
            <a:endParaRPr/>
          </a:p>
          <a:p xmlns:a="http://schemas.openxmlformats.org/drawingml/2006/main">
            <a:pPr marL="0" lvl="0" indent="0" algn="l">
              <a:spcBef>
                <a:spcPts val="0"/>
              </a:spcBef>
              <a:spcAft>
                <a:spcPts val="0"/>
              </a:spcAft>
              <a:buNone/>
            </a:pPr>
            <a:r>
              <a:t>- 최신 차수 기준 124,522건</a:t>
            </a:r>
            <a:endParaRPr/>
          </a:p>
          <a:p xmlns:a="http://schemas.openxmlformats.org/drawingml/2006/main">
            <a:pPr marL="0" lvl="0" indent="0" algn="l">
              <a:spcBef>
                <a:spcPts val="0"/>
              </a:spcBef>
              <a:spcAft>
                <a:spcPts val="0"/>
              </a:spcAft>
              <a:buNone/>
            </a:pPr>
            <a:r>
              <a:t>- 표본 51건: 월별 17건</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타깃 분야 | 공고 | 완전 공고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SW·시스템 개발 | 2,163 | 984 |</a:t>
            </a:r>
            <a:endParaRPr/>
          </a:p>
          <a:p xmlns:a="http://schemas.openxmlformats.org/drawingml/2006/main">
            <a:pPr marL="0" lvl="0" indent="0" algn="l">
              <a:spcBef>
                <a:spcPts val="0"/>
              </a:spcBef>
              <a:spcAft>
                <a:spcPts val="0"/>
              </a:spcAft>
              <a:buNone/>
            </a:pPr>
            <a:r>
              <a:t>| 운영·유지관리 | 1,313 | 681 |</a:t>
            </a:r>
            <a:endParaRPr/>
          </a:p>
          <a:p xmlns:a="http://schemas.openxmlformats.org/drawingml/2006/main">
            <a:pPr marL="0" lvl="0" indent="0" algn="l">
              <a:spcBef>
                <a:spcPts val="0"/>
              </a:spcBef>
              <a:spcAft>
                <a:spcPts val="0"/>
              </a:spcAft>
              <a:buNone/>
            </a:pPr>
            <a:r>
              <a:t>| 합계 | 3,476 | 1,665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완전 공고 = 공고문 + (RFP 또는 과업·규격). 선정 이유는 실적·인력·인증·단가 검토에 대한 적합성이다.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**오른쪽: 한국어 환각 탐지**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RAGTruth 환각 span을 `&lt;HAL&gt;` 태그로 감싸 번역</a:t>
            </a:r>
            <a:endParaRPr/>
          </a:p>
          <a:p xmlns:a="http://schemas.openxmlformats.org/drawingml/2006/main">
            <a:pPr marL="0" lvl="0" indent="0" algn="l">
              <a:spcBef>
                <a:spcPts val="0"/>
              </a:spcBef>
              <a:spcAft>
                <a:spcPts val="0"/>
              </a:spcAft>
              <a:buNone/>
            </a:pPr>
            <a:r>
              <a:t>- 태그 검사·문자 위치 재계산 후 토큰 단위 이진 분류 학습</a:t>
            </a:r>
            <a:endParaRPr/>
          </a:p>
          <a:p xmlns:a="http://schemas.openxmlformats.org/drawingml/2006/main">
            <a:pPr marL="0" lvl="0" indent="0" algn="l">
              <a:spcBef>
                <a:spcPts val="0"/>
              </a:spcBef>
              <a:spcAft>
                <a:spcPts val="0"/>
              </a:spcAft>
              <a:buNone/>
            </a:pPr>
            <a:r>
              <a:t>- KLUE-RoBERTa, XLM-RoBERTa, BGE-M3 학습</a:t>
            </a:r>
            <a:endParaRPr/>
          </a:p>
          <a:p xmlns:a="http://schemas.openxmlformats.org/drawingml/2006/main">
            <a:pPr marL="0" lvl="0" indent="0" algn="l">
              <a:spcBef>
                <a:spcPts val="0"/>
              </a:spcBef>
              <a:spcAft>
                <a:spcPts val="0"/>
              </a:spcAft>
              <a:buNone/>
            </a:pPr>
            <a:r>
              <a:t>- 숫자 변조는 확인된 취약점이며 나라장터 적용 성능은 확인 예정</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현재까지 확보한 기반은 데이터와 한국어 탐지기입니다. 왼쪽의 공고 수는 세 달 워크스테이션 집계를 기준으로 합니다. 차수를 포함한 공고 행과 최신 차수 기준 건수를 구분했습니다. 저희는 실적·인력·인증·단가를 다루기 좋은 정보시스템 구축·운영 분야를 선택했고, 실제 작업 표본은 월별 17건씩 총 51건입니다.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오른쪽은 모델 준비 현황입니다. 환각 구간을 한국어 번역 후에도 추적하도록 라벨 좌표를 다시 계산하고 여러 인코더를 학습했습니다. 다만 태그 검사가 번역 의미의 완전한 보존을 증명하지는 않습니다. 숫자 변조 같은 취약점이 확인되어 별도의 수치 규칙을 결합할 계획입니다.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사용자 요청대로 이전 페이지의 좌우를 교환한다. 실제 공고 건수와 타깃 표를 왼쪽에, 학습 설명을 오른쪽에 둔다. 모델 비교 수치는 사용하지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[3개월 통합 현황](https://github.com/YangNaang2/ko-lettucedetect/blob/c6858e4/project-docs/데이터현황/3개월_통합현황.md) 0절 확정 표, [워크스테이션 통합 CSV](https://github.com/YangNaang2/ko-lettucedetect/blob/c6858e4/project-docs/데이터현황/2026-04to06_워크스테이션_통합_sector_report.csv), [표본 목록](https://github.com/YangNaang2/ko-lettucedetect/blob/c6858e4/project-docs/표본_정보시스템/표본_목록.csv), [팀공유 문서](https://github.com/YangNaang2/ko-lettucedetect/blob/c6858e4/project-docs/프로젝트_진행현황_팀공유_2026-09-11.md). 월별 어댑터 집계와 CSV는 이전 버전 작성 시 대조했다. 본 수정에서는 같은 확정 수치를 유지한다. 51건은 시연·사례 구성용 표본으로 모집단 대표성을 보장하지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5. 프로젝트 목표와 비취인가 개념의 적용 범위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목표: 입찰 담당자가 허용된 자료로 조건을 검토하고, 답변의 의심 구간을 원문에서 확인한다.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자료 등급: 프로젝트 예시 | 보호할 내용 | 접근 조건 설계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L1 공개 | 공고문·RFP·과업 문서 | 공개 문서 열람 |</a:t>
            </a:r>
            <a:endParaRPr/>
          </a:p>
          <a:p xmlns:a="http://schemas.openxmlformats.org/drawingml/2006/main">
            <a:pPr marL="0" lvl="0" indent="0" algn="l">
              <a:spcBef>
                <a:spcPts val="0"/>
              </a:spcBef>
              <a:spcAft>
                <a:spcPts val="0"/>
              </a:spcAft>
              <a:buNone/>
            </a:pPr>
            <a:r>
              <a:t>| L2 대외비 | 회사 실적·인력·인증 | 회사 일치 + 프로젝트 배정 + 문서 권한 |</a:t>
            </a:r>
            <a:endParaRPr/>
          </a:p>
          <a:p xmlns:a="http://schemas.openxmlformats.org/drawingml/2006/main">
            <a:pPr marL="0" lvl="0" indent="0" algn="l">
              <a:spcBef>
                <a:spcPts val="0"/>
              </a:spcBef>
              <a:spcAft>
                <a:spcPts val="0"/>
              </a:spcAft>
              <a:buNone/>
            </a:pPr>
            <a:r>
              <a:t>| L3 기밀 | 원가·투찰 전략·마진 | L2 조건 + 해당 자료 승인 + 유효기간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비취인가 = 비밀취급인가</a:t>
            </a:r>
            <a:endParaRPr/>
          </a:p>
          <a:p xmlns:a="http://schemas.openxmlformats.org/drawingml/2006/main">
            <a:pPr marL="0" lvl="0" indent="0" algn="l">
              <a:spcBef>
                <a:spcPts val="0"/>
              </a:spcBef>
              <a:spcAft>
                <a:spcPts val="0"/>
              </a:spcAft>
              <a:buNone/>
            </a:pPr>
            <a:r>
              <a:t>- 발표의 L1~L3는 사내 문서 분류 예시다. 국가 비밀 등급·인가 취득을 뜻하지 않는다.</a:t>
            </a:r>
            <a:endParaRPr/>
          </a:p>
          <a:p xmlns:a="http://schemas.openxmlformats.org/drawingml/2006/main">
            <a:pPr marL="0" lvl="0" indent="0" algn="l">
              <a:spcBef>
                <a:spcPts val="0"/>
              </a:spcBef>
              <a:spcAft>
                <a:spcPts val="0"/>
              </a:spcAft>
              <a:buNone/>
            </a:pPr>
            <a:r>
              <a:t>- 등급은 데이터에, 접근은 요청 조건에 있다.</a:t>
            </a:r>
            <a:endParaRPr/>
          </a:p>
          <a:p xmlns:a="http://schemas.openxmlformats.org/drawingml/2006/main">
            <a:pPr marL="0" lvl="0" indent="0" algn="l">
              <a:spcBef>
                <a:spcPts val="0"/>
              </a:spcBef>
              <a:spcAft>
                <a:spcPts val="0"/>
              </a:spcAft>
              <a:buNone/>
            </a:pPr>
            <a:r>
              <a:t>- 높은 직급이어도 다른 프로젝트는 거부하고, 배정·승인·유효기간을 충족하면 필요한 자료를 허용한다.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저희가 궁극적으로 제공하려는 것은 허용된 자료에 근거한 입찰 검토 보조입니다. 자료를 보여줄 수 있는지 먼저 확인하고, 그 범위 안에서 생성한 답변에 근거가 있는지 검토하도록 돕습니다. 최종 입찰 판단은 담당자가 근거와 조건을 확인한 뒤 내립니다.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첨부 자료의 비취인가는 비밀취급인가를 가리키지만, 이번 프로젝트에서 사용하는 L1·L2·L3는 사내 문서 분류를 위한 예시입니다. 국가 비밀 등급이나 실제 인가 취득과 동일하게 소개하지 않습니다. 구현하려는 권한 모델은 직급만으로 문서를 여는 방식이 아니라, 회사 경계와 담당 프로젝트, 자료별 승인 및 유효기간을 요청마다 확인하는 방식입니다. 예를 들어 같은 실무자라도 특정 프로젝트 승인을 받으면 필요한 자료를 볼 수 있고, 임원이라도 다른 프로젝트의 자료는 권한이 없으면 거부합니다. 실제 인가 기능은 아직 구현 예정입니다.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상단에 프로젝트의 한 문장 목표, 중앙에 자료 등급·내용·접근 조건의 편집 가능한 표를 둔다. 하단 왼쪽은 용어 구분, 오른쪽은 직급과 무관한 조건부 접근 예시다.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근거와 적용 범위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첨부 추진배경 MD 4절, [Live 설계의 access_grants와 권한 정책](https://github.com/YangNaang2/ko-lettucedetect/blob/c6858e4/demo-ui/spatial-poc/live-design/Live_RAG_전환설계.md), [나라장터 문제정의 문서의 비밀취급인가 구분](https://github.com/YangNaang2/ko-lettucedetect/blob/c6858e4/project-docs/나라장터_문제정의_1차리서치_팀원용.md). 법정 용어 참고: [국가법령정보센터 보안업무규정](https://www.law.go.kr/법령/보안업무규정). 법적 인증·표준 준수·기관 승인 실적을 주장하지 않는다. 첨부 MD의 승인·유효기간 조건을 이번 발표 설계에 반영했으며, 이것이 기존 코드 구현 완료를 뜻하지 않는다. L2/L3 기업 자료는 합성 데이터로 준비한다.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6. 한 질문에서 근거·권한·의심 구간을 연결하는 방식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설계 단계: 질문 + 공고 버전 + 회사 자료 버전을 하나의 요청으로 고정</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**권한을 먼저 확인:** 회사·프로젝트·승인 조건, 허용된 청크만 검색</a:t>
            </a:r>
            <a:endParaRPr/>
          </a:p>
          <a:p xmlns:a="http://schemas.openxmlformats.org/drawingml/2006/main">
            <a:pPr marL="0" lvl="0" indent="0" algn="l">
              <a:spcBef>
                <a:spcPts val="0"/>
              </a:spcBef>
              <a:spcAft>
                <a:spcPts val="0"/>
              </a:spcAft>
              <a:buNone/>
            </a:pPr>
            <a:r>
              <a:t>2. **근거로 답변 생성:** 원본 BGE-M3 검색, 인가 문맥으로 Gemma 생성, 탐지기도 같은 문맥 사용</a:t>
            </a:r>
            <a:endParaRPr/>
          </a:p>
          <a:p xmlns:a="http://schemas.openxmlformats.org/drawingml/2006/main">
            <a:pPr marL="0" lvl="0" indent="0" algn="l">
              <a:spcBef>
                <a:spcPts val="0"/>
              </a:spcBef>
              <a:spcAft>
                <a:spcPts val="0"/>
              </a:spcAft>
              <a:buNone/>
            </a:pPr>
            <a:r>
              <a:t>3. **검토 결과 표시:** 학습 탐지와 규칙을 분리하고 원문·인용 위치를 연결, 자료 부족 시 판단 보류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Live 연결 설계: FastAPI REST + POST NDJSON, PostgreSQL/pgvector, 청크 ID·문서 해시, 원문·다운로드·그래프에도 같은 권한 적용.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GraphRAG의 후속 역할: 요건과 증빙의 관계를 따라 검색 후보를 확장하고, 확장된 노드에도 같은 권한을 검사한다. 현재 관계 검색은 실제 서비스에 연결되지 않았다.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전체 구조에서 실제 연결 시 맞춰야 하는 것은 권한과 버전입니다. 회사나 공고를 바꿨는데 이전 질문의 답변이나 다른 기업의 근거가 남으면 안 됩니다. 따라서 공고와 회사 자료 버전을 고정하고, 서버가 허용한 청크를 생성 모델과 탐지기에 동일하게 전달하도록 설계했습니다.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검색용 BGE-M3 임베딩과 학습한 환각 탐지기는 서로 다른 역할입니다. 탐지기는 입력 문서에 대한 지지 여부를 판단하며, 숫자·기간의 조건 비교는 별도 규칙에서 다룹니다. 원문 인용은 청크 ID와 위치 정보로 연결하고, 자료가 부족한 질문은 판단을 보류하도록 설계합니다. GraphRAG는 요건과 증빙 관계를 따라 근거 후보를 확장하는 후속 기능입니다. 화면에서 보이는 관계 그래프만으로 이 검색이 구현됐다고 설명하지 않겠습니다.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위쪽에 편집 가능한 세 단계 구조도를 가로로 배치한다. 아래 왼쪽은 Live API와 데이터 연결, 오른쪽은 GraphRAG 후속 범위다. 평가지표·성능 수치는 넣지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근거와 기술 보충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[Live RAG 전환 설계](https://github.com/YangNaang2/ko-lettucedetect/blob/c6858e4/demo-ui/spatial-poc/live-design/Live_RAG_전환설계.md), [contracts.ts](https://github.com/YangNaang2/ko-lettucedetect/blob/c6858e4/demo-ui/spatial-poc/live-design/contracts.ts). 저장 구조의 문서 버전·SHA-256, 청크의 페이지·절·문자 위치, 접근 권한, 답변 실행 기록을 연결하는 설계다. 원문 뷰어·다운로드·그래프·캐시·LLM 컨텍스트가 같은 권한 정책을 따라야 한다. 클라이언트 필터만으로 인가를 구현했다고 하지 않는다. 개인정보 마스킹이나 불변 감사 로그도 현재 완료 기능으로 추가하지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7. 10월 2일 발표까지, 담당자와 제출물 중심으로 연결</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최초 연결 목표: 실제 공고 1건 + 합성 기업 1곳 + 질문 5개를 사람이 검수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기한 | 담당 | 제출물·완료 조건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9/13~19 | 전원·팀장·팀원 1~3 | 요건 시트 51건, 합성 기업 5곳 검수. 공고 요건과 기업 증빙을 ID·문서 버전으로 연결 |</a:t>
            </a:r>
            <a:endParaRPr/>
          </a:p>
          <a:p xmlns:a="http://schemas.openxmlformats.org/drawingml/2006/main">
            <a:pPr marL="0" lvl="0" indent="0" algn="l">
              <a:spcBef>
                <a:spcPts val="0"/>
              </a:spcBef>
              <a:spcAft>
                <a:spcPts val="0"/>
              </a:spcAft>
              <a:buNone/>
            </a:pPr>
            <a:r>
              <a:t>| 9/18~22 | 팀장·팀원 1 | 권한 검색, Gemma, 탐지 API. 한 질문의 답변·근거·의심 구간을 같은 버전으로 반환 |</a:t>
            </a:r>
            <a:endParaRPr/>
          </a:p>
          <a:p xmlns:a="http://schemas.openxmlformats.org/drawingml/2006/main">
            <a:pPr marL="0" lvl="0" indent="0" algn="l">
              <a:spcBef>
                <a:spcPts val="0"/>
              </a:spcBef>
              <a:spcAft>
                <a:spcPts val="0"/>
              </a:spcAft>
              <a:buNone/>
            </a:pPr>
            <a:r>
              <a:t>| 9/22~26 | 팀원 4·팀장 | 답변 스트리밍·원문 하이라이트. 무승인 차단, 조건부 허용, 타 회사·프로젝트 차단 확인 |</a:t>
            </a:r>
            <a:endParaRPr/>
          </a:p>
          <a:p xmlns:a="http://schemas.openxmlformats.org/drawingml/2006/main">
            <a:pPr marL="0" lvl="0" indent="0" algn="l">
              <a:spcBef>
                <a:spcPts val="0"/>
              </a:spcBef>
              <a:spcAft>
                <a:spcPts val="0"/>
              </a:spcAft>
              <a:buNone/>
            </a:pPr>
            <a:r>
              <a:t>| 9/27~30 | 팀원 5·전원 | 오류 사례 조정, 발표 자료, 시연 대본. 리허설에서 동일 시나리오 재현 |</a:t>
            </a:r>
            <a:endParaRPr/>
          </a:p>
          <a:p xmlns:a="http://schemas.openxmlformats.org/drawingml/2006/main">
            <a:pPr marL="0" lvl="0" indent="0" algn="l">
              <a:spcBef>
                <a:spcPts val="0"/>
              </a:spcBef>
              <a:spcAft>
                <a:spcPts val="0"/>
              </a:spcAft>
              <a:buNone/>
            </a:pPr>
            <a:r>
              <a:t>| 10/2 | 전원 | 최종 발표. 구현 범위와 후속 과제 설명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다음 단계는 기능을 넓히기 전에 실제 공고 한 건을 끝까지 연결하는 것입니다. 팀원들은 9월 13일까지 요건 시트를 제출하고, 이를 바탕으로 기업 공통 증빙과 공고별 자료를 분리한 합성 기업 자료를 준비합니다. 팀장과 인프라 담당은 22일까지 검색과 생성, 탐지 API를 연결합니다.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26일까지 UI 담당이 답변 스트리밍과 원문 하이라이트를 붙입니다. 이때 같은 사용자라도 승인 전에는 차단되고 승인 후에는 해당 자료만 열리는지, 다른 회사나 프로젝트 자료는 차단되는지를 확인합니다. 말일에는 오류 사례를 정리하고 시연을 반복해 10월 2일 발표를 준비합니다. 표의 날짜와 수량은 앞으로 완료할 계획입니다.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레이아웃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기존의 추상적인 세 구간 타임라인을 담당·제출물·완료 조건 표로 교체한다. 상단에는 가장 먼저 연결할 작은 시나리오를 강조한다. 하단에 일정은 계획이며 L2/L3는 합성 자료임을 명시한다.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근거와 편집 판단</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[2026-09-12 업무 분담](https://github.com/YangNaang2/ko-lettucedetect/blob/c6858e4/project-docs/팀원별_업무분담_2026-09-12.md), [팀공유 문서 6절](https://github.com/YangNaang2/ko-lettucedetect/blob/c6858e4/project-docs/프로젝트_진행현황_팀공유_2026-09-11.md). API·UI 담당과 기한은 이 문서를 따른다. 조건부 승인·다른 프로젝트 차단은 첨부 MD의 재설계 방향을 반영한 완료 조건 제안이다. 실제 승인 UI 대신 사전에 준비한 승인 기록으로 시연할 수 있으나, 서버 검사는 필요하다. 외부 스트리밍 배포 완료나 폐쇄망 검증 완료를 뜻하지 않는다.</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05b268092646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61ed812bd843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a0d3043d8a4a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0d43ea518544e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cccb1315f945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14c1d6e693b4e7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d9200cf81f24c1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847762643c646b0"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5447f8ddf64eb0" /><Relationship Type="http://schemas.openxmlformats.org/officeDocument/2006/relationships/slideLayout" Target="/ppt/slideLayouts/slideLayout1.xml" Id="R62b48d40c2df4435" /><Relationship Type="http://schemas.openxmlformats.org/officeDocument/2006/relationships/slideLayout" Target="/ppt/slideLayouts/slideLayout2.xml" Id="R292a462fa8b44fca" /><Relationship Type="http://schemas.openxmlformats.org/officeDocument/2006/relationships/slideLayout" Target="/ppt/slideLayouts/slideLayout3.xml" Id="Re7e9f334fd8a406f" /><Relationship Type="http://schemas.openxmlformats.org/officeDocument/2006/relationships/slideLayout" Target="/ppt/slideLayouts/slideLayout4.xml" Id="R53e86e866c444d0c" /><Relationship Type="http://schemas.openxmlformats.org/officeDocument/2006/relationships/slideLayout" Target="/ppt/slideLayouts/slideLayout5.xml" Id="R701b21eaa6d04c7b" /><Relationship Type="http://schemas.openxmlformats.org/officeDocument/2006/relationships/slideLayout" Target="/ppt/slideLayouts/slideLayout6.xml" Id="Rb4543729ef13445a" /><Relationship Type="http://schemas.openxmlformats.org/officeDocument/2006/relationships/slideLayout" Target="/ppt/slideLayouts/slideLayout7.xml" Id="R77b8b570ca9b42b3" /><Relationship Type="http://schemas.openxmlformats.org/officeDocument/2006/relationships/slideLayout" Target="/ppt/slideLayouts/slideLayout8.xml" Id="R3aef6b7d5a524599"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b48d40c2df4435"/>
    <p:sldLayoutId xmlns:r="http://schemas.openxmlformats.org/officeDocument/2006/relationships" id="2147483650" r:id="R292a462fa8b44fca"/>
    <p:sldLayoutId xmlns:r="http://schemas.openxmlformats.org/officeDocument/2006/relationships" id="2147483651" r:id="Re7e9f334fd8a406f"/>
    <p:sldLayoutId xmlns:r="http://schemas.openxmlformats.org/officeDocument/2006/relationships" id="2147483652" r:id="R53e86e866c444d0c"/>
    <p:sldLayoutId xmlns:r="http://schemas.openxmlformats.org/officeDocument/2006/relationships" id="2147483653" r:id="R701b21eaa6d04c7b"/>
    <p:sldLayoutId xmlns:r="http://schemas.openxmlformats.org/officeDocument/2006/relationships" id="2147483654" r:id="Rb4543729ef13445a"/>
    <p:sldLayoutId xmlns:r="http://schemas.openxmlformats.org/officeDocument/2006/relationships" id="2147483655" r:id="R77b8b570ca9b42b3"/>
    <p:sldLayoutId xmlns:r="http://schemas.openxmlformats.org/officeDocument/2006/relationships" id="2147483656" r:id="R3aef6b7d5a524599"/>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84a62ffe3f4f4c" /><Relationship Type="http://schemas.openxmlformats.org/officeDocument/2006/relationships/notesSlide" Target="/ppt/notesSlides/notesSlide1.xml" Id="Re2e4da8e56c84c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32fbdab52614d02" /><Relationship Type="http://schemas.openxmlformats.org/officeDocument/2006/relationships/notesSlide" Target="/ppt/notesSlides/notesSlide2.xml" Id="Rda99e01872634a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d72b88a5ab74578" /><Relationship Type="http://schemas.openxmlformats.org/officeDocument/2006/relationships/image" Target="/ppt/media/image.png" Id="R9d2eeab6bf334e55" /><Relationship Type="http://schemas.openxmlformats.org/officeDocument/2006/relationships/image" Target="/ppt/media/image.svg" Id="R3b6fe52d412d4a6b" /><Relationship Type="http://schemas.openxmlformats.org/officeDocument/2006/relationships/notesSlide" Target="/ppt/notesSlides/notesSlide3.xml" Id="Rdfb3d518f4e546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308566b6c4d471a" /><Relationship Type="http://schemas.openxmlformats.org/officeDocument/2006/relationships/notesSlide" Target="/ppt/notesSlides/notesSlide4.xml" Id="R141f4c73210c49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6cda5a4f2a84503" /><Relationship Type="http://schemas.openxmlformats.org/officeDocument/2006/relationships/notesSlide" Target="/ppt/notesSlides/notesSlide5.xml" Id="Rc24c4306c43247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3e724cab62c4332" /><Relationship Type="http://schemas.openxmlformats.org/officeDocument/2006/relationships/notesSlide" Target="/ppt/notesSlides/notesSlide6.xml" Id="R3acc3a3450b547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9a106a7c0904b34" /><Relationship Type="http://schemas.openxmlformats.org/officeDocument/2006/relationships/notesSlide" Target="/ppt/notesSlides/notesSlide7.xml" Id="R60b1be1ed3f74d2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706809B0-D483-45C1-B580-B57BB5CC520A}"/>
              </a:ext>
            </a:extLst>
          </p:cNvPr>
          <p:cNvSpPr>
            <a:spLocks xmlns:a="http://schemas.openxmlformats.org/drawingml/2006/main" noGrp="1"/>
          </p:cNvSpPr>
          <p:nvPr>
            <p:ph type="ctrTitle" idx="0"/>
          </p:nvPr>
        </p:nvSpPr>
        <p:spPr>
          <a:xfrm xmlns:a="http://schemas.openxmlformats.org/drawingml/2006/main">
            <a:off x="571500" y="1457325"/>
            <a:ext cx="11049000" cy="1905000"/>
          </a:xfrm>
        </p:spPr>
        <p:txBody>
          <a:bodyPr xmlns:a="http://schemas.openxmlformats.org/drawingml/2006/main" lIns="0" tIns="0" rIns="0" bIns="0" anchor="t">
            <a:noAutofit/>
          </a:bodyPr>
          <a:lstStyle xmlns:a="http://schemas.openxmlformats.org/drawingml/2006/main"/>
          <a:p xmlns:a="http://schemas.openxmlformats.org/drawingml/2006/main">
            <a:pPr marL="0" indent="0">
              <a:spcBef>
                <a:spcPts val="0"/>
              </a:spcBef>
              <a:spcAft>
                <a:spcPts val="0"/>
              </a:spcAft>
              <a:buNone/>
              <a:defRPr sz="3675" b="1">
                <a:solidFill>
                  <a:srgbClr val="3456BF"/>
                </a:solidFill>
                <a:latin typeface="Malgun Gothic"/>
                <a:ea typeface="Malgun Gothic"/>
                <a:cs typeface="Malgun Gothic"/>
              </a:defRPr>
            </a:pPr>
            <a:r>
              <a:rPr sz="3675" b="1">
                <a:solidFill>
                  <a:srgbClr val="3456BF"/>
                </a:solidFill>
                <a:latin typeface="Malgun Gothic"/>
                <a:ea typeface="Malgun Gothic"/>
                <a:cs typeface="Malgun Gothic"/>
              </a:rPr>
              <a:t>한국어 환각 탐지와 권한 기반 RAG</a:t>
            </a:r>
          </a:p>
          <a:p xmlns:a="http://schemas.openxmlformats.org/drawingml/2006/main">
            <a:pPr marL="0" indent="0">
              <a:spcBef>
                <a:spcPts val="0"/>
              </a:spcBef>
              <a:spcAft>
                <a:spcPts val="0"/>
              </a:spcAft>
              <a:buNone/>
              <a:defRPr sz="3675" b="1">
                <a:solidFill>
                  <a:srgbClr val="3456BF"/>
                </a:solidFill>
                <a:latin typeface="Malgun Gothic"/>
                <a:ea typeface="Malgun Gothic"/>
                <a:cs typeface="Malgun Gothic"/>
              </a:defRPr>
            </a:pPr>
            <a:r>
              <a:rPr sz="3675" b="1">
                <a:solidFill>
                  <a:srgbClr val="3456BF"/>
                </a:solidFill>
                <a:latin typeface="Malgun Gothic"/>
                <a:ea typeface="Malgun Gothic"/>
                <a:cs typeface="Malgun Gothic"/>
              </a:rPr>
              <a:t>나라장터 입찰 검토 시스템</a:t>
            </a:r>
          </a:p>
        </p:txBody>
      </p:sp>
      <p:sp>
        <p:nvSpPr>
          <p:cNvPr id="5" name="Subtitle 4">
            <a:extLst xmlns:a="http://schemas.openxmlformats.org/drawingml/2006/main">
              <a:ext uri="{FF2B5EF4-FFF2-40B4-BE49-F238E27FC236}">
                <a16:creationId xmlns:a16="http://schemas.microsoft.com/office/drawing/2014/main" id="{7DD11E6E-01C0-D6E4-28D7-D7F6B94AF61C}"/>
              </a:ext>
            </a:extLst>
          </p:cNvPr>
          <p:cNvSpPr>
            <a:spLocks xmlns:a="http://schemas.openxmlformats.org/drawingml/2006/main" noGrp="1"/>
          </p:cNvSpPr>
          <p:nvPr>
            <p:ph type="subTitle" idx="1"/>
          </p:nvPr>
        </p:nvSpPr>
        <p:spPr>
          <a:xfrm xmlns:a="http://schemas.openxmlformats.org/drawingml/2006/main">
            <a:off x="600075" y="5219700"/>
            <a:ext cx="10572750" cy="97155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marL="0" indent="0">
              <a:spcBef>
                <a:spcPts val="0"/>
              </a:spcBef>
              <a:spcAft>
                <a:spcPts val="0"/>
              </a:spcAft>
              <a:buNone/>
              <a:defRPr sz="1725" b="0">
                <a:solidFill>
                  <a:srgbClr val="5B6476"/>
                </a:solidFill>
                <a:latin typeface="Malgun Gothic"/>
                <a:ea typeface="Malgun Gothic"/>
                <a:cs typeface="Malgun Gothic"/>
              </a:defRPr>
            </a:pPr>
            <a:r>
              <a:rPr sz="1725" b="0">
                <a:solidFill>
                  <a:srgbClr val="5B6476"/>
                </a:solidFill>
                <a:latin typeface="Malgun Gothic"/>
                <a:ea typeface="Malgun Gothic"/>
                <a:cs typeface="Malgun Gothic"/>
              </a:rPr>
              <a:t>Finding Hallucination · 허용된 근거로 답하고, 의심 구간을 확인하다</a:t>
            </a:r>
          </a:p>
          <a:p xmlns:a="http://schemas.openxmlformats.org/drawingml/2006/main">
            <a:pPr marL="0" indent="0">
              <a:spcBef>
                <a:spcPts val="0"/>
              </a:spcBef>
              <a:spcAft>
                <a:spcPts val="0"/>
              </a:spcAft>
              <a:buNone/>
            </a:pPr>
            <a:r>
              <a:t/>
            </a:r>
          </a:p>
          <a:p xmlns:a="http://schemas.openxmlformats.org/drawingml/2006/main">
            <a:pPr marL="0" indent="0">
              <a:spcBef>
                <a:spcPts val="0"/>
              </a:spcBef>
              <a:spcAft>
                <a:spcPts val="0"/>
              </a:spcAft>
              <a:buNone/>
              <a:defRPr sz="1725" b="0">
                <a:solidFill>
                  <a:srgbClr val="5B6476"/>
                </a:solidFill>
                <a:latin typeface="Malgun Gothic"/>
                <a:ea typeface="Malgun Gothic"/>
                <a:cs typeface="Malgun Gothic"/>
              </a:defRPr>
            </a:pPr>
            <a:r>
              <a:rPr sz="1725" b="0">
                <a:solidFill>
                  <a:srgbClr val="5B6476"/>
                </a:solidFill>
                <a:latin typeface="Malgun Gothic"/>
                <a:ea typeface="Malgun Gothic"/>
                <a:cs typeface="Malgun Gothic"/>
              </a:rPr>
              <a:t>양진우 외 팀원 5명</a:t>
            </a:r>
          </a:p>
        </p:txBody>
      </p:sp>
      <p:sp>
        <p:nvSpPr>
          <p:cNvPr id="6" name="Subtitle 4">
            <a:extLst xmlns:a="http://schemas.openxmlformats.org/drawingml/2006/main">
              <a:ext uri="{FF2B5EF4-FFF2-40B4-BE49-F238E27FC236}">
                <a16:creationId xmlns:a16="http://schemas.microsoft.com/office/drawing/2014/main" id="{C66AB198-0518-67DE-AB81-D65264FDA20F}"/>
              </a:ext>
            </a:extLst>
          </p:cNvPr>
          <p:cNvSpPr>
            <a:spLocks xmlns:a="http://schemas.openxmlformats.org/drawingml/2006/main" noGrp="1"/>
          </p:cNvSpPr>
          <p:nvPr/>
        </p:nvSpPr>
        <p:spPr>
          <a:xfrm xmlns:a="http://schemas.openxmlformats.org/drawingml/2006/main">
            <a:off x="600075" y="4610100"/>
            <a:ext cx="10287000" cy="381000"/>
          </a:xfrm>
          <a:prstGeom xmlns:a="http://schemas.openxmlformats.org/drawingml/2006/main" prst="rect">
            <a:avLst/>
          </a:prstGeom>
          <a:noFill xmlns:a="http://schemas.openxmlformats.org/drawingml/2006/main"/>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ctr"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ctr"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4pPr>
            <a:lvl5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5pPr>
            <a:lvl6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6pPr>
            <a:lvl7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7pPr>
            <a:lvl8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8pPr>
            <a:lvl9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3주차 중간 보고 · 2026.09.12 기준</a:t>
            </a:r>
          </a:p>
        </p:txBody>
      </p:sp>
      <p:sp>
        <p:nvSpPr>
          <p:cNvPr id="10" name="Subtitle 4">
            <a:extLst xmlns:a="http://schemas.openxmlformats.org/drawingml/2006/main">
              <a:ext uri="{FF2B5EF4-FFF2-40B4-BE49-F238E27FC236}">
                <a16:creationId xmlns:a16="http://schemas.microsoft.com/office/drawing/2014/main" id="{CC2E0538-5645-7BC8-CF3A-FDF31FD97820}"/>
              </a:ext>
            </a:extLst>
          </p:cNvPr>
          <p:cNvSpPr>
            <a:spLocks xmlns:a="http://schemas.openxmlformats.org/drawingml/2006/main" noGrp="1"/>
          </p:cNvSpPr>
          <p:nvPr/>
        </p:nvSpPr>
        <p:spPr>
          <a:xfrm xmlns:a="http://schemas.openxmlformats.org/drawingml/2006/main">
            <a:off x="600075" y="552450"/>
            <a:ext cx="10001250" cy="3619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ctr"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ctr"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4pPr>
            <a:lvl5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5pPr>
            <a:lvl6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6pPr>
            <a:lvl7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7pPr>
            <a:lvl8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8pPr>
            <a:lvl9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00" b="0">
                <a:solidFill>
                  <a:srgbClr val="98A1B2"/>
                </a:solidFill>
                <a:latin typeface="Malgun Gothic"/>
                <a:ea typeface="Malgun Gothic"/>
                <a:cs typeface="Malgun Gothic"/>
              </a:defRPr>
            </a:pPr>
            <a:r>
              <a:rPr sz="1800" b="0">
                <a:solidFill>
                  <a:srgbClr val="98A1B2"/>
                </a:solidFill>
                <a:latin typeface="Malgun Gothic"/>
                <a:ea typeface="Malgun Gothic"/>
                <a:cs typeface="Malgun Gothic"/>
              </a:rPr>
              <a:t>포스코 AI·Big Data 아카데미 B1조</a:t>
            </a:r>
          </a:p>
        </p:txBody>
      </p:sp>
      <p:sp>
        <p:nvSpPr>
          <p:cNvPr id="7" name="Straight Connector 6">
            <a:extLst xmlns:a="http://schemas.openxmlformats.org/drawingml/2006/main">
              <a:ext uri="{FF2B5EF4-FFF2-40B4-BE49-F238E27FC236}">
                <a16:creationId xmlns:a16="http://schemas.microsoft.com/office/drawing/2014/main" id="{5F8E3DE4-302F-4C66-90EB-EE737546871F}"/>
              </a:ext>
            </a:extLst>
          </p:cNvPr>
          <p:cNvSpPr>
            <a:spLocks xmlns:a="http://schemas.openxmlformats.org/drawingml/2006/main" noGrp="1"/>
          </p:cNvSpPr>
          <p:nvPr/>
        </p:nvSpPr>
        <p:spPr>
          <a:xfrm xmlns:a="http://schemas.openxmlformats.org/drawingml/2006/main">
            <a:off x="0" y="3933825"/>
            <a:ext cx="12192000" cy="0"/>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16850885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2</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입찰 제안팀에는 답변 검증과 문서 보호가 함께 필요하다</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85875"/>
            <a:ext cx="11334750" cy="457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2025" b="0">
                <a:solidFill>
                  <a:srgbClr val="161C2C"/>
                </a:solidFill>
                <a:latin typeface="Malgun Gothic"/>
                <a:ea typeface="Malgun Gothic"/>
                <a:cs typeface="Malgun Gothic"/>
              </a:defRPr>
            </a:pPr>
            <a:r>
              <a:rPr sz="2025" b="0">
                <a:solidFill>
                  <a:srgbClr val="161C2C"/>
                </a:solidFill>
                <a:latin typeface="Malgun Gothic"/>
                <a:ea typeface="Malgun Gothic"/>
                <a:cs typeface="Malgun Gothic"/>
              </a:rPr>
              <a:t>대상: 정보시스템 구축·운영 입찰을 준비하는 기업의 제안팀</a:t>
            </a:r>
          </a:p>
        </p:txBody>
      </p:sp>
      <p:sp>
        <p:nvSpPr>
          <p:cNvPr id="534" name="">
            <a:extLst xmlns:a="http://schemas.openxmlformats.org/drawingml/2006/main">
              <a:ext uri="{FF2B5EF4-FFF2-40B4-BE49-F238E27FC236}">
                <a16:creationId xmlns:a16="http://schemas.microsoft.com/office/drawing/2014/main" id="{40B151B3-70F7-4318-B35F-15EC206452B4}"/>
              </a:ext>
            </a:extLst>
          </p:cNvPr>
          <p:cNvSpPr>
            <a:spLocks xmlns:a="http://schemas.openxmlformats.org/drawingml/2006/main" noGrp="1"/>
          </p:cNvSpPr>
          <p:nvPr/>
        </p:nvSpPr>
        <p:spPr>
          <a:xfrm xmlns:a="http://schemas.openxmlformats.org/drawingml/2006/main">
            <a:off x="390525" y="2133600"/>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3456BF"/>
                </a:solidFill>
                <a:latin typeface="Malgun Gothic"/>
                <a:ea typeface="Malgun Gothic"/>
                <a:cs typeface="Malgun Gothic"/>
              </a:defRPr>
            </a:pPr>
            <a:r>
              <a:rPr sz="2100" b="1">
                <a:solidFill>
                  <a:srgbClr val="3456BF"/>
                </a:solidFill>
                <a:latin typeface="Malgun Gothic"/>
                <a:ea typeface="Malgun Gothic"/>
                <a:cs typeface="Malgun Gothic"/>
              </a:rPr>
              <a:t>문서 근거가 있어도 생기는 오류</a:t>
            </a:r>
          </a:p>
        </p:txBody>
      </p:sp>
      <p:sp>
        <p:nvSpPr>
          <p:cNvPr id="535" name="">
            <a:extLst xmlns:a="http://schemas.openxmlformats.org/drawingml/2006/main">
              <a:ext uri="{FF2B5EF4-FFF2-40B4-BE49-F238E27FC236}">
                <a16:creationId xmlns:a16="http://schemas.microsoft.com/office/drawing/2014/main" id="{B08263C1-A09D-49D4-B927-1440275C941F}"/>
              </a:ext>
            </a:extLst>
          </p:cNvPr>
          <p:cNvSpPr>
            <a:spLocks xmlns:a="http://schemas.openxmlformats.org/drawingml/2006/main" noGrp="1"/>
          </p:cNvSpPr>
          <p:nvPr/>
        </p:nvSpPr>
        <p:spPr>
          <a:xfrm xmlns:a="http://schemas.openxmlformats.org/drawingml/2006/main">
            <a:off x="390525" y="2724150"/>
            <a:ext cx="5238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RAG 답변에도 근거 없는 내용과 모순이 남을 수 있음</a:t>
            </a:r>
          </a:p>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자격·실적·기간 등 조건을 원문과 다시 대조해야 함</a:t>
            </a:r>
          </a:p>
        </p:txBody>
      </p:sp>
      <p:sp>
        <p:nvSpPr>
          <p:cNvPr id="536" name="">
            <a:extLst xmlns:a="http://schemas.openxmlformats.org/drawingml/2006/main">
              <a:ext uri="{FF2B5EF4-FFF2-40B4-BE49-F238E27FC236}">
                <a16:creationId xmlns:a16="http://schemas.microsoft.com/office/drawing/2014/main" id="{3A2654AE-7C15-47D0-9CFA-F989A1901D1C}"/>
              </a:ext>
            </a:extLst>
          </p:cNvPr>
          <p:cNvSpPr>
            <a:spLocks xmlns:a="http://schemas.openxmlformats.org/drawingml/2006/main" noGrp="1"/>
          </p:cNvSpPr>
          <p:nvPr/>
        </p:nvSpPr>
        <p:spPr>
          <a:xfrm xmlns:a="http://schemas.openxmlformats.org/drawingml/2006/main">
            <a:off x="6238875" y="2133600"/>
            <a:ext cx="5572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3456BF"/>
                </a:solidFill>
                <a:latin typeface="Malgun Gothic"/>
                <a:ea typeface="Malgun Gothic"/>
                <a:cs typeface="Malgun Gothic"/>
              </a:defRPr>
            </a:pPr>
            <a:r>
              <a:rPr sz="2100" b="1">
                <a:solidFill>
                  <a:srgbClr val="3456BF"/>
                </a:solidFill>
                <a:latin typeface="Malgun Gothic"/>
                <a:ea typeface="Malgun Gothic"/>
                <a:cs typeface="Malgun Gothic"/>
              </a:rPr>
              <a:t>서로 다른 공개 범위의 자료</a:t>
            </a:r>
          </a:p>
        </p:txBody>
      </p:sp>
      <p:sp>
        <p:nvSpPr>
          <p:cNvPr id="537" name="">
            <a:extLst xmlns:a="http://schemas.openxmlformats.org/drawingml/2006/main">
              <a:ext uri="{FF2B5EF4-FFF2-40B4-BE49-F238E27FC236}">
                <a16:creationId xmlns:a16="http://schemas.microsoft.com/office/drawing/2014/main" id="{76E2AF56-F375-409D-8E36-19AFB411E092}"/>
              </a:ext>
            </a:extLst>
          </p:cNvPr>
          <p:cNvSpPr>
            <a:spLocks xmlns:a="http://schemas.openxmlformats.org/drawingml/2006/main" noGrp="1"/>
          </p:cNvSpPr>
          <p:nvPr/>
        </p:nvSpPr>
        <p:spPr>
          <a:xfrm xmlns:a="http://schemas.openxmlformats.org/drawingml/2006/main">
            <a:off x="6238875" y="2724150"/>
            <a:ext cx="55054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공개 RFP와 사내 실적·인력·원가를 함께 검토</a:t>
            </a:r>
          </a:p>
          <a:p xmlns:a="http://schemas.openxmlformats.org/drawingml/2006/main">
            <a:pPr marL="165100" indent="-101600">
              <a:spcAft>
                <a:spcPts val="1000"/>
              </a:spcAft>
              <a:buChar char="•"/>
              <a:defRPr sz="1875" b="0">
                <a:solidFill>
                  <a:srgbClr val="161C2C"/>
                </a:solidFill>
                <a:latin typeface="Malgun Gothic"/>
                <a:ea typeface="Malgun Gothic"/>
                <a:cs typeface="Malgun Gothic"/>
              </a:defRPr>
            </a:pPr>
            <a:r>
              <a:t>질문자의 회사·담당 프로젝트·승인 조건에 따라 검색 범위를 제한</a:t>
            </a:r>
          </a:p>
        </p:txBody>
      </p:sp>
      <p:sp>
        <p:nvSpPr>
          <p:cNvPr id="538" name="">
            <a:extLst xmlns:a="http://schemas.openxmlformats.org/drawingml/2006/main">
              <a:ext uri="{FF2B5EF4-FFF2-40B4-BE49-F238E27FC236}">
                <a16:creationId xmlns:a16="http://schemas.microsoft.com/office/drawing/2014/main" id="{853FCB3F-87B4-4F85-ADA8-B4598A7BA9E7}"/>
              </a:ext>
            </a:extLst>
          </p:cNvPr>
          <p:cNvSpPr>
            <a:spLocks xmlns:a="http://schemas.openxmlformats.org/drawingml/2006/main" noGrp="1"/>
          </p:cNvSpPr>
          <p:nvPr/>
        </p:nvSpPr>
        <p:spPr>
          <a:xfrm xmlns:a="http://schemas.openxmlformats.org/drawingml/2006/main">
            <a:off x="390525" y="46101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3456BF"/>
                </a:solidFill>
                <a:latin typeface="Malgun Gothic"/>
                <a:ea typeface="Malgun Gothic"/>
                <a:cs typeface="Malgun Gothic"/>
              </a:defRPr>
            </a:pPr>
            <a:r>
              <a:rPr sz="2100" b="1">
                <a:solidFill>
                  <a:srgbClr val="3456BF"/>
                </a:solidFill>
                <a:latin typeface="Malgun Gothic"/>
                <a:ea typeface="Malgun Gothic"/>
                <a:cs typeface="Malgun Gothic"/>
              </a:rPr>
              <a:t>왜 나라장터 RFP인가</a:t>
            </a:r>
          </a:p>
        </p:txBody>
      </p:sp>
      <p:sp>
        <p:nvSpPr>
          <p:cNvPr id="539" name="">
            <a:extLst xmlns:a="http://schemas.openxmlformats.org/drawingml/2006/main">
              <a:ext uri="{FF2B5EF4-FFF2-40B4-BE49-F238E27FC236}">
                <a16:creationId xmlns:a16="http://schemas.microsoft.com/office/drawing/2014/main" id="{DAB82E84-86D4-45E0-8371-8A9BB821C10A}"/>
              </a:ext>
            </a:extLst>
          </p:cNvPr>
          <p:cNvSpPr>
            <a:spLocks xmlns:a="http://schemas.openxmlformats.org/drawingml/2006/main" noGrp="1"/>
          </p:cNvSpPr>
          <p:nvPr/>
        </p:nvSpPr>
        <p:spPr>
          <a:xfrm xmlns:a="http://schemas.openxmlformats.org/drawingml/2006/main">
            <a:off x="390525" y="5219700"/>
            <a:ext cx="5334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공개 공고를 확보할 수 있고, 자격요건과</a:t>
            </a:r>
          </a:p>
          <a:p xmlns:a="http://schemas.openxmlformats.org/drawingml/2006/main">
            <a:pPr>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회사 증빙을 대조하는 업무 흐름이 분명함</a:t>
            </a:r>
          </a:p>
        </p:txBody>
      </p:sp>
      <p:sp>
        <p:nvSpPr>
          <p:cNvPr id="540" name="">
            <a:extLst xmlns:a="http://schemas.openxmlformats.org/drawingml/2006/main">
              <a:ext uri="{FF2B5EF4-FFF2-40B4-BE49-F238E27FC236}">
                <a16:creationId xmlns:a16="http://schemas.microsoft.com/office/drawing/2014/main" id="{6396F10A-CB9D-4665-9861-3ECB3DE549DA}"/>
              </a:ext>
            </a:extLst>
          </p:cNvPr>
          <p:cNvSpPr>
            <a:spLocks xmlns:a="http://schemas.openxmlformats.org/drawingml/2006/main" noGrp="1"/>
          </p:cNvSpPr>
          <p:nvPr/>
        </p:nvSpPr>
        <p:spPr>
          <a:xfrm xmlns:a="http://schemas.openxmlformats.org/drawingml/2006/main">
            <a:off x="6238875" y="461010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3456BF"/>
                </a:solidFill>
                <a:latin typeface="Malgun Gothic"/>
                <a:ea typeface="Malgun Gothic"/>
                <a:cs typeface="Malgun Gothic"/>
              </a:defRPr>
            </a:pPr>
            <a:r>
              <a:rPr sz="2100" b="1">
                <a:solidFill>
                  <a:srgbClr val="3456BF"/>
                </a:solidFill>
                <a:latin typeface="Malgun Gothic"/>
                <a:ea typeface="Malgun Gothic"/>
                <a:cs typeface="Malgun Gothic"/>
              </a:rPr>
              <a:t>왜 사내 실행을 지향하는가</a:t>
            </a:r>
          </a:p>
        </p:txBody>
      </p:sp>
      <p:sp>
        <p:nvSpPr>
          <p:cNvPr id="541" name="">
            <a:extLst xmlns:a="http://schemas.openxmlformats.org/drawingml/2006/main">
              <a:ext uri="{FF2B5EF4-FFF2-40B4-BE49-F238E27FC236}">
                <a16:creationId xmlns:a16="http://schemas.microsoft.com/office/drawing/2014/main" id="{933B0AE6-FB06-4BA4-BED1-DFA5FC282566}"/>
              </a:ext>
            </a:extLst>
          </p:cNvPr>
          <p:cNvSpPr>
            <a:spLocks xmlns:a="http://schemas.openxmlformats.org/drawingml/2006/main" noGrp="1"/>
          </p:cNvSpPr>
          <p:nvPr/>
        </p:nvSpPr>
        <p:spPr>
          <a:xfrm xmlns:a="http://schemas.openxmlformats.org/drawingml/2006/main">
            <a:off x="6238875" y="5219700"/>
            <a:ext cx="5524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민감 자료의 처리 경계를 통제하는 설계</a:t>
            </a:r>
          </a:p>
          <a:p xmlns:a="http://schemas.openxmlformats.org/drawingml/2006/main">
            <a:pPr>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로컬 서버 자원에 맞춘 모델 구성 검토</a:t>
            </a:r>
          </a:p>
        </p:txBody>
      </p:sp>
      <p:sp>
        <p:nvSpPr>
          <p:cNvPr id="542" name="">
            <a:extLst xmlns:a="http://schemas.openxmlformats.org/drawingml/2006/main">
              <a:ext uri="{FF2B5EF4-FFF2-40B4-BE49-F238E27FC236}">
                <a16:creationId xmlns:a16="http://schemas.microsoft.com/office/drawing/2014/main" id="{41AD1A53-0AF8-4789-8A3A-8879FB6C22D6}"/>
              </a:ext>
            </a:extLst>
          </p:cNvPr>
          <p:cNvSpPr>
            <a:spLocks xmlns:a="http://schemas.openxmlformats.org/drawingml/2006/main" noGrp="1"/>
          </p:cNvSpPr>
          <p:nvPr/>
        </p:nvSpPr>
        <p:spPr>
          <a:xfrm xmlns:a="http://schemas.openxmlformats.org/drawingml/2006/main">
            <a:off x="390525"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B6476"/>
                </a:solidFill>
                <a:latin typeface="Malgun Gothic"/>
                <a:ea typeface="Malgun Gothic"/>
                <a:cs typeface="Malgun Gothic"/>
              </a:defRPr>
            </a:pPr>
            <a:r>
              <a:rPr sz="1200" b="0">
                <a:solidFill>
                  <a:srgbClr val="5B6476"/>
                </a:solidFill>
                <a:latin typeface="Malgun Gothic"/>
                <a:ea typeface="Malgun Gothic"/>
                <a:cs typeface="Malgun Gothic"/>
              </a:rPr>
              <a:t>근거: RAGTruth(ACL 2024), 첨부 추진배경 MD, 팀공유 문서 · 로컬 운영은 목표</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d2eeab6bf334e55">
            <a:extLst>
              <a:ext uri="{96DAC541-7B7A-43D3-8B79-37D633B846F1}">
                <asvg:svgBlip xmlns:asvg="http://schemas.microsoft.com/office/drawing/2016/SVG/main" r:embed="R3b6fe52d412d4a6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462217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4</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데이터와 한국어 탐지 모델 준비 현황</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049000" cy="44767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2100" b="0">
                <a:solidFill>
                  <a:srgbClr val="161C2C"/>
                </a:solidFill>
                <a:latin typeface="Malgun Gothic"/>
                <a:ea typeface="Malgun Gothic"/>
                <a:cs typeface="Malgun Gothic"/>
              </a:defRPr>
            </a:pPr>
            <a:r>
              <a:rPr sz="2100" b="0">
                <a:solidFill>
                  <a:srgbClr val="161C2C"/>
                </a:solidFill>
                <a:latin typeface="Malgun Gothic"/>
                <a:ea typeface="Malgun Gothic"/>
                <a:cs typeface="Malgun Gothic"/>
              </a:rPr>
              <a:t>학습·평가 완료 기록과 실데이터 집계를 구분</a:t>
            </a:r>
          </a:p>
        </p:txBody>
      </p:sp>
      <p:sp>
        <p:nvSpPr>
          <p:cNvPr id="534" name="">
            <a:extLst xmlns:a="http://schemas.openxmlformats.org/drawingml/2006/main">
              <a:ext uri="{FF2B5EF4-FFF2-40B4-BE49-F238E27FC236}">
                <a16:creationId xmlns:a16="http://schemas.microsoft.com/office/drawing/2014/main" id="{7F0372B6-FD05-4BC5-94B5-DA0B1392D2DD}"/>
              </a:ext>
            </a:extLst>
          </p:cNvPr>
          <p:cNvSpPr>
            <a:spLocks xmlns:a="http://schemas.openxmlformats.org/drawingml/2006/main" noGrp="1"/>
          </p:cNvSpPr>
          <p:nvPr/>
        </p:nvSpPr>
        <p:spPr>
          <a:xfrm xmlns:a="http://schemas.openxmlformats.org/drawingml/2006/main">
            <a:off x="6248400" y="200977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3456BF"/>
                </a:solidFill>
                <a:latin typeface="Malgun Gothic"/>
                <a:ea typeface="Malgun Gothic"/>
                <a:cs typeface="Malgun Gothic"/>
              </a:defRPr>
            </a:pPr>
            <a:r>
              <a:rPr sz="2175" b="1">
                <a:solidFill>
                  <a:srgbClr val="3456BF"/>
                </a:solidFill>
                <a:latin typeface="Malgun Gothic"/>
                <a:ea typeface="Malgun Gothic"/>
                <a:cs typeface="Malgun Gothic"/>
              </a:rPr>
              <a:t>한국어 환각 탐지</a:t>
            </a:r>
          </a:p>
        </p:txBody>
      </p:sp>
      <p:sp>
        <p:nvSpPr>
          <p:cNvPr id="535" name="">
            <a:extLst xmlns:a="http://schemas.openxmlformats.org/drawingml/2006/main">
              <a:ext uri="{FF2B5EF4-FFF2-40B4-BE49-F238E27FC236}">
                <a16:creationId xmlns:a16="http://schemas.microsoft.com/office/drawing/2014/main" id="{ABB6179F-25D1-4027-BDBF-972BF62A0F23}"/>
              </a:ext>
            </a:extLst>
          </p:cNvPr>
          <p:cNvSpPr>
            <a:spLocks xmlns:a="http://schemas.openxmlformats.org/drawingml/2006/main" noGrp="1"/>
          </p:cNvSpPr>
          <p:nvPr/>
        </p:nvSpPr>
        <p:spPr>
          <a:xfrm xmlns:a="http://schemas.openxmlformats.org/drawingml/2006/main">
            <a:off x="6248400" y="2647950"/>
            <a:ext cx="5267325" cy="2828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65100" indent="-101600">
              <a:spcAft>
                <a:spcPts val="1000"/>
              </a:spcAft>
              <a:buChar char="•"/>
              <a:defRPr sz="1725" b="0">
                <a:solidFill>
                  <a:srgbClr val="161C2C"/>
                </a:solidFill>
                <a:latin typeface="Malgun Gothic"/>
                <a:ea typeface="Malgun Gothic"/>
                <a:cs typeface="Malgun Gothic"/>
              </a:defRPr>
            </a:pPr>
            <a:r>
              <a:t>RAGTruth 환각 구간을 &lt;HAL&gt; 태그로 감싸 한국어 번역</a:t>
            </a:r>
          </a:p>
          <a:p xmlns:a="http://schemas.openxmlformats.org/drawingml/2006/main">
            <a:pPr marL="165100" indent="-101600">
              <a:spcAft>
                <a:spcPts val="1000"/>
              </a:spcAft>
              <a:buChar char="•"/>
              <a:defRPr sz="1725" b="0">
                <a:solidFill>
                  <a:srgbClr val="161C2C"/>
                </a:solidFill>
                <a:latin typeface="Malgun Gothic"/>
                <a:ea typeface="Malgun Gothic"/>
                <a:cs typeface="Malgun Gothic"/>
              </a:defRPr>
            </a:pPr>
            <a:r>
              <a:t>태그 검사·문자 위치 재계산 후 이진 토큰 분류 학습</a:t>
            </a:r>
          </a:p>
          <a:p xmlns:a="http://schemas.openxmlformats.org/drawingml/2006/main">
            <a:pPr marL="165100" indent="-101600">
              <a:spcAft>
                <a:spcPts val="1000"/>
              </a:spcAft>
              <a:buChar char="•"/>
              <a:defRPr sz="1725" b="0">
                <a:solidFill>
                  <a:srgbClr val="161C2C"/>
                </a:solidFill>
                <a:latin typeface="Malgun Gothic"/>
                <a:ea typeface="Malgun Gothic"/>
                <a:cs typeface="Malgun Gothic"/>
              </a:defRPr>
            </a:pPr>
            <a:r>
              <a:t>KLUE-RoBERTa, XLM-RoBERTa, BGE-M3 학습</a:t>
            </a:r>
          </a:p>
          <a:p xmlns:a="http://schemas.openxmlformats.org/drawingml/2006/main">
            <a:pPr marL="165100" indent="-101600">
              <a:spcAft>
                <a:spcPts val="1000"/>
              </a:spcAft>
              <a:buChar char="•"/>
              <a:defRPr sz="1725" b="0">
                <a:solidFill>
                  <a:srgbClr val="161C2C"/>
                </a:solidFill>
                <a:latin typeface="Malgun Gothic"/>
                <a:ea typeface="Malgun Gothic"/>
                <a:cs typeface="Malgun Gothic"/>
              </a:defRPr>
            </a:pPr>
            <a:r>
              <a:t>숫자 변조는 확인된 취약점. 나라장터 적용 성능은 평가 예정</a:t>
            </a:r>
          </a:p>
        </p:txBody>
      </p:sp>
      <p:sp>
        <p:nvSpPr>
          <p:cNvPr id="536" name="">
            <a:extLst xmlns:a="http://schemas.openxmlformats.org/drawingml/2006/main">
              <a:ext uri="{FF2B5EF4-FFF2-40B4-BE49-F238E27FC236}">
                <a16:creationId xmlns:a16="http://schemas.microsoft.com/office/drawing/2014/main" id="{1A7CC769-930A-4DFE-94A4-8F263CF9543C}"/>
              </a:ext>
            </a:extLst>
          </p:cNvPr>
          <p:cNvSpPr>
            <a:spLocks xmlns:a="http://schemas.openxmlformats.org/drawingml/2006/main" noGrp="1"/>
          </p:cNvSpPr>
          <p:nvPr/>
        </p:nvSpPr>
        <p:spPr>
          <a:xfrm xmlns:a="http://schemas.openxmlformats.org/drawingml/2006/main">
            <a:off x="6248400" y="5800725"/>
            <a:ext cx="52673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B6476"/>
                </a:solidFill>
                <a:latin typeface="Malgun Gothic"/>
                <a:ea typeface="Malgun Gothic"/>
                <a:cs typeface="Malgun Gothic"/>
              </a:defRPr>
            </a:pPr>
            <a:r>
              <a:rPr sz="1500" b="0">
                <a:solidFill>
                  <a:srgbClr val="5B6476"/>
                </a:solidFill>
                <a:latin typeface="Malgun Gothic"/>
                <a:ea typeface="Malgun Gothic"/>
                <a:cs typeface="Malgun Gothic"/>
              </a:rPr>
              <a:t>성능값은 원본 실험 조건 재확인 후 사용</a:t>
            </a:r>
          </a:p>
          <a:p xmlns:a="http://schemas.openxmlformats.org/drawingml/2006/main">
            <a:pPr>
              <a:defRPr sz="1500" b="0">
                <a:solidFill>
                  <a:srgbClr val="5B6476"/>
                </a:solidFill>
                <a:latin typeface="Malgun Gothic"/>
                <a:ea typeface="Malgun Gothic"/>
                <a:cs typeface="Malgun Gothic"/>
              </a:defRPr>
            </a:pPr>
            <a:r>
              <a:rPr sz="1500" b="0">
                <a:solidFill>
                  <a:srgbClr val="5B6476"/>
                </a:solidFill>
                <a:latin typeface="Malgun Gothic"/>
                <a:ea typeface="Malgun Gothic"/>
                <a:cs typeface="Malgun Gothic"/>
              </a:rPr>
              <a:t>자동 태그 검사가 번역 의미 보존을 보장하지 않음</a:t>
            </a:r>
          </a:p>
        </p:txBody>
      </p:sp>
      <p:sp>
        <p:nvSpPr>
          <p:cNvPr id="537" name="">
            <a:extLst xmlns:a="http://schemas.openxmlformats.org/drawingml/2006/main">
              <a:ext uri="{FF2B5EF4-FFF2-40B4-BE49-F238E27FC236}">
                <a16:creationId xmlns:a16="http://schemas.microsoft.com/office/drawing/2014/main" id="{C09DDFBA-C660-4C86-81F5-B36701D3C954}"/>
              </a:ext>
            </a:extLst>
          </p:cNvPr>
          <p:cNvSpPr>
            <a:spLocks xmlns:a="http://schemas.openxmlformats.org/drawingml/2006/main" noGrp="1"/>
          </p:cNvSpPr>
          <p:nvPr/>
        </p:nvSpPr>
        <p:spPr>
          <a:xfrm xmlns:a="http://schemas.openxmlformats.org/drawingml/2006/main">
            <a:off x="390525" y="2009775"/>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3456BF"/>
                </a:solidFill>
                <a:latin typeface="Malgun Gothic"/>
                <a:ea typeface="Malgun Gothic"/>
                <a:cs typeface="Malgun Gothic"/>
              </a:defRPr>
            </a:pPr>
            <a:r>
              <a:rPr sz="2250" b="1">
                <a:solidFill>
                  <a:srgbClr val="3456BF"/>
                </a:solidFill>
                <a:latin typeface="Malgun Gothic"/>
                <a:ea typeface="Malgun Gothic"/>
                <a:cs typeface="Malgun Gothic"/>
              </a:rPr>
              <a:t>4~6월 공고 행 137,745건</a:t>
            </a:r>
          </a:p>
        </p:txBody>
      </p:sp>
      <p:sp>
        <p:nvSpPr>
          <p:cNvPr id="538" name="">
            <a:extLst xmlns:a="http://schemas.openxmlformats.org/drawingml/2006/main">
              <a:ext uri="{FF2B5EF4-FFF2-40B4-BE49-F238E27FC236}">
                <a16:creationId xmlns:a16="http://schemas.microsoft.com/office/drawing/2014/main" id="{9BFEAA12-A339-48F9-ADFA-96A06EF8332D}"/>
              </a:ext>
            </a:extLst>
          </p:cNvPr>
          <p:cNvSpPr>
            <a:spLocks xmlns:a="http://schemas.openxmlformats.org/drawingml/2006/main" noGrp="1"/>
          </p:cNvSpPr>
          <p:nvPr/>
        </p:nvSpPr>
        <p:spPr>
          <a:xfrm xmlns:a="http://schemas.openxmlformats.org/drawingml/2006/main">
            <a:off x="390525" y="2476500"/>
            <a:ext cx="554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차수 포함 / 최신 차수 124,522건</a:t>
            </a:r>
          </a:p>
        </p:txBody>
      </p:sp>
      <p:graphicFrame>
        <p:nvGraphicFramePr>
          <p:cNvPr id="550" name=""/>
          <p:cNvGraphicFramePr/>
          <p:nvPr/>
        </p:nvGraphicFramePr>
        <p:xfrm>
          <a:off xmlns:a="http://schemas.openxmlformats.org/drawingml/2006/main" x="390525" y="3028950"/>
          <a:ext xmlns:a="http://schemas.openxmlformats.org/drawingml/2006/main" cx="5543550" cy="2228850"/>
        </p:xfrm>
        <a:graphic xmlns:a="http://schemas.openxmlformats.org/drawingml/2006/main">
          <a:graphicData uri="http://schemas.openxmlformats.org/drawingml/2006/table">
            <a:tbl>
              <a:tblPr/>
              <a:tblGrid>
                <a:gridCol w="2876550"/>
                <a:gridCol w="1333500"/>
                <a:gridCol w="1333500"/>
              </a:tblGrid>
              <a:tr h="514350">
                <a:tc>
                  <a:txBody>
                    <a:bodyPr/>
                    <a:lstStyle/>
                    <a:p>
                      <a:r>
                        <a:rPr sz="1725" b="1">
                          <a:solidFill>
                            <a:srgbClr val="3456BF"/>
                          </a:solidFill>
                          <a:latin typeface="Malgun Gothic"/>
                          <a:ea typeface="Malgun Gothic"/>
                          <a:cs typeface="Malgun Gothic"/>
                        </a:rPr>
                        <a:t>타깃 분야</a:t>
                      </a:r>
                    </a:p>
                  </a:txBody>
                  <a:tcPr marL="95250" marR="95250" marT="95250" marB="85725" anchor="ctr">
                    <a:solidFill>
                      <a:srgbClr val="E8EDF9"/>
                    </a:solidFill>
                  </a:tcPr>
                </a:tc>
                <a:tc>
                  <a:txBody>
                    <a:bodyPr/>
                    <a:lstStyle/>
                    <a:p>
                      <a:r>
                        <a:rPr sz="1725" b="1">
                          <a:solidFill>
                            <a:srgbClr val="3456BF"/>
                          </a:solidFill>
                          <a:latin typeface="Malgun Gothic"/>
                          <a:ea typeface="Malgun Gothic"/>
                          <a:cs typeface="Malgun Gothic"/>
                        </a:rPr>
                        <a:t>공고</a:t>
                      </a:r>
                    </a:p>
                  </a:txBody>
                  <a:tcPr marL="95250" marR="95250" marT="95250" marB="85725" anchor="ctr">
                    <a:solidFill>
                      <a:srgbClr val="E8EDF9"/>
                    </a:solidFill>
                  </a:tcPr>
                </a:tc>
                <a:tc>
                  <a:txBody>
                    <a:bodyPr/>
                    <a:lstStyle/>
                    <a:p>
                      <a:r>
                        <a:rPr sz="1725" b="1">
                          <a:solidFill>
                            <a:srgbClr val="3456BF"/>
                          </a:solidFill>
                          <a:latin typeface="Malgun Gothic"/>
                          <a:ea typeface="Malgun Gothic"/>
                          <a:cs typeface="Malgun Gothic"/>
                        </a:rPr>
                        <a:t>완전 공고</a:t>
                      </a:r>
                    </a:p>
                  </a:txBody>
                  <a:tcPr marL="95250" marR="95250" marT="95250" marB="85725" anchor="ctr">
                    <a:solidFill>
                      <a:srgbClr val="E8EDF9"/>
                    </a:solidFill>
                  </a:tcPr>
                </a:tc>
              </a:tr>
              <a:tr h="0">
                <a:tc>
                  <a:txBody>
                    <a:bodyPr/>
                    <a:lstStyle/>
                    <a:p>
                      <a:r>
                        <a:rPr sz="1725">
                          <a:solidFill>
                            <a:srgbClr val="161C2C"/>
                          </a:solidFill>
                          <a:latin typeface="Malgun Gothic"/>
                          <a:ea typeface="Malgun Gothic"/>
                          <a:cs typeface="Malgun Gothic"/>
                        </a:rPr>
                        <a:t>SW·시스템 개발</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2,163</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984</a:t>
                      </a:r>
                    </a:p>
                  </a:txBody>
                  <a:tcPr marL="95250" marR="95250" marT="95250" marB="85725" anchor="ctr">
                    <a:solidFill>
                      <a:srgbClr val="F8FAFC"/>
                    </a:solidFill>
                  </a:tcPr>
                </a:tc>
              </a:tr>
              <a:tr h="0">
                <a:tc>
                  <a:txBody>
                    <a:bodyPr/>
                    <a:lstStyle/>
                    <a:p>
                      <a:r>
                        <a:rPr sz="1725">
                          <a:solidFill>
                            <a:srgbClr val="161C2C"/>
                          </a:solidFill>
                          <a:latin typeface="Malgun Gothic"/>
                          <a:ea typeface="Malgun Gothic"/>
                          <a:cs typeface="Malgun Gothic"/>
                        </a:rPr>
                        <a:t>운영·유지관리</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1,313</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681</a:t>
                      </a:r>
                    </a:p>
                  </a:txBody>
                  <a:tcPr marL="95250" marR="95250" marT="95250" marB="85725" anchor="ctr">
                    <a:solidFill>
                      <a:srgbClr val="F8FAFC"/>
                    </a:solidFill>
                  </a:tcPr>
                </a:tc>
              </a:tr>
              <a:tr h="0">
                <a:tc>
                  <a:txBody>
                    <a:bodyPr/>
                    <a:lstStyle/>
                    <a:p>
                      <a:r>
                        <a:rPr sz="1725">
                          <a:solidFill>
                            <a:srgbClr val="161C2C"/>
                          </a:solidFill>
                          <a:latin typeface="Malgun Gothic"/>
                          <a:ea typeface="Malgun Gothic"/>
                          <a:cs typeface="Malgun Gothic"/>
                        </a:rPr>
                        <a:t>합계</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3,476</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1,665</a:t>
                      </a:r>
                    </a:p>
                  </a:txBody>
                  <a:tcPr marL="95250" marR="95250" marT="95250" marB="85725" anchor="ctr">
                    <a:solidFill>
                      <a:srgbClr val="F8FAFC"/>
                    </a:solidFill>
                  </a:tcPr>
                </a:tc>
              </a:tr>
            </a:tbl>
          </a:graphicData>
        </a:graphic>
      </p:graphicFrame>
      <p:sp>
        <p:nvSpPr>
          <p:cNvPr id="540" name="">
            <a:extLst xmlns:a="http://schemas.openxmlformats.org/drawingml/2006/main">
              <a:ext uri="{FF2B5EF4-FFF2-40B4-BE49-F238E27FC236}">
                <a16:creationId xmlns:a16="http://schemas.microsoft.com/office/drawing/2014/main" id="{A896A352-0690-4BB2-877D-3DC14F8B8FFD}"/>
              </a:ext>
            </a:extLst>
          </p:cNvPr>
          <p:cNvSpPr>
            <a:spLocks xmlns:a="http://schemas.openxmlformats.org/drawingml/2006/main" noGrp="1"/>
          </p:cNvSpPr>
          <p:nvPr/>
        </p:nvSpPr>
        <p:spPr>
          <a:xfrm xmlns:a="http://schemas.openxmlformats.org/drawingml/2006/main">
            <a:off x="390525" y="5476875"/>
            <a:ext cx="5543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표본 51건 (월별 17건) 선정·수집</a:t>
            </a:r>
          </a:p>
        </p:txBody>
      </p:sp>
      <p:sp>
        <p:nvSpPr>
          <p:cNvPr id="541" name="">
            <a:extLst xmlns:a="http://schemas.openxmlformats.org/drawingml/2006/main">
              <a:ext uri="{FF2B5EF4-FFF2-40B4-BE49-F238E27FC236}">
                <a16:creationId xmlns:a16="http://schemas.microsoft.com/office/drawing/2014/main" id="{F3ED94E4-0CFB-4B22-987D-AE512949E468}"/>
              </a:ext>
            </a:extLst>
          </p:cNvPr>
          <p:cNvSpPr>
            <a:spLocks xmlns:a="http://schemas.openxmlformats.org/drawingml/2006/main" noGrp="1"/>
          </p:cNvSpPr>
          <p:nvPr/>
        </p:nvSpPr>
        <p:spPr>
          <a:xfrm xmlns:a="http://schemas.openxmlformats.org/drawingml/2006/main">
            <a:off x="390525" y="5943600"/>
            <a:ext cx="5543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B6476"/>
                </a:solidFill>
                <a:latin typeface="Malgun Gothic"/>
                <a:ea typeface="Malgun Gothic"/>
                <a:cs typeface="Malgun Gothic"/>
              </a:defRPr>
            </a:pPr>
            <a:r>
              <a:rPr sz="1425" b="0">
                <a:solidFill>
                  <a:srgbClr val="5B6476"/>
                </a:solidFill>
                <a:latin typeface="Malgun Gothic"/>
                <a:ea typeface="Malgun Gothic"/>
                <a:cs typeface="Malgun Gothic"/>
              </a:rPr>
              <a:t>완전 공고 = 공고문 + (RFP 또는 과업·규격)</a:t>
            </a:r>
          </a:p>
          <a:p xmlns:a="http://schemas.openxmlformats.org/drawingml/2006/main">
            <a:pPr>
              <a:defRPr sz="1425" b="0">
                <a:solidFill>
                  <a:srgbClr val="5B6476"/>
                </a:solidFill>
                <a:latin typeface="Malgun Gothic"/>
                <a:ea typeface="Malgun Gothic"/>
                <a:cs typeface="Malgun Gothic"/>
              </a:defRPr>
            </a:pPr>
            <a:r>
              <a:rPr sz="1425" b="0">
                <a:solidFill>
                  <a:srgbClr val="5B6476"/>
                </a:solidFill>
                <a:latin typeface="Malgun Gothic"/>
                <a:ea typeface="Malgun Gothic"/>
                <a:cs typeface="Malgun Gothic"/>
              </a:rPr>
              <a:t>선정 이유는 실적·인력·인증·단가 검토의 적합성</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5</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프로젝트 목표와 비취인가 개념의 적용 범위</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76350"/>
            <a:ext cx="11334750" cy="7334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2025" b="0">
                <a:solidFill>
                  <a:srgbClr val="161C2C"/>
                </a:solidFill>
                <a:latin typeface="Malgun Gothic"/>
                <a:ea typeface="Malgun Gothic"/>
                <a:cs typeface="Malgun Gothic"/>
              </a:defRPr>
            </a:pPr>
            <a:r>
              <a:rPr sz="2025" b="0">
                <a:solidFill>
                  <a:srgbClr val="161C2C"/>
                </a:solidFill>
                <a:latin typeface="Malgun Gothic"/>
                <a:ea typeface="Malgun Gothic"/>
                <a:cs typeface="Malgun Gothic"/>
              </a:rPr>
              <a:t>입찰 담당자가 허용된 자료로 조건을 검토하고, 답변의 의심 구간을 원문에서 확인</a:t>
            </a:r>
          </a:p>
        </p:txBody>
      </p:sp>
      <p:graphicFrame>
        <p:nvGraphicFramePr>
          <p:cNvPr id="542" name=""/>
          <p:cNvGraphicFramePr/>
          <p:nvPr/>
        </p:nvGraphicFramePr>
        <p:xfrm>
          <a:off xmlns:a="http://schemas.openxmlformats.org/drawingml/2006/main" x="390525" y="2276475"/>
          <a:ext xmlns:a="http://schemas.openxmlformats.org/drawingml/2006/main" cx="11401425" cy="2533650"/>
        </p:xfrm>
        <a:graphic xmlns:a="http://schemas.openxmlformats.org/drawingml/2006/main">
          <a:graphicData uri="http://schemas.openxmlformats.org/drawingml/2006/table">
            <a:tbl>
              <a:tblPr/>
              <a:tblGrid>
                <a:gridCol w="2714625"/>
                <a:gridCol w="3476625"/>
                <a:gridCol w="5210175"/>
              </a:tblGrid>
              <a:tr h="514350">
                <a:tc>
                  <a:txBody>
                    <a:bodyPr/>
                    <a:lstStyle/>
                    <a:p>
                      <a:r>
                        <a:rPr sz="1725" b="1">
                          <a:solidFill>
                            <a:srgbClr val="3456BF"/>
                          </a:solidFill>
                          <a:latin typeface="Malgun Gothic"/>
                          <a:ea typeface="Malgun Gothic"/>
                          <a:cs typeface="Malgun Gothic"/>
                        </a:rPr>
                        <a:t>자료 등급 · 프로젝트 예시</a:t>
                      </a:r>
                    </a:p>
                  </a:txBody>
                  <a:tcPr marL="95250" marR="95250" marT="95250" marB="85725" anchor="ctr">
                    <a:solidFill>
                      <a:srgbClr val="E8EDF9"/>
                    </a:solidFill>
                  </a:tcPr>
                </a:tc>
                <a:tc>
                  <a:txBody>
                    <a:bodyPr/>
                    <a:lstStyle/>
                    <a:p>
                      <a:r>
                        <a:rPr sz="1725" b="1">
                          <a:solidFill>
                            <a:srgbClr val="3456BF"/>
                          </a:solidFill>
                          <a:latin typeface="Malgun Gothic"/>
                          <a:ea typeface="Malgun Gothic"/>
                          <a:cs typeface="Malgun Gothic"/>
                        </a:rPr>
                        <a:t>보호할 내용</a:t>
                      </a:r>
                    </a:p>
                  </a:txBody>
                  <a:tcPr marL="95250" marR="95250" marT="95250" marB="85725" anchor="ctr">
                    <a:solidFill>
                      <a:srgbClr val="E8EDF9"/>
                    </a:solidFill>
                  </a:tcPr>
                </a:tc>
                <a:tc>
                  <a:txBody>
                    <a:bodyPr/>
                    <a:lstStyle/>
                    <a:p>
                      <a:r>
                        <a:rPr sz="1725" b="1">
                          <a:solidFill>
                            <a:srgbClr val="3456BF"/>
                          </a:solidFill>
                          <a:latin typeface="Malgun Gothic"/>
                          <a:ea typeface="Malgun Gothic"/>
                          <a:cs typeface="Malgun Gothic"/>
                        </a:rPr>
                        <a:t>접근 조건 설계</a:t>
                      </a:r>
                    </a:p>
                  </a:txBody>
                  <a:tcPr marL="95250" marR="95250" marT="95250" marB="85725" anchor="ctr">
                    <a:solidFill>
                      <a:srgbClr val="E8EDF9"/>
                    </a:solidFill>
                  </a:tcPr>
                </a:tc>
              </a:tr>
              <a:tr h="0">
                <a:tc>
                  <a:txBody>
                    <a:bodyPr/>
                    <a:lstStyle/>
                    <a:p>
                      <a:r>
                        <a:rPr sz="1725">
                          <a:solidFill>
                            <a:srgbClr val="161C2C"/>
                          </a:solidFill>
                          <a:latin typeface="Malgun Gothic"/>
                          <a:ea typeface="Malgun Gothic"/>
                          <a:cs typeface="Malgun Gothic"/>
                        </a:rPr>
                        <a:t>L1 공개</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공고문 · RFP · 과업 문서</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공개 문서 열람</a:t>
                      </a:r>
                    </a:p>
                  </a:txBody>
                  <a:tcPr marL="95250" marR="95250" marT="95250" marB="85725" anchor="ctr">
                    <a:solidFill>
                      <a:srgbClr val="F8FAFC"/>
                    </a:solidFill>
                  </a:tcPr>
                </a:tc>
              </a:tr>
              <a:tr h="0">
                <a:tc>
                  <a:txBody>
                    <a:bodyPr/>
                    <a:lstStyle/>
                    <a:p>
                      <a:r>
                        <a:rPr sz="1725">
                          <a:solidFill>
                            <a:srgbClr val="161C2C"/>
                          </a:solidFill>
                          <a:latin typeface="Malgun Gothic"/>
                          <a:ea typeface="Malgun Gothic"/>
                          <a:cs typeface="Malgun Gothic"/>
                        </a:rPr>
                        <a:t>L2 대외비</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회사 실적 · 인력 · 인증</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회사 일치 + 프로젝트 배정 + 문서 권한</a:t>
                      </a:r>
                    </a:p>
                  </a:txBody>
                  <a:tcPr marL="95250" marR="95250" marT="95250" marB="85725" anchor="ctr">
                    <a:solidFill>
                      <a:srgbClr val="F8FAFC"/>
                    </a:solidFill>
                  </a:tcPr>
                </a:tc>
              </a:tr>
              <a:tr h="0">
                <a:tc>
                  <a:txBody>
                    <a:bodyPr/>
                    <a:lstStyle/>
                    <a:p>
                      <a:r>
                        <a:rPr sz="1725">
                          <a:solidFill>
                            <a:srgbClr val="161C2C"/>
                          </a:solidFill>
                          <a:latin typeface="Malgun Gothic"/>
                          <a:ea typeface="Malgun Gothic"/>
                          <a:cs typeface="Malgun Gothic"/>
                        </a:rPr>
                        <a:t>L3 기밀</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원가 · 투찰 전략 · 마진</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L2 조건 + 해당 자료 승인 + 유효기간</a:t>
                      </a:r>
                    </a:p>
                  </a:txBody>
                  <a:tcPr marL="95250" marR="95250" marT="95250" marB="85725" anchor="ctr">
                    <a:solidFill>
                      <a:srgbClr val="F8FAFC"/>
                    </a:solidFill>
                  </a:tcPr>
                </a:tc>
              </a:tr>
            </a:tbl>
          </a:graphicData>
        </a:graphic>
      </p:graphicFrame>
      <p:sp>
        <p:nvSpPr>
          <p:cNvPr id="535" name="">
            <a:extLst xmlns:a="http://schemas.openxmlformats.org/drawingml/2006/main">
              <a:ext uri="{FF2B5EF4-FFF2-40B4-BE49-F238E27FC236}">
                <a16:creationId xmlns:a16="http://schemas.microsoft.com/office/drawing/2014/main" id="{700D96F4-2260-4818-B9A5-6364FF7A5B64}"/>
              </a:ext>
            </a:extLst>
          </p:cNvPr>
          <p:cNvSpPr>
            <a:spLocks xmlns:a="http://schemas.openxmlformats.org/drawingml/2006/main" noGrp="1"/>
          </p:cNvSpPr>
          <p:nvPr/>
        </p:nvSpPr>
        <p:spPr>
          <a:xfrm xmlns:a="http://schemas.openxmlformats.org/drawingml/2006/main">
            <a:off x="390525" y="5219700"/>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3456BF"/>
                </a:solidFill>
                <a:latin typeface="Malgun Gothic"/>
                <a:ea typeface="Malgun Gothic"/>
                <a:cs typeface="Malgun Gothic"/>
              </a:defRPr>
            </a:pPr>
            <a:r>
              <a:rPr sz="2100" b="1">
                <a:solidFill>
                  <a:srgbClr val="3456BF"/>
                </a:solidFill>
                <a:latin typeface="Malgun Gothic"/>
                <a:ea typeface="Malgun Gothic"/>
                <a:cs typeface="Malgun Gothic"/>
              </a:rPr>
              <a:t>비취인가 = 비밀취급인가</a:t>
            </a:r>
          </a:p>
        </p:txBody>
      </p:sp>
      <p:sp>
        <p:nvSpPr>
          <p:cNvPr id="536" name="">
            <a:extLst xmlns:a="http://schemas.openxmlformats.org/drawingml/2006/main">
              <a:ext uri="{FF2B5EF4-FFF2-40B4-BE49-F238E27FC236}">
                <a16:creationId xmlns:a16="http://schemas.microsoft.com/office/drawing/2014/main" id="{65180927-02A7-4DD6-8334-C115DCC0B2CE}"/>
              </a:ext>
            </a:extLst>
          </p:cNvPr>
          <p:cNvSpPr>
            <a:spLocks xmlns:a="http://schemas.openxmlformats.org/drawingml/2006/main" noGrp="1"/>
          </p:cNvSpPr>
          <p:nvPr/>
        </p:nvSpPr>
        <p:spPr>
          <a:xfrm xmlns:a="http://schemas.openxmlformats.org/drawingml/2006/main">
            <a:off x="390525" y="5762625"/>
            <a:ext cx="5334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발표의 L1~L3는 사내 문서 분류 예시</a:t>
            </a:r>
          </a:p>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국가 비밀 등급·인가 취득을 뜻하지 않음</a:t>
            </a:r>
          </a:p>
        </p:txBody>
      </p:sp>
      <p:sp>
        <p:nvSpPr>
          <p:cNvPr id="537" name="">
            <a:extLst xmlns:a="http://schemas.openxmlformats.org/drawingml/2006/main">
              <a:ext uri="{FF2B5EF4-FFF2-40B4-BE49-F238E27FC236}">
                <a16:creationId xmlns:a16="http://schemas.microsoft.com/office/drawing/2014/main" id="{1713A0E6-3CB1-438D-A9C6-65C823828110}"/>
              </a:ext>
            </a:extLst>
          </p:cNvPr>
          <p:cNvSpPr>
            <a:spLocks xmlns:a="http://schemas.openxmlformats.org/drawingml/2006/main" noGrp="1"/>
          </p:cNvSpPr>
          <p:nvPr/>
        </p:nvSpPr>
        <p:spPr>
          <a:xfrm xmlns:a="http://schemas.openxmlformats.org/drawingml/2006/main">
            <a:off x="6238875" y="5219700"/>
            <a:ext cx="552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3456BF"/>
                </a:solidFill>
                <a:latin typeface="Malgun Gothic"/>
                <a:ea typeface="Malgun Gothic"/>
                <a:cs typeface="Malgun Gothic"/>
              </a:defRPr>
            </a:pPr>
            <a:r>
              <a:rPr sz="2100" b="1">
                <a:solidFill>
                  <a:srgbClr val="3456BF"/>
                </a:solidFill>
                <a:latin typeface="Malgun Gothic"/>
                <a:ea typeface="Malgun Gothic"/>
                <a:cs typeface="Malgun Gothic"/>
              </a:rPr>
              <a:t>등급은 데이터에, 접근은 요청 조건에</a:t>
            </a:r>
          </a:p>
        </p:txBody>
      </p:sp>
      <p:sp>
        <p:nvSpPr>
          <p:cNvPr id="538" name="">
            <a:extLst xmlns:a="http://schemas.openxmlformats.org/drawingml/2006/main">
              <a:ext uri="{FF2B5EF4-FFF2-40B4-BE49-F238E27FC236}">
                <a16:creationId xmlns:a16="http://schemas.microsoft.com/office/drawing/2014/main" id="{64346F7F-4188-4AC5-8243-90F05F8CC421}"/>
              </a:ext>
            </a:extLst>
          </p:cNvPr>
          <p:cNvSpPr>
            <a:spLocks xmlns:a="http://schemas.openxmlformats.org/drawingml/2006/main" noGrp="1"/>
          </p:cNvSpPr>
          <p:nvPr/>
        </p:nvSpPr>
        <p:spPr>
          <a:xfrm xmlns:a="http://schemas.openxmlformats.org/drawingml/2006/main">
            <a:off x="6238875" y="5762625"/>
            <a:ext cx="5524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높은 직급이어도 다른 프로젝트는 거부</a:t>
            </a:r>
          </a:p>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배정·승인·유효기간 충족 시 필요한 자료 허용</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6</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한 질문에서 근거·권한·의심 구간을 연결하는 방식</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85875"/>
            <a:ext cx="11334750" cy="457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2025" b="0">
                <a:solidFill>
                  <a:srgbClr val="161C2C"/>
                </a:solidFill>
                <a:latin typeface="Malgun Gothic"/>
                <a:ea typeface="Malgun Gothic"/>
                <a:cs typeface="Malgun Gothic"/>
              </a:defRPr>
            </a:pPr>
            <a:r>
              <a:rPr sz="2025" b="0">
                <a:solidFill>
                  <a:srgbClr val="161C2C"/>
                </a:solidFill>
                <a:latin typeface="Malgun Gothic"/>
                <a:ea typeface="Malgun Gothic"/>
                <a:cs typeface="Malgun Gothic"/>
              </a:rPr>
              <a:t>설계 단계: 질문 + 공고 버전 + 회사 자료 버전을 하나의 요청으로 고정</a:t>
            </a:r>
          </a:p>
        </p:txBody>
      </p:sp>
      <p:sp>
        <p:nvSpPr>
          <p:cNvPr id="534" name="">
            <a:extLst xmlns:a="http://schemas.openxmlformats.org/drawingml/2006/main">
              <a:ext uri="{FF2B5EF4-FFF2-40B4-BE49-F238E27FC236}">
                <a16:creationId xmlns:a16="http://schemas.microsoft.com/office/drawing/2014/main" id="{7ED03C57-5802-4800-B25F-3AE7C4F12884}"/>
              </a:ext>
            </a:extLst>
          </p:cNvPr>
          <p:cNvSpPr>
            <a:spLocks xmlns:a="http://schemas.openxmlformats.org/drawingml/2006/main" noGrp="1"/>
          </p:cNvSpPr>
          <p:nvPr/>
        </p:nvSpPr>
        <p:spPr>
          <a:xfrm xmlns:a="http://schemas.openxmlformats.org/drawingml/2006/main">
            <a:off x="390525" y="2152650"/>
            <a:ext cx="3524250" cy="1981200"/>
          </a:xfrm>
          <a:prstGeom xmlns:a="http://schemas.openxmlformats.org/drawingml/2006/main" prst="rect">
            <a:avLst/>
          </a:prstGeom>
          <a:solidFill xmlns:a="http://schemas.openxmlformats.org/drawingml/2006/main">
            <a:srgbClr val="F8FAFC"/>
          </a:solidFill>
          <a:ln xmlns:a="http://schemas.openxmlformats.org/drawingml/2006/main" w="12383">
            <a:solidFill>
              <a:srgbClr val="CBD1DD"/>
            </a:solidFill>
          </a:ln>
        </p:spPr>
      </p:sp>
      <p:sp>
        <p:nvSpPr>
          <p:cNvPr id="535" name="">
            <a:extLst xmlns:a="http://schemas.openxmlformats.org/drawingml/2006/main">
              <a:ext uri="{FF2B5EF4-FFF2-40B4-BE49-F238E27FC236}">
                <a16:creationId xmlns:a16="http://schemas.microsoft.com/office/drawing/2014/main" id="{1E4EA231-78D1-4A3D-AC2B-05764BB8CC9F}"/>
              </a:ext>
            </a:extLst>
          </p:cNvPr>
          <p:cNvSpPr>
            <a:spLocks xmlns:a="http://schemas.openxmlformats.org/drawingml/2006/main" noGrp="1"/>
          </p:cNvSpPr>
          <p:nvPr/>
        </p:nvSpPr>
        <p:spPr>
          <a:xfrm xmlns:a="http://schemas.openxmlformats.org/drawingml/2006/main">
            <a:off x="533400" y="227647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B6476"/>
                </a:solidFill>
                <a:latin typeface="Malgun Gothic"/>
                <a:ea typeface="Malgun Gothic"/>
                <a:cs typeface="Malgun Gothic"/>
              </a:defRPr>
            </a:pPr>
            <a:r>
              <a:rPr sz="1275" b="0">
                <a:solidFill>
                  <a:srgbClr val="5B6476"/>
                </a:solidFill>
                <a:latin typeface="Malgun Gothic"/>
                <a:ea typeface="Malgun Gothic"/>
                <a:cs typeface="Malgun Gothic"/>
              </a:rPr>
              <a:t>서버 검색 경계</a:t>
            </a:r>
          </a:p>
        </p:txBody>
      </p:sp>
      <p:sp>
        <p:nvSpPr>
          <p:cNvPr id="536" name="">
            <a:extLst xmlns:a="http://schemas.openxmlformats.org/drawingml/2006/main">
              <a:ext uri="{FF2B5EF4-FFF2-40B4-BE49-F238E27FC236}">
                <a16:creationId xmlns:a16="http://schemas.microsoft.com/office/drawing/2014/main" id="{8C98A418-B4EA-44D7-8CB8-902779FB2E35}"/>
              </a:ext>
            </a:extLst>
          </p:cNvPr>
          <p:cNvSpPr>
            <a:spLocks xmlns:a="http://schemas.openxmlformats.org/drawingml/2006/main" noGrp="1"/>
          </p:cNvSpPr>
          <p:nvPr/>
        </p:nvSpPr>
        <p:spPr>
          <a:xfrm xmlns:a="http://schemas.openxmlformats.org/drawingml/2006/main">
            <a:off x="533400" y="26003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권한을 먼저 확인</a:t>
            </a:r>
          </a:p>
        </p:txBody>
      </p:sp>
      <p:sp>
        <p:nvSpPr>
          <p:cNvPr id="537" name="">
            <a:extLst xmlns:a="http://schemas.openxmlformats.org/drawingml/2006/main">
              <a:ext uri="{FF2B5EF4-FFF2-40B4-BE49-F238E27FC236}">
                <a16:creationId xmlns:a16="http://schemas.microsoft.com/office/drawing/2014/main" id="{21748E31-68CD-4269-A57D-393D66C551EC}"/>
              </a:ext>
            </a:extLst>
          </p:cNvPr>
          <p:cNvSpPr>
            <a:spLocks xmlns:a="http://schemas.openxmlformats.org/drawingml/2006/main" noGrp="1"/>
          </p:cNvSpPr>
          <p:nvPr/>
        </p:nvSpPr>
        <p:spPr>
          <a:xfrm xmlns:a="http://schemas.openxmlformats.org/drawingml/2006/main">
            <a:off x="533400" y="3257550"/>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회사·프로젝트·승인</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허용된 청크만 검색</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권한 밖 자료 제외</a:t>
            </a:r>
          </a:p>
        </p:txBody>
      </p:sp>
      <p:sp>
        <p:nvSpPr>
          <p:cNvPr id="538" name="">
            <a:extLst xmlns:a="http://schemas.openxmlformats.org/drawingml/2006/main">
              <a:ext uri="{FF2B5EF4-FFF2-40B4-BE49-F238E27FC236}">
                <a16:creationId xmlns:a16="http://schemas.microsoft.com/office/drawing/2014/main" id="{42808B9F-42A9-4004-9B79-4F593E39EC22}"/>
              </a:ext>
            </a:extLst>
          </p:cNvPr>
          <p:cNvSpPr>
            <a:spLocks xmlns:a="http://schemas.openxmlformats.org/drawingml/2006/main" noGrp="1"/>
          </p:cNvSpPr>
          <p:nvPr/>
        </p:nvSpPr>
        <p:spPr>
          <a:xfrm xmlns:a="http://schemas.openxmlformats.org/drawingml/2006/main">
            <a:off x="4305300" y="2152650"/>
            <a:ext cx="3524250" cy="1981200"/>
          </a:xfrm>
          <a:prstGeom xmlns:a="http://schemas.openxmlformats.org/drawingml/2006/main" prst="rect">
            <a:avLst/>
          </a:prstGeom>
          <a:solidFill xmlns:a="http://schemas.openxmlformats.org/drawingml/2006/main">
            <a:srgbClr val="F8FAFC"/>
          </a:solidFill>
          <a:ln xmlns:a="http://schemas.openxmlformats.org/drawingml/2006/main" w="12383">
            <a:solidFill>
              <a:srgbClr val="CBD1DD"/>
            </a:solidFill>
          </a:ln>
        </p:spPr>
      </p:sp>
      <p:sp>
        <p:nvSpPr>
          <p:cNvPr id="539" name="">
            <a:extLst xmlns:a="http://schemas.openxmlformats.org/drawingml/2006/main">
              <a:ext uri="{FF2B5EF4-FFF2-40B4-BE49-F238E27FC236}">
                <a16:creationId xmlns:a16="http://schemas.microsoft.com/office/drawing/2014/main" id="{F3FE8408-E7E1-4E37-A8E9-EF7DD3AE3944}"/>
              </a:ext>
            </a:extLst>
          </p:cNvPr>
          <p:cNvSpPr>
            <a:spLocks xmlns:a="http://schemas.openxmlformats.org/drawingml/2006/main" noGrp="1"/>
          </p:cNvSpPr>
          <p:nvPr/>
        </p:nvSpPr>
        <p:spPr>
          <a:xfrm xmlns:a="http://schemas.openxmlformats.org/drawingml/2006/main">
            <a:off x="4448175" y="227647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B6476"/>
                </a:solidFill>
                <a:latin typeface="Malgun Gothic"/>
                <a:ea typeface="Malgun Gothic"/>
                <a:cs typeface="Malgun Gothic"/>
              </a:defRPr>
            </a:pPr>
            <a:r>
              <a:rPr sz="1275" b="0">
                <a:solidFill>
                  <a:srgbClr val="5B6476"/>
                </a:solidFill>
                <a:latin typeface="Malgun Gothic"/>
                <a:ea typeface="Malgun Gothic"/>
                <a:cs typeface="Malgun Gothic"/>
              </a:rPr>
              <a:t>RAG + 로컬 Gemma</a:t>
            </a:r>
          </a:p>
        </p:txBody>
      </p:sp>
      <p:sp>
        <p:nvSpPr>
          <p:cNvPr id="540" name="">
            <a:extLst xmlns:a="http://schemas.openxmlformats.org/drawingml/2006/main">
              <a:ext uri="{FF2B5EF4-FFF2-40B4-BE49-F238E27FC236}">
                <a16:creationId xmlns:a16="http://schemas.microsoft.com/office/drawing/2014/main" id="{AD52227C-B2C1-4274-9810-319DA129B4E1}"/>
              </a:ext>
            </a:extLst>
          </p:cNvPr>
          <p:cNvSpPr>
            <a:spLocks xmlns:a="http://schemas.openxmlformats.org/drawingml/2006/main" noGrp="1"/>
          </p:cNvSpPr>
          <p:nvPr/>
        </p:nvSpPr>
        <p:spPr>
          <a:xfrm xmlns:a="http://schemas.openxmlformats.org/drawingml/2006/main">
            <a:off x="4448175" y="26003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근거로 답변 생성</a:t>
            </a:r>
          </a:p>
        </p:txBody>
      </p:sp>
      <p:sp>
        <p:nvSpPr>
          <p:cNvPr id="541" name="">
            <a:extLst xmlns:a="http://schemas.openxmlformats.org/drawingml/2006/main">
              <a:ext uri="{FF2B5EF4-FFF2-40B4-BE49-F238E27FC236}">
                <a16:creationId xmlns:a16="http://schemas.microsoft.com/office/drawing/2014/main" id="{48CB0953-9A08-4A47-B2D1-F4151B73120A}"/>
              </a:ext>
            </a:extLst>
          </p:cNvPr>
          <p:cNvSpPr>
            <a:spLocks xmlns:a="http://schemas.openxmlformats.org/drawingml/2006/main" noGrp="1"/>
          </p:cNvSpPr>
          <p:nvPr/>
        </p:nvSpPr>
        <p:spPr>
          <a:xfrm xmlns:a="http://schemas.openxmlformats.org/drawingml/2006/main">
            <a:off x="4448175" y="3257550"/>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원본 BGE-M3 검색</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인가 문맥으로 생성</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탐지기도 같은 문맥 사용</a:t>
            </a:r>
          </a:p>
        </p:txBody>
      </p:sp>
      <p:sp>
        <p:nvSpPr>
          <p:cNvPr id="542" name="">
            <a:extLst xmlns:a="http://schemas.openxmlformats.org/drawingml/2006/main">
              <a:ext uri="{FF2B5EF4-FFF2-40B4-BE49-F238E27FC236}">
                <a16:creationId xmlns:a16="http://schemas.microsoft.com/office/drawing/2014/main" id="{4F5D9C09-2111-4C23-9459-CCCEBB8FCCDD}"/>
              </a:ext>
            </a:extLst>
          </p:cNvPr>
          <p:cNvSpPr>
            <a:spLocks xmlns:a="http://schemas.openxmlformats.org/drawingml/2006/main" noGrp="1"/>
          </p:cNvSpPr>
          <p:nvPr/>
        </p:nvSpPr>
        <p:spPr>
          <a:xfrm xmlns:a="http://schemas.openxmlformats.org/drawingml/2006/main">
            <a:off x="8229600" y="2152650"/>
            <a:ext cx="3562350" cy="1981200"/>
          </a:xfrm>
          <a:prstGeom xmlns:a="http://schemas.openxmlformats.org/drawingml/2006/main" prst="rect">
            <a:avLst/>
          </a:prstGeom>
          <a:solidFill xmlns:a="http://schemas.openxmlformats.org/drawingml/2006/main">
            <a:srgbClr val="F8FAFC"/>
          </a:solidFill>
          <a:ln xmlns:a="http://schemas.openxmlformats.org/drawingml/2006/main" w="12383">
            <a:solidFill>
              <a:srgbClr val="CBD1DD"/>
            </a:solidFill>
          </a:ln>
        </p:spPr>
      </p:sp>
      <p:sp>
        <p:nvSpPr>
          <p:cNvPr id="543" name="">
            <a:extLst xmlns:a="http://schemas.openxmlformats.org/drawingml/2006/main">
              <a:ext uri="{FF2B5EF4-FFF2-40B4-BE49-F238E27FC236}">
                <a16:creationId xmlns:a16="http://schemas.microsoft.com/office/drawing/2014/main" id="{C7643233-3D2B-4140-B87D-4FECE66103CF}"/>
              </a:ext>
            </a:extLst>
          </p:cNvPr>
          <p:cNvSpPr>
            <a:spLocks xmlns:a="http://schemas.openxmlformats.org/drawingml/2006/main" noGrp="1"/>
          </p:cNvSpPr>
          <p:nvPr/>
        </p:nvSpPr>
        <p:spPr>
          <a:xfrm xmlns:a="http://schemas.openxmlformats.org/drawingml/2006/main">
            <a:off x="8372475" y="2276475"/>
            <a:ext cx="3276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B6476"/>
                </a:solidFill>
                <a:latin typeface="Malgun Gothic"/>
                <a:ea typeface="Malgun Gothic"/>
                <a:cs typeface="Malgun Gothic"/>
              </a:defRPr>
            </a:pPr>
            <a:r>
              <a:rPr sz="1275" b="0">
                <a:solidFill>
                  <a:srgbClr val="5B6476"/>
                </a:solidFill>
                <a:latin typeface="Malgun Gothic"/>
                <a:ea typeface="Malgun Gothic"/>
                <a:cs typeface="Malgun Gothic"/>
              </a:rPr>
              <a:t>근거 + 의심 구간</a:t>
            </a:r>
          </a:p>
        </p:txBody>
      </p:sp>
      <p:sp>
        <p:nvSpPr>
          <p:cNvPr id="544" name="">
            <a:extLst xmlns:a="http://schemas.openxmlformats.org/drawingml/2006/main">
              <a:ext uri="{FF2B5EF4-FFF2-40B4-BE49-F238E27FC236}">
                <a16:creationId xmlns:a16="http://schemas.microsoft.com/office/drawing/2014/main" id="{530AD2C4-D911-4111-B915-116E309C6F73}"/>
              </a:ext>
            </a:extLst>
          </p:cNvPr>
          <p:cNvSpPr>
            <a:spLocks xmlns:a="http://schemas.openxmlformats.org/drawingml/2006/main" noGrp="1"/>
          </p:cNvSpPr>
          <p:nvPr/>
        </p:nvSpPr>
        <p:spPr>
          <a:xfrm xmlns:a="http://schemas.openxmlformats.org/drawingml/2006/main">
            <a:off x="8372475" y="2600325"/>
            <a:ext cx="327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검토 결과 표시</a:t>
            </a:r>
          </a:p>
        </p:txBody>
      </p:sp>
      <p:sp>
        <p:nvSpPr>
          <p:cNvPr id="545" name="">
            <a:extLst xmlns:a="http://schemas.openxmlformats.org/drawingml/2006/main">
              <a:ext uri="{FF2B5EF4-FFF2-40B4-BE49-F238E27FC236}">
                <a16:creationId xmlns:a16="http://schemas.microsoft.com/office/drawing/2014/main" id="{E25C69A3-2735-453A-A8EA-4F91BFD3612E}"/>
              </a:ext>
            </a:extLst>
          </p:cNvPr>
          <p:cNvSpPr>
            <a:spLocks xmlns:a="http://schemas.openxmlformats.org/drawingml/2006/main" noGrp="1"/>
          </p:cNvSpPr>
          <p:nvPr/>
        </p:nvSpPr>
        <p:spPr>
          <a:xfrm xmlns:a="http://schemas.openxmlformats.org/drawingml/2006/main">
            <a:off x="8372475" y="3257550"/>
            <a:ext cx="3276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학습 탐지와 규칙 분리</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원문·인용 위치 연결</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자료 부족 시 판단 보류</a:t>
            </a:r>
          </a:p>
        </p:txBody>
      </p:sp>
      <p:cxnSp>
        <p:nvCxnSpPr>
          <p:cNvPr id="567" name=""/>
          <p:cNvCxnSpPr>
            <a:stCxn xmlns:a="http://schemas.openxmlformats.org/drawingml/2006/main" id="534" idx="3"/>
            <a:endCxn xmlns:a="http://schemas.openxmlformats.org/drawingml/2006/main" id="538" idx="1"/>
          </p:cNvCxnSpPr>
          <p:nvPr/>
        </p:nvCxnSpPr>
        <p:spPr>
          <a:xfrm xmlns:a="http://schemas.openxmlformats.org/drawingml/2006/main">
            <a:off x="3914775" y="3143250"/>
            <a:ext cx="390525" cy="0"/>
          </a:xfrm>
          <a:prstGeom xmlns:a="http://schemas.openxmlformats.org/drawingml/2006/main" prst="straightConnector1">
            <a:avLst/>
          </a:prstGeom>
          <a:ln xmlns:a="http://schemas.openxmlformats.org/drawingml/2006/main" w="19050">
            <a:solidFill>
              <a:srgbClr val="3456BF"/>
            </a:solidFill>
            <a:tailEnd type="triangle" w="sm" len="sm"/>
          </a:ln>
        </p:spPr>
      </p:cxnSp>
      <p:cxnSp>
        <p:nvCxnSpPr>
          <p:cNvPr id="568" name=""/>
          <p:cNvCxnSpPr>
            <a:stCxn xmlns:a="http://schemas.openxmlformats.org/drawingml/2006/main" id="538" idx="3"/>
            <a:endCxn xmlns:a="http://schemas.openxmlformats.org/drawingml/2006/main" id="542" idx="1"/>
          </p:cNvCxnSpPr>
          <p:nvPr/>
        </p:nvCxnSpPr>
        <p:spPr>
          <a:xfrm xmlns:a="http://schemas.openxmlformats.org/drawingml/2006/main">
            <a:off x="7829550" y="3143250"/>
            <a:ext cx="400050" cy="0"/>
          </a:xfrm>
          <a:prstGeom xmlns:a="http://schemas.openxmlformats.org/drawingml/2006/main" prst="straightConnector1">
            <a:avLst/>
          </a:prstGeom>
          <a:ln xmlns:a="http://schemas.openxmlformats.org/drawingml/2006/main" w="19050">
            <a:solidFill>
              <a:srgbClr val="3456BF"/>
            </a:solidFill>
            <a:tailEnd type="triangle" w="sm" len="sm"/>
          </a:ln>
        </p:spPr>
      </p:cxnSp>
      <p:sp>
        <p:nvSpPr>
          <p:cNvPr id="548" name="">
            <a:extLst xmlns:a="http://schemas.openxmlformats.org/drawingml/2006/main">
              <a:ext uri="{FF2B5EF4-FFF2-40B4-BE49-F238E27FC236}">
                <a16:creationId xmlns:a16="http://schemas.microsoft.com/office/drawing/2014/main" id="{FC4F1D20-9DD9-49C2-94EF-44B4B90153AD}"/>
              </a:ext>
            </a:extLst>
          </p:cNvPr>
          <p:cNvSpPr>
            <a:spLocks xmlns:a="http://schemas.openxmlformats.org/drawingml/2006/main" noGrp="1"/>
          </p:cNvSpPr>
          <p:nvPr/>
        </p:nvSpPr>
        <p:spPr>
          <a:xfrm xmlns:a="http://schemas.openxmlformats.org/drawingml/2006/main">
            <a:off x="390525" y="45624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3456BF"/>
                </a:solidFill>
                <a:latin typeface="Malgun Gothic"/>
                <a:ea typeface="Malgun Gothic"/>
                <a:cs typeface="Malgun Gothic"/>
              </a:defRPr>
            </a:pPr>
            <a:r>
              <a:rPr sz="2100" b="1">
                <a:solidFill>
                  <a:srgbClr val="3456BF"/>
                </a:solidFill>
                <a:latin typeface="Malgun Gothic"/>
                <a:ea typeface="Malgun Gothic"/>
                <a:cs typeface="Malgun Gothic"/>
              </a:rPr>
              <a:t>Live 연결 설계</a:t>
            </a:r>
          </a:p>
        </p:txBody>
      </p:sp>
      <p:sp>
        <p:nvSpPr>
          <p:cNvPr id="549" name="">
            <a:extLst xmlns:a="http://schemas.openxmlformats.org/drawingml/2006/main">
              <a:ext uri="{FF2B5EF4-FFF2-40B4-BE49-F238E27FC236}">
                <a16:creationId xmlns:a16="http://schemas.microsoft.com/office/drawing/2014/main" id="{B75FB7C1-12FE-47FF-9A3E-C558FB855634}"/>
              </a:ext>
            </a:extLst>
          </p:cNvPr>
          <p:cNvSpPr>
            <a:spLocks xmlns:a="http://schemas.openxmlformats.org/drawingml/2006/main" noGrp="1"/>
          </p:cNvSpPr>
          <p:nvPr/>
        </p:nvSpPr>
        <p:spPr>
          <a:xfrm xmlns:a="http://schemas.openxmlformats.org/drawingml/2006/main">
            <a:off x="390525" y="5181600"/>
            <a:ext cx="5429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FastAPI REST + POST NDJSON</a:t>
            </a:r>
          </a:p>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PostgreSQL / pgvector · 청크 ID·문서 해시</a:t>
            </a:r>
          </a:p>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원문·다운로드·그래프에도 같은 권한 적용</a:t>
            </a:r>
          </a:p>
        </p:txBody>
      </p:sp>
      <p:sp>
        <p:nvSpPr>
          <p:cNvPr id="550" name="">
            <a:extLst xmlns:a="http://schemas.openxmlformats.org/drawingml/2006/main">
              <a:ext uri="{FF2B5EF4-FFF2-40B4-BE49-F238E27FC236}">
                <a16:creationId xmlns:a16="http://schemas.microsoft.com/office/drawing/2014/main" id="{E5555300-2D9D-4632-9599-2FD75B3ED220}"/>
              </a:ext>
            </a:extLst>
          </p:cNvPr>
          <p:cNvSpPr>
            <a:spLocks xmlns:a="http://schemas.openxmlformats.org/drawingml/2006/main" noGrp="1"/>
          </p:cNvSpPr>
          <p:nvPr/>
        </p:nvSpPr>
        <p:spPr>
          <a:xfrm xmlns:a="http://schemas.openxmlformats.org/drawingml/2006/main">
            <a:off x="6238875" y="456247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3456BF"/>
                </a:solidFill>
                <a:latin typeface="Malgun Gothic"/>
                <a:ea typeface="Malgun Gothic"/>
                <a:cs typeface="Malgun Gothic"/>
              </a:defRPr>
            </a:pPr>
            <a:r>
              <a:rPr sz="2100" b="1">
                <a:solidFill>
                  <a:srgbClr val="3456BF"/>
                </a:solidFill>
                <a:latin typeface="Malgun Gothic"/>
                <a:ea typeface="Malgun Gothic"/>
                <a:cs typeface="Malgun Gothic"/>
              </a:rPr>
              <a:t>GraphRAG의 후속 역할</a:t>
            </a:r>
          </a:p>
        </p:txBody>
      </p:sp>
      <p:sp>
        <p:nvSpPr>
          <p:cNvPr id="551" name="">
            <a:extLst xmlns:a="http://schemas.openxmlformats.org/drawingml/2006/main">
              <a:ext uri="{FF2B5EF4-FFF2-40B4-BE49-F238E27FC236}">
                <a16:creationId xmlns:a16="http://schemas.microsoft.com/office/drawing/2014/main" id="{3989026E-8F96-4BDB-8AFE-7735A213A563}"/>
              </a:ext>
            </a:extLst>
          </p:cNvPr>
          <p:cNvSpPr>
            <a:spLocks xmlns:a="http://schemas.openxmlformats.org/drawingml/2006/main" noGrp="1"/>
          </p:cNvSpPr>
          <p:nvPr/>
        </p:nvSpPr>
        <p:spPr>
          <a:xfrm xmlns:a="http://schemas.openxmlformats.org/drawingml/2006/main">
            <a:off x="6238875" y="5181600"/>
            <a:ext cx="5524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요건과 증빙의 관계를 따라 검색 후보 확장</a:t>
            </a:r>
          </a:p>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확장된 노드에도 동일한 권한 검사</a:t>
            </a:r>
          </a:p>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현재 관계 검색은 실제 서비스 미연결</a:t>
            </a:r>
          </a:p>
        </p:txBody>
      </p:sp>
    </p:spTree>
    <p:extLst>
      <p:ext uri="{BB962C8B-B14F-4D97-AF65-F5344CB8AC3E}">
        <p14:creationId xmlns:p14="http://schemas.microsoft.com/office/powerpoint/2010/main" val="5462217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7</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10월 2일 발표까지, 담당자와 제출물 중심으로 연결</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85875"/>
            <a:ext cx="11334750" cy="6477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2025" b="0">
                <a:solidFill>
                  <a:srgbClr val="161C2C"/>
                </a:solidFill>
                <a:latin typeface="Malgun Gothic"/>
                <a:ea typeface="Malgun Gothic"/>
                <a:cs typeface="Malgun Gothic"/>
              </a:defRPr>
            </a:pPr>
            <a:r>
              <a:rPr sz="2025" b="0">
                <a:solidFill>
                  <a:srgbClr val="161C2C"/>
                </a:solidFill>
                <a:latin typeface="Malgun Gothic"/>
                <a:ea typeface="Malgun Gothic"/>
                <a:cs typeface="Malgun Gothic"/>
              </a:rPr>
              <a:t>최초 연결 목표: 실제 공고 1건 + 합성 기업 1곳 + 질문 5개를 사람이 검수</a:t>
            </a:r>
          </a:p>
        </p:txBody>
      </p:sp>
      <p:graphicFrame>
        <p:nvGraphicFramePr>
          <p:cNvPr id="539" name=""/>
          <p:cNvGraphicFramePr/>
          <p:nvPr/>
        </p:nvGraphicFramePr>
        <p:xfrm>
          <a:off xmlns:a="http://schemas.openxmlformats.org/drawingml/2006/main" x="390525" y="2276475"/>
          <a:ext xmlns:a="http://schemas.openxmlformats.org/drawingml/2006/main" cx="11401425" cy="3438525"/>
        </p:xfrm>
        <a:graphic xmlns:a="http://schemas.openxmlformats.org/drawingml/2006/main">
          <a:graphicData uri="http://schemas.openxmlformats.org/drawingml/2006/table">
            <a:tbl>
              <a:tblPr/>
              <a:tblGrid>
                <a:gridCol w="1619250"/>
                <a:gridCol w="2333625"/>
                <a:gridCol w="7448550"/>
              </a:tblGrid>
              <a:tr h="514350">
                <a:tc>
                  <a:txBody>
                    <a:bodyPr/>
                    <a:lstStyle/>
                    <a:p>
                      <a:r>
                        <a:rPr sz="1650" b="1">
                          <a:solidFill>
                            <a:srgbClr val="3456BF"/>
                          </a:solidFill>
                          <a:latin typeface="Malgun Gothic"/>
                          <a:ea typeface="Malgun Gothic"/>
                          <a:cs typeface="Malgun Gothic"/>
                        </a:rPr>
                        <a:t>기한</a:t>
                      </a:r>
                    </a:p>
                  </a:txBody>
                  <a:tcPr marL="95250" marR="95250" marT="95250" marB="85725" anchor="ctr">
                    <a:solidFill>
                      <a:srgbClr val="E8EDF9"/>
                    </a:solidFill>
                  </a:tcPr>
                </a:tc>
                <a:tc>
                  <a:txBody>
                    <a:bodyPr/>
                    <a:lstStyle/>
                    <a:p>
                      <a:r>
                        <a:rPr sz="1650" b="1">
                          <a:solidFill>
                            <a:srgbClr val="3456BF"/>
                          </a:solidFill>
                          <a:latin typeface="Malgun Gothic"/>
                          <a:ea typeface="Malgun Gothic"/>
                          <a:cs typeface="Malgun Gothic"/>
                        </a:rPr>
                        <a:t>담당</a:t>
                      </a:r>
                    </a:p>
                  </a:txBody>
                  <a:tcPr marL="95250" marR="95250" marT="95250" marB="85725" anchor="ctr">
                    <a:solidFill>
                      <a:srgbClr val="E8EDF9"/>
                    </a:solidFill>
                  </a:tcPr>
                </a:tc>
                <a:tc>
                  <a:txBody>
                    <a:bodyPr/>
                    <a:lstStyle/>
                    <a:p>
                      <a:r>
                        <a:rPr sz="1650" b="1">
                          <a:solidFill>
                            <a:srgbClr val="3456BF"/>
                          </a:solidFill>
                          <a:latin typeface="Malgun Gothic"/>
                          <a:ea typeface="Malgun Gothic"/>
                          <a:cs typeface="Malgun Gothic"/>
                        </a:rPr>
                        <a:t>제출물 · 완료 조건</a:t>
                      </a:r>
                    </a:p>
                  </a:txBody>
                  <a:tcPr marL="95250" marR="95250" marT="95250" marB="85725" anchor="ctr">
                    <a:solidFill>
                      <a:srgbClr val="E8EDF9"/>
                    </a:solidFill>
                  </a:tcPr>
                </a:tc>
              </a:tr>
              <a:tr h="0">
                <a:tc>
                  <a:txBody>
                    <a:bodyPr/>
                    <a:lstStyle/>
                    <a:p>
                      <a:r>
                        <a:rPr sz="1650">
                          <a:solidFill>
                            <a:srgbClr val="161C2C"/>
                          </a:solidFill>
                          <a:latin typeface="Malgun Gothic"/>
                          <a:ea typeface="Malgun Gothic"/>
                          <a:cs typeface="Malgun Gothic"/>
                        </a:rPr>
                        <a:t>9/13~19</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전원 / 팀장 / 팀원 1~3</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요건 시트 51건 · 합성 기업 5곳 검수</a:t>
                      </a:r>
                    </a:p>
                    <a:p>
                      <a:r>
                        <a:rPr sz="1650">
                          <a:solidFill>
                            <a:srgbClr val="161C2C"/>
                          </a:solidFill>
                          <a:latin typeface="Malgun Gothic"/>
                          <a:ea typeface="Malgun Gothic"/>
                          <a:cs typeface="Malgun Gothic"/>
                        </a:rPr>
                        <a:t>공고 요건과 기업 증빙을 ID·문서 버전으로 연결</a:t>
                      </a:r>
                    </a:p>
                  </a:txBody>
                  <a:tcPr marL="95250" marR="95250" marT="95250" marB="85725" anchor="ctr">
                    <a:solidFill>
                      <a:srgbClr val="F8FAFC"/>
                    </a:solidFill>
                  </a:tcPr>
                </a:tc>
              </a:tr>
              <a:tr h="0">
                <a:tc>
                  <a:txBody>
                    <a:bodyPr/>
                    <a:lstStyle/>
                    <a:p>
                      <a:r>
                        <a:rPr sz="1650">
                          <a:solidFill>
                            <a:srgbClr val="161C2C"/>
                          </a:solidFill>
                          <a:latin typeface="Malgun Gothic"/>
                          <a:ea typeface="Malgun Gothic"/>
                          <a:cs typeface="Malgun Gothic"/>
                        </a:rPr>
                        <a:t>9/18~22</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팀장 / 팀원 1</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권한 검색 + Gemma + 탐지 API</a:t>
                      </a:r>
                    </a:p>
                    <a:p>
                      <a:r>
                        <a:rPr sz="1650">
                          <a:solidFill>
                            <a:srgbClr val="161C2C"/>
                          </a:solidFill>
                          <a:latin typeface="Malgun Gothic"/>
                          <a:ea typeface="Malgun Gothic"/>
                          <a:cs typeface="Malgun Gothic"/>
                        </a:rPr>
                        <a:t>한 질문의 답변·근거·의심 구간을 같은 버전으로 반환</a:t>
                      </a:r>
                    </a:p>
                  </a:txBody>
                  <a:tcPr marL="95250" marR="95250" marT="95250" marB="85725" anchor="ctr">
                    <a:solidFill>
                      <a:srgbClr val="F8FAFC"/>
                    </a:solidFill>
                  </a:tcPr>
                </a:tc>
              </a:tr>
              <a:tr h="0">
                <a:tc>
                  <a:txBody>
                    <a:bodyPr/>
                    <a:lstStyle/>
                    <a:p>
                      <a:r>
                        <a:rPr sz="1650">
                          <a:solidFill>
                            <a:srgbClr val="161C2C"/>
                          </a:solidFill>
                          <a:latin typeface="Malgun Gothic"/>
                          <a:ea typeface="Malgun Gothic"/>
                          <a:cs typeface="Malgun Gothic"/>
                        </a:rPr>
                        <a:t>9/22~26</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팀원 4 / 팀장</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답변 스트리밍 · 원문 하이라이트 연결</a:t>
                      </a:r>
                    </a:p>
                    <a:p>
                      <a:r>
                        <a:rPr sz="1650">
                          <a:solidFill>
                            <a:srgbClr val="161C2C"/>
                          </a:solidFill>
                          <a:latin typeface="Malgun Gothic"/>
                          <a:ea typeface="Malgun Gothic"/>
                          <a:cs typeface="Malgun Gothic"/>
                        </a:rPr>
                        <a:t>무승인 차단 / 조건부 허용 / 타 회사·프로젝트 차단</a:t>
                      </a:r>
                    </a:p>
                  </a:txBody>
                  <a:tcPr marL="95250" marR="95250" marT="95250" marB="85725" anchor="ctr">
                    <a:solidFill>
                      <a:srgbClr val="F8FAFC"/>
                    </a:solidFill>
                  </a:tcPr>
                </a:tc>
              </a:tr>
              <a:tr h="0">
                <a:tc>
                  <a:txBody>
                    <a:bodyPr/>
                    <a:lstStyle/>
                    <a:p>
                      <a:r>
                        <a:rPr sz="1650">
                          <a:solidFill>
                            <a:srgbClr val="161C2C"/>
                          </a:solidFill>
                          <a:latin typeface="Malgun Gothic"/>
                          <a:ea typeface="Malgun Gothic"/>
                          <a:cs typeface="Malgun Gothic"/>
                        </a:rPr>
                        <a:t>9/27~30</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팀원 5 / 전원</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오류 사례 조정 · 발표 자료 · 시연 대본</a:t>
                      </a:r>
                    </a:p>
                    <a:p>
                      <a:r>
                        <a:rPr sz="1650">
                          <a:solidFill>
                            <a:srgbClr val="161C2C"/>
                          </a:solidFill>
                          <a:latin typeface="Malgun Gothic"/>
                          <a:ea typeface="Malgun Gothic"/>
                          <a:cs typeface="Malgun Gothic"/>
                        </a:rPr>
                        <a:t>동일한 시나리오를 리허설에서 재현</a:t>
                      </a:r>
                    </a:p>
                  </a:txBody>
                  <a:tcPr marL="95250" marR="95250" marT="95250" marB="85725" anchor="ctr">
                    <a:solidFill>
                      <a:srgbClr val="F8FAFC"/>
                    </a:solidFill>
                  </a:tcPr>
                </a:tc>
              </a:tr>
              <a:tr h="0">
                <a:tc>
                  <a:txBody>
                    <a:bodyPr/>
                    <a:lstStyle/>
                    <a:p>
                      <a:r>
                        <a:rPr sz="1650">
                          <a:solidFill>
                            <a:srgbClr val="161C2C"/>
                          </a:solidFill>
                          <a:latin typeface="Malgun Gothic"/>
                          <a:ea typeface="Malgun Gothic"/>
                          <a:cs typeface="Malgun Gothic"/>
                        </a:rPr>
                        <a:t>10/2</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전원</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최종 발표 · 구현 범위와 후속 과제 설명</a:t>
                      </a:r>
                    </a:p>
                  </a:txBody>
                  <a:tcPr marL="95250" marR="95250" marT="95250" marB="85725" anchor="ctr">
                    <a:solidFill>
                      <a:srgbClr val="F8FAFC"/>
                    </a:solidFill>
                  </a:tcPr>
                </a:tc>
              </a:tr>
            </a:tbl>
          </a:graphicData>
        </a:graphic>
      </p:graphicFrame>
      <p:sp>
        <p:nvSpPr>
          <p:cNvPr id="535" name="">
            <a:extLst xmlns:a="http://schemas.openxmlformats.org/drawingml/2006/main">
              <a:ext uri="{FF2B5EF4-FFF2-40B4-BE49-F238E27FC236}">
                <a16:creationId xmlns:a16="http://schemas.microsoft.com/office/drawing/2014/main" id="{E7B98790-D221-4DEC-8B1A-C0F67EF0F019}"/>
              </a:ext>
            </a:extLst>
          </p:cNvPr>
          <p:cNvSpPr>
            <a:spLocks xmlns:a="http://schemas.openxmlformats.org/drawingml/2006/main" noGrp="1"/>
          </p:cNvSpPr>
          <p:nvPr/>
        </p:nvSpPr>
        <p:spPr>
          <a:xfrm xmlns:a="http://schemas.openxmlformats.org/drawingml/2006/main">
            <a:off x="390525" y="60579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B6476"/>
                </a:solidFill>
                <a:latin typeface="Malgun Gothic"/>
                <a:ea typeface="Malgun Gothic"/>
                <a:cs typeface="Malgun Gothic"/>
              </a:defRPr>
            </a:pPr>
            <a:r>
              <a:rPr sz="1575" b="0">
                <a:solidFill>
                  <a:srgbClr val="5B6476"/>
                </a:solidFill>
                <a:latin typeface="Malgun Gothic"/>
                <a:ea typeface="Malgun Gothic"/>
                <a:cs typeface="Malgun Gothic"/>
              </a:rPr>
              <a:t>일정·수량은 계획입니다. 기업 L2/L3 자료는 합성하며, 실제 인증·인가와 API 연결은 구현 예정입니다.</a:t>
            </a:r>
          </a:p>
        </p:txBody>
      </p:sp>
    </p:spTree>
    <p:extLst>
      <p:ext uri="{BB962C8B-B14F-4D97-AF65-F5344CB8AC3E}">
        <p14:creationId xmlns:p14="http://schemas.microsoft.com/office/powerpoint/2010/main" val="546221724"/>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2026-09-11T17:24:43.1900000Z</dcterms:created>
  <dcterms:modified xsi:type="dcterms:W3CDTF">2026-09-11T17:24:43.1900000Z</dcterms:modified>
</coreProperties>
</file>