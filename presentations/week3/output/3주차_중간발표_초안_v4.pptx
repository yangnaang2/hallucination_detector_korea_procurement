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44b274a6d24e1c" /><Relationship Type="http://schemas.openxmlformats.org/officeDocument/2006/relationships/extended-properties" Target="/docProps/app.xml" Id="R3c9aecba533c4764" /><Relationship Type="http://schemas.openxmlformats.org/officeDocument/2006/relationships/officeDocument" Target="/ppt/presentation.xml" Id="R10c0a703f538430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232e6fa82f94e1b"/>
  </p:sldMasterIdLst>
  <p:notesMasterIdLst>
    <p:notesMasterId xmlns:r="http://schemas.openxmlformats.org/officeDocument/2006/relationships" r:id="R59fc3ab9784447c6"/>
  </p:notesMasterIdLst>
  <p:sldIdLst>
    <p:sldId xmlns:r="http://schemas.openxmlformats.org/officeDocument/2006/relationships" id="256" r:id="R39d3d8a951b2408a"/>
    <p:sldId xmlns:r="http://schemas.openxmlformats.org/officeDocument/2006/relationships" id="257" r:id="Rd421fe0e657340bc"/>
    <p:sldId xmlns:r="http://schemas.openxmlformats.org/officeDocument/2006/relationships" id="258" r:id="Rdfef02ebf2334d6f"/>
    <p:sldId xmlns:r="http://schemas.openxmlformats.org/officeDocument/2006/relationships" id="259" r:id="R660e400676814dc6"/>
    <p:sldId xmlns:r="http://schemas.openxmlformats.org/officeDocument/2006/relationships" id="260" r:id="Rdf20bc72327f4ce4"/>
    <p:sldId xmlns:r="http://schemas.openxmlformats.org/officeDocument/2006/relationships" id="261" r:id="R2b0198bc4c474b1b"/>
    <p:sldId xmlns:r="http://schemas.openxmlformats.org/officeDocument/2006/relationships" id="262" r:id="Rb7925735b3ca432c"/>
  </p:sldIdLst>
  <p:sldSz cx="12192000" cy="6858000"/>
  <p:notesSz cx="6858000" cy="9144000"/>
  <p:embeddedFontLst>
    <p:embeddedFont>
      <p:font typeface="Lora Medium"/>
      <p:regular xmlns:r="http://schemas.openxmlformats.org/officeDocument/2006/relationships" r:id="Rdeb5c62e52c1482f"/>
      <p:italic xmlns:r="http://schemas.openxmlformats.org/officeDocument/2006/relationships" r:id="Rfd85bd87a9fc44cb"/>
    </p:embeddedFont>
    <p:embeddedFont>
      <p:font typeface="Lora SemiBold"/>
      <p:regular xmlns:r="http://schemas.openxmlformats.org/officeDocument/2006/relationships" r:id="Rdad19c30a88546be"/>
      <p:bold xmlns:r="http://schemas.openxmlformats.org/officeDocument/2006/relationships" r:id="Rbe0a06b34a884347"/>
      <p:italic xmlns:r="http://schemas.openxmlformats.org/officeDocument/2006/relationships" r:id="R87e826997c2841c0"/>
      <p:boldItalic xmlns:r="http://schemas.openxmlformats.org/officeDocument/2006/relationships" r:id="R231b0d904ffb4450"/>
    </p:embeddedFont>
    <p:embeddedFont>
      <p:font typeface="OpenAI Sans"/>
      <p:regular xmlns:r="http://schemas.openxmlformats.org/officeDocument/2006/relationships" r:id="Rd6a221b7cb5a4b60"/>
      <p:bold xmlns:r="http://schemas.openxmlformats.org/officeDocument/2006/relationships" r:id="R16664487f5db4d5e"/>
      <p:italic xmlns:r="http://schemas.openxmlformats.org/officeDocument/2006/relationships" r:id="Rff1fa085fb7240fb"/>
      <p:boldItalic xmlns:r="http://schemas.openxmlformats.org/officeDocument/2006/relationships" r:id="R14036897cdb24a22"/>
    </p:embeddedFont>
    <p:embeddedFont>
      <p:font typeface="Roboto"/>
      <p:regular xmlns:r="http://schemas.openxmlformats.org/officeDocument/2006/relationships" r:id="R3a6a4751148b43fe"/>
      <p:bold xmlns:r="http://schemas.openxmlformats.org/officeDocument/2006/relationships" r:id="Rfe81a34f58f74e3a"/>
      <p:italic xmlns:r="http://schemas.openxmlformats.org/officeDocument/2006/relationships" r:id="R66852cdfa7b941f1"/>
      <p:boldItalic xmlns:r="http://schemas.openxmlformats.org/officeDocument/2006/relationships" r:id="Rf6593f83d53d4d3d"/>
    </p:embeddedFont>
    <p:embeddedFont>
      <p:font typeface="Roboto Medium"/>
      <p:regular xmlns:r="http://schemas.openxmlformats.org/officeDocument/2006/relationships" r:id="Re9d485f0efcf422d"/>
      <p:italic xmlns:r="http://schemas.openxmlformats.org/officeDocument/2006/relationships" r:id="Rb69016dc242e415d"/>
    </p:embeddedFont>
    <p:embeddedFont>
      <p:font typeface="Roboto SemiBold"/>
      <p:regular xmlns:r="http://schemas.openxmlformats.org/officeDocument/2006/relationships" r:id="R07962850ded34b25"/>
      <p:bold xmlns:r="http://schemas.openxmlformats.org/officeDocument/2006/relationships" r:id="R4a09464d6ceb4bc0"/>
      <p:italic xmlns:r="http://schemas.openxmlformats.org/officeDocument/2006/relationships" r:id="R0e32277daae64333"/>
      <p:boldItalic xmlns:r="http://schemas.openxmlformats.org/officeDocument/2006/relationships" r:id="R83c641b2a4244cbe"/>
    </p:embeddedFont>
    <p:embeddedFont>
      <p:font typeface="Roboto Serif 14pt"/>
      <p:regular xmlns:r="http://schemas.openxmlformats.org/officeDocument/2006/relationships" r:id="R45d9a1667b154ef1"/>
      <p:bold xmlns:r="http://schemas.openxmlformats.org/officeDocument/2006/relationships" r:id="Re24501aa4b4543d6"/>
      <p:italic xmlns:r="http://schemas.openxmlformats.org/officeDocument/2006/relationships" r:id="Rce0c9b3023c0422e"/>
      <p:boldItalic xmlns:r="http://schemas.openxmlformats.org/officeDocument/2006/relationships" r:id="Ra85116619e8e47e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66adcf42e5744ee" /><Relationship Type="http://schemas.openxmlformats.org/officeDocument/2006/relationships/slideMaster" Target="/ppt/slideMasters/slideMaster1.xml" Id="R6232e6fa82f94e1b" /><Relationship Type="http://schemas.openxmlformats.org/officeDocument/2006/relationships/notesMaster" Target="/ppt/notesMasters/notesMaster1.xml" Id="R59fc3ab9784447c6" /><Relationship Type="http://schemas.openxmlformats.org/officeDocument/2006/relationships/presProps" Target="/ppt/presProps.xml" Id="Rec189912e04c45cd" /><Relationship Type="http://schemas.openxmlformats.org/officeDocument/2006/relationships/viewProps" Target="/ppt/viewProps.xml" Id="R681d9804da1c495e" /><Relationship Type="http://schemas.openxmlformats.org/officeDocument/2006/relationships/tableStyles" Target="/ppt/tableStyles.xml" Id="Ra127c5dd07ef4702" /><Relationship Type="http://schemas.openxmlformats.org/officeDocument/2006/relationships/font" Target="/ppt/fonts/font.dat" Id="Rdeb5c62e52c1482f" /><Relationship Type="http://schemas.openxmlformats.org/officeDocument/2006/relationships/font" Target="/ppt/fonts/font2.dat" Id="Rfd85bd87a9fc44cb" /><Relationship Type="http://schemas.openxmlformats.org/officeDocument/2006/relationships/font" Target="/ppt/fonts/font3.dat" Id="Rdad19c30a88546be" /><Relationship Type="http://schemas.openxmlformats.org/officeDocument/2006/relationships/font" Target="/ppt/fonts/font4.dat" Id="Rbe0a06b34a884347" /><Relationship Type="http://schemas.openxmlformats.org/officeDocument/2006/relationships/font" Target="/ppt/fonts/font5.dat" Id="R87e826997c2841c0" /><Relationship Type="http://schemas.openxmlformats.org/officeDocument/2006/relationships/font" Target="/ppt/fonts/font6.dat" Id="R231b0d904ffb4450" /><Relationship Type="http://schemas.openxmlformats.org/officeDocument/2006/relationships/font" Target="/ppt/fonts/font7.dat" Id="Rd6a221b7cb5a4b60" /><Relationship Type="http://schemas.openxmlformats.org/officeDocument/2006/relationships/font" Target="/ppt/fonts/font8.dat" Id="R16664487f5db4d5e" /><Relationship Type="http://schemas.openxmlformats.org/officeDocument/2006/relationships/font" Target="/ppt/fonts/font9.dat" Id="Rff1fa085fb7240fb" /><Relationship Type="http://schemas.openxmlformats.org/officeDocument/2006/relationships/font" Target="/ppt/fonts/font10.dat" Id="R14036897cdb24a22" /><Relationship Type="http://schemas.openxmlformats.org/officeDocument/2006/relationships/font" Target="/ppt/fonts/font11.dat" Id="R3a6a4751148b43fe" /><Relationship Type="http://schemas.openxmlformats.org/officeDocument/2006/relationships/font" Target="/ppt/fonts/font12.dat" Id="Rfe81a34f58f74e3a" /><Relationship Type="http://schemas.openxmlformats.org/officeDocument/2006/relationships/font" Target="/ppt/fonts/font13.dat" Id="R66852cdfa7b941f1" /><Relationship Type="http://schemas.openxmlformats.org/officeDocument/2006/relationships/font" Target="/ppt/fonts/font14.dat" Id="Rf6593f83d53d4d3d" /><Relationship Type="http://schemas.openxmlformats.org/officeDocument/2006/relationships/font" Target="/ppt/fonts/font15.dat" Id="Re9d485f0efcf422d" /><Relationship Type="http://schemas.openxmlformats.org/officeDocument/2006/relationships/font" Target="/ppt/fonts/font16.dat" Id="Rb69016dc242e415d" /><Relationship Type="http://schemas.openxmlformats.org/officeDocument/2006/relationships/font" Target="/ppt/fonts/font17.dat" Id="R07962850ded34b25" /><Relationship Type="http://schemas.openxmlformats.org/officeDocument/2006/relationships/font" Target="/ppt/fonts/font18.dat" Id="R4a09464d6ceb4bc0" /><Relationship Type="http://schemas.openxmlformats.org/officeDocument/2006/relationships/font" Target="/ppt/fonts/font19.dat" Id="R0e32277daae64333" /><Relationship Type="http://schemas.openxmlformats.org/officeDocument/2006/relationships/font" Target="/ppt/fonts/font20.dat" Id="R83c641b2a4244cbe" /><Relationship Type="http://schemas.openxmlformats.org/officeDocument/2006/relationships/font" Target="/ppt/fonts/font21.dat" Id="R45d9a1667b154ef1" /><Relationship Type="http://schemas.openxmlformats.org/officeDocument/2006/relationships/font" Target="/ppt/fonts/font22.dat" Id="Re24501aa4b4543d6" /><Relationship Type="http://schemas.openxmlformats.org/officeDocument/2006/relationships/font" Target="/ppt/fonts/font23.dat" Id="Rce0c9b3023c0422e" /><Relationship Type="http://schemas.openxmlformats.org/officeDocument/2006/relationships/font" Target="/ppt/fonts/font24.dat" Id="Ra85116619e8e47eb" /><Relationship Type="http://schemas.openxmlformats.org/officeDocument/2006/relationships/slide" Target="/ppt/slides/slide1.xml" Id="R39d3d8a951b2408a" /><Relationship Type="http://schemas.openxmlformats.org/officeDocument/2006/relationships/slide" Target="/ppt/slides/slide2.xml" Id="Rd421fe0e657340bc" /><Relationship Type="http://schemas.openxmlformats.org/officeDocument/2006/relationships/slide" Target="/ppt/slides/slide3.xml" Id="Rdfef02ebf2334d6f" /><Relationship Type="http://schemas.openxmlformats.org/officeDocument/2006/relationships/slide" Target="/ppt/slides/slide4.xml" Id="R660e400676814dc6" /><Relationship Type="http://schemas.openxmlformats.org/officeDocument/2006/relationships/slide" Target="/ppt/slides/slide5.xml" Id="Rdf20bc72327f4ce4" /><Relationship Type="http://schemas.openxmlformats.org/officeDocument/2006/relationships/slide" Target="/ppt/slides/slide6.xml" Id="R2b0198bc4c474b1b" /><Relationship Type="http://schemas.openxmlformats.org/officeDocument/2006/relationships/slide" Target="/ppt/slides/slide7.xml" Id="Rb7925735b3ca43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da3b3ba6fd4b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ec2ede9b1b4a57" /><Relationship Type="http://schemas.openxmlformats.org/officeDocument/2006/relationships/notesMaster" Target="/ppt/notesMasters/notesMaster1.xml" Id="R00e5d5801bb148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bb3c64d1d14717" /><Relationship Type="http://schemas.openxmlformats.org/officeDocument/2006/relationships/notesMaster" Target="/ppt/notesMasters/notesMaster1.xml" Id="R0b6a2555b36247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d7919fdb4c4686" /><Relationship Type="http://schemas.openxmlformats.org/officeDocument/2006/relationships/notesMaster" Target="/ppt/notesMasters/notesMaster1.xml" Id="Rd57eb055e7b14c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19fd4e01e2495c" /><Relationship Type="http://schemas.openxmlformats.org/officeDocument/2006/relationships/notesMaster" Target="/ppt/notesMasters/notesMaster1.xml" Id="R99ab6aa85f4c41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bc97f1a0bf4b3f" /><Relationship Type="http://schemas.openxmlformats.org/officeDocument/2006/relationships/notesMaster" Target="/ppt/notesMasters/notesMaster1.xml" Id="R6a8356f213b94d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9a8a43d9714982" /><Relationship Type="http://schemas.openxmlformats.org/officeDocument/2006/relationships/notesMaster" Target="/ppt/notesMasters/notesMaster1.xml" Id="R63151db8e0e44f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625481af5541f8" /><Relationship Type="http://schemas.openxmlformats.org/officeDocument/2006/relationships/notesMaster" Target="/ppt/notesMasters/notesMaster1.xml" Id="R62f8c855c12543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0. 제목</a:t>
            </a:r>
            <a:endParaRPr/>
          </a:p>
          <a:p xmlns:a="http://schemas.openxmlformats.org/drawingml/2006/main">
            <a:r>
              <a:t/>
            </a:r>
            <a:endParaRPr/>
          </a:p>
          <a:p xmlns:a="http://schemas.openxmlformats.org/drawingml/2006/main">
            <a:r>
              <a:t>### 화면 본문</a:t>
            </a:r>
            <a:endParaRPr/>
          </a:p>
          <a:p xmlns:a="http://schemas.openxmlformats.org/drawingml/2006/main">
            <a:r>
              <a:t/>
            </a:r>
            <a:endParaRPr/>
          </a:p>
          <a:p xmlns:a="http://schemas.openxmlformats.org/drawingml/2006/main">
            <a:r>
              <a:t>**한국어 환각 탐지와 공간 시각화 기반**  </a:t>
            </a:r>
            <a:endParaRPr/>
          </a:p>
          <a:p xmlns:a="http://schemas.openxmlformats.org/drawingml/2006/main">
            <a:r>
              <a:t>**나라장터 입찰 검토 시스템**</a:t>
            </a:r>
            <a:endParaRPr/>
          </a:p>
          <a:p xmlns:a="http://schemas.openxmlformats.org/drawingml/2006/main">
            <a:r>
              <a:t/>
            </a:r>
            <a:endParaRPr/>
          </a:p>
          <a:p xmlns:a="http://schemas.openxmlformats.org/drawingml/2006/main">
            <a:r>
              <a:t>- 문서 근거를 확인하는 RAG와 ASTRA 공간 탐색 프로토타입</a:t>
            </a:r>
            <a:endParaRPr/>
          </a:p>
          <a:p xmlns:a="http://schemas.openxmlformats.org/drawingml/2006/main">
            <a:r>
              <a:t>- 포스코 AI·Big Data 아카데미 B1조 · 양진우 외 팀원 5명</a:t>
            </a:r>
            <a:endParaRPr/>
          </a:p>
          <a:p xmlns:a="http://schemas.openxmlformats.org/drawingml/2006/main">
            <a:r>
              <a:t>- 3주차 중간 보고 · 2026.09.12 기준</a:t>
            </a:r>
            <a:endParaRPr/>
          </a:p>
          <a:p xmlns:a="http://schemas.openxmlformats.org/drawingml/2006/main">
            <a:r>
              <a:t/>
            </a:r>
            <a:endParaRPr/>
          </a:p>
          <a:p xmlns:a="http://schemas.openxmlformats.org/drawingml/2006/main">
            <a:r>
              <a:t>### 발표 대본</a:t>
            </a:r>
            <a:endParaRPr/>
          </a:p>
          <a:p xmlns:a="http://schemas.openxmlformats.org/drawingml/2006/main">
            <a:r>
              <a:t/>
            </a:r>
            <a:endParaRPr/>
          </a:p>
          <a:p xmlns:a="http://schemas.openxmlformats.org/drawingml/2006/main">
            <a:r>
              <a:t>안녕하세요. B1조의 3주차 중간 보고를 시작하겠습니다. 저희 프로젝트의 핵심은 한국어 AI 답변에서 입력 문서가 뒷받침하지 않는 구절을 찾아 표시하는 것입니다. 이 탐지기를 나라장터 입찰 검토에 적용하고, 공고와 관련 문서를 공간 화면에서 탐색할 수 있도록 구성하고 있습니다. 이번 보고에서는 탐지 모델 개발과 데이터 구조화 성과, 동작하는 3D 시각화 프로토타입, 그리고 실제 검색·생성·탐지를 연결하기 위한 계획을 설명드리겠습니다.</a:t>
            </a:r>
            <a:endParaRPr/>
          </a:p>
          <a:p xmlns:a="http://schemas.openxmlformats.org/drawingml/2006/main">
            <a:r>
              <a:t/>
            </a:r>
            <a:endParaRPr/>
          </a:p>
          <a:p xmlns:a="http://schemas.openxmlformats.org/drawingml/2006/main">
            <a:r>
              <a:t>### 화면 레이아웃 구성안</a:t>
            </a:r>
            <a:endParaRPr/>
          </a:p>
          <a:p xmlns:a="http://schemas.openxmlformats.org/drawingml/2006/main">
            <a:r>
              <a:t/>
            </a:r>
            <a:endParaRPr/>
          </a:p>
          <a:p xmlns:a="http://schemas.openxmlformats.org/drawingml/2006/main">
            <a:r>
              <a:t>Business Review 표지의 밝은 배경, 파란 제목, 가로 구분선을 유지한다. 상단에 소속, 중앙에 두 줄 제목, 구분선 아래에 발표 회차와 부제를 둔다. 한국어에는 맑은 고딕을 사용한다. 제목에서 GraphRAG를 완료 기술로 내세우지 않고 후속 아키텍처에서 확장 계획으로 설명한다.</a:t>
            </a:r>
            <a:endParaRPr/>
          </a:p>
          <a:p xmlns:a="http://schemas.openxmlformats.org/drawingml/2006/main">
            <a:r>
              <a:t/>
            </a:r>
            <a:endParaRPr/>
          </a:p>
          <a:p xmlns:a="http://schemas.openxmlformats.org/drawingml/2006/main">
            <a:r>
              <a:t>### 출처 및 보충 설명</a:t>
            </a:r>
            <a:endParaRPr/>
          </a:p>
          <a:p xmlns:a="http://schemas.openxmlformats.org/drawingml/2006/main">
            <a:r>
              <a:t/>
            </a:r>
            <a:endParaRPr/>
          </a:p>
          <a:p xmlns:a="http://schemas.openxmlformats.org/drawingml/2006/main">
            <a:r>
              <a:t>- [프로젝트 진행현황](https://github.com/YangNaang2/ko-lettucedetect/blob/c6858e4/project-docs/프로젝트_진행현황_팀공유_2026-09-11.md), [업무분담](https://github.com/YangNaang2/ko-lettucedetect/blob/c6858e4/project-docs/팀원별_업무분담_2026-09-12.md)</a:t>
            </a:r>
            <a:endParaRPr/>
          </a:p>
          <a:p xmlns:a="http://schemas.openxmlformats.org/drawingml/2006/main">
            <a:r>
              <a:t>- 소속 표기는 기존 [발표자료 생성 원본](../source/발표자료_생성.py)의 표지 내용을 따른다.</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1. 추진 배경과 연구 질문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**입찰 조건의 대조와 AI 답변의 근거 확인**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실무 문제: 공고·정정·회사 증빙을 함께 읽어 참가 조건을 검토</a:t>
            </a:r>
            <a:endParaRPr/>
          </a:p>
          <a:p xmlns:a="http://schemas.openxmlformats.org/drawingml/2006/main">
            <a:pPr marL="0" lvl="0" indent="0" algn="l">
              <a:spcBef>
                <a:spcPts val="0"/>
              </a:spcBef>
              <a:spcAft>
                <a:spcPts val="0"/>
              </a:spcAft>
              <a:buNone/>
            </a:pPr>
            <a:r>
              <a:t>- 공식 사례: 입찰 취소 이의에 대한 권익위 시정권고(2019)</a:t>
            </a:r>
            <a:endParaRPr/>
          </a:p>
          <a:p xmlns:a="http://schemas.openxmlformats.org/drawingml/2006/main">
            <a:pPr marL="0" lvl="0" indent="0" algn="l">
              <a:spcBef>
                <a:spcPts val="0"/>
              </a:spcBef>
              <a:spcAft>
                <a:spcPts val="0"/>
              </a:spcAft>
              <a:buNone/>
            </a:pPr>
            <a:r>
              <a:t>- 연구 질문: 번역 데이터로 학습한 탐지기가 실제 한국어 공고에서도 의심 구절을 찾아낼 수 있는가?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접근 | 선행연구·역할 | 이번 프로젝트에서 확인할 지표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키워드·일반 RAG | 관련 문서 검색과 답변 생성 | Recall@K, Hit Rate, 지연 시간 |</a:t>
            </a:r>
            <a:endParaRPr/>
          </a:p>
          <a:p xmlns:a="http://schemas.openxmlformats.org/drawingml/2006/main">
            <a:pPr marL="0" lvl="0" indent="0" algn="l">
              <a:spcBef>
                <a:spcPts val="0"/>
              </a:spcBef>
              <a:spcAft>
                <a:spcPts val="0"/>
              </a:spcAft>
              <a:buNone/>
            </a:pPr>
            <a:r>
              <a:t>| GraphRAG | 관계·커뮤니티를 활용한 전역 질의 요약 | 관계 확장 전후 검색·근거 정확도 |</a:t>
            </a:r>
            <a:endParaRPr/>
          </a:p>
          <a:p xmlns:a="http://schemas.openxmlformats.org/drawingml/2006/main">
            <a:pPr marL="0" lvl="0" indent="0" algn="l">
              <a:spcBef>
                <a:spcPts val="0"/>
              </a:spcBef>
              <a:spcAft>
                <a:spcPts val="0"/>
              </a:spcAft>
              <a:buNone/>
            </a:pPr>
            <a:r>
              <a:t>| LettuceDetect 계열 | 문맥과 답변을 함께 읽는 구간 탐지 | 환각 클래스 P/R/F1, span F1 |</a:t>
            </a:r>
            <a:endParaRPr/>
          </a:p>
          <a:p xmlns:a="http://schemas.openxmlformats.org/drawingml/2006/main">
            <a:pPr marL="0" lvl="0" indent="0" algn="l">
              <a:spcBef>
                <a:spcPts val="0"/>
              </a:spcBef>
              <a:spcAft>
                <a:spcPts val="0"/>
              </a:spcAft>
              <a:buNone/>
            </a:pPr>
            <a:r>
              <a:t>| 우리 적용 | 한국어 탐지 + 숫자 규칙 + 원문·공간 UI | 오류 발견, 오판·보류, 검토 시간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**선행연구의 과제와 평가 단위가 달라 성능 숫자를 직접 순위화하지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입찰 담당자는 공고를 찾은 뒤에도 참가 자격, 변경된 일정, 회사 실적과 증빙을 대조해야 합니다. 국민권익위원회의 2019년 의결은 공고 입력과 제출 조건을 둘러싼 입찰 취소 분쟁에서 절차 진행을 시정권고한 사례입니다. 문서와 실제 제출 사실을 함께 읽어야 하는 문제를 보여줍니다. 다만 이 사례는 AI 사고나 분쟁 증가율을 입증하는 자료는 아닙니다.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AI로 이 업무를 지원할 때는 별도의 위험이 있습니다. RAGTruth는 검색 문맥을 제공해도 문맥에 없는 내용이나 모순된 답변이 생길 수 있음을 다룹니다. LettuceDetect와 Turk-LettuceDetect는 이를 구간 탐지와 토큰 분류 문제로 접근했습니다. 저희는 이 방법을 한국어로 구현하고 실제 나라장터 문서에서의 적용 가능성을 평가하려고 합니다. GraphRAG 연구는 문서 집합 전체를 요약하는 전역 질의에 초점이 있어, 입찰 조항 판정의 정확도를 그대로 보장하지 않습니다. 공간 화면도 문서를 탐색하는 인터페이스이며, 검토 시간 단축 효과는 별도 사용자 평가가 필요합니다.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 구성안</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템플릿의 좌측 설명·우측 비교표 구성을 사용한다. 왼쪽 약 35%에 실무 문제와 연구 질문, 오른쪽 약 60%에 편집 가능한 접근법 비교표를 둔다. 표 하단에 비교 조건의 한계를 한 줄 표시한다. 검증하지 않은 정확도 막대그래프 대신 평가 대상을 비교한다.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 및 보충 설명</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[국민권익위원회 공식 의결, 2019-10-07](https://www.acrc.go.kr/board.es?act=view&amp;bid=1010&amp;list_no=27506&amp;mid=a10504010000&amp;nPage=41&amp;tag=): 공고·제출 조건 관련 분쟁의 존재만 뒷받침한다.</a:t>
            </a:r>
            <a:endParaRPr/>
          </a:p>
          <a:p xmlns:a="http://schemas.openxmlformats.org/drawingml/2006/main">
            <a:pPr marL="0" lvl="0" indent="0" algn="l">
              <a:spcBef>
                <a:spcPts val="0"/>
              </a:spcBef>
              <a:spcAft>
                <a:spcPts val="0"/>
              </a:spcAft>
              <a:buNone/>
            </a:pPr>
            <a:r>
              <a:t>- [RAGTruth, ACL 2024](https://aclanthology.org/2024.acl-long.585/): 검색 문맥에도 지지되지 않거나 모순되는 답변 및 구간 라벨 평가.</a:t>
            </a:r>
            <a:endParaRPr/>
          </a:p>
          <a:p xmlns:a="http://schemas.openxmlformats.org/drawingml/2006/main">
            <a:pPr marL="0" lvl="0" indent="0" algn="l">
              <a:spcBef>
                <a:spcPts val="0"/>
              </a:spcBef>
              <a:spcAft>
                <a:spcPts val="0"/>
              </a:spcAft>
              <a:buNone/>
            </a:pPr>
            <a:r>
              <a:t>- [LettuceDetect, 2025](https://arxiv.org/abs/2502.17125), [Turk-LettuceDetect, 2025](https://arxiv.org/abs/2509.17671): 토큰·구간 탐지와 번역 기반 언어 확장.</a:t>
            </a:r>
            <a:endParaRPr/>
          </a:p>
          <a:p xmlns:a="http://schemas.openxmlformats.org/drawingml/2006/main">
            <a:pPr marL="0" lvl="0" indent="0" algn="l">
              <a:spcBef>
                <a:spcPts val="0"/>
              </a:spcBef>
              <a:spcAft>
                <a:spcPts val="0"/>
              </a:spcAft>
              <a:buNone/>
            </a:pPr>
            <a:r>
              <a:t>- [GraphRAG, Edge et al.](https://arxiv.org/abs/2404.16130): 그래프 색인·커뮤니티 요약과 전역 질의 평가. 입찰 판정 정확도·조항 검증 속도의 근거로 전용하지 않는다.</a:t>
            </a:r>
            <a:endParaRPr/>
          </a:p>
          <a:p xmlns:a="http://schemas.openxmlformats.org/drawingml/2006/main">
            <a:pPr marL="0" lvl="0" indent="0" algn="l">
              <a:spcBef>
                <a:spcPts val="0"/>
              </a:spcBef>
              <a:spcAft>
                <a:spcPts val="0"/>
              </a:spcAft>
              <a:buNone/>
            </a:pPr>
            <a:r>
              <a:t>- 공간 맥락의 효용, 검토 시간 단축, 규칙 결합의 효과는 **본 프로젝트의 검증 가설**이다. 국내 최초·한국어 탐지기 부재·분쟁 급증은 주장하지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2. 검색·생성·탐지와 공간 UI 아키텍처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**입력 문서와 답변을 같은 버전으로 연결**</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**수집·구조화 / 완료 범위**: 공고·첨부, 버전·SHA-256, 파싱·어댑터, SQLite 집계, 근거 청킹</a:t>
            </a:r>
            <a:endParaRPr/>
          </a:p>
          <a:p xmlns:a="http://schemas.openxmlformats.org/drawingml/2006/main">
            <a:pPr marL="0" lvl="0" indent="0" algn="l">
              <a:spcBef>
                <a:spcPts val="0"/>
              </a:spcBef>
              <a:spcAft>
                <a:spcPts val="0"/>
              </a:spcAft>
              <a:buNone/>
            </a:pPr>
            <a:r>
              <a:t>2. **검색·생성 / 연결 예정**: 회사·문서 권한 검사, 원본 BGE-M3 임베딩, PostgreSQL/pgvector, Gemma 답변</a:t>
            </a:r>
            <a:endParaRPr/>
          </a:p>
          <a:p xmlns:a="http://schemas.openxmlformats.org/drawingml/2006/main">
            <a:pPr marL="0" lvl="0" indent="0" algn="l">
              <a:spcBef>
                <a:spcPts val="0"/>
              </a:spcBef>
              <a:spcAft>
                <a:spcPts val="0"/>
              </a:spcAft>
              <a:buNone/>
            </a:pPr>
            <a:r>
              <a:t>3. **검증 / 모델 개발 완료·통합 예정**: 학습한 한국어 토큰 탐지기, 별도 숫자·기간 규칙, 인용 연결 검증</a:t>
            </a:r>
            <a:endParaRPr/>
          </a:p>
          <a:p xmlns:a="http://schemas.openxmlformats.org/drawingml/2006/main">
            <a:pPr marL="0" lvl="0" indent="0" algn="l">
              <a:spcBef>
                <a:spcPts val="0"/>
              </a:spcBef>
              <a:spcAft>
                <a:spcPts val="0"/>
              </a:spcAft>
              <a:buNone/>
            </a:pPr>
            <a:r>
              <a:t>4. **사용자 검토 / 목업 동작**: 의심 구간 표시, 근거 원문, 지도·그래프 노드 선택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Reality: MapLibre GL JS + OpenFreeMap + 공개 DEM, 건물 extrusion</a:t>
            </a:r>
            <a:endParaRPr/>
          </a:p>
          <a:p xmlns:a="http://schemas.openxmlformats.org/drawingml/2006/main">
            <a:pPr marL="0" lvl="0" indent="0" algn="l">
              <a:spcBef>
                <a:spcPts val="0"/>
              </a:spcBef>
              <a:spcAft>
                <a:spcPts val="0"/>
              </a:spcAft>
              <a:buNone/>
            </a:pPr>
            <a:r>
              <a:t>- Virtual: Three.js, 합성 도시·설비·문서 관계, 카메라 전환</a:t>
            </a:r>
            <a:endParaRPr/>
          </a:p>
          <a:p xmlns:a="http://schemas.openxmlformats.org/drawingml/2006/main">
            <a:pPr marL="0" lvl="0" indent="0" algn="l">
              <a:spcBef>
                <a:spcPts val="0"/>
              </a:spcBef>
              <a:spcAft>
                <a:spcPts val="0"/>
              </a:spcAft>
              <a:buNone/>
            </a:pPr>
            <a:r>
              <a:t>- Live 설계: FastAPI REST + POST NDJSON, 동일 snapshot·답변 해시·문자 좌표</a:t>
            </a:r>
            <a:endParaRPr/>
          </a:p>
          <a:p xmlns:a="http://schemas.openxmlformats.org/drawingml/2006/main">
            <a:pPr marL="0" lvl="0" indent="0" algn="l">
              <a:spcBef>
                <a:spcPts val="0"/>
              </a:spcBef>
              <a:spcAft>
                <a:spcPts val="0"/>
              </a:spcAft>
              <a:buNone/>
            </a:pPr>
            <a:r>
              <a:t>- GraphRAG: 출처를 가진 관계 확장 검색을 후속 구현·평가</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전체 구조는 데이터 적재와 사용자의 질문 처리로 나눕니다. 먼저 공고 차수와 첨부 해시를 보존하고, 파서 출력에 어댑터를 적용해 집계와 근거 청킹을 수행합니다. 이후 원본 BGE-M3로 검색용 임베딩을 만들고, 서버가 사용자 회사와 문서 권한을 확인한 범위에서 검색하도록 설계했습니다. 답변을 생성한 뒤에는 그 답변과 실제 제공한 검색 문맥을 학습된 탐지기에 함께 넣습니다. 검색용 BGE-M3와 토큰 분류로 학습한 BGE-M3 탐지기는 역할과 가중치가 다릅니다.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숫자·기간 대조는 별도 규칙 모듈로 다룹니다. 탐지기가 근거 조항을 자동으로 정확히 찾아준다고 보장할 수 없어 인용 ID와 원문 연결도 따로 검증합니다. 화면의 현실 모드는 현재 MapLibre이며, Mapbox는 이전 설정 기록입니다. 가상 모드는 Three.js의 합성 장면입니다. 백엔드는 FastAPI와 pgvector, NDJSON 스트리밍을 우선 연결하고, 그래프 관계를 실제 검색에 사용하는 기능은 후속 비교 실험으로 진행합니다.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 구성안</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제목과 상단 설명을 유지하고, 본문에 편집 가능한 좌우 파이프라인을 배치한다. 첫 줄은 수집·구조화, 검색·생성, 답변 검증, 사용자 검토 순이다. 각 상자에 완료·연결 예정·목업 상태를 글자로 쓴다. 두 번째 줄은 Reality/Virtual 공간 엔진과 공통 데이터 계약을 설명한다. 검색과 탐지 노드를 구분하고, 숫자 규칙은 탐지 노드 옆의 별도 항목으로 둔다. 연결선은 최종 목표 흐름을 뜻하며 통합 완료를 뜻하지 않는다고 표시한다.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 및 보충 설명</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[파이프라인 README](https://github.com/YangNaang2/ko-lettucedetect/blob/c6858e4/procurement-pipeline/README.md), [Live RAG 전환설계](https://github.com/YangNaang2/ko-lettucedetect/blob/c6858e4/demo-ui/spatial-poc/live-design/Live_RAG_전환설계.md), [contracts.ts](https://github.com/YangNaang2/ko-lettucedetect/blob/c6858e4/demo-ui/spatial-poc/live-design/contracts.ts)</a:t>
            </a:r>
            <a:endParaRPr/>
          </a:p>
          <a:p xmlns:a="http://schemas.openxmlformats.org/drawingml/2006/main">
            <a:pPr marL="0" lvl="0" indent="0" algn="l">
              <a:spcBef>
                <a:spcPts val="0"/>
              </a:spcBef>
              <a:spcAft>
                <a:spcPts val="0"/>
              </a:spcAft>
              <a:buNone/>
            </a:pPr>
            <a:r>
              <a:t>- [무료 지도 복원](https://github.com/YangNaang2/ko-lettucedetect/blob/c6858e4/demo-ui/spatial-poc/무료지도_복원.md), [META-TWIN 안내](https://github.com/YangNaang2/ko-lettucedetect/blob/c6858e4/demo-ui/spatial-poc/META_TWIN_사용안내.md), [ASTRA 안내](https://github.com/YangNaang2/ko-lettucedetect/blob/c6858e4/demo-ui/spatial-poc/ASTRA_사용안내.md)</a:t>
            </a:r>
            <a:endParaRPr/>
          </a:p>
          <a:p xmlns:a="http://schemas.openxmlformats.org/drawingml/2006/main">
            <a:pPr marL="0" lvl="0" indent="0" algn="l">
              <a:spcBef>
                <a:spcPts val="0"/>
              </a:spcBef>
              <a:spcAft>
                <a:spcPts val="0"/>
              </a:spcAft>
              <a:buNone/>
            </a:pPr>
            <a:r>
              <a:t>- 추적 구조: 공고 버전 → 문서 버전(SHA-256) → 청크(쪽·조항·문자 위치) → 엔티티 → 관계. 관계는 source_chunk_id, extraction_method, review_status를 보존하는 설계다.</a:t>
            </a:r>
            <a:endParaRPr/>
          </a:p>
          <a:p xmlns:a="http://schemas.openxmlformats.org/drawingml/2006/main">
            <a:pPr marL="0" lvl="0" indent="0" algn="l">
              <a:spcBef>
                <a:spcPts val="0"/>
              </a:spcBef>
              <a:spcAft>
                <a:spcPts val="0"/>
              </a:spcAft>
              <a:buNone/>
            </a:pPr>
            <a:r>
              <a:t>- 엔티티·관계 예시: 공고–발주기관, 공고–위치, 공고–요건, 요건–근거 청크, 회사–증빙, 과업–설비. 정형 의미·관계 적재의 실데이터 완성은 아직 확인되지 않았다.</a:t>
            </a:r>
            <a:endParaRPr/>
          </a:p>
          <a:p xmlns:a="http://schemas.openxmlformats.org/drawingml/2006/main">
            <a:pPr marL="0" lvl="0" indent="0" algn="l">
              <a:spcBef>
                <a:spcPts val="0"/>
              </a:spcBef>
              <a:spcAft>
                <a:spcPts val="0"/>
              </a:spcAft>
              <a:buNone/>
            </a:pPr>
            <a:r>
              <a:t>- 검색 전 회사 tenant와 문서 접근 권한을 함께 검사한다. L1=공개, L2=회사 내부, L3=회사 민감 자료. 원문·그래프·캐시·다운로드에도 같은 권한을 적용하는 설계다.</a:t>
            </a:r>
            <a:endParaRPr/>
          </a:p>
          <a:p xmlns:a="http://schemas.openxmlformats.org/drawingml/2006/main">
            <a:pPr marL="0" lvl="0" indent="0" algn="l">
              <a:spcBef>
                <a:spcPts val="0"/>
              </a:spcBef>
              <a:spcAft>
                <a:spcPts val="0"/>
              </a:spcAft>
              <a:buNone/>
            </a:pPr>
            <a:r>
              <a:t>- 미확인 좌표는 null로 두고 기관 주소와 실제 사업장 좌표를 구분한다. 과거 요청 응답은 AbortController와 선택 세대번호로 제거한다.</a:t>
            </a:r>
            <a:endParaRPr/>
          </a:p>
          <a:p xmlns:a="http://schemas.openxmlformats.org/drawingml/2006/main">
            <a:pPr marL="0" lvl="0" indent="0" algn="l">
              <a:spcBef>
                <a:spcPts val="0"/>
              </a:spcBef>
              <a:spcAft>
                <a:spcPts val="0"/>
              </a:spcAft>
              <a:buNone/>
            </a:pPr>
            <a:r>
              <a:t>- 최종 답변의 해시와 Unicode 문자 좌표를 검사한 뒤 하이라이트한다. 검증 실패는 환각 없음으로 표시하지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3. 데이터와 탐지 모델 준비 현황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**한국어 탐지 모델과 나라장터 적용 데이터를 준비**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**한국어 환각 탐지 / 학습·평가 완료 기록**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RAGTruth 환각 구간에 `&lt;HAL&gt;` 태그를 붙여 한국어 번역</a:t>
            </a:r>
            <a:endParaRPr/>
          </a:p>
          <a:p xmlns:a="http://schemas.openxmlformats.org/drawingml/2006/main">
            <a:pPr marL="0" lvl="0" indent="0" algn="l">
              <a:spcBef>
                <a:spcPts val="0"/>
              </a:spcBef>
              <a:spcAft>
                <a:spcPts val="0"/>
              </a:spcAft>
              <a:buNone/>
            </a:pPr>
            <a:r>
              <a:t>- 태그 검사 후 문자 위치 재계산, 이진 토큰 분류 학습</a:t>
            </a:r>
            <a:endParaRPr/>
          </a:p>
          <a:p xmlns:a="http://schemas.openxmlformats.org/drawingml/2006/main">
            <a:pPr marL="0" lvl="0" indent="0" algn="l">
              <a:spcBef>
                <a:spcPts val="0"/>
              </a:spcBef>
              <a:spcAft>
                <a:spcPts val="0"/>
              </a:spcAft>
              <a:buNone/>
            </a:pPr>
            <a:r>
              <a:t>- KLUE-RoBERTa, XLM-RoBERTa, BGE-M3 학습</a:t>
            </a:r>
            <a:endParaRPr/>
          </a:p>
          <a:p xmlns:a="http://schemas.openxmlformats.org/drawingml/2006/main">
            <a:pPr marL="0" lvl="0" indent="0" algn="l">
              <a:spcBef>
                <a:spcPts val="0"/>
              </a:spcBef>
              <a:spcAft>
                <a:spcPts val="0"/>
              </a:spcAft>
              <a:buNone/>
            </a:pPr>
            <a:r>
              <a:t>- 숫자 변조는 확인된 취약점. 나라장터 적용 성능은 평가 예정</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**나라장터 데이터 / 원본 집계 대조**</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- 4~6월 공고 행 137,745건(차수 포함), 최신 차수 124,522건</a:t>
            </a:r>
            <a:endParaRPr/>
          </a:p>
          <a:p xmlns:a="http://schemas.openxmlformats.org/drawingml/2006/main">
            <a:pPr marL="0" lvl="0" indent="0" algn="l">
              <a:spcBef>
                <a:spcPts val="0"/>
              </a:spcBef>
              <a:spcAft>
                <a:spcPts val="0"/>
              </a:spcAft>
              <a:buNone/>
            </a:pPr>
            <a:r>
              <a:t>- 정보시스템 구축·운영 선정, 표본 51건(월별 17건)</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타깃 분야 | 공고 | 완전 공고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SW 및 시스템 개발 | 2,163 | 984 |</a:t>
            </a:r>
            <a:endParaRPr/>
          </a:p>
          <a:p xmlns:a="http://schemas.openxmlformats.org/drawingml/2006/main">
            <a:pPr marL="0" lvl="0" indent="0" algn="l">
              <a:spcBef>
                <a:spcPts val="0"/>
              </a:spcBef>
              <a:spcAft>
                <a:spcPts val="0"/>
              </a:spcAft>
              <a:buNone/>
            </a:pPr>
            <a:r>
              <a:t>| 운영 및 유지관리 | 1,313 | 681 |</a:t>
            </a:r>
            <a:endParaRPr/>
          </a:p>
          <a:p xmlns:a="http://schemas.openxmlformats.org/drawingml/2006/main">
            <a:pPr marL="0" lvl="0" indent="0" algn="l">
              <a:spcBef>
                <a:spcPts val="0"/>
              </a:spcBef>
              <a:spcAft>
                <a:spcPts val="0"/>
              </a:spcAft>
              <a:buNone/>
            </a:pPr>
            <a:r>
              <a:t>| 합계 | 3,476 | 1,665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완전 공고 = 공고문 + (RFP 또는 과업·규격 문서)  </a:t>
            </a:r>
            <a:endParaRPr/>
          </a:p>
          <a:p xmlns:a="http://schemas.openxmlformats.org/drawingml/2006/main">
            <a:pPr marL="0" lvl="0" indent="0" algn="l">
              <a:spcBef>
                <a:spcPts val="0"/>
              </a:spcBef>
              <a:spcAft>
                <a:spcPts val="0"/>
              </a:spcAft>
              <a:buNone/>
            </a:pPr>
            <a:r>
              <a:t>선정 이유: 실적·인력·인증·단가의 검토 적합성. 완비율 1위는 아님.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환각 탐지와 적용 도메인 데이터는 두 개의 준비 흐름으로 진행했습니다. 첫 번째는 영어 RAGTruth의 환각 구간에 태그를 붙여 한국어로 번역하고, 태그 검사를 거쳐 문자 위치를 다시 계산한 뒤 토큰 분류기를 학습하는 과정입니다. 프로젝트 기록에는 세 인코더의 학습·평가가 완료돼 있습니다. 그러나 문맥 길이, 임계값, 슬라이딩 윈도우 조건이 서로 달라 이번 슬라이드에서는 성능 숫자를 직접 비교하지 않습니다. 자동 태그 검사도 번역 의미 보존을 입증하는 것은 아닙니다.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두 번째는 나라장터 데이터입니다. 월별 어댑터 보고서의 공고 행은 137,745건이며 최신 차수는 124,522건입니다. 분야 선정에는 파일 실재와 품질 조건을 반영한 워크스테이션 확정 CSV를 사용했습니다. 선택한 SW 개발과 운영·유지관리의 완전 공고 합계는 1,665건이고, 그중 시연 다양성을 고려해 월별 17건씩 51건을 골랐습니다. 이 표본은 모집단의 비례 평가 표본은 아닙니다.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비용은 LLM 호출 전에 Python·SQLite로 가용성과 표본을 정리하고, 선택한 근거 묶음만 전송하는 방식으로 통제합니다. 비용 절감률은 측정하지 않았습니다. 12종은 화면의 겹치는 문서 태그이고, 모든 공고가 12개 파일을 갖는다는 뜻은 아닙니다.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 구성안</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두 열 레이아웃을 사용한다. 왼쪽에는 번역·검사·학습 흐름과 확인된 한계를, 오른쪽에는 공고 모수와 타깃 분야 표를 둔다. 성능과 데이터 건수를 같은 그래프에 섞지 않는다. 하단에는 완전 공고의 정의와 선정 이유를 표시한다. 12종 전체 명칭과 스키마 매핑은 발표자 노트에 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 및 보충 설명</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[학습과정 상세](https://github.com/YangNaang2/ko-lettucedetect/blob/c6858e4/project-docs/학습과정_상세.md), [최신 팀공유](https://github.com/YangNaang2/ko-lettucedetect/blob/c6858e4/project-docs/프로젝트_진행현황_팀공유_2026-09-11.md)</a:t>
            </a:r>
            <a:endParaRPr/>
          </a:p>
          <a:p xmlns:a="http://schemas.openxmlformats.org/drawingml/2006/main">
            <a:pPr marL="0" lvl="0" indent="0" algn="l">
              <a:spcBef>
                <a:spcPts val="0"/>
              </a:spcBef>
              <a:spcAft>
                <a:spcPts val="0"/>
              </a:spcAft>
              <a:buNone/>
            </a:pPr>
            <a:r>
              <a:t>- [4월 adapt_report](https://github.com/YangNaang2/ko-lettucedetect/blob/c6858e4/project-docs/데이터현황/2026-04_워크스테이션_결과/adapt_report.json), [5월 adapt_report](https://github.com/YangNaang2/ko-lettucedetect/blob/c6858e4/project-docs/데이터현황/2026-05_워크스테이션_결과/adapt_report.json), [6월 adapt_report](https://github.com/YangNaang2/ko-lettucedetect/blob/c6858e4/project-docs/데이터현황/2026-06_워크스테이션_결과/adapt_report.json)</a:t>
            </a:r>
            <a:endParaRPr/>
          </a:p>
          <a:p xmlns:a="http://schemas.openxmlformats.org/drawingml/2006/main">
            <a:pPr marL="0" lvl="0" indent="0" algn="l">
              <a:spcBef>
                <a:spcPts val="0"/>
              </a:spcBef>
              <a:spcAft>
                <a:spcPts val="0"/>
              </a:spcAft>
              <a:buNone/>
            </a:pPr>
            <a:r>
              <a:t>- [확정 sector_report CSV](https://github.com/YangNaang2/ko-lettucedetect/blob/c6858e4/project-docs/데이터현황/2026-04to06_워크스테이션_통합_sector_report.csv), [통합현황 0절](https://github.com/YangNaang2/ko-lettucedetect/blob/c6858e4/project-docs/데이터현황/3개월_통합현황.md), [표본 목록](https://github.com/YangNaang2/ko-lettucedetect/blob/c6858e4/project-docs/표본_정보시스템/표본_목록.csv)</a:t>
            </a:r>
            <a:endParaRPr/>
          </a:p>
          <a:p xmlns:a="http://schemas.openxmlformats.org/drawingml/2006/main">
            <a:pPr marL="0" lvl="0" indent="0" algn="l">
              <a:spcBef>
                <a:spcPts val="0"/>
              </a:spcBef>
              <a:spcAft>
                <a:spcPts val="0"/>
              </a:spcAft>
              <a:buNone/>
            </a:pPr>
            <a:r>
              <a:t>- 공고 행 합: 53,153 + 40,241 + 44,351 = 137,745. 최신 차수 합: 48,033 + 36,419 + 40,070 = 124,522. 차수 포함 행 수와 고유 공고 수를 혼용하지 않는다.</a:t>
            </a:r>
            <a:endParaRPr/>
          </a:p>
          <a:p xmlns:a="http://schemas.openxmlformats.org/drawingml/2006/main">
            <a:pPr marL="0" lvl="0" indent="0" algn="l">
              <a:spcBef>
                <a:spcPts val="0"/>
              </a:spcBef>
              <a:spcAft>
                <a:spcPts val="0"/>
              </a:spcAft>
              <a:buNone/>
            </a:pPr>
            <a:r>
              <a:t>- 확정 집계: 용역 공고 50,717건 중 완전 공고 28,852건, 물품 32,673건 중 14,145건, 공사 38,839건 중 8,082건. 반올림 완비율은 각각 57%, 43%, 21%다.</a:t>
            </a:r>
            <a:endParaRPr/>
          </a:p>
          <a:p xmlns:a="http://schemas.openxmlformats.org/drawingml/2006/main">
            <a:pPr marL="0" lvl="0" indent="0" algn="l">
              <a:spcBef>
                <a:spcPts val="0"/>
              </a:spcBef>
              <a:spcAft>
                <a:spcPts val="0"/>
              </a:spcAft>
              <a:buNone/>
            </a:pPr>
            <a:r>
              <a:t>- 12종 UI 태그: **제안요청, 과업지시, 과업내용, 과업수행, 입찰공고, 규격서, 시방서, 제안서, 요구사항, 산출내역, 과업설명, RFP**. [bids.js](https://github.com/YangNaang2/ko-lettucedetect/blob/c6858e4/demo-ui/spatial-poc/dist/bids.js)의 ASTRA_DOCS 기준이다. 제안요청과 RFP는 중복될 수 있으며 공식 독립 12분류 체계가 아니다.</a:t>
            </a:r>
            <a:endParaRPr/>
          </a:p>
          <a:p xmlns:a="http://schemas.openxmlformats.org/drawingml/2006/main">
            <a:pPr marL="0" lvl="0" indent="0" algn="l">
              <a:spcBef>
                <a:spcPts val="0"/>
              </a:spcBef>
              <a:spcAft>
                <a:spcPts val="0"/>
              </a:spcAft>
              <a:buNone/>
            </a:pPr>
            <a:r>
              <a:t>- 실제 어댑터 분류: notice / rfp / spec / eval / contract / estimate / form / other. 화면의 12태그와 일대일 대응하지 않는다.</a:t>
            </a:r>
            <a:endParaRPr/>
          </a:p>
          <a:p xmlns:a="http://schemas.openxmlformats.org/drawingml/2006/main">
            <a:pPr marL="0" lvl="0" indent="0" algn="l">
              <a:spcBef>
                <a:spcPts val="0"/>
              </a:spcBef>
              <a:spcAft>
                <a:spcPts val="0"/>
              </a:spcAft>
              <a:buNone/>
            </a:pPr>
            <a:r>
              <a:t>- 청킹 구현: 기본 850자, 중첩 150자, 공고별 최대 본문 10,000자, 키워드 우선·문서별 순환 선택. 전체 조항 완전 추출을 보장하지 않는다.</a:t>
            </a:r>
            <a:endParaRPr/>
          </a:p>
          <a:p xmlns:a="http://schemas.openxmlformats.org/drawingml/2006/main">
            <a:pPr marL="0" lvl="0" indent="0" algn="l">
              <a:spcBef>
                <a:spcPts val="0"/>
              </a:spcBef>
              <a:spcAft>
                <a:spcPts val="0"/>
              </a:spcAft>
              <a:buNone/>
            </a:pPr>
            <a:r>
              <a:t>- 데이터는 조달청 나라장터 API 제공·팀 수집 범위다. 전체 공공조달 시장 또는 연간 공고 수로 외삽하지 않는다.</a:t>
            </a:r>
            <a:endParaRPr/>
          </a:p>
          <a:p xmlns:a="http://schemas.openxmlformats.org/drawingml/2006/main">
            <a:pPr marL="0" lvl="0" indent="0" algn="l">
              <a:spcBef>
                <a:spcPts val="0"/>
              </a:spcBef>
              <a:spcAft>
                <a:spcPts val="0"/>
              </a:spcAft>
              <a:buNone/>
            </a:pPr>
            <a:r>
              <a:t>- 원본 학습 eval.json 및 QC 산출물은 이 clone에 없으므로 모델 F1·AUROC·번역 통과율은 본문에서 제외했다. 이는 학습이 없었다는 뜻이 아니라 발표용 성능 수치 재검증이 남았다는 뜻이다.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4. 3단계 공간 탐색 프로토타입</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**광역·사옥·설비 시각화 동작**</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공간 단계 | 구현된 시연 동작 | 해석 범위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광역 / Macro | 현실 지도 앵커, 가상 특구의 광역 뷰 | 실제 공고 밀집도 분석은 미연결 |</a:t>
            </a:r>
            <a:endParaRPr/>
          </a:p>
          <a:p xmlns:a="http://schemas.openxmlformats.org/drawingml/2006/main">
            <a:pPr marL="0" lvl="0" indent="0" algn="l">
              <a:spcBef>
                <a:spcPts val="0"/>
              </a:spcBef>
              <a:spcAft>
                <a:spcPts val="0"/>
              </a:spcAft>
              <a:buNone/>
            </a:pPr>
            <a:r>
              <a:t>| 사옥 / Building | 카메라 보간 이동, 포탈·HUD·선택 공고 동기화 | 좌표와 사옥은 합성 시연 |</a:t>
            </a:r>
            <a:endParaRPr/>
          </a:p>
          <a:p xmlns:a="http://schemas.openxmlformats.org/drawingml/2006/main">
            <a:pPr marL="0" lvl="0" indent="0" algn="l">
              <a:spcBef>
                <a:spcPts val="0"/>
              </a:spcBef>
              <a:spcAft>
                <a:spcPts val="0"/>
              </a:spcAft>
              <a:buNone/>
            </a:pPr>
            <a:r>
              <a:t>| 설비 / Interior | 외벽 와이어프레임·투명도 변경, 선택 설비 강조 | 실제 BIM 절단·실측 설비 아님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문서·과업·설비 ID로 화면과 사전 정의 관계 그래프 연결</a:t>
            </a:r>
            <a:endParaRPr/>
          </a:p>
          <a:p xmlns:a="http://schemas.openxmlformats.org/drawingml/2006/main">
            <a:pPr marL="0" lvl="0" indent="0" algn="l">
              <a:spcBef>
                <a:spcPts val="0"/>
              </a:spcBef>
              <a:spcAft>
                <a:spcPts val="0"/>
              </a:spcAft>
              <a:buNone/>
            </a:pPr>
            <a:r>
              <a:t>- 화면의 구 L1/L2/L3 공간 표기는 보안 등급과 별개</a:t>
            </a:r>
            <a:endParaRPr/>
          </a:p>
          <a:p xmlns:a="http://schemas.openxmlformats.org/drawingml/2006/main">
            <a:pPr marL="0" lvl="0" indent="0" algn="l">
              <a:spcBef>
                <a:spcPts val="0"/>
              </a:spcBef>
              <a:spcAft>
                <a:spcPts val="0"/>
              </a:spcAft>
              <a:buNone/>
            </a:pPr>
            <a:r>
              <a:t>- 로그인·Q&amp;A·권한·실적 판정은 목업/규칙 시연, 모델 추론 미연결</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이번 주 시각화 성과는 광역에서 사옥, 사옥에서 설비로 이동하는 탐색 흐름입니다. 브라우저에서 가상 광역 화면과 사옥·설비 전환을 확인할 수 있습니다. 광역에서는 합성 특구를 둘러보고, 공고를 선택하면 카메라가 목표 사옥으로 이동하면서 HUD와 문서 관계 화면이 함께 바뀝니다. 과업이나 설비를 선택하면 외벽을 와이어프레임과 반투명 상태로 바꿔 내부 객체를 보여줍니다. 실제 건물 BIM을 자르는 기능은 아닙니다.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이전 UI에서는 공간 단계를 L1·L2·L3라고 부르지만, 앞으로 발표와 설계에서는 광역·사옥·설비로 구분하겠습니다. 문서 보안 등급 L1·L2·L3와 이름이 같아도 서로 다른 개념입니다. 화면에 보이는 금액, 기관, 회사 실적과 설비는 합성 데이터입니다. 문서와 설비 ID가 연결되는 상호작용을 구현한 성과이며, 실제 GraphRAG 추론이나 탐지 모델의 판정 결과로 설명하지 않겠습니다.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 구성안</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왼쪽에 실제 ASTRA 가상 모드의 광역 캡처를 배치한다. 오른쪽 템플릿의 세 설명 영역에 광역, 사옥, 설비 순으로 동작을 설명한다. 캡처 아래에는 반드시 **합성 데이터 기반 실제 데모 캡처**를 표시한다. UI에 남아 있는 L1/L2/L3는 기존 공간 표기라는 설명을 넣는다. 시연 때 설비 클릭 동작을 추가로 보여주는 구성을 권장한다. 슬라이드에는 화면 속 가상 숫자를 성과 지표로 확대하지 않는다.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 및 보충 설명</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[META-TWIN 안내](https://github.com/YangNaang2/ko-lettucedetect/blob/c6858e4/demo-ui/spatial-poc/META_TWIN_사용안내.md), [twin.js](https://github.com/YangNaang2/ko-lettucedetect/blob/c6858e4/demo-ui/spatial-poc/dist/twin.js), [twin-data.js](https://github.com/YangNaang2/ko-lettucedetect/blob/c6858e4/demo-ui/spatial-poc/dist/twin-data.js)</a:t>
            </a:r>
            <a:endParaRPr/>
          </a:p>
          <a:p xmlns:a="http://schemas.openxmlformats.org/drawingml/2006/main">
            <a:pPr marL="0" lvl="0" indent="0" algn="l">
              <a:spcBef>
                <a:spcPts val="0"/>
              </a:spcBef>
              <a:spcAft>
                <a:spcPts val="0"/>
              </a:spcAft>
              <a:buNone/>
            </a:pPr>
            <a:r>
              <a:t>- 캡처: [광역](source/astra_macro.png), [사옥](source/astra_building.png). 로컬 dist를 2026-09-12 브라우저에서 실행했다. 본 덱에는 광역 캡처를 사용한다.</a:t>
            </a:r>
            <a:endParaRPr/>
          </a:p>
          <a:p xmlns:a="http://schemas.openxmlformats.org/drawingml/2006/main">
            <a:pPr marL="0" lvl="0" indent="0" algn="l">
              <a:spcBef>
                <a:spcPts val="0"/>
              </a:spcBef>
              <a:spcAft>
                <a:spcPts val="0"/>
              </a:spcAft>
              <a:buNone/>
            </a:pPr>
            <a:r>
              <a:t>- InstancedMesh, 카메라 보간, 프레넬 포탈, 수요 기반 렌더링을 사용한다. FPS 달성이나 실제 설비 수량을 검증한 자료는 아니다.</a:t>
            </a:r>
            <a:endParaRPr/>
          </a:p>
          <a:p xmlns:a="http://schemas.openxmlformats.org/drawingml/2006/main">
            <a:pPr marL="0" lvl="0" indent="0" algn="l">
              <a:spcBef>
                <a:spcPts val="0"/>
              </a:spcBef>
              <a:spcAft>
                <a:spcPts val="0"/>
              </a:spcAft>
              <a:buNone/>
            </a:pPr>
            <a:r>
              <a:t>- Reality의 건물 높이 속성이 없으면 8m 대체값을 사용한다. DEM 지형 과장과 기둥 높이는 연출이며 실제 건물 높이로 해석하지 않는다.</a:t>
            </a:r>
            <a:endParaRPr/>
          </a:p>
          <a:p xmlns:a="http://schemas.openxmlformats.org/drawingml/2006/main">
            <a:pPr marL="0" lvl="0" indent="0" algn="l">
              <a:spcBef>
                <a:spcPts val="0"/>
              </a:spcBef>
              <a:spcAft>
                <a:spcPts val="0"/>
              </a:spcAft>
              <a:buNone/>
            </a:pPr>
            <a:r>
              <a:t>- 기존 가상 특구·설비 시나리오는 현재 정보시스템 구축·운영 표본과 아직 연결하지 않았다. 정보시스템 표본에 맞춘 UI 정리가 후속 작업이다.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슬라이드 5. 평가 지표와 검증 설계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본문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**탐지 성능과 업무 오판을 분리해 측정**</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평가 축 | 지표·조건 | 현재 상태 |</a:t>
            </a:r>
            <a:endParaRPr/>
          </a:p>
          <a:p xmlns:a="http://schemas.openxmlformats.org/drawingml/2006/main">
            <a:pPr marL="0" lvl="0" indent="0" algn="l">
              <a:spcBef>
                <a:spcPts val="0"/>
              </a:spcBef>
              <a:spcAft>
                <a:spcPts val="0"/>
              </a:spcAft>
              <a:buNone/>
            </a:pPr>
            <a:r>
              <a:t>|---|---|---|</a:t>
            </a:r>
            <a:endParaRPr/>
          </a:p>
          <a:p xmlns:a="http://schemas.openxmlformats.org/drawingml/2006/main">
            <a:pPr marL="0" lvl="0" indent="0" algn="l">
              <a:spcBef>
                <a:spcPts val="0"/>
              </a:spcBef>
              <a:spcAft>
                <a:spcPts val="0"/>
              </a:spcAft>
              <a:buNone/>
            </a:pPr>
            <a:r>
              <a:t>| 환각 탐지 | 환각 P/R/F1, span F1, 숫자 변조 재현율 | 기존 실험 조건 재확인, 공고 평가 예정 |</a:t>
            </a:r>
            <a:endParaRPr/>
          </a:p>
          <a:p xmlns:a="http://schemas.openxmlformats.org/drawingml/2006/main">
            <a:pPr marL="0" lvl="0" indent="0" algn="l">
              <a:spcBef>
                <a:spcPts val="0"/>
              </a:spcBef>
              <a:spcAft>
                <a:spcPts val="0"/>
              </a:spcAft>
              <a:buNone/>
            </a:pPr>
            <a:r>
              <a:t>| 검색·근거 | Recall@K, Hit Rate, 인용 청크 정확도 | 정답 근거 작성 예정 |</a:t>
            </a:r>
            <a:endParaRPr/>
          </a:p>
          <a:p xmlns:a="http://schemas.openxmlformats.org/drawingml/2006/main">
            <a:pPr marL="0" lvl="0" indent="0" algn="l">
              <a:spcBef>
                <a:spcPts val="0"/>
              </a:spcBef>
              <a:spcAft>
                <a:spcPts val="0"/>
              </a:spcAft>
              <a:buNone/>
            </a:pPr>
            <a:r>
              <a:t>| 참가 조건 판단 | 잘못된 충족 판정률, 전체 정확도, 보류율 | 0% 달성 주장 없음 |</a:t>
            </a:r>
            <a:endParaRPr/>
          </a:p>
          <a:p xmlns:a="http://schemas.openxmlformats.org/drawingml/2006/main">
            <a:pPr marL="0" lvl="0" indent="0" algn="l">
              <a:spcBef>
                <a:spcPts val="0"/>
              </a:spcBef>
              <a:spcAft>
                <a:spcPts val="0"/>
              </a:spcAft>
              <a:buNone/>
            </a:pPr>
            <a:r>
              <a:t>| 응답 성능 | 첫 토큰·전체 검증 완료 지연 p50/p95 | 실측 전 |</a:t>
            </a:r>
            <a:endParaRPr/>
          </a:p>
          <a:p xmlns:a="http://schemas.openxmlformats.org/drawingml/2006/main">
            <a:pPr marL="0" lvl="0" indent="0" algn="l">
              <a:spcBef>
                <a:spcPts val="0"/>
              </a:spcBef>
              <a:spcAft>
                <a:spcPts val="0"/>
              </a:spcAft>
              <a:buNone/>
            </a:pPr>
            <a:r>
              <a:t>| 3D·사용성 | 프레임 시간 p95, 60 FPS 목표, 검토 시간·성공률 | 목표·평가 계획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동일 공고·회사·질문으로 일반 RAG / +탐지 / +규칙 비교</a:t>
            </a:r>
            <a:endParaRPr/>
          </a:p>
          <a:p xmlns:a="http://schemas.openxmlformats.org/drawingml/2006/main">
            <a:pPr marL="0" lvl="0" indent="0" algn="l">
              <a:spcBef>
                <a:spcPts val="0"/>
              </a:spcBef>
              <a:spcAft>
                <a:spcPts val="0"/>
              </a:spcAft>
              <a:buNone/>
            </a:pPr>
            <a:r>
              <a:t>- GraphRAG 관계 확장은 구현 후 별도 비교군으로 추가</a:t>
            </a:r>
            <a:endParaRPr/>
          </a:p>
          <a:p xmlns:a="http://schemas.openxmlformats.org/drawingml/2006/main">
            <a:pPr marL="0" lvl="0" indent="0" algn="l">
              <a:spcBef>
                <a:spcPts val="0"/>
              </a:spcBef>
              <a:spcAft>
                <a:spcPts val="0"/>
              </a:spcAft>
              <a:buNone/>
            </a:pPr>
            <a:r>
              <a:t>- 계획: 질문 300개, 교차 검수 100건, 권한 차단 테스트 20개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발표 대본</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평가는 환각 탐지, 검색, 실제 업무 판단, 실행 성능을 나눠 진행합니다. 탐지기는 환각 클래스의 정밀도와 재현율, F1을 보고하며, 한국어 구간 경계 평가와 숫자 변조 유형의 재현율도 별도로 봅니다. 검색은 정답 근거가 상위 K개에 포함되는지를 측정하고, 인용이 실제 답변을 지지하는지도 확인합니다.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입찰 조건 오판은 정성 지표가 아니라 정량 지표입니다. 실제로 미충족이거나 자료가 부족한데 충족이라고 답한 비율을 따로 계산하고, 답변 보류율도 함께 보고하겠습니다. 모든 질문을 보류해서 오류만 낮추는 결과를 피하기 위해서입니다. 오류가 관측되지 않더라도 표본 수와 불확실성을 같이 제시하겠습니다.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질문 300개와 교차 검수 100건은 앞으로 수행할 평가 계획입니다. 테스트 질문을 보고 임계값을 고르지 않고 개발용 자료에서 고정한 뒤 평가합니다. 60 FPS도 목표이며, 같은 장비·해상도·장면에서 카메라 이동과 설비 전환 중 프레임 시간을 측정해야 합니다. 아직 응답 지연과 FPS 실측 성과는 없습니다.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화면 레이아웃 구성안</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표 왼쪽에는 동일 입력과 기준 고정이라는 비교 원칙을 짧게 배치하고, 오른쪽에 지표·조건·현재 상태 표를 둔다. 하단에는 평가할 데이터 규모를 계획으로 명시한다. 측정 전 셀에는 0이나 임의 숫자를 넣지 않고 실측 전·평가 예정으로 표시한다.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출처 및 보충 설명</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[업무분담](https://github.com/YangNaang2/ko-lettucedetect/blob/c6858e4/project-docs/팀원별_업무분담_2026-09-12.md), [Live RAG 설계](https://github.com/YangNaang2/ko-lettucedetect/blob/c6858e4/demo-ui/spatial-poc/live-design/Live_RAG_전환설계.md), [학습과정](https://github.com/YangNaang2/ko-lettucedetect/blob/c6858e4/project-docs/학습과정_상세.md)</a:t>
            </a:r>
            <a:endParaRPr/>
          </a:p>
          <a:p xmlns:a="http://schemas.openxmlformats.org/drawingml/2006/main">
            <a:pPr marL="0" lvl="0" indent="0" algn="l">
              <a:spcBef>
                <a:spcPts val="0"/>
              </a:spcBef>
              <a:spcAft>
                <a:spcPts val="0"/>
              </a:spcAft>
              <a:buNone/>
            </a:pPr>
            <a:r>
              <a:t>- 다음 정의는 **발표 초안의 평가 설계 제안**이며 아직 측정 결과가 아니다.</a:t>
            </a:r>
            <a:endParaRPr/>
          </a:p>
          <a:p xmlns:a="http://schemas.openxmlformats.org/drawingml/2006/main">
            <a:pPr marL="0" lvl="0" indent="0" algn="l">
              <a:spcBef>
                <a:spcPts val="0"/>
              </a:spcBef>
              <a:spcAft>
                <a:spcPts val="0"/>
              </a:spcAft>
              <a:buNone/>
            </a:pPr>
            <a:r>
              <a:t>- Recall@K: 질문별 정답 근거 집합 중 top-K에서 찾은 비율의 평균. Hit Rate@K: 하나 이상의 정답 근거를 찾은 질문 비율. K=5, 10을 후보로 두고 평가 전 고정한다.</a:t>
            </a:r>
            <a:endParaRPr/>
          </a:p>
          <a:p xmlns:a="http://schemas.openxmlformats.org/drawingml/2006/main">
            <a:pPr marL="0" lvl="0" indent="0" algn="l">
              <a:spcBef>
                <a:spcPts val="0"/>
              </a:spcBef>
              <a:spcAft>
                <a:spcPts val="0"/>
              </a:spcAft>
              <a:buNone/>
            </a:pPr>
            <a:r>
              <a:t>- 인용 청크 정확도: 제시한 인용 중 해당 답변 주장을 실제로 지지하는 인용의 비율. ID 존재 여부 검사와 의미 지지 여부 검수를 구분한다.</a:t>
            </a:r>
            <a:endParaRPr/>
          </a:p>
          <a:p xmlns:a="http://schemas.openxmlformats.org/drawingml/2006/main">
            <a:pPr marL="0" lvl="0" indent="0" algn="l">
              <a:spcBef>
                <a:spcPts val="0"/>
              </a:spcBef>
              <a:spcAft>
                <a:spcPts val="0"/>
              </a:spcAft>
              <a:buNone/>
            </a:pPr>
            <a:r>
              <a:t>- 토큰 환각 F1과 macro F1을 구분한다. Span F1은 문자 구간 정확 일치 기준을 먼저 고정하고 중첩 기준 평가는 별도 보고한다.</a:t>
            </a:r>
            <a:endParaRPr/>
          </a:p>
          <a:p xmlns:a="http://schemas.openxmlformats.org/drawingml/2006/main">
            <a:pPr marL="0" lvl="0" indent="0" algn="l">
              <a:spcBef>
                <a:spcPts val="0"/>
              </a:spcBef>
              <a:spcAft>
                <a:spcPts val="0"/>
              </a:spcAft>
              <a:buNone/>
            </a:pPr>
            <a:r>
              <a:t>- 잘못된 충족 판정률: 정답이 미충족·자료부족인 질문 중 충족으로 잘못 판정한 비율. 전체 판정 정확도와 자료부족·보류 비율을 함께 기록한다.</a:t>
            </a:r>
            <a:endParaRPr/>
          </a:p>
          <a:p xmlns:a="http://schemas.openxmlformats.org/drawingml/2006/main">
            <a:pPr marL="0" lvl="0" indent="0" algn="l">
              <a:spcBef>
                <a:spcPts val="0"/>
              </a:spcBef>
              <a:spcAft>
                <a:spcPts val="0"/>
              </a:spcAft>
              <a:buNone/>
            </a:pPr>
            <a:r>
              <a:t>- 규칙만 / 탐지만 / 결합을 같은 숫자 변조·조건 무시 사례에서 비교한다. 규칙은 단위·기준일·기간·AND/OR·예외를 포함해야 하며, 단일 수치 비교를 전체 적격성 판단으로 확장하지 않는다.</a:t>
            </a:r>
            <a:endParaRPr/>
          </a:p>
          <a:p xmlns:a="http://schemas.openxmlformats.org/drawingml/2006/main">
            <a:pPr marL="0" lvl="0" indent="0" algn="l">
              <a:spcBef>
                <a:spcPts val="0"/>
              </a:spcBef>
              <a:spcAft>
                <a:spcPts val="0"/>
              </a:spcAft>
              <a:buNone/>
            </a:pPr>
            <a:r>
              <a:t>- 공고·회사 버전, 모델·프롬프트·임계값, 검색 K, 윈도우 길이·집계 방식을 고정한다. 동종·동일 사업이 개발/평가에 섞이는 누수를 확인한다.</a:t>
            </a:r>
            <a:endParaRPr/>
          </a:p>
          <a:p xmlns:a="http://schemas.openxmlformats.org/drawingml/2006/main">
            <a:pPr marL="0" lvl="0" indent="0" algn="l">
              <a:spcBef>
                <a:spcPts val="0"/>
              </a:spcBef>
              <a:spcAft>
                <a:spcPts val="0"/>
              </a:spcAft>
              <a:buNone/>
            </a:pPr>
            <a:r>
              <a:t>- Latency: 첫 토큰까지와 탐지·인용 검증 완료까지를 분리해 p50/p95 및 실패율을 기록한다. 토큰 길이, GPU, 동시성을 함께 표기한다.</a:t>
            </a:r>
            <a:endParaRPr/>
          </a:p>
          <a:p xmlns:a="http://schemas.openxmlformats.org/drawingml/2006/main">
            <a:pPr marL="0" lvl="0" indent="0" algn="l">
              <a:spcBef>
                <a:spcPts val="0"/>
              </a:spcBef>
              <a:spcAft>
                <a:spcPts val="0"/>
              </a:spcAft>
              <a:buNone/>
            </a:pPr>
            <a:r>
              <a:t>- 3D: 실제 사용 장비, 브라우저, 해상도·DPR, 장면·카메라 경로, warm/cold 상태를 기록한다. 60 FPS는 목표이며 평균 FPS만으로 순간 끊김을 숨기지 않는다.</a:t>
            </a:r>
            <a:endParaRPr/>
          </a:p>
          <a:p xmlns:a="http://schemas.openxmlformats.org/drawingml/2006/main">
            <a:pPr marL="0" lvl="0" indent="0" algn="l">
              <a:spcBef>
                <a:spcPts val="0"/>
              </a:spcBef>
              <a:spcAft>
                <a:spcPts val="0"/>
              </a:spcAft>
              <a:buNone/>
            </a:pPr>
            <a:r>
              <a:t>- UI 시인성: 사용자가 의심 구간을 찾고 근거 문서를 열어 올바르게 답하는 과제의 성공률·시간, 색상 외 표식 식별, 키보드 접근, 주관적 읽기 편의(설계한 척도)를 평가한다.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6. 실제 공고 연결과 최종 검증 일정</a:t>
            </a:r>
          </a:p>
          <a:p xmlns:a="http://schemas.openxmlformats.org/drawingml/2006/main">
            <a:r>
              <a:t/>
            </a:r>
          </a:p>
          <a:p xmlns:a="http://schemas.openxmlformats.org/drawingml/2006/main">
            <a:r>
              <a:t>### 화면 본문</a:t>
            </a:r>
          </a:p>
          <a:p xmlns:a="http://schemas.openxmlformats.org/drawingml/2006/main">
            <a:r>
              <a:t/>
            </a:r>
          </a:p>
          <a:p xmlns:a="http://schemas.openxmlformats.org/drawingml/2006/main">
            <a:r>
              <a:t>**실제 공고의 질문·근거·답변·탐지 구간 연결**</a:t>
            </a:r>
          </a:p>
          <a:p xmlns:a="http://schemas.openxmlformats.org/drawingml/2006/main">
            <a:r>
              <a:t/>
            </a:r>
          </a:p>
          <a:p xmlns:a="http://schemas.openxmlformats.org/drawingml/2006/main">
            <a:r>
              <a:t>| 단계 | 일정·담당 | 완료 기준 |</a:t>
            </a:r>
          </a:p>
          <a:p xmlns:a="http://schemas.openxmlformats.org/drawingml/2006/main">
            <a:r>
              <a:t>|---|---|---|</a:t>
            </a:r>
          </a:p>
          <a:p xmlns:a="http://schemas.openxmlformats.org/drawingml/2006/main">
            <a:r>
              <a:t>| 요건·평가 자산 | 9/13~19, 팀장·데이터·평가 담당 | 요건 추출, 합성 기업 5곳 검수, 질문 300개 준비 |</a:t>
            </a:r>
          </a:p>
          <a:p xmlns:a="http://schemas.openxmlformats.org/drawingml/2006/main">
            <a:r>
              <a:t>| 백엔드·UI 통합 | 9/18~26, 팀장·UI·인프라 담당 | RAG·탐지 연결, NDJSON, 원문·노드 강조, 권한 차단 |</a:t>
            </a:r>
          </a:p>
          <a:p xmlns:a="http://schemas.openxmlformats.org/drawingml/2006/main">
            <a:r>
              <a:t>| 평가·발표 | 9/24~10/2, 전원 | 라벨링·교차 검수, 9/29 성능 산출, 9/30 리허설 자료 |</a:t>
            </a:r>
          </a:p>
          <a:p xmlns:a="http://schemas.openxmlformats.org/drawingml/2006/main">
            <a:r>
              <a:t/>
            </a:r>
          </a:p>
          <a:p xmlns:a="http://schemas.openxmlformats.org/drawingml/2006/main">
            <a:r>
              <a:t>- 첫 연결 기준: 실제 공고 1건 + 합성 기업 1곳 + 질문 5개를 사람이 검수</a:t>
            </a:r>
          </a:p>
          <a:p xmlns:a="http://schemas.openxmlformats.org/drawingml/2006/main">
            <a:r>
              <a:t>- 이후 질문 300개·방해 문서 400건으로 평가 범위 확장</a:t>
            </a:r>
          </a:p>
          <a:p xmlns:a="http://schemas.openxmlformats.org/drawingml/2006/main">
            <a:r>
              <a:t>- 후속 확장: GraphRAG 관계 검색 비교, 설비 모델 개선, 권한 적용 Live DB 스트리밍</a:t>
            </a:r>
          </a:p>
          <a:p xmlns:a="http://schemas.openxmlformats.org/drawingml/2006/main">
            <a:r>
              <a:t/>
            </a:r>
          </a:p>
          <a:p xmlns:a="http://schemas.openxmlformats.org/drawingml/2006/main">
            <a:r>
              <a:t>### 발표 대본</a:t>
            </a:r>
          </a:p>
          <a:p xmlns:a="http://schemas.openxmlformats.org/drawingml/2006/main">
            <a:r>
              <a:t/>
            </a:r>
          </a:p>
          <a:p xmlns:a="http://schemas.openxmlformats.org/drawingml/2006/main">
            <a:r>
              <a:t>다음 단계의 첫 목표는 실제 공고 한 건에서 질문, 검색 근거, 답변, 의심 구간이 같은 버전으로 이어지는 것입니다. 기업 한 곳과 질문 다섯 개부터 검수한 뒤 범위를 넓히겠습니다. 팀원들은 9월 13일까지 요건을 추출하고, 이를 바탕으로 가상 기업 다섯 곳과 질문 300개를 준비합니다. 기업 자료는 실제 회사 내부 자료가 아니라 합성이며, 검수 표에서 충족·미충족·자료부족이 갈리도록 설계합니다.</a:t>
            </a:r>
          </a:p>
          <a:p xmlns:a="http://schemas.openxmlformats.org/drawingml/2006/main">
            <a:r>
              <a:t/>
            </a:r>
          </a:p>
          <a:p xmlns:a="http://schemas.openxmlformats.org/drawingml/2006/main">
            <a:r>
              <a:t>팀장은 검색과 생성·탐지를 연결하고 UI 담당은 스트리밍 답변, 원문과 노드 강조, 회사 경계와 문서 권한 차단을 검증합니다. 9월 24일부터 라벨링하고 교차 검수를 거쳐 29일 성능을 산출할 계획입니다. 30일 발표 자료와 시연 대본을 정리하고 10월 2일 최종 발표를 진행합니다. GraphRAG와 설비 고도화는 이 기본 연결을 검증한 뒤 확장합니다. 최종 발표에서는 구현된 기능, 측정된 결과, 남은 한계를 구분해 보여드리겠습니다.</a:t>
            </a:r>
          </a:p>
          <a:p xmlns:a="http://schemas.openxmlformats.org/drawingml/2006/main">
            <a:r>
              <a:t/>
            </a:r>
          </a:p>
          <a:p xmlns:a="http://schemas.openxmlformats.org/drawingml/2006/main">
            <a:r>
              <a:t>### 화면 레이아웃 구성안</a:t>
            </a:r>
          </a:p>
          <a:p xmlns:a="http://schemas.openxmlformats.org/drawingml/2006/main">
            <a:r>
              <a:t/>
            </a:r>
          </a:p>
          <a:p xmlns:a="http://schemas.openxmlformats.org/drawingml/2006/main">
            <a:r>
              <a:t>템플릿의 세 시점 타임라인을 유지한다. 각 시점 위에는 일정, 아래에는 담당과 산출물·완료 기준을 적는다. 상단 짧은 문장으로 공고 1건의 연결 기준을 제시하고, 하단에는 후속 확장을 배치한다. 설비 모델·Live DB 운영 배포는 일정 확정 전 완료 예정일을 만들어 넣지 않는다.</a:t>
            </a:r>
          </a:p>
          <a:p xmlns:a="http://schemas.openxmlformats.org/drawingml/2006/main">
            <a:r>
              <a:t/>
            </a:r>
          </a:p>
          <a:p xmlns:a="http://schemas.openxmlformats.org/drawingml/2006/main">
            <a:r>
              <a:t>### 출처 및 보충 설명</a:t>
            </a:r>
          </a:p>
          <a:p xmlns:a="http://schemas.openxmlformats.org/drawingml/2006/main">
            <a:r>
              <a:t/>
            </a:r>
          </a:p>
          <a:p xmlns:a="http://schemas.openxmlformats.org/drawingml/2006/main">
            <a:r>
              <a:t>- [최신 업무분담](https://github.com/YangNaang2/ko-lettucedetect/blob/c6858e4/project-docs/팀원별_업무분담_2026-09-12.md), [팀공유 6절](https://github.com/YangNaang2/ko-lettucedetect/blob/c6858e4/project-docs/프로젝트_진행현황_팀공유_2026-09-11.md)</a:t>
            </a:r>
          </a:p>
          <a:p xmlns:a="http://schemas.openxmlformats.org/drawingml/2006/main">
            <a:r>
              <a:t>- 9/13 요건 추출: 팀원 5명, 공고 10~11건씩. 과거 절차서의 6명·8~9건 배분보다 최신 업무분담을 우선한다.</a:t>
            </a:r>
          </a:p>
          <a:p xmlns:a="http://schemas.openxmlformats.org/drawingml/2006/main">
            <a:r>
              <a:t>- 9/17: 방해 문서·OCR, 질문 유형, 라벨링 기준서. 9/19: 기업 검수·질문·화면 스펙·라벨 양식.</a:t>
            </a:r>
          </a:p>
          <a:p xmlns:a="http://schemas.openxmlformats.org/drawingml/2006/main">
            <a:r>
              <a:t>- 9/23 답변 생성, 9/26 라벨링·UI·권한 테스트, 9/28 교차 검수, 9/29 성능 산출, 9/30 자료·대본, 10/2 발표.</a:t>
            </a:r>
          </a:p>
          <a:p xmlns:a="http://schemas.openxmlformats.org/drawingml/2006/main">
            <a:r>
              <a:t>- GraphRAG API·Live DB는 설계·후속 과제다. 추출 관계의 출처·검수 상태와 스냅샷을 고정하고, 검색·다운로드·그래프까지 서버 권한을 적용한 뒤 연결한다.</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e73ee6844b42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e992e0c9f644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884d52935148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52cefc11034b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36de6f190e4a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4af332b1cd4df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6945148b2eb4d1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87ae39ef60442c5"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f603ff5ab54aed" /><Relationship Type="http://schemas.openxmlformats.org/officeDocument/2006/relationships/slideLayout" Target="/ppt/slideLayouts/slideLayout1.xml" Id="R6901ad0da83b4e94" /><Relationship Type="http://schemas.openxmlformats.org/officeDocument/2006/relationships/slideLayout" Target="/ppt/slideLayouts/slideLayout2.xml" Id="R67de46cdaf454d2a" /><Relationship Type="http://schemas.openxmlformats.org/officeDocument/2006/relationships/slideLayout" Target="/ppt/slideLayouts/slideLayout3.xml" Id="Ra82f463c80544555" /><Relationship Type="http://schemas.openxmlformats.org/officeDocument/2006/relationships/slideLayout" Target="/ppt/slideLayouts/slideLayout4.xml" Id="R4a7ddd8b46464ec5" /><Relationship Type="http://schemas.openxmlformats.org/officeDocument/2006/relationships/slideLayout" Target="/ppt/slideLayouts/slideLayout5.xml" Id="R6df23702ea2048e7" /><Relationship Type="http://schemas.openxmlformats.org/officeDocument/2006/relationships/slideLayout" Target="/ppt/slideLayouts/slideLayout6.xml" Id="R44708b01651641b9" /><Relationship Type="http://schemas.openxmlformats.org/officeDocument/2006/relationships/slideLayout" Target="/ppt/slideLayouts/slideLayout7.xml" Id="R7ea0cb3472014bbe" /><Relationship Type="http://schemas.openxmlformats.org/officeDocument/2006/relationships/slideLayout" Target="/ppt/slideLayouts/slideLayout8.xml" Id="Rdb602b185cd7485e"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01ad0da83b4e94"/>
    <p:sldLayoutId xmlns:r="http://schemas.openxmlformats.org/officeDocument/2006/relationships" id="2147483650" r:id="R67de46cdaf454d2a"/>
    <p:sldLayoutId xmlns:r="http://schemas.openxmlformats.org/officeDocument/2006/relationships" id="2147483651" r:id="Ra82f463c80544555"/>
    <p:sldLayoutId xmlns:r="http://schemas.openxmlformats.org/officeDocument/2006/relationships" id="2147483652" r:id="R4a7ddd8b46464ec5"/>
    <p:sldLayoutId xmlns:r="http://schemas.openxmlformats.org/officeDocument/2006/relationships" id="2147483653" r:id="R6df23702ea2048e7"/>
    <p:sldLayoutId xmlns:r="http://schemas.openxmlformats.org/officeDocument/2006/relationships" id="2147483654" r:id="R44708b01651641b9"/>
    <p:sldLayoutId xmlns:r="http://schemas.openxmlformats.org/officeDocument/2006/relationships" id="2147483655" r:id="R7ea0cb3472014bbe"/>
    <p:sldLayoutId xmlns:r="http://schemas.openxmlformats.org/officeDocument/2006/relationships" id="2147483656" r:id="Rdb602b185cd7485e"/>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9dddc87e97473c" /><Relationship Type="http://schemas.openxmlformats.org/officeDocument/2006/relationships/notesSlide" Target="/ppt/notesSlides/notesSlide1.xml" Id="R9c521eec0c5047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f998b21ede4be0" /><Relationship Type="http://schemas.openxmlformats.org/officeDocument/2006/relationships/notesSlide" Target="/ppt/notesSlides/notesSlide2.xml" Id="R1ce4724e0ea74f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6cae58ef18749e5" /><Relationship Type="http://schemas.openxmlformats.org/officeDocument/2006/relationships/notesSlide" Target="/ppt/notesSlides/notesSlide3.xml" Id="R8751385dc8e44a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f8f57f2b1b44e46" /><Relationship Type="http://schemas.openxmlformats.org/officeDocument/2006/relationships/notesSlide" Target="/ppt/notesSlides/notesSlide4.xml" Id="R5abfb1e9b0614f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785b9a931b42b6" /><Relationship Type="http://schemas.openxmlformats.org/officeDocument/2006/relationships/image" Target="/ppt/media/image.jpeg" Id="Ra148be4929e14790" /><Relationship Type="http://schemas.openxmlformats.org/officeDocument/2006/relationships/notesSlide" Target="/ppt/notesSlides/notesSlide5.xml" Id="Rc0e6b8283cac48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ccffe4c27af43e4" /><Relationship Type="http://schemas.openxmlformats.org/officeDocument/2006/relationships/notesSlide" Target="/ppt/notesSlides/notesSlide6.xml" Id="Rb6a83cf3c36d4d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a5e51d117cf84edd" /><Relationship Type="http://schemas.openxmlformats.org/officeDocument/2006/relationships/notesSlide" Target="/ppt/notesSlides/notesSlide7.xml" Id="R1afe54c3c77d463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706809B0-D483-45C1-B580-B57BB5CC520A}"/>
              </a:ext>
            </a:extLst>
          </p:cNvPr>
          <p:cNvSpPr>
            <a:spLocks xmlns:a="http://schemas.openxmlformats.org/drawingml/2006/main" noGrp="1"/>
          </p:cNvSpPr>
          <p:nvPr>
            <p:ph type="ctrTitle" idx="0"/>
          </p:nvPr>
        </p:nvSpPr>
        <p:spPr>
          <a:xfrm xmlns:a="http://schemas.openxmlformats.org/drawingml/2006/main">
            <a:off x="571500" y="1457325"/>
            <a:ext cx="11049000" cy="1905000"/>
          </a:xfrm>
        </p:spPr>
        <p:txBody>
          <a:bodyPr xmlns:a="http://schemas.openxmlformats.org/drawingml/2006/main" lIns="0" tIns="0" rIns="0" bIns="0" anchor="t">
            <a:noAutofit/>
          </a:bodyPr>
          <a:lstStyle xmlns:a="http://schemas.openxmlformats.org/drawingml/2006/main"/>
          <a:p xmlns:a="http://schemas.openxmlformats.org/drawingml/2006/main">
            <a:pPr marL="0" indent="0">
              <a:spcBef>
                <a:spcPts val="0"/>
              </a:spcBef>
              <a:spcAft>
                <a:spcPts val="0"/>
              </a:spcAft>
              <a:buNone/>
              <a:defRPr sz="3675" b="1">
                <a:solidFill>
                  <a:srgbClr val="3456BF"/>
                </a:solidFill>
                <a:latin typeface="Malgun Gothic"/>
                <a:ea typeface="Malgun Gothic"/>
                <a:cs typeface="Malgun Gothic"/>
              </a:defRPr>
            </a:pPr>
            <a:r>
              <a:rPr sz="3675" b="1">
                <a:solidFill>
                  <a:srgbClr val="3456BF"/>
                </a:solidFill>
                <a:latin typeface="Malgun Gothic"/>
                <a:ea typeface="Malgun Gothic"/>
                <a:cs typeface="Malgun Gothic"/>
              </a:rPr>
              <a:t>한국어 환각 탐지와 공간 시각화 기반</a:t>
            </a:r>
          </a:p>
          <a:p xmlns:a="http://schemas.openxmlformats.org/drawingml/2006/main">
            <a:pPr marL="0" indent="0">
              <a:spcBef>
                <a:spcPts val="0"/>
              </a:spcBef>
              <a:spcAft>
                <a:spcPts val="0"/>
              </a:spcAft>
              <a:buNone/>
              <a:defRPr sz="3675" b="1">
                <a:solidFill>
                  <a:srgbClr val="3456BF"/>
                </a:solidFill>
                <a:latin typeface="Malgun Gothic"/>
                <a:ea typeface="Malgun Gothic"/>
                <a:cs typeface="Malgun Gothic"/>
              </a:defRPr>
            </a:pPr>
            <a:r>
              <a:rPr sz="3675" b="1">
                <a:solidFill>
                  <a:srgbClr val="3456BF"/>
                </a:solidFill>
                <a:latin typeface="Malgun Gothic"/>
                <a:ea typeface="Malgun Gothic"/>
                <a:cs typeface="Malgun Gothic"/>
              </a:rPr>
              <a:t>나라장터 입찰 검토 시스템</a:t>
            </a:r>
          </a:p>
        </p:txBody>
      </p:sp>
      <p:sp>
        <p:nvSpPr>
          <p:cNvPr id="5" name="Subtitle 4">
            <a:extLst xmlns:a="http://schemas.openxmlformats.org/drawingml/2006/main">
              <a:ext uri="{FF2B5EF4-FFF2-40B4-BE49-F238E27FC236}">
                <a16:creationId xmlns:a16="http://schemas.microsoft.com/office/drawing/2014/main" id="{7DD11E6E-01C0-D6E4-28D7-D7F6B94AF61C}"/>
              </a:ext>
            </a:extLst>
          </p:cNvPr>
          <p:cNvSpPr>
            <a:spLocks xmlns:a="http://schemas.openxmlformats.org/drawingml/2006/main" noGrp="1"/>
          </p:cNvSpPr>
          <p:nvPr>
            <p:ph type="subTitle" idx="1"/>
          </p:nvPr>
        </p:nvSpPr>
        <p:spPr>
          <a:xfrm xmlns:a="http://schemas.openxmlformats.org/drawingml/2006/main">
            <a:off x="600075" y="5219700"/>
            <a:ext cx="10572750" cy="97155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0" indent="0">
              <a:spcBef>
                <a:spcPts val="0"/>
              </a:spcBef>
              <a:spcAft>
                <a:spcPts val="0"/>
              </a:spcAft>
              <a:buNone/>
              <a:defRPr sz="1725" b="0">
                <a:solidFill>
                  <a:srgbClr val="5B6476"/>
                </a:solidFill>
                <a:latin typeface="Malgun Gothic"/>
                <a:ea typeface="Malgun Gothic"/>
                <a:cs typeface="Malgun Gothic"/>
              </a:defRPr>
            </a:pPr>
            <a:r>
              <a:rPr sz="1725" b="0">
                <a:solidFill>
                  <a:srgbClr val="5B6476"/>
                </a:solidFill>
                <a:latin typeface="Malgun Gothic"/>
                <a:ea typeface="Malgun Gothic"/>
                <a:cs typeface="Malgun Gothic"/>
              </a:rPr>
              <a:t>문서 근거를 확인하는 RAG와 ASTRA 공간 탐색 프로토타입</a:t>
            </a:r>
          </a:p>
          <a:p xmlns:a="http://schemas.openxmlformats.org/drawingml/2006/main">
            <a:pPr marL="0" indent="0">
              <a:spcBef>
                <a:spcPts val="0"/>
              </a:spcBef>
              <a:spcAft>
                <a:spcPts val="0"/>
              </a:spcAft>
              <a:buNone/>
            </a:pPr>
            <a:r>
              <a:t/>
            </a:r>
          </a:p>
          <a:p xmlns:a="http://schemas.openxmlformats.org/drawingml/2006/main">
            <a:pPr marL="0" indent="0">
              <a:spcBef>
                <a:spcPts val="0"/>
              </a:spcBef>
              <a:spcAft>
                <a:spcPts val="0"/>
              </a:spcAft>
              <a:buNone/>
              <a:defRPr sz="1725" b="0">
                <a:solidFill>
                  <a:srgbClr val="5B6476"/>
                </a:solidFill>
                <a:latin typeface="Malgun Gothic"/>
                <a:ea typeface="Malgun Gothic"/>
                <a:cs typeface="Malgun Gothic"/>
              </a:defRPr>
            </a:pPr>
            <a:r>
              <a:rPr sz="1725" b="0">
                <a:solidFill>
                  <a:srgbClr val="5B6476"/>
                </a:solidFill>
                <a:latin typeface="Malgun Gothic"/>
                <a:ea typeface="Malgun Gothic"/>
                <a:cs typeface="Malgun Gothic"/>
              </a:rPr>
              <a:t>양진우 외 팀원 5명</a:t>
            </a:r>
          </a:p>
        </p:txBody>
      </p:sp>
      <p:sp>
        <p:nvSpPr>
          <p:cNvPr id="6" name="Subtitle 4">
            <a:extLst xmlns:a="http://schemas.openxmlformats.org/drawingml/2006/main">
              <a:ext uri="{FF2B5EF4-FFF2-40B4-BE49-F238E27FC236}">
                <a16:creationId xmlns:a16="http://schemas.microsoft.com/office/drawing/2014/main" id="{C66AB198-0518-67DE-AB81-D65264FDA20F}"/>
              </a:ext>
            </a:extLst>
          </p:cNvPr>
          <p:cNvSpPr>
            <a:spLocks xmlns:a="http://schemas.openxmlformats.org/drawingml/2006/main" noGrp="1"/>
          </p:cNvSpPr>
          <p:nvPr/>
        </p:nvSpPr>
        <p:spPr>
          <a:xfrm xmlns:a="http://schemas.openxmlformats.org/drawingml/2006/main">
            <a:off x="600075" y="4610100"/>
            <a:ext cx="10287000" cy="381000"/>
          </a:xfrm>
          <a:prstGeom xmlns:a="http://schemas.openxmlformats.org/drawingml/2006/main" prst="rect">
            <a:avLst/>
          </a:prstGeom>
          <a:noFill xmlns:a="http://schemas.openxmlformats.org/drawingml/2006/main"/>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ctr"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ctr"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4pPr>
            <a:lvl5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5pPr>
            <a:lvl6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6pPr>
            <a:lvl7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7pPr>
            <a:lvl8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8pPr>
            <a:lvl9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3주차 중간 보고 · 2026.09.12 기준</a:t>
            </a:r>
          </a:p>
        </p:txBody>
      </p:sp>
      <p:sp>
        <p:nvSpPr>
          <p:cNvPr id="10" name="Subtitle 4">
            <a:extLst xmlns:a="http://schemas.openxmlformats.org/drawingml/2006/main">
              <a:ext uri="{FF2B5EF4-FFF2-40B4-BE49-F238E27FC236}">
                <a16:creationId xmlns:a16="http://schemas.microsoft.com/office/drawing/2014/main" id="{CC2E0538-5645-7BC8-CF3A-FDF31FD97820}"/>
              </a:ext>
            </a:extLst>
          </p:cNvPr>
          <p:cNvSpPr>
            <a:spLocks xmlns:a="http://schemas.openxmlformats.org/drawingml/2006/main" noGrp="1"/>
          </p:cNvSpPr>
          <p:nvPr/>
        </p:nvSpPr>
        <p:spPr>
          <a:xfrm xmlns:a="http://schemas.openxmlformats.org/drawingml/2006/main">
            <a:off x="600075" y="552450"/>
            <a:ext cx="10001250" cy="36195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ctr"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ctr"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4pPr>
            <a:lvl5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5pPr>
            <a:lvl6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6pPr>
            <a:lvl7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7pPr>
            <a:lvl8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8pPr>
            <a:lvl9pPr marL="0" indent="0" algn="ctr" defTabSz="914400">
              <a:lnSpc>
                <a:spcPct val="90000"/>
              </a:lnSpc>
              <a:spcBef>
                <a:spcPts val="0"/>
              </a:spcBef>
              <a:spcAft>
                <a:spcPts val="0"/>
              </a:spcAft>
              <a:buFont typeface="Arial"/>
              <a:buNone/>
              <a:defRPr sz="16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00" b="0">
                <a:solidFill>
                  <a:srgbClr val="98A1B2"/>
                </a:solidFill>
                <a:latin typeface="Malgun Gothic"/>
                <a:ea typeface="Malgun Gothic"/>
                <a:cs typeface="Malgun Gothic"/>
              </a:defRPr>
            </a:pPr>
            <a:r>
              <a:rPr sz="1800" b="0">
                <a:solidFill>
                  <a:srgbClr val="98A1B2"/>
                </a:solidFill>
                <a:latin typeface="Malgun Gothic"/>
                <a:ea typeface="Malgun Gothic"/>
                <a:cs typeface="Malgun Gothic"/>
              </a:rPr>
              <a:t>포스코 AI·Big Data 아카데미 B1조</a:t>
            </a:r>
          </a:p>
        </p:txBody>
      </p:sp>
      <p:sp>
        <p:nvSpPr>
          <p:cNvPr id="7" name="Straight Connector 6">
            <a:extLst xmlns:a="http://schemas.openxmlformats.org/drawingml/2006/main">
              <a:ext uri="{FF2B5EF4-FFF2-40B4-BE49-F238E27FC236}">
                <a16:creationId xmlns:a16="http://schemas.microsoft.com/office/drawing/2014/main" id="{5F8E3DE4-302F-4C66-90EB-EE737546871F}"/>
              </a:ext>
            </a:extLst>
          </p:cNvPr>
          <p:cNvSpPr>
            <a:spLocks xmlns:a="http://schemas.openxmlformats.org/drawingml/2006/main" noGrp="1"/>
          </p:cNvSpPr>
          <p:nvPr/>
        </p:nvSpPr>
        <p:spPr>
          <a:xfrm xmlns:a="http://schemas.openxmlformats.org/drawingml/2006/main">
            <a:off x="0" y="3933825"/>
            <a:ext cx="12192000" cy="0"/>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6850885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4429360-E0B5-E472-3BCB-2FC70A04DAF5}"/>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1</a:t>
            </a:r>
          </a:p>
        </p:txBody>
      </p:sp>
      <p:sp>
        <p:nvSpPr>
          <p:cNvPr id="533" name="Google Shape;533;p58">
            <a:extLst xmlns:a="http://schemas.openxmlformats.org/drawingml/2006/main">
              <a:ext uri="{FF2B5EF4-FFF2-40B4-BE49-F238E27FC236}">
                <a16:creationId xmlns:a16="http://schemas.microsoft.com/office/drawing/2014/main" id="{3CD65521-5912-FE80-B7B5-EE9E16A1351B}"/>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입찰 조건과 AI 답변의 근거 검토</a:t>
            </a:r>
          </a:p>
        </p:txBody>
      </p:sp>
      <p:sp>
        <p:nvSpPr>
          <p:cNvPr id="7" name="Google Shape;534;p58">
            <a:extLst xmlns:a="http://schemas.openxmlformats.org/drawingml/2006/main">
              <a:ext uri="{FF2B5EF4-FFF2-40B4-BE49-F238E27FC236}">
                <a16:creationId xmlns:a16="http://schemas.microsoft.com/office/drawing/2014/main" id="{71547039-AB2A-5CA1-49F7-26E9E71601EF}"/>
              </a:ext>
            </a:extLst>
          </p:cNvPr>
          <p:cNvSpPr>
            <a:spLocks xmlns:a="http://schemas.openxmlformats.org/drawingml/2006/main" noGrp="1"/>
          </p:cNvSpPr>
          <p:nvPr/>
        </p:nvSpPr>
        <p:spPr>
          <a:xfrm xmlns:a="http://schemas.openxmlformats.org/drawingml/2006/main">
            <a:off x="390525" y="2476500"/>
            <a:ext cx="3857625" cy="31432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공식 사례</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입찰 취소 이의에 대한</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권익위 시정권고 (2019)</a:t>
            </a:r>
          </a:p>
          <a:p xmlns:a="http://schemas.openxmlformats.org/drawingml/2006/main">
            <a:pPr marL="0" indent="0">
              <a:spcBef>
                <a:spcPts val="0"/>
              </a:spcBef>
              <a:spcAft>
                <a:spcPts val="0"/>
              </a:spcAft>
              <a:buNone/>
            </a:pPr>
            <a:r>
              <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연구 질문</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번역 데이터로 학습한 탐지기가</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실제 한국어 공고에서도</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의심 구절을 찾을 수 있는가?</a:t>
            </a:r>
          </a:p>
        </p:txBody>
      </p:sp>
      <p:sp>
        <p:nvSpPr>
          <p:cNvPr id="8" name="Google Shape;534;p58">
            <a:extLst xmlns:a="http://schemas.openxmlformats.org/drawingml/2006/main">
              <a:ext uri="{FF2B5EF4-FFF2-40B4-BE49-F238E27FC236}">
                <a16:creationId xmlns:a16="http://schemas.microsoft.com/office/drawing/2014/main" id="{D136FB89-7449-CC90-F061-B6BF578EA25E}"/>
              </a:ext>
            </a:extLst>
          </p:cNvPr>
          <p:cNvSpPr>
            <a:spLocks xmlns:a="http://schemas.openxmlformats.org/drawingml/2006/main" noGrp="1"/>
          </p:cNvSpPr>
          <p:nvPr/>
        </p:nvSpPr>
        <p:spPr>
          <a:xfrm xmlns:a="http://schemas.openxmlformats.org/drawingml/2006/main">
            <a:off x="390525" y="1466850"/>
            <a:ext cx="3857625" cy="7810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2175" b="1">
                <a:solidFill>
                  <a:srgbClr val="161C2C"/>
                </a:solidFill>
                <a:latin typeface="Malgun Gothic"/>
                <a:ea typeface="Malgun Gothic"/>
                <a:cs typeface="Malgun Gothic"/>
              </a:defRPr>
            </a:pPr>
            <a:r>
              <a:rPr sz="2175" b="1">
                <a:solidFill>
                  <a:srgbClr val="161C2C"/>
                </a:solidFill>
                <a:latin typeface="Malgun Gothic"/>
                <a:ea typeface="Malgun Gothic"/>
                <a:cs typeface="Malgun Gothic"/>
              </a:rPr>
              <a:t>공고·정정·회사 증빙의 대조</a:t>
            </a:r>
          </a:p>
        </p:txBody>
      </p:sp>
      <p:graphicFrame>
        <p:nvGraphicFramePr>
          <p:cNvPr id="541" name=""/>
          <p:cNvGraphicFramePr/>
          <p:nvPr/>
        </p:nvGraphicFramePr>
        <p:xfrm>
          <a:off xmlns:a="http://schemas.openxmlformats.org/drawingml/2006/main" x="4648200" y="1504950"/>
          <a:ext xmlns:a="http://schemas.openxmlformats.org/drawingml/2006/main" cx="7143750" cy="4000500"/>
        </p:xfrm>
        <a:graphic xmlns:a="http://schemas.openxmlformats.org/drawingml/2006/main">
          <a:graphicData uri="http://schemas.openxmlformats.org/drawingml/2006/table">
            <a:tbl>
              <a:tblPr/>
              <a:tblGrid>
                <a:gridCol w="1543050"/>
                <a:gridCol w="2952750"/>
                <a:gridCol w="2647950"/>
              </a:tblGrid>
              <a:tr h="514350">
                <a:tc>
                  <a:txBody>
                    <a:bodyPr/>
                    <a:lstStyle/>
                    <a:p>
                      <a:r>
                        <a:rPr sz="1650" b="1">
                          <a:solidFill>
                            <a:srgbClr val="3456BF"/>
                          </a:solidFill>
                          <a:latin typeface="Malgun Gothic"/>
                          <a:ea typeface="Malgun Gothic"/>
                          <a:cs typeface="Malgun Gothic"/>
                        </a:rPr>
                        <a:t>접근</a:t>
                      </a:r>
                    </a:p>
                  </a:txBody>
                  <a:tcPr marL="95250" marR="95250" marT="95250" marB="85725" anchor="ctr">
                    <a:solidFill>
                      <a:srgbClr val="E8EDF9"/>
                    </a:solidFill>
                  </a:tcPr>
                </a:tc>
                <a:tc>
                  <a:txBody>
                    <a:bodyPr/>
                    <a:lstStyle/>
                    <a:p>
                      <a:r>
                        <a:rPr sz="1650" b="1">
                          <a:solidFill>
                            <a:srgbClr val="3456BF"/>
                          </a:solidFill>
                          <a:latin typeface="Malgun Gothic"/>
                          <a:ea typeface="Malgun Gothic"/>
                          <a:cs typeface="Malgun Gothic"/>
                        </a:rPr>
                        <a:t>역할·선행연구</a:t>
                      </a:r>
                    </a:p>
                  </a:txBody>
                  <a:tcPr marL="95250" marR="95250" marT="95250" marB="85725" anchor="ctr">
                    <a:solidFill>
                      <a:srgbClr val="E8EDF9"/>
                    </a:solidFill>
                  </a:tcPr>
                </a:tc>
                <a:tc>
                  <a:txBody>
                    <a:bodyPr/>
                    <a:lstStyle/>
                    <a:p>
                      <a:r>
                        <a:rPr sz="1650" b="1">
                          <a:solidFill>
                            <a:srgbClr val="3456BF"/>
                          </a:solidFill>
                          <a:latin typeface="Malgun Gothic"/>
                          <a:ea typeface="Malgun Gothic"/>
                          <a:cs typeface="Malgun Gothic"/>
                        </a:rPr>
                        <a:t>확인할 지표</a:t>
                      </a:r>
                    </a:p>
                  </a:txBody>
                  <a:tcPr marL="95250" marR="95250" marT="95250" marB="85725" anchor="ctr">
                    <a:solidFill>
                      <a:srgbClr val="E8EDF9"/>
                    </a:solidFill>
                  </a:tcPr>
                </a:tc>
              </a:tr>
              <a:tr h="0">
                <a:tc>
                  <a:txBody>
                    <a:bodyPr/>
                    <a:lstStyle/>
                    <a:p>
                      <a:r>
                        <a:rPr sz="1650">
                          <a:solidFill>
                            <a:srgbClr val="161C2C"/>
                          </a:solidFill>
                          <a:latin typeface="Malgun Gothic"/>
                          <a:ea typeface="Malgun Gothic"/>
                          <a:cs typeface="Malgun Gothic"/>
                        </a:rPr>
                        <a:t>일반 RAG</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검색과 답변 생성</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Recall@K</a:t>
                      </a:r>
                    </a:p>
                    <a:p>
                      <a:r>
                        <a:rPr sz="1650">
                          <a:solidFill>
                            <a:srgbClr val="161C2C"/>
                          </a:solidFill>
                          <a:latin typeface="Malgun Gothic"/>
                          <a:ea typeface="Malgun Gothic"/>
                          <a:cs typeface="Malgun Gothic"/>
                        </a:rPr>
                        <a:t>Hit Rate·지연</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GraphRAG</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관계·커뮤니티 기반</a:t>
                      </a:r>
                    </a:p>
                    <a:p>
                      <a:r>
                        <a:rPr sz="1650">
                          <a:solidFill>
                            <a:srgbClr val="161C2C"/>
                          </a:solidFill>
                          <a:latin typeface="Malgun Gothic"/>
                          <a:ea typeface="Malgun Gothic"/>
                          <a:cs typeface="Malgun Gothic"/>
                        </a:rPr>
                        <a:t>전역 질의 요약</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관계 확장 전후</a:t>
                      </a:r>
                    </a:p>
                    <a:p>
                      <a:r>
                        <a:rPr sz="1650">
                          <a:solidFill>
                            <a:srgbClr val="161C2C"/>
                          </a:solidFill>
                          <a:latin typeface="Malgun Gothic"/>
                          <a:ea typeface="Malgun Gothic"/>
                          <a:cs typeface="Malgun Gothic"/>
                        </a:rPr>
                        <a:t>검색·근거 정확도</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LettuceDetect</a:t>
                      </a:r>
                    </a:p>
                    <a:p>
                      <a:r>
                        <a:rPr sz="1650">
                          <a:solidFill>
                            <a:srgbClr val="161C2C"/>
                          </a:solidFill>
                          <a:latin typeface="Malgun Gothic"/>
                          <a:ea typeface="Malgun Gothic"/>
                          <a:cs typeface="Malgun Gothic"/>
                        </a:rPr>
                        <a:t>계열</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문맥 기반</a:t>
                      </a:r>
                    </a:p>
                    <a:p>
                      <a:r>
                        <a:rPr sz="1650">
                          <a:solidFill>
                            <a:srgbClr val="161C2C"/>
                          </a:solidFill>
                          <a:latin typeface="Malgun Gothic"/>
                          <a:ea typeface="Malgun Gothic"/>
                          <a:cs typeface="Malgun Gothic"/>
                        </a:rPr>
                        <a:t>토큰·구간 탐지</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환각 P/R/F1</a:t>
                      </a:r>
                    </a:p>
                    <a:p>
                      <a:r>
                        <a:rPr sz="1650">
                          <a:solidFill>
                            <a:srgbClr val="161C2C"/>
                          </a:solidFill>
                          <a:latin typeface="Malgun Gothic"/>
                          <a:ea typeface="Malgun Gothic"/>
                          <a:cs typeface="Malgun Gothic"/>
                        </a:rPr>
                        <a:t>span F1</a:t>
                      </a:r>
                    </a:p>
                  </a:txBody>
                  <a:tcPr marL="95250" marR="95250" marT="95250" marB="85725" anchor="ctr">
                    <a:solidFill>
                      <a:srgbClr val="F8FAFC"/>
                    </a:solidFill>
                  </a:tcPr>
                </a:tc>
              </a:tr>
              <a:tr h="0">
                <a:tc>
                  <a:txBody>
                    <a:bodyPr/>
                    <a:lstStyle/>
                    <a:p>
                      <a:r>
                        <a:rPr sz="1650">
                          <a:solidFill>
                            <a:srgbClr val="161C2C"/>
                          </a:solidFill>
                          <a:latin typeface="Malgun Gothic"/>
                          <a:ea typeface="Malgun Gothic"/>
                          <a:cs typeface="Malgun Gothic"/>
                        </a:rPr>
                        <a:t>우리 적용</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한국어 탐지·숫자 규칙</a:t>
                      </a:r>
                    </a:p>
                    <a:p>
                      <a:r>
                        <a:rPr sz="1650">
                          <a:solidFill>
                            <a:srgbClr val="161C2C"/>
                          </a:solidFill>
                          <a:latin typeface="Malgun Gothic"/>
                          <a:ea typeface="Malgun Gothic"/>
                          <a:cs typeface="Malgun Gothic"/>
                        </a:rPr>
                        <a:t>원문·공간 UI</a:t>
                      </a:r>
                    </a:p>
                  </a:txBody>
                  <a:tcPr marL="95250" marR="95250" marT="95250" marB="85725" anchor="ctr">
                    <a:solidFill>
                      <a:srgbClr val="F8FAFC"/>
                    </a:solidFill>
                  </a:tcPr>
                </a:tc>
                <a:tc>
                  <a:txBody>
                    <a:bodyPr/>
                    <a:lstStyle/>
                    <a:p>
                      <a:r>
                        <a:rPr sz="1650">
                          <a:solidFill>
                            <a:srgbClr val="161C2C"/>
                          </a:solidFill>
                          <a:latin typeface="Malgun Gothic"/>
                          <a:ea typeface="Malgun Gothic"/>
                          <a:cs typeface="Malgun Gothic"/>
                        </a:rPr>
                        <a:t>오판·보류율</a:t>
                      </a:r>
                    </a:p>
                    <a:p>
                      <a:r>
                        <a:rPr sz="1650">
                          <a:solidFill>
                            <a:srgbClr val="161C2C"/>
                          </a:solidFill>
                          <a:latin typeface="Malgun Gothic"/>
                          <a:ea typeface="Malgun Gothic"/>
                          <a:cs typeface="Malgun Gothic"/>
                        </a:rPr>
                        <a:t>검토 시간</a:t>
                      </a:r>
                    </a:p>
                  </a:txBody>
                  <a:tcPr marL="95250" marR="95250" marT="95250" marB="85725" anchor="ctr">
                    <a:solidFill>
                      <a:srgbClr val="F8FAFC"/>
                    </a:solidFill>
                  </a:tcPr>
                </a:tc>
              </a:tr>
            </a:tbl>
          </a:graphicData>
        </a:graphic>
      </p:graphicFrame>
      <p:sp>
        <p:nvSpPr>
          <p:cNvPr id="535" name="">
            <a:extLst xmlns:a="http://schemas.openxmlformats.org/drawingml/2006/main">
              <a:ext uri="{FF2B5EF4-FFF2-40B4-BE49-F238E27FC236}">
                <a16:creationId xmlns:a16="http://schemas.microsoft.com/office/drawing/2014/main" id="{8FD86F53-8D2E-4BE4-ADF8-5F7CEFAD5C1F}"/>
              </a:ext>
            </a:extLst>
          </p:cNvPr>
          <p:cNvSpPr>
            <a:spLocks xmlns:a="http://schemas.openxmlformats.org/drawingml/2006/main" noGrp="1"/>
          </p:cNvSpPr>
          <p:nvPr/>
        </p:nvSpPr>
        <p:spPr>
          <a:xfrm xmlns:a="http://schemas.openxmlformats.org/drawingml/2006/main">
            <a:off x="4648200" y="5762625"/>
            <a:ext cx="714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B6476"/>
                </a:solidFill>
                <a:latin typeface="Malgun Gothic"/>
                <a:ea typeface="Malgun Gothic"/>
                <a:cs typeface="Malgun Gothic"/>
              </a:defRPr>
            </a:pPr>
            <a:r>
              <a:rPr sz="1500" b="0">
                <a:solidFill>
                  <a:srgbClr val="5B6476"/>
                </a:solidFill>
                <a:latin typeface="Malgun Gothic"/>
                <a:ea typeface="Malgun Gothic"/>
                <a:cs typeface="Malgun Gothic"/>
              </a:rPr>
              <a:t>과제·평가 단위가 달라 선행연구 성능 숫자를 직접 순위화하지 않음</a:t>
            </a:r>
          </a:p>
        </p:txBody>
      </p:sp>
      <p:sp>
        <p:nvSpPr>
          <p:cNvPr id="536" name="">
            <a:extLst xmlns:a="http://schemas.openxmlformats.org/drawingml/2006/main">
              <a:ext uri="{FF2B5EF4-FFF2-40B4-BE49-F238E27FC236}">
                <a16:creationId xmlns:a16="http://schemas.microsoft.com/office/drawing/2014/main" id="{01391B08-032F-43E9-9649-5B2636D0708D}"/>
              </a:ext>
            </a:extLst>
          </p:cNvPr>
          <p:cNvSpPr>
            <a:spLocks xmlns:a="http://schemas.openxmlformats.org/drawingml/2006/main" noGrp="1"/>
          </p:cNvSpPr>
          <p:nvPr/>
        </p:nvSpPr>
        <p:spPr>
          <a:xfrm xmlns:a="http://schemas.openxmlformats.org/drawingml/2006/main">
            <a:off x="390525" y="6324600"/>
            <a:ext cx="1081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B6476"/>
                </a:solidFill>
                <a:latin typeface="Malgun Gothic"/>
                <a:ea typeface="Malgun Gothic"/>
                <a:cs typeface="Malgun Gothic"/>
              </a:defRPr>
            </a:pPr>
            <a:r>
              <a:rPr sz="1125" b="0">
                <a:solidFill>
                  <a:srgbClr val="5B6476"/>
                </a:solidFill>
                <a:latin typeface="Malgun Gothic"/>
                <a:ea typeface="Malgun Gothic"/>
                <a:cs typeface="Malgun Gothic"/>
              </a:rPr>
              <a:t>출처: 권익위(2019), RAGTruth(2024), LettuceDetect·Turk-LettuceDetect, GraphRAG</a:t>
            </a:r>
          </a:p>
        </p:txBody>
      </p:sp>
    </p:spTree>
    <p:extLst>
      <p:ext uri="{BB962C8B-B14F-4D97-AF65-F5344CB8AC3E}">
        <p14:creationId xmlns:p14="http://schemas.microsoft.com/office/powerpoint/2010/main" val="25538949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2</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검색·생성·탐지와 공간 UI 아키텍처</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00150"/>
            <a:ext cx="11334750" cy="4286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2025" b="0">
                <a:solidFill>
                  <a:srgbClr val="161C2C"/>
                </a:solidFill>
                <a:latin typeface="Malgun Gothic"/>
                <a:ea typeface="Malgun Gothic"/>
                <a:cs typeface="Malgun Gothic"/>
              </a:defRPr>
            </a:pPr>
            <a:r>
              <a:rPr sz="2025" b="0">
                <a:solidFill>
                  <a:srgbClr val="161C2C"/>
                </a:solidFill>
                <a:latin typeface="Malgun Gothic"/>
                <a:ea typeface="Malgun Gothic"/>
                <a:cs typeface="Malgun Gothic"/>
              </a:rPr>
              <a:t>입력 문서와 답변을 같은 버전으로 연결하는 목표 흐름</a:t>
            </a:r>
          </a:p>
        </p:txBody>
      </p:sp>
      <p:sp>
        <p:nvSpPr>
          <p:cNvPr id="534" name="">
            <a:extLst xmlns:a="http://schemas.openxmlformats.org/drawingml/2006/main">
              <a:ext uri="{FF2B5EF4-FFF2-40B4-BE49-F238E27FC236}">
                <a16:creationId xmlns:a16="http://schemas.microsoft.com/office/drawing/2014/main" id="{D8B65259-3496-4014-AE2A-663D2BB72C70}"/>
              </a:ext>
            </a:extLst>
          </p:cNvPr>
          <p:cNvSpPr>
            <a:spLocks xmlns:a="http://schemas.openxmlformats.org/drawingml/2006/main" noGrp="1"/>
          </p:cNvSpPr>
          <p:nvPr/>
        </p:nvSpPr>
        <p:spPr>
          <a:xfrm xmlns:a="http://schemas.openxmlformats.org/drawingml/2006/main">
            <a:off x="390525" y="1981200"/>
            <a:ext cx="2571750" cy="2047875"/>
          </a:xfrm>
          <a:prstGeom xmlns:a="http://schemas.openxmlformats.org/drawingml/2006/main" prst="rect">
            <a:avLst/>
          </a:prstGeom>
          <a:solidFill xmlns:a="http://schemas.openxmlformats.org/drawingml/2006/main">
            <a:srgbClr val="F8FAFC"/>
          </a:solidFill>
          <a:ln xmlns:a="http://schemas.openxmlformats.org/drawingml/2006/main" w="12383">
            <a:solidFill>
              <a:srgbClr val="CBD1DD"/>
            </a:solidFill>
          </a:ln>
        </p:spPr>
      </p:sp>
      <p:sp>
        <p:nvSpPr>
          <p:cNvPr id="535" name="">
            <a:extLst xmlns:a="http://schemas.openxmlformats.org/drawingml/2006/main">
              <a:ext uri="{FF2B5EF4-FFF2-40B4-BE49-F238E27FC236}">
                <a16:creationId xmlns:a16="http://schemas.microsoft.com/office/drawing/2014/main" id="{AD78BDF4-B095-405B-8C2B-7894DB62FCC4}"/>
              </a:ext>
            </a:extLst>
          </p:cNvPr>
          <p:cNvSpPr>
            <a:spLocks xmlns:a="http://schemas.openxmlformats.org/drawingml/2006/main" noGrp="1"/>
          </p:cNvSpPr>
          <p:nvPr/>
        </p:nvSpPr>
        <p:spPr>
          <a:xfrm xmlns:a="http://schemas.openxmlformats.org/drawingml/2006/main">
            <a:off x="533400" y="21050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B6476"/>
                </a:solidFill>
                <a:latin typeface="Malgun Gothic"/>
                <a:ea typeface="Malgun Gothic"/>
                <a:cs typeface="Malgun Gothic"/>
              </a:defRPr>
            </a:pPr>
            <a:r>
              <a:rPr sz="1275" b="0">
                <a:solidFill>
                  <a:srgbClr val="5B6476"/>
                </a:solidFill>
                <a:latin typeface="Malgun Gothic"/>
                <a:ea typeface="Malgun Gothic"/>
                <a:cs typeface="Malgun Gothic"/>
              </a:rPr>
              <a:t>파이프라인·집계 완료</a:t>
            </a:r>
          </a:p>
        </p:txBody>
      </p:sp>
      <p:sp>
        <p:nvSpPr>
          <p:cNvPr id="536" name="">
            <a:extLst xmlns:a="http://schemas.openxmlformats.org/drawingml/2006/main">
              <a:ext uri="{FF2B5EF4-FFF2-40B4-BE49-F238E27FC236}">
                <a16:creationId xmlns:a16="http://schemas.microsoft.com/office/drawing/2014/main" id="{0246E732-7F94-4FB3-A8C2-7F38DFCB0BED}"/>
              </a:ext>
            </a:extLst>
          </p:cNvPr>
          <p:cNvSpPr>
            <a:spLocks xmlns:a="http://schemas.openxmlformats.org/drawingml/2006/main" noGrp="1"/>
          </p:cNvSpPr>
          <p:nvPr/>
        </p:nvSpPr>
        <p:spPr>
          <a:xfrm xmlns:a="http://schemas.openxmlformats.org/drawingml/2006/main">
            <a:off x="533400" y="2428875"/>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수집·구조화</a:t>
            </a:r>
          </a:p>
        </p:txBody>
      </p:sp>
      <p:sp>
        <p:nvSpPr>
          <p:cNvPr id="537" name="">
            <a:extLst xmlns:a="http://schemas.openxmlformats.org/drawingml/2006/main">
              <a:ext uri="{FF2B5EF4-FFF2-40B4-BE49-F238E27FC236}">
                <a16:creationId xmlns:a16="http://schemas.microsoft.com/office/drawing/2014/main" id="{4179A012-1CB0-420E-BA82-6A08D35ED436}"/>
              </a:ext>
            </a:extLst>
          </p:cNvPr>
          <p:cNvSpPr>
            <a:spLocks xmlns:a="http://schemas.openxmlformats.org/drawingml/2006/main" noGrp="1"/>
          </p:cNvSpPr>
          <p:nvPr/>
        </p:nvSpPr>
        <p:spPr>
          <a:xfrm xmlns:a="http://schemas.openxmlformats.org/drawingml/2006/main">
            <a:off x="533400" y="3086100"/>
            <a:ext cx="2286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공고·첨부 버전 / SHA-256</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파싱·어댑터·SQLite</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페이지·조항 근거 청킹</a:t>
            </a:r>
          </a:p>
        </p:txBody>
      </p:sp>
      <p:sp>
        <p:nvSpPr>
          <p:cNvPr id="538" name="">
            <a:extLst xmlns:a="http://schemas.openxmlformats.org/drawingml/2006/main">
              <a:ext uri="{FF2B5EF4-FFF2-40B4-BE49-F238E27FC236}">
                <a16:creationId xmlns:a16="http://schemas.microsoft.com/office/drawing/2014/main" id="{F597ED94-2C0D-4911-AA99-17495A328334}"/>
              </a:ext>
            </a:extLst>
          </p:cNvPr>
          <p:cNvSpPr>
            <a:spLocks xmlns:a="http://schemas.openxmlformats.org/drawingml/2006/main" noGrp="1"/>
          </p:cNvSpPr>
          <p:nvPr/>
        </p:nvSpPr>
        <p:spPr>
          <a:xfrm xmlns:a="http://schemas.openxmlformats.org/drawingml/2006/main">
            <a:off x="3314700" y="1981200"/>
            <a:ext cx="2571750" cy="2047875"/>
          </a:xfrm>
          <a:prstGeom xmlns:a="http://schemas.openxmlformats.org/drawingml/2006/main" prst="rect">
            <a:avLst/>
          </a:prstGeom>
          <a:solidFill xmlns:a="http://schemas.openxmlformats.org/drawingml/2006/main">
            <a:srgbClr val="F8FAFC"/>
          </a:solidFill>
          <a:ln xmlns:a="http://schemas.openxmlformats.org/drawingml/2006/main" w="12383">
            <a:solidFill>
              <a:srgbClr val="CBD1DD"/>
            </a:solidFill>
          </a:ln>
        </p:spPr>
      </p:sp>
      <p:sp>
        <p:nvSpPr>
          <p:cNvPr id="539" name="">
            <a:extLst xmlns:a="http://schemas.openxmlformats.org/drawingml/2006/main">
              <a:ext uri="{FF2B5EF4-FFF2-40B4-BE49-F238E27FC236}">
                <a16:creationId xmlns:a16="http://schemas.microsoft.com/office/drawing/2014/main" id="{43DBD725-9BC6-45EA-AEB6-3D8B0C795400}"/>
              </a:ext>
            </a:extLst>
          </p:cNvPr>
          <p:cNvSpPr>
            <a:spLocks xmlns:a="http://schemas.openxmlformats.org/drawingml/2006/main" noGrp="1"/>
          </p:cNvSpPr>
          <p:nvPr/>
        </p:nvSpPr>
        <p:spPr>
          <a:xfrm xmlns:a="http://schemas.openxmlformats.org/drawingml/2006/main">
            <a:off x="3457575" y="21050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B6476"/>
                </a:solidFill>
                <a:latin typeface="Malgun Gothic"/>
                <a:ea typeface="Malgun Gothic"/>
                <a:cs typeface="Malgun Gothic"/>
              </a:defRPr>
            </a:pPr>
            <a:r>
              <a:rPr sz="1275" b="0">
                <a:solidFill>
                  <a:srgbClr val="5B6476"/>
                </a:solidFill>
                <a:latin typeface="Malgun Gothic"/>
                <a:ea typeface="Malgun Gothic"/>
                <a:cs typeface="Malgun Gothic"/>
              </a:rPr>
              <a:t>실연결 예정</a:t>
            </a:r>
          </a:p>
        </p:txBody>
      </p:sp>
      <p:sp>
        <p:nvSpPr>
          <p:cNvPr id="540" name="">
            <a:extLst xmlns:a="http://schemas.openxmlformats.org/drawingml/2006/main">
              <a:ext uri="{FF2B5EF4-FFF2-40B4-BE49-F238E27FC236}">
                <a16:creationId xmlns:a16="http://schemas.microsoft.com/office/drawing/2014/main" id="{8A9DF35A-7F0E-433E-A82D-B9BABBB5E715}"/>
              </a:ext>
            </a:extLst>
          </p:cNvPr>
          <p:cNvSpPr>
            <a:spLocks xmlns:a="http://schemas.openxmlformats.org/drawingml/2006/main" noGrp="1"/>
          </p:cNvSpPr>
          <p:nvPr/>
        </p:nvSpPr>
        <p:spPr>
          <a:xfrm xmlns:a="http://schemas.openxmlformats.org/drawingml/2006/main">
            <a:off x="3457575" y="2428875"/>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권한 검색·답변</a:t>
            </a:r>
          </a:p>
        </p:txBody>
      </p:sp>
      <p:sp>
        <p:nvSpPr>
          <p:cNvPr id="541" name="">
            <a:extLst xmlns:a="http://schemas.openxmlformats.org/drawingml/2006/main">
              <a:ext uri="{FF2B5EF4-FFF2-40B4-BE49-F238E27FC236}">
                <a16:creationId xmlns:a16="http://schemas.microsoft.com/office/drawing/2014/main" id="{29C3F580-8618-451A-A121-0D80F93D413D}"/>
              </a:ext>
            </a:extLst>
          </p:cNvPr>
          <p:cNvSpPr>
            <a:spLocks xmlns:a="http://schemas.openxmlformats.org/drawingml/2006/main" noGrp="1"/>
          </p:cNvSpPr>
          <p:nvPr/>
        </p:nvSpPr>
        <p:spPr>
          <a:xfrm xmlns:a="http://schemas.openxmlformats.org/drawingml/2006/main">
            <a:off x="3457575" y="3086100"/>
            <a:ext cx="2286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원본 BGE-M3 임베딩</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pgvector·Gemma</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회사 + 문서 권한 검사</a:t>
            </a:r>
          </a:p>
        </p:txBody>
      </p:sp>
      <p:sp>
        <p:nvSpPr>
          <p:cNvPr id="542" name="">
            <a:extLst xmlns:a="http://schemas.openxmlformats.org/drawingml/2006/main">
              <a:ext uri="{FF2B5EF4-FFF2-40B4-BE49-F238E27FC236}">
                <a16:creationId xmlns:a16="http://schemas.microsoft.com/office/drawing/2014/main" id="{5CA46AA5-3328-4E2E-A06B-2D9FC23C1C7F}"/>
              </a:ext>
            </a:extLst>
          </p:cNvPr>
          <p:cNvSpPr>
            <a:spLocks xmlns:a="http://schemas.openxmlformats.org/drawingml/2006/main" noGrp="1"/>
          </p:cNvSpPr>
          <p:nvPr/>
        </p:nvSpPr>
        <p:spPr>
          <a:xfrm xmlns:a="http://schemas.openxmlformats.org/drawingml/2006/main">
            <a:off x="6238875" y="1981200"/>
            <a:ext cx="2571750" cy="2047875"/>
          </a:xfrm>
          <a:prstGeom xmlns:a="http://schemas.openxmlformats.org/drawingml/2006/main" prst="rect">
            <a:avLst/>
          </a:prstGeom>
          <a:solidFill xmlns:a="http://schemas.openxmlformats.org/drawingml/2006/main">
            <a:srgbClr val="F8FAFC"/>
          </a:solidFill>
          <a:ln xmlns:a="http://schemas.openxmlformats.org/drawingml/2006/main" w="12383">
            <a:solidFill>
              <a:srgbClr val="CBD1DD"/>
            </a:solidFill>
          </a:ln>
        </p:spPr>
      </p:sp>
      <p:sp>
        <p:nvSpPr>
          <p:cNvPr id="543" name="">
            <a:extLst xmlns:a="http://schemas.openxmlformats.org/drawingml/2006/main">
              <a:ext uri="{FF2B5EF4-FFF2-40B4-BE49-F238E27FC236}">
                <a16:creationId xmlns:a16="http://schemas.microsoft.com/office/drawing/2014/main" id="{0427848A-310F-4F40-9E1A-86DAF33A26A9}"/>
              </a:ext>
            </a:extLst>
          </p:cNvPr>
          <p:cNvSpPr>
            <a:spLocks xmlns:a="http://schemas.openxmlformats.org/drawingml/2006/main" noGrp="1"/>
          </p:cNvSpPr>
          <p:nvPr/>
        </p:nvSpPr>
        <p:spPr>
          <a:xfrm xmlns:a="http://schemas.openxmlformats.org/drawingml/2006/main">
            <a:off x="6381750" y="21050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B6476"/>
                </a:solidFill>
                <a:latin typeface="Malgun Gothic"/>
                <a:ea typeface="Malgun Gothic"/>
                <a:cs typeface="Malgun Gothic"/>
              </a:defRPr>
            </a:pPr>
            <a:r>
              <a:rPr sz="1275" b="0">
                <a:solidFill>
                  <a:srgbClr val="5B6476"/>
                </a:solidFill>
                <a:latin typeface="Malgun Gothic"/>
                <a:ea typeface="Malgun Gothic"/>
                <a:cs typeface="Malgun Gothic"/>
              </a:rPr>
              <a:t>모델 개발 완료 / 통합 예정</a:t>
            </a:r>
          </a:p>
        </p:txBody>
      </p:sp>
      <p:sp>
        <p:nvSpPr>
          <p:cNvPr id="544" name="">
            <a:extLst xmlns:a="http://schemas.openxmlformats.org/drawingml/2006/main">
              <a:ext uri="{FF2B5EF4-FFF2-40B4-BE49-F238E27FC236}">
                <a16:creationId xmlns:a16="http://schemas.microsoft.com/office/drawing/2014/main" id="{E3B00E25-576C-441B-9E5C-24DB2EA9B680}"/>
              </a:ext>
            </a:extLst>
          </p:cNvPr>
          <p:cNvSpPr>
            <a:spLocks xmlns:a="http://schemas.openxmlformats.org/drawingml/2006/main" noGrp="1"/>
          </p:cNvSpPr>
          <p:nvPr/>
        </p:nvSpPr>
        <p:spPr>
          <a:xfrm xmlns:a="http://schemas.openxmlformats.org/drawingml/2006/main">
            <a:off x="6381750" y="2428875"/>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한국어 답변 검증</a:t>
            </a:r>
          </a:p>
        </p:txBody>
      </p:sp>
      <p:sp>
        <p:nvSpPr>
          <p:cNvPr id="545" name="">
            <a:extLst xmlns:a="http://schemas.openxmlformats.org/drawingml/2006/main">
              <a:ext uri="{FF2B5EF4-FFF2-40B4-BE49-F238E27FC236}">
                <a16:creationId xmlns:a16="http://schemas.microsoft.com/office/drawing/2014/main" id="{EB86B442-D1A3-4A1D-A8CC-387F7B367207}"/>
              </a:ext>
            </a:extLst>
          </p:cNvPr>
          <p:cNvSpPr>
            <a:spLocks xmlns:a="http://schemas.openxmlformats.org/drawingml/2006/main" noGrp="1"/>
          </p:cNvSpPr>
          <p:nvPr/>
        </p:nvSpPr>
        <p:spPr>
          <a:xfrm xmlns:a="http://schemas.openxmlformats.org/drawingml/2006/main">
            <a:off x="6381750" y="3086100"/>
            <a:ext cx="2286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학습한 토큰 탐지기</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별도 숫자·기간 규칙</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인용 청크 연결 검증</a:t>
            </a:r>
          </a:p>
        </p:txBody>
      </p:sp>
      <p:sp>
        <p:nvSpPr>
          <p:cNvPr id="546" name="">
            <a:extLst xmlns:a="http://schemas.openxmlformats.org/drawingml/2006/main">
              <a:ext uri="{FF2B5EF4-FFF2-40B4-BE49-F238E27FC236}">
                <a16:creationId xmlns:a16="http://schemas.microsoft.com/office/drawing/2014/main" id="{00B1DD57-508A-447D-BB2D-6CF8488D3857}"/>
              </a:ext>
            </a:extLst>
          </p:cNvPr>
          <p:cNvSpPr>
            <a:spLocks xmlns:a="http://schemas.openxmlformats.org/drawingml/2006/main" noGrp="1"/>
          </p:cNvSpPr>
          <p:nvPr/>
        </p:nvSpPr>
        <p:spPr>
          <a:xfrm xmlns:a="http://schemas.openxmlformats.org/drawingml/2006/main">
            <a:off x="9163050" y="1981200"/>
            <a:ext cx="2628900" cy="2047875"/>
          </a:xfrm>
          <a:prstGeom xmlns:a="http://schemas.openxmlformats.org/drawingml/2006/main" prst="rect">
            <a:avLst/>
          </a:prstGeom>
          <a:solidFill xmlns:a="http://schemas.openxmlformats.org/drawingml/2006/main">
            <a:srgbClr val="F8FAFC"/>
          </a:solidFill>
          <a:ln xmlns:a="http://schemas.openxmlformats.org/drawingml/2006/main" w="12383">
            <a:solidFill>
              <a:srgbClr val="CBD1DD"/>
            </a:solidFill>
          </a:ln>
        </p:spPr>
      </p:sp>
      <p:sp>
        <p:nvSpPr>
          <p:cNvPr id="547" name="">
            <a:extLst xmlns:a="http://schemas.openxmlformats.org/drawingml/2006/main">
              <a:ext uri="{FF2B5EF4-FFF2-40B4-BE49-F238E27FC236}">
                <a16:creationId xmlns:a16="http://schemas.microsoft.com/office/drawing/2014/main" id="{0B352455-5FE7-4243-99A0-98F4F984CC9F}"/>
              </a:ext>
            </a:extLst>
          </p:cNvPr>
          <p:cNvSpPr>
            <a:spLocks xmlns:a="http://schemas.openxmlformats.org/drawingml/2006/main" noGrp="1"/>
          </p:cNvSpPr>
          <p:nvPr/>
        </p:nvSpPr>
        <p:spPr>
          <a:xfrm xmlns:a="http://schemas.openxmlformats.org/drawingml/2006/main">
            <a:off x="9305925" y="2105025"/>
            <a:ext cx="2343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B6476"/>
                </a:solidFill>
                <a:latin typeface="Malgun Gothic"/>
                <a:ea typeface="Malgun Gothic"/>
                <a:cs typeface="Malgun Gothic"/>
              </a:defRPr>
            </a:pPr>
            <a:r>
              <a:rPr sz="1275" b="0">
                <a:solidFill>
                  <a:srgbClr val="5B6476"/>
                </a:solidFill>
                <a:latin typeface="Malgun Gothic"/>
                <a:ea typeface="Malgun Gothic"/>
                <a:cs typeface="Malgun Gothic"/>
              </a:rPr>
              <a:t>시연 목업 동작</a:t>
            </a:r>
          </a:p>
        </p:txBody>
      </p:sp>
      <p:sp>
        <p:nvSpPr>
          <p:cNvPr id="548" name="">
            <a:extLst xmlns:a="http://schemas.openxmlformats.org/drawingml/2006/main">
              <a:ext uri="{FF2B5EF4-FFF2-40B4-BE49-F238E27FC236}">
                <a16:creationId xmlns:a16="http://schemas.microsoft.com/office/drawing/2014/main" id="{5ED0C791-ED92-42F7-9B0C-BA38CAAE9270}"/>
              </a:ext>
            </a:extLst>
          </p:cNvPr>
          <p:cNvSpPr>
            <a:spLocks xmlns:a="http://schemas.openxmlformats.org/drawingml/2006/main" noGrp="1"/>
          </p:cNvSpPr>
          <p:nvPr/>
        </p:nvSpPr>
        <p:spPr>
          <a:xfrm xmlns:a="http://schemas.openxmlformats.org/drawingml/2006/main">
            <a:off x="9305925" y="2428875"/>
            <a:ext cx="234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원문·공간 검토</a:t>
            </a:r>
          </a:p>
        </p:txBody>
      </p:sp>
      <p:sp>
        <p:nvSpPr>
          <p:cNvPr id="549" name="">
            <a:extLst xmlns:a="http://schemas.openxmlformats.org/drawingml/2006/main">
              <a:ext uri="{FF2B5EF4-FFF2-40B4-BE49-F238E27FC236}">
                <a16:creationId xmlns:a16="http://schemas.microsoft.com/office/drawing/2014/main" id="{BB288E84-70D2-4067-810B-192EA9245D54}"/>
              </a:ext>
            </a:extLst>
          </p:cNvPr>
          <p:cNvSpPr>
            <a:spLocks xmlns:a="http://schemas.openxmlformats.org/drawingml/2006/main" noGrp="1"/>
          </p:cNvSpPr>
          <p:nvPr/>
        </p:nvSpPr>
        <p:spPr>
          <a:xfrm xmlns:a="http://schemas.openxmlformats.org/drawingml/2006/main">
            <a:off x="9305925" y="3086100"/>
            <a:ext cx="23431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의심 구간 하이라이트</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근거 원문·관계 그래프</a:t>
            </a:r>
          </a:p>
          <a:p xmlns:a="http://schemas.openxmlformats.org/drawingml/2006/main">
            <a:pPr>
              <a:defRPr sz="1500" b="0">
                <a:solidFill>
                  <a:srgbClr val="161C2C"/>
                </a:solidFill>
                <a:latin typeface="Malgun Gothic"/>
                <a:ea typeface="Malgun Gothic"/>
                <a:cs typeface="Malgun Gothic"/>
              </a:defRPr>
            </a:pPr>
            <a:r>
              <a:rPr sz="1500" b="0">
                <a:solidFill>
                  <a:srgbClr val="161C2C"/>
                </a:solidFill>
                <a:latin typeface="Malgun Gothic"/>
                <a:ea typeface="Malgun Gothic"/>
                <a:cs typeface="Malgun Gothic"/>
              </a:rPr>
              <a:t>공고·과업 선택</a:t>
            </a:r>
          </a:p>
        </p:txBody>
      </p:sp>
      <p:cxnSp>
        <p:nvCxnSpPr>
          <p:cNvPr id="577" name=""/>
          <p:cNvCxnSpPr>
            <a:stCxn xmlns:a="http://schemas.openxmlformats.org/drawingml/2006/main" id="534" idx="3"/>
            <a:endCxn xmlns:a="http://schemas.openxmlformats.org/drawingml/2006/main" id="538" idx="1"/>
          </p:cNvCxnSpPr>
          <p:nvPr/>
        </p:nvCxnSpPr>
        <p:spPr>
          <a:xfrm xmlns:a="http://schemas.openxmlformats.org/drawingml/2006/main">
            <a:off x="2962275" y="3005138"/>
            <a:ext cx="352425"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78" name=""/>
          <p:cNvCxnSpPr>
            <a:stCxn xmlns:a="http://schemas.openxmlformats.org/drawingml/2006/main" id="538" idx="3"/>
            <a:endCxn xmlns:a="http://schemas.openxmlformats.org/drawingml/2006/main" id="542" idx="1"/>
          </p:cNvCxnSpPr>
          <p:nvPr/>
        </p:nvCxnSpPr>
        <p:spPr>
          <a:xfrm xmlns:a="http://schemas.openxmlformats.org/drawingml/2006/main">
            <a:off x="5886450" y="3005138"/>
            <a:ext cx="352425" cy="0"/>
          </a:xfrm>
          <a:prstGeom xmlns:a="http://schemas.openxmlformats.org/drawingml/2006/main" prst="straightConnector1">
            <a:avLst/>
          </a:prstGeom>
          <a:ln xmlns:a="http://schemas.openxmlformats.org/drawingml/2006/main" w="19050">
            <a:solidFill>
              <a:srgbClr val="3456BF"/>
            </a:solidFill>
            <a:tailEnd type="triangle" w="sm" len="sm"/>
          </a:ln>
        </p:spPr>
      </p:cxnSp>
      <p:cxnSp>
        <p:nvCxnSpPr>
          <p:cNvPr id="579" name=""/>
          <p:cNvCxnSpPr>
            <a:stCxn xmlns:a="http://schemas.openxmlformats.org/drawingml/2006/main" id="542" idx="3"/>
            <a:endCxn xmlns:a="http://schemas.openxmlformats.org/drawingml/2006/main" id="546" idx="1"/>
          </p:cNvCxnSpPr>
          <p:nvPr/>
        </p:nvCxnSpPr>
        <p:spPr>
          <a:xfrm xmlns:a="http://schemas.openxmlformats.org/drawingml/2006/main">
            <a:off x="8810625" y="3005138"/>
            <a:ext cx="352425" cy="0"/>
          </a:xfrm>
          <a:prstGeom xmlns:a="http://schemas.openxmlformats.org/drawingml/2006/main" prst="straightConnector1">
            <a:avLst/>
          </a:prstGeom>
          <a:ln xmlns:a="http://schemas.openxmlformats.org/drawingml/2006/main" w="19050">
            <a:solidFill>
              <a:srgbClr val="3456BF"/>
            </a:solidFill>
            <a:tailEnd type="triangle" w="sm" len="sm"/>
          </a:ln>
        </p:spPr>
      </p:cxnSp>
      <p:sp>
        <p:nvSpPr>
          <p:cNvPr id="553" name="">
            <a:extLst xmlns:a="http://schemas.openxmlformats.org/drawingml/2006/main">
              <a:ext uri="{FF2B5EF4-FFF2-40B4-BE49-F238E27FC236}">
                <a16:creationId xmlns:a16="http://schemas.microsoft.com/office/drawing/2014/main" id="{F4070D7C-2297-4E88-ACE9-BBEED8F71F08}"/>
              </a:ext>
            </a:extLst>
          </p:cNvPr>
          <p:cNvSpPr>
            <a:spLocks xmlns:a="http://schemas.openxmlformats.org/drawingml/2006/main" noGrp="1"/>
          </p:cNvSpPr>
          <p:nvPr/>
        </p:nvSpPr>
        <p:spPr>
          <a:xfrm xmlns:a="http://schemas.openxmlformats.org/drawingml/2006/main">
            <a:off x="390525" y="44005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3456BF"/>
                </a:solidFill>
                <a:latin typeface="Malgun Gothic"/>
                <a:ea typeface="Malgun Gothic"/>
                <a:cs typeface="Malgun Gothic"/>
              </a:defRPr>
            </a:pPr>
            <a:r>
              <a:rPr sz="1950" b="1">
                <a:solidFill>
                  <a:srgbClr val="3456BF"/>
                </a:solidFill>
                <a:latin typeface="Malgun Gothic"/>
                <a:ea typeface="Malgun Gothic"/>
                <a:cs typeface="Malgun Gothic"/>
              </a:rPr>
              <a:t>공간 엔진</a:t>
            </a:r>
          </a:p>
        </p:txBody>
      </p:sp>
      <p:sp>
        <p:nvSpPr>
          <p:cNvPr id="554" name="">
            <a:extLst xmlns:a="http://schemas.openxmlformats.org/drawingml/2006/main">
              <a:ext uri="{FF2B5EF4-FFF2-40B4-BE49-F238E27FC236}">
                <a16:creationId xmlns:a16="http://schemas.microsoft.com/office/drawing/2014/main" id="{EC56D59A-7EB4-4310-815D-75D056362EEB}"/>
              </a:ext>
            </a:extLst>
          </p:cNvPr>
          <p:cNvSpPr>
            <a:spLocks xmlns:a="http://schemas.openxmlformats.org/drawingml/2006/main" noGrp="1"/>
          </p:cNvSpPr>
          <p:nvPr/>
        </p:nvSpPr>
        <p:spPr>
          <a:xfrm xmlns:a="http://schemas.openxmlformats.org/drawingml/2006/main">
            <a:off x="390525" y="4933950"/>
            <a:ext cx="5334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Reality: MapLibre + OpenFreeMap + DEM</a:t>
            </a:r>
          </a:p>
          <a:p xmlns:a="http://schemas.openxmlformats.org/drawingml/2006/main">
            <a:pPr>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Virtual: Three.js 합성 도시·설비</a:t>
            </a:r>
          </a:p>
        </p:txBody>
      </p:sp>
      <p:sp>
        <p:nvSpPr>
          <p:cNvPr id="555" name="">
            <a:extLst xmlns:a="http://schemas.openxmlformats.org/drawingml/2006/main">
              <a:ext uri="{FF2B5EF4-FFF2-40B4-BE49-F238E27FC236}">
                <a16:creationId xmlns:a16="http://schemas.microsoft.com/office/drawing/2014/main" id="{A164B8EA-DD0E-4137-AE92-F50C17F64CCA}"/>
              </a:ext>
            </a:extLst>
          </p:cNvPr>
          <p:cNvSpPr>
            <a:spLocks xmlns:a="http://schemas.openxmlformats.org/drawingml/2006/main" noGrp="1"/>
          </p:cNvSpPr>
          <p:nvPr/>
        </p:nvSpPr>
        <p:spPr>
          <a:xfrm xmlns:a="http://schemas.openxmlformats.org/drawingml/2006/main">
            <a:off x="6238875" y="4400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3456BF"/>
                </a:solidFill>
                <a:latin typeface="Malgun Gothic"/>
                <a:ea typeface="Malgun Gothic"/>
                <a:cs typeface="Malgun Gothic"/>
              </a:defRPr>
            </a:pPr>
            <a:r>
              <a:rPr sz="1950" b="1">
                <a:solidFill>
                  <a:srgbClr val="3456BF"/>
                </a:solidFill>
                <a:latin typeface="Malgun Gothic"/>
                <a:ea typeface="Malgun Gothic"/>
                <a:cs typeface="Malgun Gothic"/>
              </a:rPr>
              <a:t>Live 연동 설계</a:t>
            </a:r>
          </a:p>
        </p:txBody>
      </p:sp>
      <p:sp>
        <p:nvSpPr>
          <p:cNvPr id="556" name="">
            <a:extLst xmlns:a="http://schemas.openxmlformats.org/drawingml/2006/main">
              <a:ext uri="{FF2B5EF4-FFF2-40B4-BE49-F238E27FC236}">
                <a16:creationId xmlns:a16="http://schemas.microsoft.com/office/drawing/2014/main" id="{E85526BD-0757-4EBF-8731-634E444FB37F}"/>
              </a:ext>
            </a:extLst>
          </p:cNvPr>
          <p:cNvSpPr>
            <a:spLocks xmlns:a="http://schemas.openxmlformats.org/drawingml/2006/main" noGrp="1"/>
          </p:cNvSpPr>
          <p:nvPr/>
        </p:nvSpPr>
        <p:spPr>
          <a:xfrm xmlns:a="http://schemas.openxmlformats.org/drawingml/2006/main">
            <a:off x="6238875" y="4933950"/>
            <a:ext cx="5524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FastAPI REST + POST NDJSON / 동일 snapshot</a:t>
            </a:r>
          </a:p>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GraphRAG 관계 확장 검색은 후속 구현·평가</a:t>
            </a:r>
          </a:p>
        </p:txBody>
      </p:sp>
      <p:sp>
        <p:nvSpPr>
          <p:cNvPr id="557" name="">
            <a:extLst xmlns:a="http://schemas.openxmlformats.org/drawingml/2006/main">
              <a:ext uri="{FF2B5EF4-FFF2-40B4-BE49-F238E27FC236}">
                <a16:creationId xmlns:a16="http://schemas.microsoft.com/office/drawing/2014/main" id="{5BF4AD96-4A47-4332-9836-37A0F99A6A0E}"/>
              </a:ext>
            </a:extLst>
          </p:cNvPr>
          <p:cNvSpPr>
            <a:spLocks xmlns:a="http://schemas.openxmlformats.org/drawingml/2006/main" noGrp="1"/>
          </p:cNvSpPr>
          <p:nvPr/>
        </p:nvSpPr>
        <p:spPr>
          <a:xfrm xmlns:a="http://schemas.openxmlformats.org/drawingml/2006/main">
            <a:off x="390525" y="61150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B6476"/>
                </a:solidFill>
                <a:latin typeface="Malgun Gothic"/>
                <a:ea typeface="Malgun Gothic"/>
                <a:cs typeface="Malgun Gothic"/>
              </a:defRPr>
            </a:pPr>
            <a:r>
              <a:rPr sz="1500" b="0">
                <a:solidFill>
                  <a:srgbClr val="5B6476"/>
                </a:solidFill>
                <a:latin typeface="Malgun Gothic"/>
                <a:ea typeface="Malgun Gothic"/>
                <a:cs typeface="Malgun Gothic"/>
              </a:rPr>
              <a:t>검색용 원본 BGE-M3와 학습한 탐지기는 별도 모델 역할. 전체 통합 완료를 뜻하지 않음</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3</a:t>
            </a: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데이터와 한국어 탐지 모델 준비 현황</a:t>
            </a:r>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0525" y="1257300"/>
            <a:ext cx="11049000" cy="44767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2100" b="0">
                <a:solidFill>
                  <a:srgbClr val="161C2C"/>
                </a:solidFill>
                <a:latin typeface="Malgun Gothic"/>
                <a:ea typeface="Malgun Gothic"/>
                <a:cs typeface="Malgun Gothic"/>
              </a:defRPr>
            </a:pPr>
            <a:r>
              <a:rPr sz="2100" b="0">
                <a:solidFill>
                  <a:srgbClr val="161C2C"/>
                </a:solidFill>
                <a:latin typeface="Malgun Gothic"/>
                <a:ea typeface="Malgun Gothic"/>
                <a:cs typeface="Malgun Gothic"/>
              </a:rPr>
              <a:t>학습·평가 완료 기록과 실데이터 집계를 구분</a:t>
            </a:r>
          </a:p>
        </p:txBody>
      </p:sp>
      <p:sp>
        <p:nvSpPr>
          <p:cNvPr id="534" name="">
            <a:extLst xmlns:a="http://schemas.openxmlformats.org/drawingml/2006/main">
              <a:ext uri="{FF2B5EF4-FFF2-40B4-BE49-F238E27FC236}">
                <a16:creationId xmlns:a16="http://schemas.microsoft.com/office/drawing/2014/main" id="{6013B25D-4300-4AB1-BD44-5988BD934572}"/>
              </a:ext>
            </a:extLst>
          </p:cNvPr>
          <p:cNvSpPr>
            <a:spLocks xmlns:a="http://schemas.openxmlformats.org/drawingml/2006/main" noGrp="1"/>
          </p:cNvSpPr>
          <p:nvPr/>
        </p:nvSpPr>
        <p:spPr>
          <a:xfrm xmlns:a="http://schemas.openxmlformats.org/drawingml/2006/main">
            <a:off x="390525" y="200977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3456BF"/>
                </a:solidFill>
                <a:latin typeface="Malgun Gothic"/>
                <a:ea typeface="Malgun Gothic"/>
                <a:cs typeface="Malgun Gothic"/>
              </a:defRPr>
            </a:pPr>
            <a:r>
              <a:rPr sz="2175" b="1">
                <a:solidFill>
                  <a:srgbClr val="3456BF"/>
                </a:solidFill>
                <a:latin typeface="Malgun Gothic"/>
                <a:ea typeface="Malgun Gothic"/>
                <a:cs typeface="Malgun Gothic"/>
              </a:rPr>
              <a:t>한국어 환각 탐지</a:t>
            </a:r>
          </a:p>
        </p:txBody>
      </p:sp>
      <p:sp>
        <p:nvSpPr>
          <p:cNvPr id="535" name="">
            <a:extLst xmlns:a="http://schemas.openxmlformats.org/drawingml/2006/main">
              <a:ext uri="{FF2B5EF4-FFF2-40B4-BE49-F238E27FC236}">
                <a16:creationId xmlns:a16="http://schemas.microsoft.com/office/drawing/2014/main" id="{4BDFCE09-0EB3-4AB5-889A-4863F334886A}"/>
              </a:ext>
            </a:extLst>
          </p:cNvPr>
          <p:cNvSpPr>
            <a:spLocks xmlns:a="http://schemas.openxmlformats.org/drawingml/2006/main" noGrp="1"/>
          </p:cNvSpPr>
          <p:nvPr/>
        </p:nvSpPr>
        <p:spPr>
          <a:xfrm xmlns:a="http://schemas.openxmlformats.org/drawingml/2006/main">
            <a:off x="390525" y="2647950"/>
            <a:ext cx="5267325" cy="2828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RAGTruth 환각 구간을 &lt;HAL&gt; 태그로 감싸 한국어 번역</a:t>
            </a:r>
          </a:p>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태그 검사·문자 위치 재계산 후 이진 토큰 분류 학습</a:t>
            </a:r>
          </a:p>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KLUE-RoBERTa, XLM-RoBERTa, BGE-M3 학습</a:t>
            </a:r>
          </a:p>
          <a:p xmlns:a="http://schemas.openxmlformats.org/drawingml/2006/main">
            <a:pPr marL="165100" indent="-101600">
              <a:spcAft>
                <a:spcPts val="1000"/>
              </a:spcAft>
              <a:buChar char="•"/>
              <a:defRPr sz="1725" b="0">
                <a:solidFill>
                  <a:srgbClr val="161C2C"/>
                </a:solidFill>
                <a:latin typeface="Malgun Gothic"/>
                <a:ea typeface="Malgun Gothic"/>
                <a:cs typeface="Malgun Gothic"/>
              </a:defRPr>
            </a:pPr>
            <a:r>
              <a:t>숫자 변조는 확인된 취약점. 나라장터 적용 성능은 평가 예정</a:t>
            </a:r>
          </a:p>
        </p:txBody>
      </p:sp>
      <p:sp>
        <p:nvSpPr>
          <p:cNvPr id="536" name="">
            <a:extLst xmlns:a="http://schemas.openxmlformats.org/drawingml/2006/main">
              <a:ext uri="{FF2B5EF4-FFF2-40B4-BE49-F238E27FC236}">
                <a16:creationId xmlns:a16="http://schemas.microsoft.com/office/drawing/2014/main" id="{4CF06FCB-1D38-493B-9BA4-2E90F7FC28FD}"/>
              </a:ext>
            </a:extLst>
          </p:cNvPr>
          <p:cNvSpPr>
            <a:spLocks xmlns:a="http://schemas.openxmlformats.org/drawingml/2006/main" noGrp="1"/>
          </p:cNvSpPr>
          <p:nvPr/>
        </p:nvSpPr>
        <p:spPr>
          <a:xfrm xmlns:a="http://schemas.openxmlformats.org/drawingml/2006/main">
            <a:off x="390525" y="5800725"/>
            <a:ext cx="52673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B6476"/>
                </a:solidFill>
                <a:latin typeface="Malgun Gothic"/>
                <a:ea typeface="Malgun Gothic"/>
                <a:cs typeface="Malgun Gothic"/>
              </a:defRPr>
            </a:pPr>
            <a:r>
              <a:rPr sz="1500" b="0">
                <a:solidFill>
                  <a:srgbClr val="5B6476"/>
                </a:solidFill>
                <a:latin typeface="Malgun Gothic"/>
                <a:ea typeface="Malgun Gothic"/>
                <a:cs typeface="Malgun Gothic"/>
              </a:rPr>
              <a:t>성능값은 원본 실험 조건 재확인 후 사용</a:t>
            </a:r>
          </a:p>
          <a:p xmlns:a="http://schemas.openxmlformats.org/drawingml/2006/main">
            <a:pPr>
              <a:defRPr sz="1500" b="0">
                <a:solidFill>
                  <a:srgbClr val="5B6476"/>
                </a:solidFill>
                <a:latin typeface="Malgun Gothic"/>
                <a:ea typeface="Malgun Gothic"/>
                <a:cs typeface="Malgun Gothic"/>
              </a:defRPr>
            </a:pPr>
            <a:r>
              <a:rPr sz="1500" b="0">
                <a:solidFill>
                  <a:srgbClr val="5B6476"/>
                </a:solidFill>
                <a:latin typeface="Malgun Gothic"/>
                <a:ea typeface="Malgun Gothic"/>
                <a:cs typeface="Malgun Gothic"/>
              </a:rPr>
              <a:t>자동 태그 검사가 번역 의미 보존을 보장하지 않음</a:t>
            </a:r>
          </a:p>
        </p:txBody>
      </p:sp>
      <p:sp>
        <p:nvSpPr>
          <p:cNvPr id="537" name="">
            <a:extLst xmlns:a="http://schemas.openxmlformats.org/drawingml/2006/main">
              <a:ext uri="{FF2B5EF4-FFF2-40B4-BE49-F238E27FC236}">
                <a16:creationId xmlns:a16="http://schemas.microsoft.com/office/drawing/2014/main" id="{51CBD728-2646-4C63-BE83-6901B1C0617F}"/>
              </a:ext>
            </a:extLst>
          </p:cNvPr>
          <p:cNvSpPr>
            <a:spLocks xmlns:a="http://schemas.openxmlformats.org/drawingml/2006/main" noGrp="1"/>
          </p:cNvSpPr>
          <p:nvPr/>
        </p:nvSpPr>
        <p:spPr>
          <a:xfrm xmlns:a="http://schemas.openxmlformats.org/drawingml/2006/main">
            <a:off x="6248400" y="200977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3456BF"/>
                </a:solidFill>
                <a:latin typeface="Malgun Gothic"/>
                <a:ea typeface="Malgun Gothic"/>
                <a:cs typeface="Malgun Gothic"/>
              </a:defRPr>
            </a:pPr>
            <a:r>
              <a:rPr sz="2250" b="1">
                <a:solidFill>
                  <a:srgbClr val="3456BF"/>
                </a:solidFill>
                <a:latin typeface="Malgun Gothic"/>
                <a:ea typeface="Malgun Gothic"/>
                <a:cs typeface="Malgun Gothic"/>
              </a:rPr>
              <a:t>4~6월 공고 행 137,745건</a:t>
            </a:r>
          </a:p>
        </p:txBody>
      </p:sp>
      <p:sp>
        <p:nvSpPr>
          <p:cNvPr id="538" name="">
            <a:extLst xmlns:a="http://schemas.openxmlformats.org/drawingml/2006/main">
              <a:ext uri="{FF2B5EF4-FFF2-40B4-BE49-F238E27FC236}">
                <a16:creationId xmlns:a16="http://schemas.microsoft.com/office/drawing/2014/main" id="{BEA19086-B69F-4876-8763-5730D05278F0}"/>
              </a:ext>
            </a:extLst>
          </p:cNvPr>
          <p:cNvSpPr>
            <a:spLocks xmlns:a="http://schemas.openxmlformats.org/drawingml/2006/main" noGrp="1"/>
          </p:cNvSpPr>
          <p:nvPr/>
        </p:nvSpPr>
        <p:spPr>
          <a:xfrm xmlns:a="http://schemas.openxmlformats.org/drawingml/2006/main">
            <a:off x="6248400" y="2476500"/>
            <a:ext cx="554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차수 포함 / 최신 차수 124,522건</a:t>
            </a:r>
          </a:p>
        </p:txBody>
      </p:sp>
      <p:graphicFrame>
        <p:nvGraphicFramePr>
          <p:cNvPr id="550" name=""/>
          <p:cNvGraphicFramePr/>
          <p:nvPr/>
        </p:nvGraphicFramePr>
        <p:xfrm>
          <a:off xmlns:a="http://schemas.openxmlformats.org/drawingml/2006/main" x="6248400" y="3028950"/>
          <a:ext xmlns:a="http://schemas.openxmlformats.org/drawingml/2006/main" cx="5543550" cy="2228850"/>
        </p:xfrm>
        <a:graphic xmlns:a="http://schemas.openxmlformats.org/drawingml/2006/main">
          <a:graphicData uri="http://schemas.openxmlformats.org/drawingml/2006/table">
            <a:tbl>
              <a:tblPr/>
              <a:tblGrid>
                <a:gridCol w="2876550"/>
                <a:gridCol w="1333500"/>
                <a:gridCol w="1333500"/>
              </a:tblGrid>
              <a:tr h="514350">
                <a:tc>
                  <a:txBody>
                    <a:bodyPr/>
                    <a:lstStyle/>
                    <a:p>
                      <a:r>
                        <a:rPr sz="1725" b="1">
                          <a:solidFill>
                            <a:srgbClr val="3456BF"/>
                          </a:solidFill>
                          <a:latin typeface="Malgun Gothic"/>
                          <a:ea typeface="Malgun Gothic"/>
                          <a:cs typeface="Malgun Gothic"/>
                        </a:rPr>
                        <a:t>타깃 분야</a:t>
                      </a:r>
                    </a:p>
                  </a:txBody>
                  <a:tcPr marL="95250" marR="95250" marT="95250" marB="85725" anchor="ctr">
                    <a:solidFill>
                      <a:srgbClr val="E8EDF9"/>
                    </a:solidFill>
                  </a:tcPr>
                </a:tc>
                <a:tc>
                  <a:txBody>
                    <a:bodyPr/>
                    <a:lstStyle/>
                    <a:p>
                      <a:r>
                        <a:rPr sz="1725" b="1">
                          <a:solidFill>
                            <a:srgbClr val="3456BF"/>
                          </a:solidFill>
                          <a:latin typeface="Malgun Gothic"/>
                          <a:ea typeface="Malgun Gothic"/>
                          <a:cs typeface="Malgun Gothic"/>
                        </a:rPr>
                        <a:t>공고</a:t>
                      </a:r>
                    </a:p>
                  </a:txBody>
                  <a:tcPr marL="95250" marR="95250" marT="95250" marB="85725" anchor="ctr">
                    <a:solidFill>
                      <a:srgbClr val="E8EDF9"/>
                    </a:solidFill>
                  </a:tcPr>
                </a:tc>
                <a:tc>
                  <a:txBody>
                    <a:bodyPr/>
                    <a:lstStyle/>
                    <a:p>
                      <a:r>
                        <a:rPr sz="1725" b="1">
                          <a:solidFill>
                            <a:srgbClr val="3456BF"/>
                          </a:solidFill>
                          <a:latin typeface="Malgun Gothic"/>
                          <a:ea typeface="Malgun Gothic"/>
                          <a:cs typeface="Malgun Gothic"/>
                        </a:rPr>
                        <a:t>완전 공고</a:t>
                      </a:r>
                    </a:p>
                  </a:txBody>
                  <a:tcPr marL="95250" marR="95250" marT="95250" marB="85725" anchor="ctr">
                    <a:solidFill>
                      <a:srgbClr val="E8EDF9"/>
                    </a:solidFill>
                  </a:tcPr>
                </a:tc>
              </a:tr>
              <a:tr h="0">
                <a:tc>
                  <a:txBody>
                    <a:bodyPr/>
                    <a:lstStyle/>
                    <a:p>
                      <a:r>
                        <a:rPr sz="1725">
                          <a:solidFill>
                            <a:srgbClr val="161C2C"/>
                          </a:solidFill>
                          <a:latin typeface="Malgun Gothic"/>
                          <a:ea typeface="Malgun Gothic"/>
                          <a:cs typeface="Malgun Gothic"/>
                        </a:rPr>
                        <a:t>SW·시스템 개발</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2,163</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984</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운영·유지관리</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1,313</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681</a:t>
                      </a:r>
                    </a:p>
                  </a:txBody>
                  <a:tcPr marL="95250" marR="95250" marT="95250" marB="85725" anchor="ctr">
                    <a:solidFill>
                      <a:srgbClr val="F8FAFC"/>
                    </a:solidFill>
                  </a:tcPr>
                </a:tc>
              </a:tr>
              <a:tr h="0">
                <a:tc>
                  <a:txBody>
                    <a:bodyPr/>
                    <a:lstStyle/>
                    <a:p>
                      <a:r>
                        <a:rPr sz="1725">
                          <a:solidFill>
                            <a:srgbClr val="161C2C"/>
                          </a:solidFill>
                          <a:latin typeface="Malgun Gothic"/>
                          <a:ea typeface="Malgun Gothic"/>
                          <a:cs typeface="Malgun Gothic"/>
                        </a:rPr>
                        <a:t>합계</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3,476</a:t>
                      </a:r>
                    </a:p>
                  </a:txBody>
                  <a:tcPr marL="95250" marR="95250" marT="95250" marB="85725" anchor="ctr">
                    <a:solidFill>
                      <a:srgbClr val="F8FAFC"/>
                    </a:solidFill>
                  </a:tcPr>
                </a:tc>
                <a:tc>
                  <a:txBody>
                    <a:bodyPr/>
                    <a:lstStyle/>
                    <a:p>
                      <a:r>
                        <a:rPr sz="1725">
                          <a:solidFill>
                            <a:srgbClr val="161C2C"/>
                          </a:solidFill>
                          <a:latin typeface="Malgun Gothic"/>
                          <a:ea typeface="Malgun Gothic"/>
                          <a:cs typeface="Malgun Gothic"/>
                        </a:rPr>
                        <a:t>1,665</a:t>
                      </a:r>
                    </a:p>
                  </a:txBody>
                  <a:tcPr marL="95250" marR="95250" marT="95250" marB="85725" anchor="ctr">
                    <a:solidFill>
                      <a:srgbClr val="F8FAFC"/>
                    </a:solidFill>
                  </a:tcPr>
                </a:tc>
              </a:tr>
            </a:tbl>
          </a:graphicData>
        </a:graphic>
      </p:graphicFrame>
      <p:sp>
        <p:nvSpPr>
          <p:cNvPr id="540" name="">
            <a:extLst xmlns:a="http://schemas.openxmlformats.org/drawingml/2006/main">
              <a:ext uri="{FF2B5EF4-FFF2-40B4-BE49-F238E27FC236}">
                <a16:creationId xmlns:a16="http://schemas.microsoft.com/office/drawing/2014/main" id="{A265F991-42BB-443A-A57C-2057AC4C85D2}"/>
              </a:ext>
            </a:extLst>
          </p:cNvPr>
          <p:cNvSpPr>
            <a:spLocks xmlns:a="http://schemas.openxmlformats.org/drawingml/2006/main" noGrp="1"/>
          </p:cNvSpPr>
          <p:nvPr/>
        </p:nvSpPr>
        <p:spPr>
          <a:xfrm xmlns:a="http://schemas.openxmlformats.org/drawingml/2006/main">
            <a:off x="6248400" y="5476875"/>
            <a:ext cx="5543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표본 51건 (월별 17건) 선정·수집</a:t>
            </a:r>
          </a:p>
        </p:txBody>
      </p:sp>
      <p:sp>
        <p:nvSpPr>
          <p:cNvPr id="541" name="">
            <a:extLst xmlns:a="http://schemas.openxmlformats.org/drawingml/2006/main">
              <a:ext uri="{FF2B5EF4-FFF2-40B4-BE49-F238E27FC236}">
                <a16:creationId xmlns:a16="http://schemas.microsoft.com/office/drawing/2014/main" id="{416C89AF-0560-4941-92EA-8A7B2AB4D617}"/>
              </a:ext>
            </a:extLst>
          </p:cNvPr>
          <p:cNvSpPr>
            <a:spLocks xmlns:a="http://schemas.openxmlformats.org/drawingml/2006/main" noGrp="1"/>
          </p:cNvSpPr>
          <p:nvPr/>
        </p:nvSpPr>
        <p:spPr>
          <a:xfrm xmlns:a="http://schemas.openxmlformats.org/drawingml/2006/main">
            <a:off x="6248400" y="5943600"/>
            <a:ext cx="5543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B6476"/>
                </a:solidFill>
                <a:latin typeface="Malgun Gothic"/>
                <a:ea typeface="Malgun Gothic"/>
                <a:cs typeface="Malgun Gothic"/>
              </a:defRPr>
            </a:pPr>
            <a:r>
              <a:rPr sz="1425" b="0">
                <a:solidFill>
                  <a:srgbClr val="5B6476"/>
                </a:solidFill>
                <a:latin typeface="Malgun Gothic"/>
                <a:ea typeface="Malgun Gothic"/>
                <a:cs typeface="Malgun Gothic"/>
              </a:rPr>
              <a:t>완전 공고 = 공고문 + (RFP 또는 과업·규격)</a:t>
            </a:r>
          </a:p>
          <a:p xmlns:a="http://schemas.openxmlformats.org/drawingml/2006/main">
            <a:pPr>
              <a:defRPr sz="1425" b="0">
                <a:solidFill>
                  <a:srgbClr val="5B6476"/>
                </a:solidFill>
                <a:latin typeface="Malgun Gothic"/>
                <a:ea typeface="Malgun Gothic"/>
                <a:cs typeface="Malgun Gothic"/>
              </a:defRPr>
            </a:pPr>
            <a:r>
              <a:rPr sz="1425" b="0">
                <a:solidFill>
                  <a:srgbClr val="5B6476"/>
                </a:solidFill>
                <a:latin typeface="Malgun Gothic"/>
                <a:ea typeface="Malgun Gothic"/>
                <a:cs typeface="Malgun Gothic"/>
              </a:rPr>
              <a:t>선정 이유는 실적·인력·인증·단가 검토의 적합성</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6AD4425-62A5-20FE-DA81-DB0262F8E9D3}"/>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4</a:t>
            </a:r>
          </a:p>
        </p:txBody>
      </p:sp>
      <p:sp>
        <p:nvSpPr>
          <p:cNvPr id="533" name="Google Shape;533;p58">
            <a:extLst xmlns:a="http://schemas.openxmlformats.org/drawingml/2006/main">
              <a:ext uri="{FF2B5EF4-FFF2-40B4-BE49-F238E27FC236}">
                <a16:creationId xmlns:a16="http://schemas.microsoft.com/office/drawing/2014/main" id="{CCB3C549-3412-D9EC-FC96-8C0EA25A4312}"/>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광역·사옥·설비 공간 탐색 프로토타입</a:t>
            </a:r>
          </a:p>
        </p:txBody>
      </p:sp>
      <p:sp>
        <p:nvSpPr>
          <p:cNvPr id="11" name="Footer Placeholder 10">
            <a:extLst xmlns:a="http://schemas.openxmlformats.org/drawingml/2006/main">
              <a:ext uri="{FF2B5EF4-FFF2-40B4-BE49-F238E27FC236}">
                <a16:creationId xmlns:a16="http://schemas.microsoft.com/office/drawing/2014/main" id="{BD5D3365-630B-7DA2-6578-D2DE7ACBBC07}"/>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076E58D8-94E3-59EF-6F5D-94479531D945}"/>
              </a:ext>
            </a:extLst>
          </p:cNvPr>
          <p:cNvSpPr>
            <a:spLocks xmlns:a="http://schemas.openxmlformats.org/drawingml/2006/main" noGrp="1"/>
          </p:cNvSpPr>
          <p:nvPr/>
        </p:nvSpPr>
        <p:spPr>
          <a:xfrm xmlns:a="http://schemas.openxmlformats.org/drawingml/2006/main">
            <a:off x="390525" y="5591175"/>
            <a:ext cx="5667375" cy="8001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725" b="0">
                <a:solidFill>
                  <a:srgbClr val="5B6476"/>
                </a:solidFill>
                <a:latin typeface="Malgun Gothic"/>
                <a:ea typeface="Malgun Gothic"/>
                <a:cs typeface="Malgun Gothic"/>
              </a:defRPr>
            </a:pPr>
            <a:r>
              <a:rPr sz="1725" b="0">
                <a:solidFill>
                  <a:srgbClr val="5B6476"/>
                </a:solidFill>
                <a:latin typeface="Malgun Gothic"/>
                <a:ea typeface="Malgun Gothic"/>
                <a:cs typeface="Malgun Gothic"/>
              </a:rPr>
              <a:t>문서·과업·설비 ID를 연결한 시연</a:t>
            </a:r>
          </a:p>
          <a:p xmlns:a="http://schemas.openxmlformats.org/drawingml/2006/main">
            <a:pPr marL="0" indent="0">
              <a:spcBef>
                <a:spcPts val="0"/>
              </a:spcBef>
              <a:spcAft>
                <a:spcPts val="0"/>
              </a:spcAft>
              <a:buNone/>
              <a:defRPr sz="1725" b="0">
                <a:solidFill>
                  <a:srgbClr val="5B6476"/>
                </a:solidFill>
                <a:latin typeface="Malgun Gothic"/>
                <a:ea typeface="Malgun Gothic"/>
                <a:cs typeface="Malgun Gothic"/>
              </a:defRPr>
            </a:pPr>
            <a:r>
              <a:rPr sz="1725" b="0">
                <a:solidFill>
                  <a:srgbClr val="5B6476"/>
                </a:solidFill>
                <a:latin typeface="Malgun Gothic"/>
                <a:ea typeface="Malgun Gothic"/>
                <a:cs typeface="Malgun Gothic"/>
              </a:rPr>
              <a:t>GraphRAG·생성·탐지 모델은 미연결</a:t>
            </a:r>
          </a:p>
        </p:txBody>
      </p:sp>
      <p:sp>
        <p:nvSpPr>
          <p:cNvPr id="5" name="Google Shape;534;p58">
            <a:extLst xmlns:a="http://schemas.openxmlformats.org/drawingml/2006/main">
              <a:ext uri="{FF2B5EF4-FFF2-40B4-BE49-F238E27FC236}">
                <a16:creationId xmlns:a16="http://schemas.microsoft.com/office/drawing/2014/main" id="{EC39CC4A-7702-F34C-BFC1-C34643FFFDEE}"/>
              </a:ext>
            </a:extLst>
          </p:cNvPr>
          <p:cNvSpPr>
            <a:spLocks xmlns:a="http://schemas.openxmlformats.org/drawingml/2006/main" noGrp="1"/>
          </p:cNvSpPr>
          <p:nvPr/>
        </p:nvSpPr>
        <p:spPr>
          <a:xfrm xmlns:a="http://schemas.openxmlformats.org/drawingml/2006/main">
            <a:off x="390525" y="1304925"/>
            <a:ext cx="5715000" cy="44767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2025" b="0">
                <a:solidFill>
                  <a:srgbClr val="161C2C"/>
                </a:solidFill>
                <a:latin typeface="Malgun Gothic"/>
                <a:ea typeface="Malgun Gothic"/>
                <a:cs typeface="Malgun Gothic"/>
              </a:defRPr>
            </a:pPr>
            <a:r>
              <a:rPr sz="2025" b="0">
                <a:solidFill>
                  <a:srgbClr val="161C2C"/>
                </a:solidFill>
                <a:latin typeface="Malgun Gothic"/>
                <a:ea typeface="Malgun Gothic"/>
                <a:cs typeface="Malgun Gothic"/>
              </a:rPr>
              <a:t>합성 자료 기반의 3단계 탐색 동작</a:t>
            </a:r>
          </a:p>
        </p:txBody>
      </p:sp>
      <p:sp>
        <p:nvSpPr>
          <p:cNvPr id="27" name="Content Placeholder 10">
            <a:extLst xmlns:a="http://schemas.openxmlformats.org/drawingml/2006/main">
              <a:ext uri="{FF2B5EF4-FFF2-40B4-BE49-F238E27FC236}">
                <a16:creationId xmlns:a16="http://schemas.microsoft.com/office/drawing/2014/main" id="{B4FA777D-1E43-2118-018B-D684DB7EFEF1}"/>
              </a:ext>
            </a:extLst>
          </p:cNvPr>
          <p:cNvSpPr>
            <a:spLocks xmlns:a="http://schemas.openxmlformats.org/drawingml/2006/main" noGrp="1"/>
          </p:cNvSpPr>
          <p:nvPr/>
        </p:nvSpPr>
        <p:spPr>
          <a:xfrm xmlns:a="http://schemas.openxmlformats.org/drawingml/2006/main">
            <a:off x="6648450" y="2276475"/>
            <a:ext cx="4857750" cy="58102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가상 특구·현실 지도 앵커 탐색</a:t>
            </a:r>
          </a:p>
          <a:p xmlns:a="http://schemas.openxmlformats.org/drawingml/2006/main">
            <a:pPr marL="0" indent="0">
              <a:spcBef>
                <a:spcPts val="0"/>
              </a:spcBef>
              <a:spcAft>
                <a:spcPts val="0"/>
              </a:spcAft>
              <a:buNone/>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실제 공고 밀집도 데이터는 미연결</a:t>
            </a:r>
          </a:p>
        </p:txBody>
      </p:sp>
      <p:sp>
        <p:nvSpPr>
          <p:cNvPr id="28" name="TextBox 27">
            <a:extLst xmlns:a="http://schemas.openxmlformats.org/drawingml/2006/main">
              <a:ext uri="{FF2B5EF4-FFF2-40B4-BE49-F238E27FC236}">
                <a16:creationId xmlns:a16="http://schemas.microsoft.com/office/drawing/2014/main" id="{F2F01BD9-1359-C69B-3F1A-A36534227FFE}"/>
              </a:ext>
            </a:extLst>
          </p:cNvPr>
          <p:cNvSpPr>
            <a:spLocks xmlns:a="http://schemas.openxmlformats.org/drawingml/2006/main" noGrp="1"/>
          </p:cNvSpPr>
          <p:nvPr/>
        </p:nvSpPr>
        <p:spPr>
          <a:xfrm xmlns:a="http://schemas.openxmlformats.org/drawingml/2006/main">
            <a:off x="6648450" y="1876425"/>
            <a:ext cx="48577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spcBef>
                <a:spcPts val="0"/>
              </a:spcBef>
              <a:spcAft>
                <a:spcPts val="0"/>
              </a:spcAft>
              <a:buNone/>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광역 / Macro</a:t>
            </a:r>
          </a:p>
        </p:txBody>
      </p:sp>
      <p:sp>
        <p:nvSpPr>
          <p:cNvPr id="2" name="Rounded Rectangle 1">
            <a:extLst xmlns:a="http://schemas.openxmlformats.org/drawingml/2006/main">
              <a:ext uri="{FF2B5EF4-FFF2-40B4-BE49-F238E27FC236}">
                <a16:creationId xmlns:a16="http://schemas.microsoft.com/office/drawing/2014/main" id="{3C99D68F-34ED-A722-D7DB-03942B0B77DB}"/>
              </a:ext>
            </a:extLst>
          </p:cNvPr>
          <p:cNvSpPr>
            <a:spLocks xmlns:a="http://schemas.openxmlformats.org/drawingml/2006/main" noGrp="1"/>
          </p:cNvSpPr>
          <p:nvPr/>
        </p:nvSpPr>
        <p:spPr>
          <a:xfrm xmlns:a="http://schemas.openxmlformats.org/drawingml/2006/main">
            <a:off x="6405842" y="152193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4" name="Content Placeholder 10">
            <a:extLst xmlns:a="http://schemas.openxmlformats.org/drawingml/2006/main">
              <a:ext uri="{FF2B5EF4-FFF2-40B4-BE49-F238E27FC236}">
                <a16:creationId xmlns:a16="http://schemas.microsoft.com/office/drawing/2014/main" id="{32674159-B6E6-B9EF-D753-5EF1E687140B}"/>
              </a:ext>
            </a:extLst>
          </p:cNvPr>
          <p:cNvSpPr>
            <a:spLocks xmlns:a="http://schemas.openxmlformats.org/drawingml/2006/main" noGrp="1"/>
          </p:cNvSpPr>
          <p:nvPr/>
        </p:nvSpPr>
        <p:spPr>
          <a:xfrm xmlns:a="http://schemas.openxmlformats.org/drawingml/2006/main">
            <a:off x="6648450" y="3790950"/>
            <a:ext cx="4857750" cy="58102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카메라 보간 이동, 포탈·HUD 전개</a:t>
            </a:r>
          </a:p>
          <a:p xmlns:a="http://schemas.openxmlformats.org/drawingml/2006/main">
            <a:pPr marL="0" indent="0">
              <a:spcBef>
                <a:spcPts val="0"/>
              </a:spcBef>
              <a:spcAft>
                <a:spcPts val="0"/>
              </a:spcAft>
              <a:buNone/>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합성 좌표와 선택 공고 화면 동기화</a:t>
            </a:r>
          </a:p>
        </p:txBody>
      </p:sp>
      <p:sp>
        <p:nvSpPr>
          <p:cNvPr id="6" name="TextBox 5">
            <a:extLst xmlns:a="http://schemas.openxmlformats.org/drawingml/2006/main">
              <a:ext uri="{FF2B5EF4-FFF2-40B4-BE49-F238E27FC236}">
                <a16:creationId xmlns:a16="http://schemas.microsoft.com/office/drawing/2014/main" id="{57D84212-7716-6AFC-2CCA-1118E41834EC}"/>
              </a:ext>
            </a:extLst>
          </p:cNvPr>
          <p:cNvSpPr>
            <a:spLocks xmlns:a="http://schemas.openxmlformats.org/drawingml/2006/main" noGrp="1"/>
          </p:cNvSpPr>
          <p:nvPr/>
        </p:nvSpPr>
        <p:spPr>
          <a:xfrm xmlns:a="http://schemas.openxmlformats.org/drawingml/2006/main">
            <a:off x="6648450" y="3390900"/>
            <a:ext cx="48577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spcBef>
                <a:spcPts val="0"/>
              </a:spcBef>
              <a:spcAft>
                <a:spcPts val="0"/>
              </a:spcAft>
              <a:buNone/>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사옥 / Building</a:t>
            </a:r>
          </a:p>
        </p:txBody>
      </p:sp>
      <p:sp>
        <p:nvSpPr>
          <p:cNvPr id="7" name="Rounded Rectangle 6">
            <a:extLst xmlns:a="http://schemas.openxmlformats.org/drawingml/2006/main">
              <a:ext uri="{FF2B5EF4-FFF2-40B4-BE49-F238E27FC236}">
                <a16:creationId xmlns:a16="http://schemas.microsoft.com/office/drawing/2014/main" id="{520BED9B-3AD0-B986-23FF-346EFF8EE6FA}"/>
              </a:ext>
            </a:extLst>
          </p:cNvPr>
          <p:cNvSpPr>
            <a:spLocks xmlns:a="http://schemas.openxmlformats.org/drawingml/2006/main" noGrp="1"/>
          </p:cNvSpPr>
          <p:nvPr/>
        </p:nvSpPr>
        <p:spPr>
          <a:xfrm xmlns:a="http://schemas.openxmlformats.org/drawingml/2006/main">
            <a:off x="6405842" y="303069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8" name="Content Placeholder 10">
            <a:extLst xmlns:a="http://schemas.openxmlformats.org/drawingml/2006/main">
              <a:ext uri="{FF2B5EF4-FFF2-40B4-BE49-F238E27FC236}">
                <a16:creationId xmlns:a16="http://schemas.microsoft.com/office/drawing/2014/main" id="{58865802-6967-7210-3371-DEA6828B57A2}"/>
              </a:ext>
            </a:extLst>
          </p:cNvPr>
          <p:cNvSpPr>
            <a:spLocks xmlns:a="http://schemas.openxmlformats.org/drawingml/2006/main" noGrp="1"/>
          </p:cNvSpPr>
          <p:nvPr/>
        </p:nvSpPr>
        <p:spPr>
          <a:xfrm xmlns:a="http://schemas.openxmlformats.org/drawingml/2006/main">
            <a:off x="6648450" y="5238750"/>
            <a:ext cx="4857750" cy="58102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외벽 와이어프레임·설비 강조</a:t>
            </a:r>
          </a:p>
          <a:p xmlns:a="http://schemas.openxmlformats.org/drawingml/2006/main">
            <a:pPr marL="0" indent="0">
              <a:spcBef>
                <a:spcPts val="0"/>
              </a:spcBef>
              <a:spcAft>
                <a:spcPts val="0"/>
              </a:spcAft>
              <a:buNone/>
              <a:defRPr sz="1650" b="0">
                <a:solidFill>
                  <a:srgbClr val="161C2C"/>
                </a:solidFill>
                <a:latin typeface="Malgun Gothic"/>
                <a:ea typeface="Malgun Gothic"/>
                <a:cs typeface="Malgun Gothic"/>
              </a:defRPr>
            </a:pPr>
            <a:r>
              <a:rPr sz="1650" b="0">
                <a:solidFill>
                  <a:srgbClr val="161C2C"/>
                </a:solidFill>
                <a:latin typeface="Malgun Gothic"/>
                <a:ea typeface="Malgun Gothic"/>
                <a:cs typeface="Malgun Gothic"/>
              </a:rPr>
              <a:t>실제 BIM 절단·실측 설비는 아님</a:t>
            </a:r>
          </a:p>
        </p:txBody>
      </p:sp>
      <p:sp>
        <p:nvSpPr>
          <p:cNvPr id="9" name="TextBox 8">
            <a:extLst xmlns:a="http://schemas.openxmlformats.org/drawingml/2006/main">
              <a:ext uri="{FF2B5EF4-FFF2-40B4-BE49-F238E27FC236}">
                <a16:creationId xmlns:a16="http://schemas.microsoft.com/office/drawing/2014/main" id="{DD2FEB2E-B2D7-376B-AFC1-B25E2E37C15B}"/>
              </a:ext>
            </a:extLst>
          </p:cNvPr>
          <p:cNvSpPr>
            <a:spLocks xmlns:a="http://schemas.openxmlformats.org/drawingml/2006/main" noGrp="1"/>
          </p:cNvSpPr>
          <p:nvPr/>
        </p:nvSpPr>
        <p:spPr>
          <a:xfrm xmlns:a="http://schemas.openxmlformats.org/drawingml/2006/main">
            <a:off x="6648450" y="4838700"/>
            <a:ext cx="48577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spcBef>
                <a:spcPts val="0"/>
              </a:spcBef>
              <a:spcAft>
                <a:spcPts val="0"/>
              </a:spcAft>
              <a:buNone/>
              <a:defRPr sz="1875" b="1">
                <a:solidFill>
                  <a:srgbClr val="3456BF"/>
                </a:solidFill>
                <a:latin typeface="Malgun Gothic"/>
                <a:ea typeface="Malgun Gothic"/>
                <a:cs typeface="Malgun Gothic"/>
              </a:defRPr>
            </a:pPr>
            <a:r>
              <a:rPr sz="1875" b="1">
                <a:solidFill>
                  <a:srgbClr val="3456BF"/>
                </a:solidFill>
                <a:latin typeface="Malgun Gothic"/>
                <a:ea typeface="Malgun Gothic"/>
                <a:cs typeface="Malgun Gothic"/>
              </a:rPr>
              <a:t>설비 / Interior</a:t>
            </a:r>
          </a:p>
        </p:txBody>
      </p:sp>
      <p:sp>
        <p:nvSpPr>
          <p:cNvPr id="10" name="Rounded Rectangle 9">
            <a:extLst xmlns:a="http://schemas.openxmlformats.org/drawingml/2006/main">
              <a:ext uri="{FF2B5EF4-FFF2-40B4-BE49-F238E27FC236}">
                <a16:creationId xmlns:a16="http://schemas.microsoft.com/office/drawing/2014/main" id="{F95C5540-5014-B354-3651-51BA127570AA}"/>
              </a:ext>
            </a:extLst>
          </p:cNvPr>
          <p:cNvSpPr>
            <a:spLocks xmlns:a="http://schemas.openxmlformats.org/drawingml/2006/main" noGrp="1"/>
          </p:cNvSpPr>
          <p:nvPr/>
        </p:nvSpPr>
        <p:spPr>
          <a:xfrm xmlns:a="http://schemas.openxmlformats.org/drawingml/2006/main">
            <a:off x="6405843" y="453945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pic>
        <p:nvPicPr>
          <p:cNvPr id="551" name=""/>
          <p:cNvPicPr>
            <a:picLocks xmlns:a="http://schemas.openxmlformats.org/drawingml/2006/main" noChangeAspect="1"/>
          </p:cNvPicPr>
          <p:nvPr/>
        </p:nvPicPr>
        <p:blipFill>
          <a:blip xmlns:r="http://schemas.openxmlformats.org/officeDocument/2006/relationships" xmlns:a="http://schemas.openxmlformats.org/drawingml/2006/main" r:embed="Ra148be4929e14790"/>
          <a:stretch xmlns:a="http://schemas.openxmlformats.org/drawingml/2006/main"/>
        </p:blipFill>
        <p:spPr>
          <a:xfrm xmlns:a="http://schemas.openxmlformats.org/drawingml/2006/main">
            <a:off x="390525" y="1853208"/>
            <a:ext cx="5619750" cy="3161109"/>
          </a:xfrm>
          <a:prstGeom xmlns:a="http://schemas.openxmlformats.org/drawingml/2006/main" prst="rect">
            <a:avLst/>
          </a:prstGeom>
        </p:spPr>
      </p:pic>
      <p:sp>
        <p:nvSpPr>
          <p:cNvPr id="535" name="">
            <a:extLst xmlns:a="http://schemas.openxmlformats.org/drawingml/2006/main">
              <a:ext uri="{FF2B5EF4-FFF2-40B4-BE49-F238E27FC236}">
                <a16:creationId xmlns:a16="http://schemas.microsoft.com/office/drawing/2014/main" id="{CDECD948-62D3-4E1E-811C-C1E686FE65DA}"/>
              </a:ext>
            </a:extLst>
          </p:cNvPr>
          <p:cNvSpPr>
            <a:spLocks xmlns:a="http://schemas.openxmlformats.org/drawingml/2006/main" noGrp="1"/>
          </p:cNvSpPr>
          <p:nvPr/>
        </p:nvSpPr>
        <p:spPr>
          <a:xfrm xmlns:a="http://schemas.openxmlformats.org/drawingml/2006/main">
            <a:off x="390525" y="51625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3456BF"/>
                </a:solidFill>
                <a:latin typeface="Malgun Gothic"/>
                <a:ea typeface="Malgun Gothic"/>
                <a:cs typeface="Malgun Gothic"/>
              </a:defRPr>
            </a:pPr>
            <a:r>
              <a:rPr sz="1575" b="0">
                <a:solidFill>
                  <a:srgbClr val="3456BF"/>
                </a:solidFill>
                <a:latin typeface="Malgun Gothic"/>
                <a:ea typeface="Malgun Gothic"/>
                <a:cs typeface="Malgun Gothic"/>
              </a:rPr>
              <a:t>합성 데이터 기반 실제 데모 캡처</a:t>
            </a:r>
          </a:p>
        </p:txBody>
      </p:sp>
      <p:sp>
        <p:nvSpPr>
          <p:cNvPr id="536" name="">
            <a:extLst xmlns:a="http://schemas.openxmlformats.org/drawingml/2006/main">
              <a:ext uri="{FF2B5EF4-FFF2-40B4-BE49-F238E27FC236}">
                <a16:creationId xmlns:a16="http://schemas.microsoft.com/office/drawing/2014/main" id="{4C3B24FA-9930-4CBF-97AA-35BF9D81B723}"/>
              </a:ext>
            </a:extLst>
          </p:cNvPr>
          <p:cNvSpPr>
            <a:spLocks xmlns:a="http://schemas.openxmlformats.org/drawingml/2006/main" noGrp="1"/>
          </p:cNvSpPr>
          <p:nvPr/>
        </p:nvSpPr>
        <p:spPr>
          <a:xfrm xmlns:a="http://schemas.openxmlformats.org/drawingml/2006/main">
            <a:off x="390525" y="6457950"/>
            <a:ext cx="1095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B6476"/>
                </a:solidFill>
                <a:latin typeface="Malgun Gothic"/>
                <a:ea typeface="Malgun Gothic"/>
                <a:cs typeface="Malgun Gothic"/>
              </a:defRPr>
            </a:pPr>
            <a:r>
              <a:rPr sz="1275" b="0">
                <a:solidFill>
                  <a:srgbClr val="5B6476"/>
                </a:solidFill>
                <a:latin typeface="Malgun Gothic"/>
                <a:ea typeface="Malgun Gothic"/>
                <a:cs typeface="Malgun Gothic"/>
              </a:rPr>
              <a:t>화면의 구 공간 L1/L2/L3 표기는 문서 보안 등급과 별개</a:t>
            </a:r>
          </a:p>
        </p:txBody>
      </p:sp>
    </p:spTree>
    <p:extLst>
      <p:ext uri="{BB962C8B-B14F-4D97-AF65-F5344CB8AC3E}">
        <p14:creationId xmlns:p14="http://schemas.microsoft.com/office/powerpoint/2010/main" val="33661403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4429360-E0B5-E472-3BCB-2FC70A04DAF5}"/>
              </a:ext>
            </a:extLst>
          </p:cNvPr>
          <p:cNvSpPr>
            <a:spLocks xmlns:a="http://schemas.openxmlformats.org/drawingml/2006/main" noGrp="1"/>
          </p:cNvSpPr>
          <p:nvPr>
            <p:ph type="sldNum" idx="4"/>
          </p:nvPr>
        </p:nvSpPr>
        <p:spPr>
          <a:xfrm xmlns:a="http://schemas.openxmlformats.org/drawingml/2006/main">
            <a:off x="11601450" y="6381750"/>
            <a:ext cx="285750" cy="23812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5</a:t>
            </a:r>
          </a:p>
        </p:txBody>
      </p:sp>
      <p:sp>
        <p:nvSpPr>
          <p:cNvPr id="533" name="Google Shape;533;p58">
            <a:extLst xmlns:a="http://schemas.openxmlformats.org/drawingml/2006/main">
              <a:ext uri="{FF2B5EF4-FFF2-40B4-BE49-F238E27FC236}">
                <a16:creationId xmlns:a16="http://schemas.microsoft.com/office/drawing/2014/main" id="{3CD65521-5912-FE80-B7B5-EE9E16A1351B}"/>
              </a:ext>
            </a:extLst>
          </p:cNvPr>
          <p:cNvSpPr>
            <a:spLocks xmlns:a="http://schemas.openxmlformats.org/drawingml/2006/main" noGrp="1"/>
          </p:cNvSpPr>
          <p:nvPr>
            <p:ph type="title" idx="0"/>
          </p:nvPr>
        </p:nvSpPr>
        <p:spPr>
          <a:xfrm xmlns:a="http://schemas.openxmlformats.org/drawingml/2006/main">
            <a:off x="390525" y="381000"/>
            <a:ext cx="11410950" cy="6286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평가 지표와 검증 설계</a:t>
            </a:r>
          </a:p>
        </p:txBody>
      </p:sp>
      <p:sp>
        <p:nvSpPr>
          <p:cNvPr id="7" name="Google Shape;534;p58">
            <a:extLst xmlns:a="http://schemas.openxmlformats.org/drawingml/2006/main">
              <a:ext uri="{FF2B5EF4-FFF2-40B4-BE49-F238E27FC236}">
                <a16:creationId xmlns:a16="http://schemas.microsoft.com/office/drawing/2014/main" id="{71547039-AB2A-5CA1-49F7-26E9E71601EF}"/>
              </a:ext>
            </a:extLst>
          </p:cNvPr>
          <p:cNvSpPr>
            <a:spLocks xmlns:a="http://schemas.openxmlformats.org/drawingml/2006/main" noGrp="1"/>
          </p:cNvSpPr>
          <p:nvPr/>
        </p:nvSpPr>
        <p:spPr>
          <a:xfrm xmlns:a="http://schemas.openxmlformats.org/drawingml/2006/main">
            <a:off x="390525" y="2838450"/>
            <a:ext cx="3952875" cy="306705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일반 RAG</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 한국어 환각 탐지</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 숫자·기간 규칙</a:t>
            </a:r>
          </a:p>
          <a:p xmlns:a="http://schemas.openxmlformats.org/drawingml/2006/main">
            <a:pPr marL="0" indent="0">
              <a:spcBef>
                <a:spcPts val="0"/>
              </a:spcBef>
              <a:spcAft>
                <a:spcPts val="0"/>
              </a:spcAft>
              <a:buNone/>
            </a:pPr>
            <a:r>
              <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GraphRAG는 구현 후 비교</a:t>
            </a:r>
          </a:p>
          <a:p xmlns:a="http://schemas.openxmlformats.org/drawingml/2006/main">
            <a:pPr marL="0" indent="0">
              <a:spcBef>
                <a:spcPts val="0"/>
              </a:spcBef>
              <a:spcAft>
                <a:spcPts val="0"/>
              </a:spcAft>
              <a:buNone/>
            </a:pPr>
            <a:r>
              <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계획</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질문 300개 / 교차 검수 100건</a:t>
            </a:r>
          </a:p>
          <a:p xmlns:a="http://schemas.openxmlformats.org/drawingml/2006/main">
            <a:pPr marL="0" indent="0">
              <a:spcBef>
                <a:spcPts val="0"/>
              </a:spcBef>
              <a:spcAft>
                <a:spcPts val="0"/>
              </a:spcAft>
              <a:buNone/>
              <a:defRPr sz="1800" b="0">
                <a:solidFill>
                  <a:srgbClr val="161C2C"/>
                </a:solidFill>
                <a:latin typeface="Malgun Gothic"/>
                <a:ea typeface="Malgun Gothic"/>
                <a:cs typeface="Malgun Gothic"/>
              </a:defRPr>
            </a:pPr>
            <a:r>
              <a:rPr sz="1800" b="0">
                <a:solidFill>
                  <a:srgbClr val="161C2C"/>
                </a:solidFill>
                <a:latin typeface="Malgun Gothic"/>
                <a:ea typeface="Malgun Gothic"/>
                <a:cs typeface="Malgun Gothic"/>
              </a:rPr>
              <a:t>권한 차단 테스트 20개</a:t>
            </a:r>
          </a:p>
        </p:txBody>
      </p:sp>
      <p:sp>
        <p:nvSpPr>
          <p:cNvPr id="8" name="Google Shape;534;p58">
            <a:extLst xmlns:a="http://schemas.openxmlformats.org/drawingml/2006/main">
              <a:ext uri="{FF2B5EF4-FFF2-40B4-BE49-F238E27FC236}">
                <a16:creationId xmlns:a16="http://schemas.microsoft.com/office/drawing/2014/main" id="{D136FB89-7449-CC90-F061-B6BF578EA25E}"/>
              </a:ext>
            </a:extLst>
          </p:cNvPr>
          <p:cNvSpPr>
            <a:spLocks xmlns:a="http://schemas.openxmlformats.org/drawingml/2006/main" noGrp="1"/>
          </p:cNvSpPr>
          <p:nvPr/>
        </p:nvSpPr>
        <p:spPr>
          <a:xfrm xmlns:a="http://schemas.openxmlformats.org/drawingml/2006/main">
            <a:off x="390525" y="1562100"/>
            <a:ext cx="3857625" cy="9525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24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20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2175" b="1">
                <a:solidFill>
                  <a:srgbClr val="161C2C"/>
                </a:solidFill>
                <a:latin typeface="Malgun Gothic"/>
                <a:ea typeface="Malgun Gothic"/>
                <a:cs typeface="Malgun Gothic"/>
              </a:defRPr>
            </a:pPr>
            <a:r>
              <a:rPr sz="2175" b="1">
                <a:solidFill>
                  <a:srgbClr val="161C2C"/>
                </a:solidFill>
                <a:latin typeface="Malgun Gothic"/>
                <a:ea typeface="Malgun Gothic"/>
                <a:cs typeface="Malgun Gothic"/>
              </a:rPr>
              <a:t>같은 공고·회사·질문으로</a:t>
            </a:r>
          </a:p>
          <a:p xmlns:a="http://schemas.openxmlformats.org/drawingml/2006/main">
            <a:pPr marL="0" indent="0">
              <a:spcBef>
                <a:spcPts val="0"/>
              </a:spcBef>
              <a:spcAft>
                <a:spcPts val="0"/>
              </a:spcAft>
              <a:buNone/>
              <a:defRPr sz="2175" b="1">
                <a:solidFill>
                  <a:srgbClr val="161C2C"/>
                </a:solidFill>
                <a:latin typeface="Malgun Gothic"/>
                <a:ea typeface="Malgun Gothic"/>
                <a:cs typeface="Malgun Gothic"/>
              </a:defRPr>
            </a:pPr>
            <a:r>
              <a:rPr sz="2175" b="1">
                <a:solidFill>
                  <a:srgbClr val="161C2C"/>
                </a:solidFill>
                <a:latin typeface="Malgun Gothic"/>
                <a:ea typeface="Malgun Gothic"/>
                <a:cs typeface="Malgun Gothic"/>
              </a:rPr>
              <a:t>비교 조건 고정</a:t>
            </a:r>
          </a:p>
        </p:txBody>
      </p:sp>
      <p:graphicFrame>
        <p:nvGraphicFramePr>
          <p:cNvPr id="540" name=""/>
          <p:cNvGraphicFramePr/>
          <p:nvPr/>
        </p:nvGraphicFramePr>
        <p:xfrm>
          <a:off xmlns:a="http://schemas.openxmlformats.org/drawingml/2006/main" x="4648200" y="1514475"/>
          <a:ext xmlns:a="http://schemas.openxmlformats.org/drawingml/2006/main" cx="7143750" cy="4171950"/>
        </p:xfrm>
        <a:graphic xmlns:a="http://schemas.openxmlformats.org/drawingml/2006/main">
          <a:graphicData uri="http://schemas.openxmlformats.org/drawingml/2006/table">
            <a:tbl>
              <a:tblPr/>
              <a:tblGrid>
                <a:gridCol w="1466850"/>
                <a:gridCol w="3524250"/>
                <a:gridCol w="2152650"/>
              </a:tblGrid>
              <a:tr h="514350">
                <a:tc>
                  <a:txBody>
                    <a:bodyPr/>
                    <a:lstStyle/>
                    <a:p>
                      <a:r>
                        <a:rPr sz="1575" b="1">
                          <a:solidFill>
                            <a:srgbClr val="3456BF"/>
                          </a:solidFill>
                          <a:latin typeface="Malgun Gothic"/>
                          <a:ea typeface="Malgun Gothic"/>
                          <a:cs typeface="Malgun Gothic"/>
                        </a:rPr>
                        <a:t>평가 축</a:t>
                      </a:r>
                    </a:p>
                  </a:txBody>
                  <a:tcPr marL="95250" marR="95250" marT="95250" marB="85725" anchor="ctr">
                    <a:solidFill>
                      <a:srgbClr val="E8EDF9"/>
                    </a:solidFill>
                  </a:tcPr>
                </a:tc>
                <a:tc>
                  <a:txBody>
                    <a:bodyPr/>
                    <a:lstStyle/>
                    <a:p>
                      <a:r>
                        <a:rPr sz="1575" b="1">
                          <a:solidFill>
                            <a:srgbClr val="3456BF"/>
                          </a:solidFill>
                          <a:latin typeface="Malgun Gothic"/>
                          <a:ea typeface="Malgun Gothic"/>
                          <a:cs typeface="Malgun Gothic"/>
                        </a:rPr>
                        <a:t>지표·조건</a:t>
                      </a:r>
                    </a:p>
                  </a:txBody>
                  <a:tcPr marL="95250" marR="95250" marT="95250" marB="85725" anchor="ctr">
                    <a:solidFill>
                      <a:srgbClr val="E8EDF9"/>
                    </a:solidFill>
                  </a:tcPr>
                </a:tc>
                <a:tc>
                  <a:txBody>
                    <a:bodyPr/>
                    <a:lstStyle/>
                    <a:p>
                      <a:r>
                        <a:rPr sz="1575" b="1">
                          <a:solidFill>
                            <a:srgbClr val="3456BF"/>
                          </a:solidFill>
                          <a:latin typeface="Malgun Gothic"/>
                          <a:ea typeface="Malgun Gothic"/>
                          <a:cs typeface="Malgun Gothic"/>
                        </a:rPr>
                        <a:t>상태</a:t>
                      </a:r>
                    </a:p>
                  </a:txBody>
                  <a:tcPr marL="95250" marR="95250" marT="95250" marB="85725" anchor="ctr">
                    <a:solidFill>
                      <a:srgbClr val="E8EDF9"/>
                    </a:solidFill>
                  </a:tcPr>
                </a:tc>
              </a:tr>
              <a:tr h="0">
                <a:tc>
                  <a:txBody>
                    <a:bodyPr/>
                    <a:lstStyle/>
                    <a:p>
                      <a:r>
                        <a:rPr sz="1575">
                          <a:solidFill>
                            <a:srgbClr val="161C2C"/>
                          </a:solidFill>
                          <a:latin typeface="Malgun Gothic"/>
                          <a:ea typeface="Malgun Gothic"/>
                          <a:cs typeface="Malgun Gothic"/>
                        </a:rPr>
                        <a:t>환각 탐지</a:t>
                      </a:r>
                    </a:p>
                  </a:txBody>
                  <a:tcPr marL="95250" marR="95250" marT="95250" marB="85725" anchor="ctr">
                    <a:solidFill>
                      <a:srgbClr val="F8FAFC"/>
                    </a:solidFill>
                  </a:tcPr>
                </a:tc>
                <a:tc>
                  <a:txBody>
                    <a:bodyPr/>
                    <a:lstStyle/>
                    <a:p>
                      <a:r>
                        <a:rPr sz="1575">
                          <a:solidFill>
                            <a:srgbClr val="161C2C"/>
                          </a:solidFill>
                          <a:latin typeface="Malgun Gothic"/>
                          <a:ea typeface="Malgun Gothic"/>
                          <a:cs typeface="Malgun Gothic"/>
                        </a:rPr>
                        <a:t>환각 P/R/F1·span F1</a:t>
                      </a:r>
                    </a:p>
                    <a:p>
                      <a:r>
                        <a:rPr sz="1575">
                          <a:solidFill>
                            <a:srgbClr val="161C2C"/>
                          </a:solidFill>
                          <a:latin typeface="Malgun Gothic"/>
                          <a:ea typeface="Malgun Gothic"/>
                          <a:cs typeface="Malgun Gothic"/>
                        </a:rPr>
                        <a:t>숫자 변조 재현율</a:t>
                      </a:r>
                    </a:p>
                  </a:txBody>
                  <a:tcPr marL="95250" marR="95250" marT="95250" marB="85725" anchor="ctr">
                    <a:solidFill>
                      <a:srgbClr val="F8FAFC"/>
                    </a:solidFill>
                  </a:tcPr>
                </a:tc>
                <a:tc>
                  <a:txBody>
                    <a:bodyPr/>
                    <a:lstStyle/>
                    <a:p>
                      <a:r>
                        <a:rPr sz="1575">
                          <a:solidFill>
                            <a:srgbClr val="161C2C"/>
                          </a:solidFill>
                          <a:latin typeface="Malgun Gothic"/>
                          <a:ea typeface="Malgun Gothic"/>
                          <a:cs typeface="Malgun Gothic"/>
                        </a:rPr>
                        <a:t>공고 평가 예정</a:t>
                      </a:r>
                    </a:p>
                  </a:txBody>
                  <a:tcPr marL="95250" marR="95250" marT="95250" marB="85725" anchor="ctr">
                    <a:solidFill>
                      <a:srgbClr val="F8FAFC"/>
                    </a:solidFill>
                  </a:tcPr>
                </a:tc>
              </a:tr>
              <a:tr h="0">
                <a:tc>
                  <a:txBody>
                    <a:bodyPr/>
                    <a:lstStyle/>
                    <a:p>
                      <a:r>
                        <a:rPr sz="1575">
                          <a:solidFill>
                            <a:srgbClr val="161C2C"/>
                          </a:solidFill>
                          <a:latin typeface="Malgun Gothic"/>
                          <a:ea typeface="Malgun Gothic"/>
                          <a:cs typeface="Malgun Gothic"/>
                        </a:rPr>
                        <a:t>검색·근거</a:t>
                      </a:r>
                    </a:p>
                  </a:txBody>
                  <a:tcPr marL="95250" marR="95250" marT="95250" marB="85725" anchor="ctr">
                    <a:solidFill>
                      <a:srgbClr val="F8FAFC"/>
                    </a:solidFill>
                  </a:tcPr>
                </a:tc>
                <a:tc>
                  <a:txBody>
                    <a:bodyPr/>
                    <a:lstStyle/>
                    <a:p>
                      <a:r>
                        <a:rPr sz="1575">
                          <a:solidFill>
                            <a:srgbClr val="161C2C"/>
                          </a:solidFill>
                          <a:latin typeface="Malgun Gothic"/>
                          <a:ea typeface="Malgun Gothic"/>
                          <a:cs typeface="Malgun Gothic"/>
                        </a:rPr>
                        <a:t>Recall@K·Hit Rate</a:t>
                      </a:r>
                    </a:p>
                    <a:p>
                      <a:r>
                        <a:rPr sz="1575">
                          <a:solidFill>
                            <a:srgbClr val="161C2C"/>
                          </a:solidFill>
                          <a:latin typeface="Malgun Gothic"/>
                          <a:ea typeface="Malgun Gothic"/>
                          <a:cs typeface="Malgun Gothic"/>
                        </a:rPr>
                        <a:t>인용 청크 정확도</a:t>
                      </a:r>
                    </a:p>
                  </a:txBody>
                  <a:tcPr marL="95250" marR="95250" marT="95250" marB="85725" anchor="ctr">
                    <a:solidFill>
                      <a:srgbClr val="F8FAFC"/>
                    </a:solidFill>
                  </a:tcPr>
                </a:tc>
                <a:tc>
                  <a:txBody>
                    <a:bodyPr/>
                    <a:lstStyle/>
                    <a:p>
                      <a:r>
                        <a:rPr sz="1575">
                          <a:solidFill>
                            <a:srgbClr val="161C2C"/>
                          </a:solidFill>
                          <a:latin typeface="Malgun Gothic"/>
                          <a:ea typeface="Malgun Gothic"/>
                          <a:cs typeface="Malgun Gothic"/>
                        </a:rPr>
                        <a:t>정답 근거 준비</a:t>
                      </a:r>
                    </a:p>
                  </a:txBody>
                  <a:tcPr marL="95250" marR="95250" marT="95250" marB="85725" anchor="ctr">
                    <a:solidFill>
                      <a:srgbClr val="F8FAFC"/>
                    </a:solidFill>
                  </a:tcPr>
                </a:tc>
              </a:tr>
              <a:tr h="0">
                <a:tc>
                  <a:txBody>
                    <a:bodyPr/>
                    <a:lstStyle/>
                    <a:p>
                      <a:r>
                        <a:rPr sz="1575">
                          <a:solidFill>
                            <a:srgbClr val="161C2C"/>
                          </a:solidFill>
                          <a:latin typeface="Malgun Gothic"/>
                          <a:ea typeface="Malgun Gothic"/>
                          <a:cs typeface="Malgun Gothic"/>
                        </a:rPr>
                        <a:t>참가 조건</a:t>
                      </a:r>
                    </a:p>
                  </a:txBody>
                  <a:tcPr marL="95250" marR="95250" marT="95250" marB="85725" anchor="ctr">
                    <a:solidFill>
                      <a:srgbClr val="F8FAFC"/>
                    </a:solidFill>
                  </a:tcPr>
                </a:tc>
                <a:tc>
                  <a:txBody>
                    <a:bodyPr/>
                    <a:lstStyle/>
                    <a:p>
                      <a:r>
                        <a:rPr sz="1575">
                          <a:solidFill>
                            <a:srgbClr val="161C2C"/>
                          </a:solidFill>
                          <a:latin typeface="Malgun Gothic"/>
                          <a:ea typeface="Malgun Gothic"/>
                          <a:cs typeface="Malgun Gothic"/>
                        </a:rPr>
                        <a:t>잘못된 충족 판정률</a:t>
                      </a:r>
                    </a:p>
                    <a:p>
                      <a:r>
                        <a:rPr sz="1575">
                          <a:solidFill>
                            <a:srgbClr val="161C2C"/>
                          </a:solidFill>
                          <a:latin typeface="Malgun Gothic"/>
                          <a:ea typeface="Malgun Gothic"/>
                          <a:cs typeface="Malgun Gothic"/>
                        </a:rPr>
                        <a:t>전체 정확도·보류율</a:t>
                      </a:r>
                    </a:p>
                  </a:txBody>
                  <a:tcPr marL="95250" marR="95250" marT="95250" marB="85725" anchor="ctr">
                    <a:solidFill>
                      <a:srgbClr val="F8FAFC"/>
                    </a:solidFill>
                  </a:tcPr>
                </a:tc>
                <a:tc>
                  <a:txBody>
                    <a:bodyPr/>
                    <a:lstStyle/>
                    <a:p>
                      <a:r>
                        <a:rPr sz="1575">
                          <a:solidFill>
                            <a:srgbClr val="161C2C"/>
                          </a:solidFill>
                          <a:latin typeface="Malgun Gothic"/>
                          <a:ea typeface="Malgun Gothic"/>
                          <a:cs typeface="Malgun Gothic"/>
                        </a:rPr>
                        <a:t>실측 전</a:t>
                      </a:r>
                    </a:p>
                  </a:txBody>
                  <a:tcPr marL="95250" marR="95250" marT="95250" marB="85725" anchor="ctr">
                    <a:solidFill>
                      <a:srgbClr val="F8FAFC"/>
                    </a:solidFill>
                  </a:tcPr>
                </a:tc>
              </a:tr>
              <a:tr h="0">
                <a:tc>
                  <a:txBody>
                    <a:bodyPr/>
                    <a:lstStyle/>
                    <a:p>
                      <a:r>
                        <a:rPr sz="1575">
                          <a:solidFill>
                            <a:srgbClr val="161C2C"/>
                          </a:solidFill>
                          <a:latin typeface="Malgun Gothic"/>
                          <a:ea typeface="Malgun Gothic"/>
                          <a:cs typeface="Malgun Gothic"/>
                        </a:rPr>
                        <a:t>응답 지연</a:t>
                      </a:r>
                    </a:p>
                  </a:txBody>
                  <a:tcPr marL="95250" marR="95250" marT="95250" marB="85725" anchor="ctr">
                    <a:solidFill>
                      <a:srgbClr val="F8FAFC"/>
                    </a:solidFill>
                  </a:tcPr>
                </a:tc>
                <a:tc>
                  <a:txBody>
                    <a:bodyPr/>
                    <a:lstStyle/>
                    <a:p>
                      <a:r>
                        <a:rPr sz="1575">
                          <a:solidFill>
                            <a:srgbClr val="161C2C"/>
                          </a:solidFill>
                          <a:latin typeface="Malgun Gothic"/>
                          <a:ea typeface="Malgun Gothic"/>
                          <a:cs typeface="Malgun Gothic"/>
                        </a:rPr>
                        <a:t>첫 토큰·전체 검증</a:t>
                      </a:r>
                    </a:p>
                    <a:p>
                      <a:r>
                        <a:rPr sz="1575">
                          <a:solidFill>
                            <a:srgbClr val="161C2C"/>
                          </a:solidFill>
                          <a:latin typeface="Malgun Gothic"/>
                          <a:ea typeface="Malgun Gothic"/>
                          <a:cs typeface="Malgun Gothic"/>
                        </a:rPr>
                        <a:t>p50 / p95</a:t>
                      </a:r>
                    </a:p>
                  </a:txBody>
                  <a:tcPr marL="95250" marR="95250" marT="95250" marB="85725" anchor="ctr">
                    <a:solidFill>
                      <a:srgbClr val="F8FAFC"/>
                    </a:solidFill>
                  </a:tcPr>
                </a:tc>
                <a:tc>
                  <a:txBody>
                    <a:bodyPr/>
                    <a:lstStyle/>
                    <a:p>
                      <a:r>
                        <a:rPr sz="1575">
                          <a:solidFill>
                            <a:srgbClr val="161C2C"/>
                          </a:solidFill>
                          <a:latin typeface="Malgun Gothic"/>
                          <a:ea typeface="Malgun Gothic"/>
                          <a:cs typeface="Malgun Gothic"/>
                        </a:rPr>
                        <a:t>실측 전</a:t>
                      </a:r>
                    </a:p>
                  </a:txBody>
                  <a:tcPr marL="95250" marR="95250" marT="95250" marB="85725" anchor="ctr">
                    <a:solidFill>
                      <a:srgbClr val="F8FAFC"/>
                    </a:solidFill>
                  </a:tcPr>
                </a:tc>
              </a:tr>
              <a:tr h="0">
                <a:tc>
                  <a:txBody>
                    <a:bodyPr/>
                    <a:lstStyle/>
                    <a:p>
                      <a:r>
                        <a:rPr sz="1575">
                          <a:solidFill>
                            <a:srgbClr val="161C2C"/>
                          </a:solidFill>
                          <a:latin typeface="Malgun Gothic"/>
                          <a:ea typeface="Malgun Gothic"/>
                          <a:cs typeface="Malgun Gothic"/>
                        </a:rPr>
                        <a:t>3D·사용성</a:t>
                      </a:r>
                    </a:p>
                  </a:txBody>
                  <a:tcPr marL="95250" marR="95250" marT="95250" marB="85725" anchor="ctr">
                    <a:solidFill>
                      <a:srgbClr val="F8FAFC"/>
                    </a:solidFill>
                  </a:tcPr>
                </a:tc>
                <a:tc>
                  <a:txBody>
                    <a:bodyPr/>
                    <a:lstStyle/>
                    <a:p>
                      <a:r>
                        <a:rPr sz="1575">
                          <a:solidFill>
                            <a:srgbClr val="161C2C"/>
                          </a:solidFill>
                          <a:latin typeface="Malgun Gothic"/>
                          <a:ea typeface="Malgun Gothic"/>
                          <a:cs typeface="Malgun Gothic"/>
                        </a:rPr>
                        <a:t>프레임 시간 p95</a:t>
                      </a:r>
                    </a:p>
                    <a:p>
                      <a:r>
                        <a:rPr sz="1575">
                          <a:solidFill>
                            <a:srgbClr val="161C2C"/>
                          </a:solidFill>
                          <a:latin typeface="Malgun Gothic"/>
                          <a:ea typeface="Malgun Gothic"/>
                          <a:cs typeface="Malgun Gothic"/>
                        </a:rPr>
                        <a:t>검토 시간·성공률</a:t>
                      </a:r>
                    </a:p>
                  </a:txBody>
                  <a:tcPr marL="95250" marR="95250" marT="95250" marB="85725" anchor="ctr">
                    <a:solidFill>
                      <a:srgbClr val="F8FAFC"/>
                    </a:solidFill>
                  </a:tcPr>
                </a:tc>
                <a:tc>
                  <a:txBody>
                    <a:bodyPr/>
                    <a:lstStyle/>
                    <a:p>
                      <a:r>
                        <a:rPr sz="1575">
                          <a:solidFill>
                            <a:srgbClr val="161C2C"/>
                          </a:solidFill>
                          <a:latin typeface="Malgun Gothic"/>
                          <a:ea typeface="Malgun Gothic"/>
                          <a:cs typeface="Malgun Gothic"/>
                        </a:rPr>
                        <a:t>60 FPS는 목표</a:t>
                      </a:r>
                    </a:p>
                  </a:txBody>
                  <a:tcPr marL="95250" marR="95250" marT="95250" marB="85725" anchor="ctr">
                    <a:solidFill>
                      <a:srgbClr val="F8FAFC"/>
                    </a:solidFill>
                  </a:tcPr>
                </a:tc>
              </a:tr>
            </a:tbl>
          </a:graphicData>
        </a:graphic>
      </p:graphicFrame>
      <p:sp>
        <p:nvSpPr>
          <p:cNvPr id="535" name="">
            <a:extLst xmlns:a="http://schemas.openxmlformats.org/drawingml/2006/main">
              <a:ext uri="{FF2B5EF4-FFF2-40B4-BE49-F238E27FC236}">
                <a16:creationId xmlns:a16="http://schemas.microsoft.com/office/drawing/2014/main" id="{1C32C4B2-7ACA-40A5-A499-1D84E6866C69}"/>
              </a:ext>
            </a:extLst>
          </p:cNvPr>
          <p:cNvSpPr>
            <a:spLocks xmlns:a="http://schemas.openxmlformats.org/drawingml/2006/main" noGrp="1"/>
          </p:cNvSpPr>
          <p:nvPr/>
        </p:nvSpPr>
        <p:spPr>
          <a:xfrm xmlns:a="http://schemas.openxmlformats.org/drawingml/2006/main">
            <a:off x="4648200" y="5924550"/>
            <a:ext cx="714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B6476"/>
                </a:solidFill>
                <a:latin typeface="Malgun Gothic"/>
                <a:ea typeface="Malgun Gothic"/>
                <a:cs typeface="Malgun Gothic"/>
              </a:defRPr>
            </a:pPr>
            <a:r>
              <a:rPr sz="1500" b="0">
                <a:solidFill>
                  <a:srgbClr val="5B6476"/>
                </a:solidFill>
                <a:latin typeface="Malgun Gothic"/>
                <a:ea typeface="Malgun Gothic"/>
                <a:cs typeface="Malgun Gothic"/>
              </a:rPr>
              <a:t>임계값은 개발 자료에서 고정. 오류 건수·분모·보류율을 함께 보고</a:t>
            </a:r>
          </a:p>
        </p:txBody>
      </p:sp>
    </p:spTree>
    <p:extLst>
      <p:ext uri="{BB962C8B-B14F-4D97-AF65-F5344CB8AC3E}">
        <p14:creationId xmlns:p14="http://schemas.microsoft.com/office/powerpoint/2010/main" val="255389493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0BCC789E-87DC-C416-5298-C7F6E26A9533}"/>
              </a:ext>
            </a:extLst>
          </p:cNvPr>
          <p:cNvSpPr>
            <a:spLocks xmlns:a="http://schemas.openxmlformats.org/drawingml/2006/main" noGrp="1"/>
          </p:cNvSpPr>
          <p:nvPr>
            <p:ph idx="1"/>
          </p:nvPr>
        </p:nvSpPr>
        <p:spPr>
          <a:xfrm xmlns:a="http://schemas.openxmlformats.org/drawingml/2006/main">
            <a:off x="390525" y="3895725"/>
            <a:ext cx="3514725" cy="1819275"/>
          </a:xfrm>
        </p:spPr>
        <p:txBody>
          <a:bodyPr xmlns:a="http://schemas.openxmlformats.org/drawingml/2006/main" lIns="0" tIns="0" rIns="0" bIns="0" anchor="t">
            <a:noAutofit/>
          </a:bodyPr>
          <a:lstStyle xmlns:a="http://schemas.openxmlformats.org/drawingml/2006/main"/>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요건·평가 자산</a:t>
            </a:r>
          </a:p>
          <a:p xmlns:a="http://schemas.openxmlformats.org/drawingml/2006/main">
            <a:pPr marL="0" indent="0">
              <a:spcBef>
                <a:spcPts val="0"/>
              </a:spcBef>
              <a:spcAft>
                <a:spcPts val="0"/>
              </a:spcAft>
              <a:buNone/>
            </a:pPr>
            <a:r>
              <a:t/>
            </a:r>
          </a:p>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팀장·데이터·평가 담당</a:t>
            </a:r>
          </a:p>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요건 추출·합성 기업 5곳 검수</a:t>
            </a:r>
          </a:p>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질문 300개 준비</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601450" y="6381750"/>
            <a:ext cx="285750" cy="238125"/>
          </a:xfrm>
        </p:spPr>
        <p:txBody>
          <a:bodyPr xmlns:a="http://schemas.openxmlformats.org/drawingml/2006/main" lIns="0" tIns="0" rIns="0" bIns="0" anchor="t">
            <a:noAutofit/>
          </a:bodyPr>
          <a:lstStyle xmlns:a="http://schemas.openxmlformats.org/drawingml/2006/main"/>
          <a:p xmlns:a="http://schemas.openxmlformats.org/drawingml/2006/main">
            <a:pPr marL="0" indent="0">
              <a:spcBef>
                <a:spcPts val="0"/>
              </a:spcBef>
              <a:spcAft>
                <a:spcPts val="0"/>
              </a:spcAft>
              <a:buNone/>
              <a:defRPr sz="1200" b="0">
                <a:solidFill>
                  <a:srgbClr val="161C2C"/>
                </a:solidFill>
                <a:latin typeface="Malgun Gothic"/>
                <a:ea typeface="Malgun Gothic"/>
                <a:cs typeface="Malgun Gothic"/>
              </a:defRPr>
            </a:pPr>
            <a:r>
              <a:rPr sz="1200" b="0">
                <a:solidFill>
                  <a:srgbClr val="161C2C"/>
                </a:solidFill>
                <a:latin typeface="Malgun Gothic"/>
                <a:ea typeface="Malgun Gothic"/>
                <a:cs typeface="Malgun Gothic"/>
              </a:rPr>
              <a:t>6</a:t>
            </a: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0525" y="381000"/>
            <a:ext cx="11410950" cy="647700"/>
          </a:xfrm>
        </p:spPr>
        <p:txBody>
          <a:bodyPr xmlns:a="http://schemas.openxmlformats.org/drawingml/2006/main" lIns="0" tIns="0" rIns="0" bIns="0" anchor="t">
            <a:noAutofit/>
          </a:bodyPr>
          <a:lstStyle xmlns:a="http://schemas.openxmlformats.org/drawingml/2006/main"/>
          <a:p xmlns:a="http://schemas.openxmlformats.org/drawingml/2006/main">
            <a:pPr marL="0" indent="0">
              <a:spcBef>
                <a:spcPts val="0"/>
              </a:spcBef>
              <a:spcAft>
                <a:spcPts val="0"/>
              </a:spcAft>
              <a:buNone/>
              <a:defRPr sz="2700" b="1">
                <a:solidFill>
                  <a:srgbClr val="3456BF"/>
                </a:solidFill>
                <a:latin typeface="Malgun Gothic"/>
                <a:ea typeface="Malgun Gothic"/>
                <a:cs typeface="Malgun Gothic"/>
              </a:defRPr>
            </a:pPr>
            <a:r>
              <a:rPr sz="2700" b="1">
                <a:solidFill>
                  <a:srgbClr val="3456BF"/>
                </a:solidFill>
                <a:latin typeface="Malgun Gothic"/>
                <a:ea typeface="Malgun Gothic"/>
                <a:cs typeface="Malgun Gothic"/>
              </a:rPr>
              <a:t>실제 공고 연결과 최종 검증 일정</a:t>
            </a:r>
          </a:p>
        </p:txBody>
      </p:sp>
      <p:sp>
        <p:nvSpPr>
          <p:cNvPr id="17" name="Text Placeholder 16">
            <a:extLst xmlns:a="http://schemas.openxmlformats.org/drawingml/2006/main">
              <a:ext uri="{FF2B5EF4-FFF2-40B4-BE49-F238E27FC236}">
                <a16:creationId xmlns:a16="http://schemas.microsoft.com/office/drawing/2014/main" id="{986AEEE5-7F7B-65AD-1D88-9157CF0514D8}"/>
              </a:ext>
            </a:extLst>
          </p:cNvPr>
          <p:cNvSpPr>
            <a:spLocks xmlns:a="http://schemas.openxmlformats.org/drawingml/2006/main" noGrp="1"/>
          </p:cNvSpPr>
          <p:nvPr>
            <p:ph type="body" idx="12"/>
          </p:nvPr>
        </p:nvSpPr>
        <p:spPr>
          <a:xfrm xmlns:a="http://schemas.openxmlformats.org/drawingml/2006/main">
            <a:off x="4305300" y="3895725"/>
            <a:ext cx="3514725" cy="1819275"/>
          </a:xfrm>
        </p:spPr>
        <p:txBody>
          <a:bodyPr xmlns:a="http://schemas.openxmlformats.org/drawingml/2006/main" lIns="0" tIns="0" rIns="0" bIns="0" anchor="t">
            <a:noAutofit/>
          </a:bodyPr>
          <a:lstStyle xmlns:a="http://schemas.openxmlformats.org/drawingml/2006/main"/>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백엔드·UI 통합</a:t>
            </a:r>
          </a:p>
          <a:p xmlns:a="http://schemas.openxmlformats.org/drawingml/2006/main">
            <a:pPr marL="0" indent="0">
              <a:spcBef>
                <a:spcPts val="0"/>
              </a:spcBef>
              <a:spcAft>
                <a:spcPts val="0"/>
              </a:spcAft>
              <a:buNone/>
            </a:pPr>
            <a:r>
              <a:t/>
            </a:r>
          </a:p>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팀장·UI·인프라 담당</a:t>
            </a:r>
          </a:p>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RAG·탐지·NDJSON 연결</a:t>
            </a:r>
          </a:p>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원문·노드 강조·권한 차단</a:t>
            </a:r>
          </a:p>
        </p:txBody>
      </p:sp>
      <p:sp>
        <p:nvSpPr>
          <p:cNvPr id="18" name="Content Placeholder 17">
            <a:extLst xmlns:a="http://schemas.openxmlformats.org/drawingml/2006/main">
              <a:ext uri="{FF2B5EF4-FFF2-40B4-BE49-F238E27FC236}">
                <a16:creationId xmlns:a16="http://schemas.microsoft.com/office/drawing/2014/main" id="{B32A8A18-E9FA-02B4-6667-53C019EC43C0}"/>
              </a:ext>
            </a:extLst>
          </p:cNvPr>
          <p:cNvSpPr>
            <a:spLocks xmlns:a="http://schemas.openxmlformats.org/drawingml/2006/main" noGrp="1"/>
          </p:cNvSpPr>
          <p:nvPr>
            <p:ph idx="13"/>
          </p:nvPr>
        </p:nvSpPr>
        <p:spPr>
          <a:xfrm xmlns:a="http://schemas.openxmlformats.org/drawingml/2006/main">
            <a:off x="8229600" y="3895725"/>
            <a:ext cx="3562350" cy="1819275"/>
          </a:xfrm>
        </p:spPr>
        <p:txBody>
          <a:bodyPr xmlns:a="http://schemas.openxmlformats.org/drawingml/2006/main" lIns="0" tIns="0" rIns="0" bIns="0" anchor="t">
            <a:noAutofit/>
          </a:bodyPr>
          <a:lstStyle xmlns:a="http://schemas.openxmlformats.org/drawingml/2006/main"/>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평가·발표</a:t>
            </a:r>
          </a:p>
          <a:p xmlns:a="http://schemas.openxmlformats.org/drawingml/2006/main">
            <a:pPr marL="0" indent="0">
              <a:spcBef>
                <a:spcPts val="0"/>
              </a:spcBef>
              <a:spcAft>
                <a:spcPts val="0"/>
              </a:spcAft>
              <a:buNone/>
            </a:pPr>
            <a:r>
              <a:t/>
            </a:r>
          </a:p>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전원</a:t>
            </a:r>
          </a:p>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라벨링·교차 검수·9/29 집계</a:t>
            </a:r>
          </a:p>
          <a:p xmlns:a="http://schemas.openxmlformats.org/drawingml/2006/main">
            <a:pPr marL="0" indent="0">
              <a:spcBef>
                <a:spcPts val="0"/>
              </a:spcBef>
              <a:spcAft>
                <a:spcPts val="0"/>
              </a:spcAft>
              <a:buNone/>
              <a:defRPr sz="1725" b="0">
                <a:solidFill>
                  <a:srgbClr val="161C2C"/>
                </a:solidFill>
                <a:latin typeface="Malgun Gothic"/>
                <a:ea typeface="Malgun Gothic"/>
                <a:cs typeface="Malgun Gothic"/>
              </a:defRPr>
            </a:pPr>
            <a:r>
              <a:rPr sz="1725" b="0">
                <a:solidFill>
                  <a:srgbClr val="161C2C"/>
                </a:solidFill>
                <a:latin typeface="Malgun Gothic"/>
                <a:ea typeface="Malgun Gothic"/>
                <a:cs typeface="Malgun Gothic"/>
              </a:rPr>
              <a:t>9/30 자료 정리·10/2 발표</a:t>
            </a:r>
          </a:p>
        </p:txBody>
      </p:sp>
      <p:cxnSp>
        <p:nvCxnSpPr>
          <p:cNvPr id="26"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accent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0525" y="2886075"/>
            <a:ext cx="3381375" cy="40957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9/13~19</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305300" y="2886075"/>
            <a:ext cx="3333750" cy="40957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9/18~26</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9600" y="2886075"/>
            <a:ext cx="3562350" cy="40957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1pPr>
            <a:lvl2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2pPr>
            <a:lvl3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3pPr>
            <a:lvl4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4pPr>
            <a:lvl5pPr marL="0" indent="0" algn="l" defTabSz="914400">
              <a:lnSpc>
                <a:spcPct val="90000"/>
              </a:lnSpc>
              <a:spcBef>
                <a:spcPts val="0"/>
              </a:spcBef>
              <a:spcAft>
                <a:spcPts val="0"/>
              </a:spcAft>
              <a:buFont typeface="Arial"/>
              <a:buNone/>
              <a:defRPr sz="1600" kern="1200">
                <a:solidFill>
                  <a:schemeClr val="tx1"/>
                </a:solidFill>
                <a:latin typeface="+mn-lt"/>
                <a:ea typeface="+mn-lt"/>
                <a:cs typeface="+mn-lt"/>
              </a:defRPr>
            </a:lvl5pPr>
            <a:lvl6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6pPr>
            <a:lvl7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7pPr>
            <a:lvl8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8pPr>
            <a:lvl9pPr marL="0" indent="0" algn="l" defTabSz="914400">
              <a:lnSpc>
                <a:spcPct val="90000"/>
              </a:lnSpc>
              <a:spcBef>
                <a:spcPts val="0"/>
              </a:spcBef>
              <a:spcAft>
                <a:spcPts val="0"/>
              </a:spcAft>
              <a:buFont typeface="Arial"/>
              <a:buNone/>
              <a:defRPr sz="1800" kern="1200">
                <a:solidFill>
                  <a:schemeClr val="tx1"/>
                </a:solidFill>
                <a:latin typeface="+mn-lt"/>
                <a:ea typeface="+mn-lt"/>
                <a:cs typeface="+mn-lt"/>
              </a:defRPr>
            </a:lvl9pPr>
          </a:lstStyle>
          <a:p xmlns:a="http://schemas.openxmlformats.org/drawingml/2006/main">
            <a:pPr marL="0" indent="0">
              <a:spcBef>
                <a:spcPts val="0"/>
              </a:spcBef>
              <a:spcAft>
                <a:spcPts val="0"/>
              </a:spcAft>
              <a:buNone/>
              <a:defRPr sz="1800" b="1">
                <a:solidFill>
                  <a:srgbClr val="3456BF"/>
                </a:solidFill>
                <a:latin typeface="Malgun Gothic"/>
                <a:ea typeface="Malgun Gothic"/>
                <a:cs typeface="Malgun Gothic"/>
              </a:defRPr>
            </a:pPr>
            <a:r>
              <a:rPr sz="1800" b="1">
                <a:solidFill>
                  <a:srgbClr val="3456BF"/>
                </a:solidFill>
                <a:latin typeface="Malgun Gothic"/>
                <a:ea typeface="Malgun Gothic"/>
                <a:cs typeface="Malgun Gothic"/>
              </a:rPr>
              <a:t>9/24~10/2</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19" name="">
            <a:extLst xmlns:a="http://schemas.openxmlformats.org/drawingml/2006/main">
              <a:ext uri="{FF2B5EF4-FFF2-40B4-BE49-F238E27FC236}">
                <a16:creationId xmlns:a16="http://schemas.microsoft.com/office/drawing/2014/main" id="{DF0A0D06-8187-4B8A-AFD9-18A8E96EA13B}"/>
              </a:ext>
            </a:extLst>
          </p:cNvPr>
          <p:cNvSpPr>
            <a:spLocks xmlns:a="http://schemas.openxmlformats.org/drawingml/2006/main" noGrp="1"/>
          </p:cNvSpPr>
          <p:nvPr/>
        </p:nvSpPr>
        <p:spPr>
          <a:xfrm xmlns:a="http://schemas.openxmlformats.org/drawingml/2006/main">
            <a:off x="390525" y="1428750"/>
            <a:ext cx="11334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61C2C"/>
                </a:solidFill>
                <a:latin typeface="Malgun Gothic"/>
                <a:ea typeface="Malgun Gothic"/>
                <a:cs typeface="Malgun Gothic"/>
              </a:defRPr>
            </a:pPr>
            <a:r>
              <a:rPr sz="2100" b="0">
                <a:solidFill>
                  <a:srgbClr val="161C2C"/>
                </a:solidFill>
                <a:latin typeface="Malgun Gothic"/>
                <a:ea typeface="Malgun Gothic"/>
                <a:cs typeface="Malgun Gothic"/>
              </a:rPr>
              <a:t>첫 연결 기준: 실제 공고 1건 + 합성 기업 1곳 + 질문 5개 검수</a:t>
            </a:r>
          </a:p>
        </p:txBody>
      </p:sp>
      <p:sp>
        <p:nvSpPr>
          <p:cNvPr id="20" name="">
            <a:extLst xmlns:a="http://schemas.openxmlformats.org/drawingml/2006/main">
              <a:ext uri="{FF2B5EF4-FFF2-40B4-BE49-F238E27FC236}">
                <a16:creationId xmlns:a16="http://schemas.microsoft.com/office/drawing/2014/main" id="{D46EB003-8C12-4DFA-AE30-7550B653756B}"/>
              </a:ext>
            </a:extLst>
          </p:cNvPr>
          <p:cNvSpPr>
            <a:spLocks xmlns:a="http://schemas.openxmlformats.org/drawingml/2006/main" noGrp="1"/>
          </p:cNvSpPr>
          <p:nvPr/>
        </p:nvSpPr>
        <p:spPr>
          <a:xfrm xmlns:a="http://schemas.openxmlformats.org/drawingml/2006/main">
            <a:off x="390525" y="60007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B6476"/>
                </a:solidFill>
                <a:latin typeface="Malgun Gothic"/>
                <a:ea typeface="Malgun Gothic"/>
                <a:cs typeface="Malgun Gothic"/>
              </a:defRPr>
            </a:pPr>
            <a:r>
              <a:rPr sz="1725" b="0">
                <a:solidFill>
                  <a:srgbClr val="5B6476"/>
                </a:solidFill>
                <a:latin typeface="Malgun Gothic"/>
                <a:ea typeface="Malgun Gothic"/>
                <a:cs typeface="Malgun Gothic"/>
              </a:rPr>
              <a:t>후속 확장: GraphRAG 관계 검색 비교, 설비 모델 개선, 권한 적용 Live DB 스트리밍</a:t>
            </a:r>
          </a:p>
        </p:txBody>
      </p:sp>
    </p:spTree>
    <p:extLst>
      <p:ext uri="{BB962C8B-B14F-4D97-AF65-F5344CB8AC3E}">
        <p14:creationId xmlns:p14="http://schemas.microsoft.com/office/powerpoint/2010/main" val="3446338916"/>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2026-09-11T16:59:16.2010000Z</dcterms:created>
  <dcterms:modified xsi:type="dcterms:W3CDTF">2026-09-11T16:59:16.2010000Z</dcterms:modified>
</coreProperties>
</file>