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470aef36604f4c" /><Relationship Type="http://schemas.openxmlformats.org/officeDocument/2006/relationships/extended-properties" Target="/docProps/app.xml" Id="R3423e15890ce4b30" /><Relationship Type="http://schemas.openxmlformats.org/officeDocument/2006/relationships/officeDocument" Target="/ppt/presentation.xml" Id="R06795e650ff7483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ecf12c6c1abc4c87"/>
  </p:sldMasterIdLst>
  <p:notesMasterIdLst>
    <p:notesMasterId xmlns:r="http://schemas.openxmlformats.org/officeDocument/2006/relationships" r:id="R081bb890e85a4d9a"/>
  </p:notesMasterIdLst>
  <p:sldIdLst>
    <p:sldId xmlns:r="http://schemas.openxmlformats.org/officeDocument/2006/relationships" id="256" r:id="Re1981ba2be9b4249"/>
    <p:sldId xmlns:r="http://schemas.openxmlformats.org/officeDocument/2006/relationships" id="257" r:id="Rb24b2263f73d436b"/>
    <p:sldId xmlns:r="http://schemas.openxmlformats.org/officeDocument/2006/relationships" id="258" r:id="R15a164dcfdac44be"/>
    <p:sldId xmlns:r="http://schemas.openxmlformats.org/officeDocument/2006/relationships" id="259" r:id="R7d5de19ae7ce4ff4"/>
    <p:sldId xmlns:r="http://schemas.openxmlformats.org/officeDocument/2006/relationships" id="260" r:id="R37dae972ae154b6c"/>
    <p:sldId xmlns:r="http://schemas.openxmlformats.org/officeDocument/2006/relationships" id="261" r:id="R6311531e2ba2466f"/>
    <p:sldId xmlns:r="http://schemas.openxmlformats.org/officeDocument/2006/relationships" id="262" r:id="R0a1e347b908b4ca5"/>
    <p:sldId xmlns:r="http://schemas.openxmlformats.org/officeDocument/2006/relationships" id="263" r:id="Re1856c0c122c44d6"/>
  </p:sldIdLst>
  <p:sldSz cx="12192000" cy="6858000"/>
  <p:notesSz cx="6858000" cy="9144000"/>
  <p:embeddedFontLst>
    <p:embeddedFont>
      <p:font typeface="Lora Medium"/>
      <p:regular xmlns:r="http://schemas.openxmlformats.org/officeDocument/2006/relationships" r:id="R505e6d36bb274157"/>
      <p:italic xmlns:r="http://schemas.openxmlformats.org/officeDocument/2006/relationships" r:id="R23d8cd63837d4d41"/>
    </p:embeddedFont>
    <p:embeddedFont>
      <p:font typeface="Lora SemiBold"/>
      <p:regular xmlns:r="http://schemas.openxmlformats.org/officeDocument/2006/relationships" r:id="R232206b5644a4300"/>
      <p:bold xmlns:r="http://schemas.openxmlformats.org/officeDocument/2006/relationships" r:id="R8a7fa5d7f00f48b3"/>
      <p:italic xmlns:r="http://schemas.openxmlformats.org/officeDocument/2006/relationships" r:id="Rf491aff3c30b4859"/>
      <p:boldItalic xmlns:r="http://schemas.openxmlformats.org/officeDocument/2006/relationships" r:id="Rc67e2fc87d344ed4"/>
    </p:embeddedFont>
    <p:embeddedFont>
      <p:font typeface="OpenAI Sans"/>
      <p:regular xmlns:r="http://schemas.openxmlformats.org/officeDocument/2006/relationships" r:id="R5a27c5133bd6430e"/>
      <p:bold xmlns:r="http://schemas.openxmlformats.org/officeDocument/2006/relationships" r:id="Rd1afdf1e4d124d25"/>
      <p:italic xmlns:r="http://schemas.openxmlformats.org/officeDocument/2006/relationships" r:id="R7d86e5e261754531"/>
      <p:boldItalic xmlns:r="http://schemas.openxmlformats.org/officeDocument/2006/relationships" r:id="R4c9b18791b1d4b37"/>
    </p:embeddedFont>
    <p:embeddedFont>
      <p:font typeface="Roboto"/>
      <p:regular xmlns:r="http://schemas.openxmlformats.org/officeDocument/2006/relationships" r:id="Ref2ae0d28de04314"/>
      <p:bold xmlns:r="http://schemas.openxmlformats.org/officeDocument/2006/relationships" r:id="R89eaa2b49dc14f9d"/>
      <p:italic xmlns:r="http://schemas.openxmlformats.org/officeDocument/2006/relationships" r:id="Ra294e6f6c7774492"/>
      <p:boldItalic xmlns:r="http://schemas.openxmlformats.org/officeDocument/2006/relationships" r:id="R03aa7e9477ce4154"/>
    </p:embeddedFont>
    <p:embeddedFont>
      <p:font typeface="Roboto Medium"/>
      <p:regular xmlns:r="http://schemas.openxmlformats.org/officeDocument/2006/relationships" r:id="Rf4c69caebafa48ce"/>
      <p:italic xmlns:r="http://schemas.openxmlformats.org/officeDocument/2006/relationships" r:id="R7b3249a114864f5b"/>
    </p:embeddedFont>
    <p:embeddedFont>
      <p:font typeface="Roboto SemiBold"/>
      <p:regular xmlns:r="http://schemas.openxmlformats.org/officeDocument/2006/relationships" r:id="Rd783ba0ab6664ddb"/>
      <p:bold xmlns:r="http://schemas.openxmlformats.org/officeDocument/2006/relationships" r:id="Ra7d74bcbe0aa4adc"/>
      <p:italic xmlns:r="http://schemas.openxmlformats.org/officeDocument/2006/relationships" r:id="R491f28cea3c34f76"/>
      <p:boldItalic xmlns:r="http://schemas.openxmlformats.org/officeDocument/2006/relationships" r:id="Rd335432675654e12"/>
    </p:embeddedFont>
    <p:embeddedFont>
      <p:font typeface="Roboto Serif 14pt"/>
      <p:regular xmlns:r="http://schemas.openxmlformats.org/officeDocument/2006/relationships" r:id="R09a1dc6285624674"/>
      <p:bold xmlns:r="http://schemas.openxmlformats.org/officeDocument/2006/relationships" r:id="R4294b35d5fb3484c"/>
      <p:italic xmlns:r="http://schemas.openxmlformats.org/officeDocument/2006/relationships" r:id="R2cbd843f54af4603"/>
      <p:boldItalic xmlns:r="http://schemas.openxmlformats.org/officeDocument/2006/relationships" r:id="R9a46051e1b2347b6"/>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69d2968ef664905" /><Relationship Type="http://schemas.openxmlformats.org/officeDocument/2006/relationships/slideMaster" Target="/ppt/slideMasters/slideMaster1.xml" Id="Recf12c6c1abc4c87" /><Relationship Type="http://schemas.openxmlformats.org/officeDocument/2006/relationships/notesMaster" Target="/ppt/notesMasters/notesMaster1.xml" Id="R081bb890e85a4d9a" /><Relationship Type="http://schemas.openxmlformats.org/officeDocument/2006/relationships/presProps" Target="/ppt/presProps.xml" Id="Rf4030cf504074a5b" /><Relationship Type="http://schemas.openxmlformats.org/officeDocument/2006/relationships/viewProps" Target="/ppt/viewProps.xml" Id="Rdc2a3f3b95694344" /><Relationship Type="http://schemas.openxmlformats.org/officeDocument/2006/relationships/tableStyles" Target="/ppt/tableStyles.xml" Id="Rf22abe46a8a34bc8" /><Relationship Type="http://schemas.openxmlformats.org/officeDocument/2006/relationships/font" Target="/ppt/fonts/font.dat" Id="R505e6d36bb274157" /><Relationship Type="http://schemas.openxmlformats.org/officeDocument/2006/relationships/font" Target="/ppt/fonts/font2.dat" Id="R23d8cd63837d4d41" /><Relationship Type="http://schemas.openxmlformats.org/officeDocument/2006/relationships/font" Target="/ppt/fonts/font3.dat" Id="R232206b5644a4300" /><Relationship Type="http://schemas.openxmlformats.org/officeDocument/2006/relationships/font" Target="/ppt/fonts/font4.dat" Id="R8a7fa5d7f00f48b3" /><Relationship Type="http://schemas.openxmlformats.org/officeDocument/2006/relationships/font" Target="/ppt/fonts/font5.dat" Id="Rf491aff3c30b4859" /><Relationship Type="http://schemas.openxmlformats.org/officeDocument/2006/relationships/font" Target="/ppt/fonts/font6.dat" Id="Rc67e2fc87d344ed4" /><Relationship Type="http://schemas.openxmlformats.org/officeDocument/2006/relationships/font" Target="/ppt/fonts/font7.dat" Id="R5a27c5133bd6430e" /><Relationship Type="http://schemas.openxmlformats.org/officeDocument/2006/relationships/font" Target="/ppt/fonts/font8.dat" Id="Rd1afdf1e4d124d25" /><Relationship Type="http://schemas.openxmlformats.org/officeDocument/2006/relationships/font" Target="/ppt/fonts/font9.dat" Id="R7d86e5e261754531" /><Relationship Type="http://schemas.openxmlformats.org/officeDocument/2006/relationships/font" Target="/ppt/fonts/font10.dat" Id="R4c9b18791b1d4b37" /><Relationship Type="http://schemas.openxmlformats.org/officeDocument/2006/relationships/font" Target="/ppt/fonts/font11.dat" Id="Ref2ae0d28de04314" /><Relationship Type="http://schemas.openxmlformats.org/officeDocument/2006/relationships/font" Target="/ppt/fonts/font12.dat" Id="R89eaa2b49dc14f9d" /><Relationship Type="http://schemas.openxmlformats.org/officeDocument/2006/relationships/font" Target="/ppt/fonts/font13.dat" Id="Ra294e6f6c7774492" /><Relationship Type="http://schemas.openxmlformats.org/officeDocument/2006/relationships/font" Target="/ppt/fonts/font14.dat" Id="R03aa7e9477ce4154" /><Relationship Type="http://schemas.openxmlformats.org/officeDocument/2006/relationships/font" Target="/ppt/fonts/font15.dat" Id="Rf4c69caebafa48ce" /><Relationship Type="http://schemas.openxmlformats.org/officeDocument/2006/relationships/font" Target="/ppt/fonts/font16.dat" Id="R7b3249a114864f5b" /><Relationship Type="http://schemas.openxmlformats.org/officeDocument/2006/relationships/font" Target="/ppt/fonts/font17.dat" Id="Rd783ba0ab6664ddb" /><Relationship Type="http://schemas.openxmlformats.org/officeDocument/2006/relationships/font" Target="/ppt/fonts/font18.dat" Id="Ra7d74bcbe0aa4adc" /><Relationship Type="http://schemas.openxmlformats.org/officeDocument/2006/relationships/font" Target="/ppt/fonts/font19.dat" Id="R491f28cea3c34f76" /><Relationship Type="http://schemas.openxmlformats.org/officeDocument/2006/relationships/font" Target="/ppt/fonts/font20.dat" Id="Rd335432675654e12" /><Relationship Type="http://schemas.openxmlformats.org/officeDocument/2006/relationships/font" Target="/ppt/fonts/font21.dat" Id="R09a1dc6285624674" /><Relationship Type="http://schemas.openxmlformats.org/officeDocument/2006/relationships/font" Target="/ppt/fonts/font22.dat" Id="R4294b35d5fb3484c" /><Relationship Type="http://schemas.openxmlformats.org/officeDocument/2006/relationships/font" Target="/ppt/fonts/font23.dat" Id="R2cbd843f54af4603" /><Relationship Type="http://schemas.openxmlformats.org/officeDocument/2006/relationships/font" Target="/ppt/fonts/font24.dat" Id="R9a46051e1b2347b6" /><Relationship Type="http://schemas.openxmlformats.org/officeDocument/2006/relationships/slide" Target="/ppt/slides/slide1.xml" Id="Re1981ba2be9b4249" /><Relationship Type="http://schemas.openxmlformats.org/officeDocument/2006/relationships/slide" Target="/ppt/slides/slide2.xml" Id="Rb24b2263f73d436b" /><Relationship Type="http://schemas.openxmlformats.org/officeDocument/2006/relationships/slide" Target="/ppt/slides/slide3.xml" Id="R15a164dcfdac44be" /><Relationship Type="http://schemas.openxmlformats.org/officeDocument/2006/relationships/slide" Target="/ppt/slides/slide4.xml" Id="R7d5de19ae7ce4ff4" /><Relationship Type="http://schemas.openxmlformats.org/officeDocument/2006/relationships/slide" Target="/ppt/slides/slide5.xml" Id="R37dae972ae154b6c" /><Relationship Type="http://schemas.openxmlformats.org/officeDocument/2006/relationships/slide" Target="/ppt/slides/slide6.xml" Id="R6311531e2ba2466f" /><Relationship Type="http://schemas.openxmlformats.org/officeDocument/2006/relationships/slide" Target="/ppt/slides/slide7.xml" Id="R0a1e347b908b4ca5" /><Relationship Type="http://schemas.openxmlformats.org/officeDocument/2006/relationships/slide" Target="/ppt/slides/slide8.xml" Id="Re1856c0c122c44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bc147d240945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e927e9c3d54981" /><Relationship Type="http://schemas.openxmlformats.org/officeDocument/2006/relationships/notesMaster" Target="/ppt/notesMasters/notesMaster1.xml" Id="Rf169ff54dff248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67f14390e849aa" /><Relationship Type="http://schemas.openxmlformats.org/officeDocument/2006/relationships/notesMaster" Target="/ppt/notesMasters/notesMaster1.xml" Id="R8566a13a8f3348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ef53121bd6405d" /><Relationship Type="http://schemas.openxmlformats.org/officeDocument/2006/relationships/notesMaster" Target="/ppt/notesMasters/notesMaster1.xml" Id="R048ba2c5a0c445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32cdbb2df240d3" /><Relationship Type="http://schemas.openxmlformats.org/officeDocument/2006/relationships/notesMaster" Target="/ppt/notesMasters/notesMaster1.xml" Id="R21979b5608fe44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70f1e7fe934c06" /><Relationship Type="http://schemas.openxmlformats.org/officeDocument/2006/relationships/notesMaster" Target="/ppt/notesMasters/notesMaster1.xml" Id="R45b9ab73d18546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a44f74b73448c6" /><Relationship Type="http://schemas.openxmlformats.org/officeDocument/2006/relationships/notesMaster" Target="/ppt/notesMasters/notesMaster1.xml" Id="R4911e12cd4164f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865df4015740cb" /><Relationship Type="http://schemas.openxmlformats.org/officeDocument/2006/relationships/notesMaster" Target="/ppt/notesMasters/notesMaster1.xml" Id="Rfc3c31f0bccc4b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9f78b493864fc7" /><Relationship Type="http://schemas.openxmlformats.org/officeDocument/2006/relationships/notesMaster" Target="/ppt/notesMasters/notesMaster1.xml" Id="Rc75a853975b4404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1. 환각 탐지의 적용 무대를 나라장터로 넓혔다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핵심 메시지</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모델을 실제 입찰 검토에 적용하면서 공고 조건·회사 증빙·접근 권한을 함께 다룬다.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출발점: 문서를 보고도 틀리는 한국어 답변의 의심 구절 탐지</a:t>
            </a:r>
            <a:endParaRPr/>
          </a:p>
          <a:p xmlns:a="http://schemas.openxmlformats.org/drawingml/2006/main">
            <a:pPr marL="0" lvl="0" indent="0" algn="l">
              <a:spcBef>
                <a:spcPts val="0"/>
              </a:spcBef>
              <a:spcAft>
                <a:spcPts val="0"/>
              </a:spcAft>
              <a:buNone/>
            </a:pPr>
            <a:r>
              <a:t>- 확장 업무: 공개 공고 조건과 회사 증빙 대조</a:t>
            </a:r>
            <a:endParaRPr/>
          </a:p>
          <a:p xmlns:a="http://schemas.openxmlformats.org/drawingml/2006/main">
            <a:pPr marL="0" lvl="0" indent="0" algn="l">
              <a:spcBef>
                <a:spcPts val="0"/>
              </a:spcBef>
              <a:spcAft>
                <a:spcPts val="0"/>
              </a:spcAft>
              <a:buNone/>
            </a:pPr>
            <a:r>
              <a:t>- 선정 이유: 공개 자료 확보, 실적·인력·인증 비교, 비공개 자료 접근 통제</a:t>
            </a:r>
            <a:endParaRPr/>
          </a:p>
          <a:p xmlns:a="http://schemas.openxmlformats.org/drawingml/2006/main">
            <a:pPr marL="0" lvl="0" indent="0" algn="l">
              <a:spcBef>
                <a:spcPts val="0"/>
              </a:spcBef>
              <a:spcAft>
                <a:spcPts val="0"/>
              </a:spcAft>
              <a:buNone/>
            </a:pPr>
            <a:r>
              <a:t>- 목표: 허용된 자료로 입찰 조건을 검토하고 의심 구간을 원문에서 확인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레이아웃</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첫 페이지 자체가 주제 소개다. 기존 모델 개발을 왼쪽, 확장한 입찰 업무를 오른쪽에 배치한다. 하단에 이번 프로젝트 목표를 한 문장으로 강조한다. 별도 표지·MSDS 역사·선행연구 성능 차트를 추가하지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이번 주에는 한국어 환각 탐지 모델의 적용 무대를 나라장터 입찰 검토로 넓혔습니다. 공고에는 실적과 인력, 인증 같은 조건이 있고, 회사에는 이를 대조할 증빙이 있습니다. 공개 공고를 확보할 수 있고 판단에 필요한 조건을 구조화하기에도 적합했습니다. 여기에 비공개 회사 자료가 들어오면서 어떤 자료를 볼 수 있는지까지 다뤄야 합니다. 저희는 허용된 자료로 답하고 의심 구간을 원문에서 확인하도록 돕는 입찰 검토 시스템을 목표로 삼았습니다.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근거·표현 범위</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팀공유 문서의 정보시스템 구축·운영 분야 결정, 요건 추출 작성 요령, Live RAG 전환 설계. 프로젝트 목표는 입찰 검토 보조이며 자동 적격 판정·분쟁 예방 성과가 아니다.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2. 새로운 문제: 조건·버전·기밀을 함께 다뤄야 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핵심 메시지</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조건을 요약하는 기능에 더해 버전 확인·자료 보호·답변 검증이 필요하다.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박스 | 짧은 내용 | 도출한 설계 과제 |</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입찰 취소 분쟁 | 제출 조건·사실 관계를 검토해 권익위가 입찰 절차 진행을 시정권고 | 조건 대조 |</a:t>
            </a:r>
            <a:endParaRPr/>
          </a:p>
          <a:p xmlns:a="http://schemas.openxmlformats.org/drawingml/2006/main">
            <a:pPr marL="0" lvl="0" indent="0" algn="l">
              <a:spcBef>
                <a:spcPts val="0"/>
              </a:spcBef>
              <a:spcAft>
                <a:spcPts val="0"/>
              </a:spcAft>
              <a:buNone/>
            </a:pPr>
            <a:r>
              <a:t>| 모호한 평가 기준 | 적격심사 방법을 구체적으로 제공하라는 권익위 의견표명 | 근거 확인 |</a:t>
            </a:r>
            <a:endParaRPr/>
          </a:p>
          <a:p xmlns:a="http://schemas.openxmlformats.org/drawingml/2006/main">
            <a:pPr marL="0" lvl="0" indent="0" algn="l">
              <a:spcBef>
                <a:spcPts val="0"/>
              </a:spcBef>
              <a:spcAft>
                <a:spcPts val="0"/>
              </a:spcAft>
              <a:buNone/>
            </a:pPr>
            <a:r>
              <a:t>| 같은 공고도 바뀐다 | 참가 업종 1468에서 1469로 정정, 일정 변경 안내 | 버전 관리 |</a:t>
            </a:r>
            <a:endParaRPr/>
          </a:p>
          <a:p xmlns:a="http://schemas.openxmlformats.org/drawingml/2006/main">
            <a:pPr marL="0" lvl="0" indent="0" algn="l">
              <a:spcBef>
                <a:spcPts val="0"/>
              </a:spcBef>
              <a:spcAft>
                <a:spcPts val="0"/>
              </a:spcAft>
              <a:buNone/>
            </a:pPr>
            <a:r>
              <a:t>| 외부 전송의 위험 | 내부 코드 입력 사고 이후 삼성전자 생성형 AI 사용 제한 보도 | 처리 경계 |</a:t>
            </a:r>
            <a:endParaRPr/>
          </a:p>
          <a:p xmlns:a="http://schemas.openxmlformats.org/drawingml/2006/main">
            <a:pPr marL="0" lvl="0" indent="0" algn="l">
              <a:spcBef>
                <a:spcPts val="0"/>
              </a:spcBef>
              <a:spcAft>
                <a:spcPts val="0"/>
              </a:spcAft>
              <a:buNone/>
            </a:pPr>
            <a:r>
              <a:t>| 민감정보 보호 | 정부 AI보안 안내에서 기밀 유출 등 보안 위협 대응 강조 | 권한 통제 |</a:t>
            </a:r>
            <a:endParaRPr/>
          </a:p>
          <a:p xmlns:a="http://schemas.openxmlformats.org/drawingml/2006/main">
            <a:pPr marL="0" lvl="0" indent="0" algn="l">
              <a:spcBef>
                <a:spcPts val="0"/>
              </a:spcBef>
              <a:spcAft>
                <a:spcPts val="0"/>
              </a:spcAft>
              <a:buNone/>
            </a:pPr>
            <a:r>
              <a:t>| 근거가 있어도 오답 | 다른 물질 질문에 제공된 자료를 적용한 이전 MSDS 사례 | 답변 검증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레이아웃</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3열×2행, 6개 박스로 구성한다. 각 박스는 설계 과제 한 단어, 제목, 설명 두 줄, 짧은 출처만 담는다. 실제 조달 사례 세 개를 위쪽에, 외부 전송·보안·답변 문제를 아래쪽에 둔다. 일반적인 회사 사진 대신 읽을 수 있는 짧은 근거 설명을 우선한다. 이미지가 없어도 사례와 기능의 연결이 명확하도록 표제를 강조한다.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이 업무에서는 여러 종류의 문제가 함께 나타납니다. 실제 의결 사례에는 제출 조건과 제출 사실 때문에 입찰 취소를 다툰 경우가 있고, 평가 방법을 더 명확하게 알리라는 의견도 있습니다. 같은 공고의 참가 업종과 일정이 정정되기도 합니다. 회사 자료를 사용하면 외부 전송과 민감정보 보호 문제도 생깁니다. 그리고 문서를 제공한 답변에도 근거 사용 오류가 남을 수 있습니다. 저희는 이 문제들을 조건 대조, 버전 관리, 권한 통제와 답변 검증이라는 요구사항으로 정리했습니다.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출처와 주의할 해석</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 [권익위 입찰 취소 이의, 의결 2019-10-07](https://www.acrc.go.kr/board.es?act=view&amp;bid=1010&amp;list_no=27506&amp;mid=a10504010000&amp;nPage=41&amp;tag=). 유효한 입찰이 성립한 것으로 보아 절차 진행을 시정권고한 사례다. 시스템 장애 원인을 AI가 판정한다거나 프로젝트가 분쟁을 자동 해결한다고 설명하지 않는다.</a:t>
            </a:r>
            <a:endParaRPr/>
          </a:p>
          <a:p xmlns:a="http://schemas.openxmlformats.org/drawingml/2006/main">
            <a:pPr marL="0" lvl="0" indent="0" algn="l">
              <a:spcBef>
                <a:spcPts val="0"/>
              </a:spcBef>
              <a:spcAft>
                <a:spcPts val="0"/>
              </a:spcAft>
              <a:buNone/>
            </a:pPr>
            <a:r>
              <a:t>2. [권익위 적격심사 의결 PDF](https://www.acrc.go.kr/boardDownload.es?bid=1010&amp;list_no=46731&amp;seq=2), PDF 2페이지 주문. 의안번호는 2023년 표기, 의결일은 비공개다. 평가 방법 안내에 의견표명했으며 낙찰자 선정 취소 요청은 심의안내다. 권익위가 낙찰을 취소한 사례라고 하지 않는다.</a:t>
            </a:r>
            <a:endParaRPr/>
          </a:p>
          <a:p xmlns:a="http://schemas.openxmlformats.org/drawingml/2006/main">
            <a:pPr marL="0" lvl="0" indent="0" algn="l">
              <a:spcBef>
                <a:spcPts val="0"/>
              </a:spcBef>
              <a:spcAft>
                <a:spcPts val="0"/>
              </a:spcAft>
              <a:buNone/>
            </a:pPr>
            <a:r>
              <a:t>3. [나라장터 정정공고 R26BK01336025-001](https://www.g2b.go.kr/pn/pnp/pnpe/UntyAtchFile/downloadFile.do?bidPbancNo=R26BK01336025&amp;bidPbancOrd=001&amp;fileSeq=1&amp;fileType=&amp;prcmBsneSeCd=03), PDF 첫 페이지 정정공고 내용. 업종 코드와 일정 변경을 확인했다. 2026년 3월 일정의 공고이며 팀의 4~6월 표본에서 확인한 피해 사례로 소개하지 않는다.</a:t>
            </a:r>
            <a:endParaRPr/>
          </a:p>
          <a:p xmlns:a="http://schemas.openxmlformats.org/drawingml/2006/main">
            <a:pPr marL="0" lvl="0" indent="0" algn="l">
              <a:spcBef>
                <a:spcPts val="0"/>
              </a:spcBef>
              <a:spcAft>
                <a:spcPts val="0"/>
              </a:spcAft>
              <a:buNone/>
            </a:pPr>
            <a:r>
              <a:t>4. [머니투데이 2023-05-02 보도](https://www.mt.co.kr/world/2023/05/02/2023050210442436713). 내부 코드 입력 사고와 생성형 AI 사용 제한에 대한 블룸버그 인용 보도다. 타 사용자에게 실제 재노출됐다는 사실이나 모든 외부 API 전송이 불법이라는 주장으로 확대하지 않는다.</a:t>
            </a:r>
            <a:endParaRPr/>
          </a:p>
          <a:p xmlns:a="http://schemas.openxmlformats.org/drawingml/2006/main">
            <a:pPr marL="0" lvl="0" indent="0" algn="l">
              <a:spcBef>
                <a:spcPts val="0"/>
              </a:spcBef>
              <a:spcAft>
                <a:spcPts val="0"/>
              </a:spcAft>
              <a:buNone/>
            </a:pPr>
            <a:r>
              <a:t>5. [국가인공지능전략위원회의 국정원 AI보안 가이드북 발간 안내](https://www.aikorea.go.kr/web/board/brdDetail.do?menu_cd=000011&amp;num=144), 2025-12-10. 기밀 유출 등 보안 위협 대응이라는 일반 방향을 인용한다. 특정 가이드북의 범위에서 환각을 제외했다는 것이 관련 도구가 없다는 증거는 아니다. 외교부 지침 준수·인증 취득 주장으로 연결하지 않는다.</a:t>
            </a:r>
            <a:endParaRPr/>
          </a:p>
          <a:p xmlns:a="http://schemas.openxmlformats.org/drawingml/2006/main">
            <a:pPr marL="0" lvl="0" indent="0" algn="l">
              <a:spcBef>
                <a:spcPts val="0"/>
              </a:spcBef>
              <a:spcAft>
                <a:spcPts val="0"/>
              </a:spcAft>
              <a:buNone/>
            </a:pPr>
            <a:r>
              <a:t>6. 사용자 제공 B1조 2주차 PDF 4페이지의 문서 주입 실험. 현재 RAG 검색·탐지 통합 성능을 나타내지 않는다. 환각 발생률·물질별 안전 수치는 재인용하지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3. 데이터 준비와 실제 서비스 연결을 하나의 흐름으로 설계</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핵심 메시지</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완료된 준비 작업을 실제 권한 검색·답변 생성·원문 검토로 연결하는 구조다.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데이터 준비: 공고 수집·파싱 → 표본·요건 CSV → 검수 질문·가상 기업</a:t>
            </a:r>
            <a:endParaRPr/>
          </a:p>
          <a:p xmlns:a="http://schemas.openxmlformats.org/drawingml/2006/main">
            <a:pPr marL="0" lvl="0" indent="0" algn="l">
              <a:spcBef>
                <a:spcPts val="0"/>
              </a:spcBef>
              <a:spcAft>
                <a:spcPts val="0"/>
              </a:spcAft>
              <a:buNone/>
            </a:pPr>
            <a:r>
              <a:t>- 실제 서비스 연결 예정: 권한 검색 → 로컬 답변 생성 → 환각·규칙 검증 → ASTRA 원문 검토</a:t>
            </a:r>
            <a:endParaRPr/>
          </a:p>
          <a:p xmlns:a="http://schemas.openxmlformats.org/drawingml/2006/main">
            <a:pPr marL="0" lvl="0" indent="0" algn="l">
              <a:spcBef>
                <a:spcPts val="0"/>
              </a:spcBef>
              <a:spcAft>
                <a:spcPts val="0"/>
              </a:spcAft>
              <a:buNone/>
            </a:pPr>
            <a:r>
              <a:t>- 검색 자료: 공고 원문 + 합성 기업 L2/L3</a:t>
            </a:r>
            <a:endParaRPr/>
          </a:p>
          <a:p xmlns:a="http://schemas.openxmlformats.org/drawingml/2006/main">
            <a:pPr marL="0" lvl="0" indent="0" algn="l">
              <a:spcBef>
                <a:spcPts val="0"/>
              </a:spcBef>
              <a:spcAft>
                <a:spcPts val="0"/>
              </a:spcAft>
              <a:buNone/>
            </a:pPr>
            <a:r>
              <a:t>- 질문·정답표는 검색 DB와 분리</a:t>
            </a:r>
            <a:endParaRPr/>
          </a:p>
          <a:p xmlns:a="http://schemas.openxmlformats.org/drawingml/2006/main">
            <a:pPr marL="0" lvl="0" indent="0" algn="l">
              <a:spcBef>
                <a:spcPts val="0"/>
              </a:spcBef>
              <a:spcAft>
                <a:spcPts val="0"/>
              </a:spcAft>
              <a:buNone/>
            </a:pPr>
            <a:r>
              <a:t>- L1 공개·L2 내부·L3 민감은 사내 문서 분류 예시</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레이아웃</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사용자 제공 전체 구조도의 데이터 준비·서비스 구역을 두 가로 흐름으로 간추려 편집 가능한 도형과 화살표로 재구성한다. 위쪽은 파란 배경으로 준비한 자료, 아래쪽은 밝은 배경으로 실제 연결 예정 기능을 표시한다. 원본 구조도의 성능 숫자와 상세 노드 이름은 생략한다.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새 파이프라인은 자료를 준비하는 흐름과 실제 질문을 처리하는 흐름으로 나눴습니다. 위쪽에서 공고를 수집하고 파싱한 뒤 표본과 요건 시트를 만들고, 이를 질문과 가상 기업 준비에 활용합니다. 아래쪽에서는 사용자의 권한을 확인한 자료를 검색하고 로컬 모델이 답변을 만든 뒤 환각과 수치 조건을 검토합니다. 지금은 위쪽의 데이터와 검수 자산 준비를 진행한 상태이고, 아래쪽의 실제 서비스 연결이 다음 단계입니다. 질문의 정답표를 검색 DB에 넣어 정답을 찾아오게 하지는 않습니다.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근거·기술 보충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팀공유 문서, 첨부 프로젝트 구조도, Live RAG 설계. 검색용 원본 BGE-M3와 학습한 환각 탐지기는 분리한다. 실제 인가는 회사·프로젝트·문서별 승인 조건을 서버에서 확인해야 하며 개인 등급 비교만으로 구현하지 않는다. L1~L3는 국가 비밀취급인가 등급이 아니다. 숫자 규칙은 탐지 모델의 판정에만 의존하는 후처리가 아니라 원문과 답변을 대조하는 별도 검증이다. GraphRAG 관계 검색은 후속 확장이다.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4. 4~6월 공고 수집·파싱·변환 단계를 마쳤다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핵심 메시지</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세 달 공고를 모아 원본·파싱 텍스트·어댑터 입력·집계로 연결했다.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월 | 공고 행·차수 포함 | 최신 차수 |</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4월 | 53,153 | 48,033 |</a:t>
            </a:r>
            <a:endParaRPr/>
          </a:p>
          <a:p xmlns:a="http://schemas.openxmlformats.org/drawingml/2006/main">
            <a:pPr marL="0" lvl="0" indent="0" algn="l">
              <a:spcBef>
                <a:spcPts val="0"/>
              </a:spcBef>
              <a:spcAft>
                <a:spcPts val="0"/>
              </a:spcAft>
              <a:buNone/>
            </a:pPr>
            <a:r>
              <a:t>| 5월 | 40,241 | 36,419 |</a:t>
            </a:r>
            <a:endParaRPr/>
          </a:p>
          <a:p xmlns:a="http://schemas.openxmlformats.org/drawingml/2006/main">
            <a:pPr marL="0" lvl="0" indent="0" algn="l">
              <a:spcBef>
                <a:spcPts val="0"/>
              </a:spcBef>
              <a:spcAft>
                <a:spcPts val="0"/>
              </a:spcAft>
              <a:buNone/>
            </a:pPr>
            <a:r>
              <a:t>| 6월 | 44,351 | 40,070 |</a:t>
            </a:r>
            <a:endParaRPr/>
          </a:p>
          <a:p xmlns:a="http://schemas.openxmlformats.org/drawingml/2006/main">
            <a:pPr marL="0" lvl="0" indent="0" algn="l">
              <a:spcBef>
                <a:spcPts val="0"/>
              </a:spcBef>
              <a:spcAft>
                <a:spcPts val="0"/>
              </a:spcAft>
              <a:buNone/>
            </a:pPr>
            <a:r>
              <a:t>| 합계 | 137,745 | 124,522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사용 가능한 첨부 246,797개 / 전체 집계 285,252개</a:t>
            </a:r>
            <a:endParaRPr/>
          </a:p>
          <a:p xmlns:a="http://schemas.openxmlformats.org/drawingml/2006/main">
            <a:pPr marL="0" lvl="0" indent="0" algn="l">
              <a:spcBef>
                <a:spcPts val="0"/>
              </a:spcBef>
              <a:spcAft>
                <a:spcPts val="0"/>
              </a:spcAft>
              <a:buNone/>
            </a:pPr>
            <a:r>
              <a:t>- 파싱 처리와 별개로 실패·품질 미달 자료 구분 관리</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레이아웃</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왼쪽에 수집 공고 행의 큰 숫자와 월별 표, 오른쪽에 최신 차수와 사용 가능 첨부 수를 배치한다. “100% 파싱 성공” 배지나 처리 단계별 분모가 다른 숫자를 하나의 성공률로 만든 그래프는 넣지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우선 4월부터 6월까지 공고 수집과 파싱, 변환 단계를 마쳤습니다. 차수를 포함하면 137,745행이고 최신 차수 기준으로는 124,522건입니다. 수집한 원본과 파싱 텍스트를 보관하고, 어댑터를 통해 다음 파이프라인의 입력으로 변환했습니다. 사용 가능한 첨부는 집계 대상 285,252개 중 246,797개입니다. 파싱 단계의 처리를 마쳤다는 표현이 모든 문서가 정상이라는 뜻은 아니며, 실패하거나 품질 기준에 못 미친 자료는 구분해서 관리합니다.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출처·검증</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`project-docs/데이터현황/2026-04_워크스테이션_결과/adapt_report.json`, 5월·6월의 같은 파일. 각 보고서의 `notices_total`, `notices_kept`, `usable`, `attachments`를 2026-09-13 재합산했다. `status`와 `reason`은 단계별 분모가 다를 수 있어 섞어 사용하지 않았다. 수집 범위는 팀이 사용한 나라장터 API와 수집 조건에 한정하며 전국 모든 조달 방식의 완전한 모집단이라고 하지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5. 주요 분야는 정보시스템 구축·운영으로 선정</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핵심 메시지</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문서 가용성과 실제 조건 대조의 적합성을 함께 보고 타깃 분야를 결정했다.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타깃 분야 | 공고 | 완전 공고 |</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SW·시스템 개발 | 2,163 | 984 |</a:t>
            </a:r>
            <a:endParaRPr/>
          </a:p>
          <a:p xmlns:a="http://schemas.openxmlformats.org/drawingml/2006/main">
            <a:pPr marL="0" lvl="0" indent="0" algn="l">
              <a:spcBef>
                <a:spcPts val="0"/>
              </a:spcBef>
              <a:spcAft>
                <a:spcPts val="0"/>
              </a:spcAft>
              <a:buNone/>
            </a:pPr>
            <a:r>
              <a:t>| 운영·유지관리 | 1,313 | 681 |</a:t>
            </a:r>
            <a:endParaRPr/>
          </a:p>
          <a:p xmlns:a="http://schemas.openxmlformats.org/drawingml/2006/main">
            <a:pPr marL="0" lvl="0" indent="0" algn="l">
              <a:spcBef>
                <a:spcPts val="0"/>
              </a:spcBef>
              <a:spcAft>
                <a:spcPts val="0"/>
              </a:spcAft>
              <a:buNone/>
            </a:pPr>
            <a:r>
              <a:t>| 합계 | 3,476 | 1,665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실적·인력·인증을 비교하기 적합</a:t>
            </a:r>
            <a:endParaRPr/>
          </a:p>
          <a:p xmlns:a="http://schemas.openxmlformats.org/drawingml/2006/main">
            <a:pPr marL="0" lvl="0" indent="0" algn="l">
              <a:spcBef>
                <a:spcPts val="0"/>
              </a:spcBef>
              <a:spcAft>
                <a:spcPts val="0"/>
              </a:spcAft>
              <a:buNone/>
            </a:pPr>
            <a:r>
              <a:t>- 기업의 충족·미충족 사례를 설계할 수 있음</a:t>
            </a:r>
            <a:endParaRPr/>
          </a:p>
          <a:p xmlns:a="http://schemas.openxmlformats.org/drawingml/2006/main">
            <a:pPr marL="0" lvl="0" indent="0" algn="l">
              <a:spcBef>
                <a:spcPts val="0"/>
              </a:spcBef>
              <a:spcAft>
                <a:spcPts val="0"/>
              </a:spcAft>
              <a:buNone/>
            </a:pPr>
            <a:r>
              <a:t>- 팀의 IT·SW 이해를 활용해 검수 가능</a:t>
            </a:r>
            <a:endParaRPr/>
          </a:p>
          <a:p xmlns:a="http://schemas.openxmlformats.org/drawingml/2006/main">
            <a:pPr marL="0" lvl="0" indent="0" algn="l">
              <a:spcBef>
                <a:spcPts val="0"/>
              </a:spcBef>
              <a:spcAft>
                <a:spcPts val="0"/>
              </a:spcAft>
              <a:buNone/>
            </a:pPr>
            <a:r>
              <a:t>- 완전 공고 = 공고문 + (RFP 또는 과업·규격서)</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레이아웃</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선정 분야를 큰 제목으로 강조하고 왼쪽에 분야 표, 오른쪽에 선정 이유를 배치한다. 모든 후보 분야를 나열하기보다 선택 결과와 판단 이유를 설명한다.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파싱된 자료를 분야별로 집계한 뒤 정보시스템 구축·운영을 주요 주제로 선정했습니다. 이 범위에는 SW·시스템 개발과 운영·유지관리가 포함됩니다. 두 분야의 공고는 3,476건이고, 공고문과 RFP 또는 과업·규격서를 함께 활용할 수 있는 완전 공고는 1,665건입니다. 단순히 완비율이 가장 높아서 고른 것은 아닙니다. 회사의 실적과 인력, 인증을 조건과 대조하기 좋고 팀에서도 문서를 이해하고 검수하기에 적합하다는 점을 고려했습니다.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출처·검증</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`project-docs/데이터현황/2026-04to06_워크스테이션_통합_sector_report.csv`의 두 분야 행을 재확인했다. 과거 미리보기 표의 수치는 사용하지 않는다. 선정 이유는 팀공유 문서의 확정 방향을 따른다.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6. 51건을 데모 표본으로 추출하고 요건 CSV를 제작</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핵심 메시지</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원문 검색 자료와 사람이 정리한 요건 기준을 분리해 준비했다.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표본 51건: 4월·5월·6월 각 17건</a:t>
            </a:r>
            <a:endParaRPr/>
          </a:p>
          <a:p xmlns:a="http://schemas.openxmlformats.org/drawingml/2006/main">
            <a:pPr marL="0" lvl="0" indent="0" algn="l">
              <a:spcBef>
                <a:spcPts val="0"/>
              </a:spcBef>
              <a:spcAft>
                <a:spcPts val="0"/>
              </a:spcAft>
              <a:buNone/>
            </a:pPr>
            <a:r>
              <a:t>- SW·시스템 개발 32건 / 운영·유지관리 19건</a:t>
            </a:r>
            <a:endParaRPr/>
          </a:p>
          <a:p xmlns:a="http://schemas.openxmlformats.org/drawingml/2006/main">
            <a:pPr marL="0" lvl="0" indent="0" algn="l">
              <a:spcBef>
                <a:spcPts val="0"/>
              </a:spcBef>
              <a:spcAft>
                <a:spcPts val="0"/>
              </a:spcAft>
              <a:buNone/>
            </a:pPr>
            <a:r>
              <a:t>- 원문과 파싱 텍스트를 함께 확인</a:t>
            </a:r>
            <a:endParaRPr/>
          </a:p>
          <a:p xmlns:a="http://schemas.openxmlformats.org/drawingml/2006/main">
            <a:pPr marL="0" lvl="0" indent="0" algn="l">
              <a:spcBef>
                <a:spcPts val="0"/>
              </a:spcBef>
              <a:spcAft>
                <a:spcPts val="0"/>
              </a:spcAft>
              <a:buNone/>
            </a:pPr>
            <a:r>
              <a:t>- CSV: 자격·실적·인력·인증 / 금액·일정·배점 / 근거 문서·쪽수·검토 메모</a:t>
            </a:r>
            <a:endParaRPr/>
          </a:p>
          <a:p xmlns:a="http://schemas.openxmlformats.org/drawingml/2006/main">
            <a:pPr marL="0" lvl="0" indent="0" algn="l">
              <a:spcBef>
                <a:spcPts val="0"/>
              </a:spcBef>
              <a:spcAft>
                <a:spcPts val="0"/>
              </a:spcAft>
              <a:buNone/>
            </a:pPr>
            <a:r>
              <a:t>- 청크는 원문 조각, CSV는 질문·기업 자료 설계에 사용할 기준</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레이아웃</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왼쪽에 51건과 월별·분야별 구성, 오른쪽에 CSV 항목을 용도별로 묶은 편집 가능한 표를 둔다. 실제 완성 CSV가 이번 작업에 제공되지 않았으므로 빈 배포용 CSV를 완성본 스크린샷처럼 쓰지 않는다. 표는 기록 항목과 용도를 설명하는 도식이다.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선정 분야에서 데모에 사용할 공고 51건을 따로 추출했습니다. 각 월에서 17건씩이고, 분야별로는 개발 32건과 운영·유지관리 19건입니다. 이 문서들을 원문과 파싱 텍스트로 확인하면서 참가 조건과 근거 위치를 요건 시트에 정리했습니다. CSV는 공고 전체를 다시 옮겨 적거나 원문 청크를 대신하는 파일이 아닙니다. 질문과 정답을 만들고 가상 기업 조건을 설계할 때 같은 기준을 사용하도록 준비한 것입니다. 날짜나 조건이 서로 다른 부분은 근거와 함께 검토 메모에 남깁니다.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출처·검증</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`project-docs/표본_정보시스템/표본_목록.csv` 51행을 월·분야별로 재집계했다. CSV 항목과 원칙은 `요건추출_작성요령.md` 및 배포 시트 헤더를 따른다. 완성 상태는 사용자 최신 확인을 반영한다. 데모 표본은 다양한 사례를 보여주기 위한 것으로 모집단 대표성을 보장하지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7. 질문·정답·근거 300건과 입찰용 가상 기업을 준비</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핵심 메시지</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공고의 조건을 실제로 물어볼 질문과 대조할 회사 상황으로 연결했다.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질문·기대 정답·근거 300건 준비 완료</a:t>
            </a:r>
            <a:endParaRPr/>
          </a:p>
          <a:p xmlns:a="http://schemas.openxmlformats.org/drawingml/2006/main">
            <a:pPr marL="0" lvl="0" indent="0" algn="l">
              <a:spcBef>
                <a:spcPts val="0"/>
              </a:spcBef>
              <a:spcAft>
                <a:spcPts val="0"/>
              </a:spcAft>
              <a:buNone/>
            </a:pPr>
            <a:r>
              <a:t>- 질문할 내용, 기대 답, 확인할 원문 근거 연결</a:t>
            </a:r>
            <a:endParaRPr/>
          </a:p>
          <a:p xmlns:a="http://schemas.openxmlformats.org/drawingml/2006/main">
            <a:pPr marL="0" lvl="0" indent="0" algn="l">
              <a:spcBef>
                <a:spcPts val="0"/>
              </a:spcBef>
              <a:spcAft>
                <a:spcPts val="0"/>
              </a:spcAft>
              <a:buNone/>
            </a:pPr>
            <a:r>
              <a:t>- 입찰용 가상 기업 구성: 실적·인력·인증 등의 회사 조건 마련</a:t>
            </a:r>
            <a:endParaRPr/>
          </a:p>
          <a:p xmlns:a="http://schemas.openxmlformats.org/drawingml/2006/main">
            <a:pPr marL="0" lvl="0" indent="0" algn="l">
              <a:spcBef>
                <a:spcPts val="0"/>
              </a:spcBef>
              <a:spcAft>
                <a:spcPts val="0"/>
              </a:spcAft>
              <a:buNone/>
            </a:pPr>
            <a:r>
              <a:t>- 충족·미충족·자료 부족 상황을 구분하는 검토 기반</a:t>
            </a:r>
            <a:endParaRPr/>
          </a:p>
          <a:p xmlns:a="http://schemas.openxmlformats.org/drawingml/2006/main">
            <a:pPr marL="0" lvl="0" indent="0" algn="l">
              <a:spcBef>
                <a:spcPts val="0"/>
              </a:spcBef>
              <a:spcAft>
                <a:spcPts val="0"/>
              </a:spcAft>
              <a:buNone/>
            </a:pPr>
            <a:r>
              <a:t>- 다음: 실제 답변 생성 → 환각 구간 라벨링 → 교차 검수</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레이아웃</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왼쪽의 큰 300건과 오른쪽의 가상 기업 구성 설명을 같은 무게로 배치한다. 기업명·기업 수·실적값·권한별 질문 비율은 만들지 않는다. 하단에 다음 작업을 연결해 준비 완료와 실제 답변 라벨링 완료를 구분한다.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이를 바탕으로 질문과 기대 정답, 근거 300건을 준비했고 입찰에 참여할 가상 기업도 구성했습니다. 질문마다 무엇을 기대하고 어떤 원문으로 확인할지 기준을 마련한 것입니다. 기업은 공고의 실적과 인력, 인증 조건을 대조할 수 있는 상황을 만들기 위한 합성 자료입니다. 이 준비를 실제 답변 생성과 연결한 뒤, 생성된 답변의 환각 구간을 사람이 표시하고 교차 검수할 예정입니다. 따라서 질문 300건 준비 완료와 생성 답변의 구절 라벨링 완료는 서로 다른 단계입니다.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근거·표현 범위</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질문·기대 정답·근거 완료는 사용자가 명시적으로 확인했다. 가상 기업 준비는 이번 사용자 요청의 최신 진행 현황을 따른다. 실제 질문·기업 파일의 품질이나 세부 구성은 이번 작업에서 독립 검수하지 않았다. 합성 기업의 모든 L2/L3 상세 문서와 서비스용 권한이 완성됐다고 설명하지 않는다. 기존 계획의 기업 5곳을 검증된 완료 수량으로 재사용하지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8. 다음 단계는 준비한 자료로 실제 답변을 끝까지 연결하는 것</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핵심 메시지</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작은 시나리오부터 연결하고, 300건 실행과 검수로 범위를 넓힌다.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 자료·버전 연결: 공고·기업·질문 ID 고정, L2/L3 상세 증빙·권한 연결, 개발·평가 자료 분리</a:t>
            </a:r>
            <a:endParaRPr/>
          </a:p>
          <a:p xmlns:a="http://schemas.openxmlformats.org/drawingml/2006/main">
            <a:pPr marL="0" lvl="0" indent="0" algn="l">
              <a:spcBef>
                <a:spcPts val="0"/>
              </a:spcBef>
              <a:spcAft>
                <a:spcPts val="0"/>
              </a:spcAft>
              <a:buNone/>
            </a:pPr>
            <a:r>
              <a:t>2. 답변 생성·검수: 허용 근거로 로컬 답변 생성, span 라벨링·교차 검수, 숫자·기간 대조</a:t>
            </a:r>
            <a:endParaRPr/>
          </a:p>
          <a:p xmlns:a="http://schemas.openxmlformats.org/drawingml/2006/main">
            <a:pPr marL="0" lvl="0" indent="0" algn="l">
              <a:spcBef>
                <a:spcPts val="0"/>
              </a:spcBef>
              <a:spcAft>
                <a:spcPts val="0"/>
              </a:spcAft>
              <a:buNone/>
            </a:pPr>
            <a:r>
              <a:t>3. ASTRA 실연결: 검색·생성·탐지 API, 원문·의심 구간 표시, 승인 전후·타 회사 차단</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첫 연결 기준: 실제 공고 1건 + 가상 기업 1곳 + 질문 5개를 사람이 확인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레이아웃</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세 단계의 제목과 제출물을 가로로 배치한다. 새 확정 날짜를 추가하지 않고 작업 순서와 끝났다고 볼 조건에 집중한다. 하단에 첫 연결 범위를 강조한다. 평가지표표·FPS·F1·성능 목표 숫자 및 비공개 공간 시연은 넣지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다음에는 준비한 자료를 실제 서비스로 연결하겠습니다. 먼저 공고와 기업, 질문의 ID와 버전을 맞추고 L2/L3 증빙과 권한을 연결합니다. 공고 한 건과 기업 한 곳, 질문 다섯 개부터 끝까지 실행해 사람이 확인한 뒤 범위를 넓히겠습니다. 이후 답변의 환각 구간을 라벨링하고 숫자 조건도 별도로 대조합니다. 마지막으로 ASTRA에서 질문부터 근거와 의심 구간 확인까지 이어지도록 연결하고, 승인 전후와 다른 회사 자료에 대한 접근 차단을 확인하겠습니다.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근거·기술 보충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팀공유 문서의 소규모 연결 목표, Live 설계, 기존 업무분담표. 추가 학습·임계값 조정에는 개발 자료를 사용하고 최종 평가용 자료는 분리해 보존한다. 동일 공고·기업·유사 질문이 개발·평가에 중복되는지 점검한다. 현재 RAG 서비스·실제 인가·폐쇄망 운영이 완료됐다는 뜻은 아니다.</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bafba8a0094d6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9859d41061c45d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6e3476dc59841c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217f1469beb40f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ea4d381dcc8491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1680a156cf4405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ac51e00f2314c4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8b4a8e605844dfd"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b="1" i="0">
                <a:latin typeface="Lora SemiBold"/>
                <a:ea typeface="Lora SemiBold"/>
                <a:cs typeface="Lora SemiBold"/>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699" y="6279294"/>
            <a:ext cx="8129411"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294"/>
            <a:ext cx="87051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294"/>
            <a:ext cx="74930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699" y="6279294"/>
            <a:ext cx="846664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699" y="6279294"/>
            <a:ext cx="736176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294"/>
            <a:ext cx="75875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753c1d77f64e85" /><Relationship Type="http://schemas.openxmlformats.org/officeDocument/2006/relationships/slideLayout" Target="/ppt/slideLayouts/slideLayout1.xml" Id="R30111f62406a4b14" /><Relationship Type="http://schemas.openxmlformats.org/officeDocument/2006/relationships/slideLayout" Target="/ppt/slideLayouts/slideLayout2.xml" Id="R1530989916b845a4" /><Relationship Type="http://schemas.openxmlformats.org/officeDocument/2006/relationships/slideLayout" Target="/ppt/slideLayouts/slideLayout3.xml" Id="R2f1e4943550e454e" /><Relationship Type="http://schemas.openxmlformats.org/officeDocument/2006/relationships/slideLayout" Target="/ppt/slideLayouts/slideLayout4.xml" Id="R5f5383e8b7114f38" /><Relationship Type="http://schemas.openxmlformats.org/officeDocument/2006/relationships/slideLayout" Target="/ppt/slideLayouts/slideLayout5.xml" Id="Ra8afb5f556c14089" /><Relationship Type="http://schemas.openxmlformats.org/officeDocument/2006/relationships/slideLayout" Target="/ppt/slideLayouts/slideLayout6.xml" Id="R8f5678c0b15a4833" /><Relationship Type="http://schemas.openxmlformats.org/officeDocument/2006/relationships/slideLayout" Target="/ppt/slideLayouts/slideLayout7.xml" Id="R19f248523a124e00" /><Relationship Type="http://schemas.openxmlformats.org/officeDocument/2006/relationships/slideLayout" Target="/ppt/slideLayouts/slideLayout8.xml" Id="Rbbf286e54a6a4a75" /></Relationships>
</file>

<file path=ppt/slideMasters/slideMaster1.xml><?xml version="1.0" encoding="utf-8"?>
<p:sldMaster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294"/>
            <a:ext cx="75311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111f62406a4b14"/>
    <p:sldLayoutId xmlns:r="http://schemas.openxmlformats.org/officeDocument/2006/relationships" id="2147483650" r:id="R1530989916b845a4"/>
    <p:sldLayoutId xmlns:r="http://schemas.openxmlformats.org/officeDocument/2006/relationships" id="2147483651" r:id="R2f1e4943550e454e"/>
    <p:sldLayoutId xmlns:r="http://schemas.openxmlformats.org/officeDocument/2006/relationships" id="2147483652" r:id="R5f5383e8b7114f38"/>
    <p:sldLayoutId xmlns:r="http://schemas.openxmlformats.org/officeDocument/2006/relationships" id="2147483653" r:id="Ra8afb5f556c14089"/>
    <p:sldLayoutId xmlns:r="http://schemas.openxmlformats.org/officeDocument/2006/relationships" id="2147483654" r:id="R8f5678c0b15a4833"/>
    <p:sldLayoutId xmlns:r="http://schemas.openxmlformats.org/officeDocument/2006/relationships" id="2147483655" r:id="R19f248523a124e00"/>
    <p:sldLayoutId xmlns:r="http://schemas.openxmlformats.org/officeDocument/2006/relationships" id="2147483656" r:id="Rbbf286e54a6a4a75"/>
  </p:sldLayoutIdLst>
  <p:hf hdr="0" dt="0"/>
  <p:txStyles>
    <p:titleStyle>
      <a:lvl1pPr xmlns:a="http://schemas.openxmlformats.org/drawingml/2006/main" algn="l" defTabSz="914400">
        <a:lnSpc>
          <a:spcPct val="90000"/>
        </a:lnSpc>
        <a:spcBef>
          <a:spcPct val="0"/>
        </a:spcBef>
        <a:buNone/>
        <a:defRPr sz="2900" b="1" i="0" kern="1200">
          <a:solidFill>
            <a:schemeClr val="tx1"/>
          </a:solidFill>
          <a:latin typeface="Lora SemiBold"/>
          <a:ea typeface="Lora SemiBold"/>
          <a:cs typeface="Lora SemiBold"/>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520"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ee1df8705b444d4d" /><Relationship Type="http://schemas.openxmlformats.org/officeDocument/2006/relationships/notesSlide" Target="/ppt/notesSlides/notesSlide1.xml" Id="R8f7685bdab3144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8316ef6b0014859" /><Relationship Type="http://schemas.openxmlformats.org/officeDocument/2006/relationships/notesSlide" Target="/ppt/notesSlides/notesSlide2.xml" Id="R88a7b3c835b141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3a1b7082dd5948d8" /><Relationship Type="http://schemas.openxmlformats.org/officeDocument/2006/relationships/notesSlide" Target="/ppt/notesSlides/notesSlide3.xml" Id="Rc9ecd8f509434a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57df1a877f114ba5" /><Relationship Type="http://schemas.openxmlformats.org/officeDocument/2006/relationships/notesSlide" Target="/ppt/notesSlides/notesSlide4.xml" Id="Rb26533c610d14e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21a7a18943ba473f" /><Relationship Type="http://schemas.openxmlformats.org/officeDocument/2006/relationships/notesSlide" Target="/ppt/notesSlides/notesSlide5.xml" Id="R3708ceab0dbb4432"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8f71e754b404c80" /><Relationship Type="http://schemas.openxmlformats.org/officeDocument/2006/relationships/notesSlide" Target="/ppt/notesSlides/notesSlide6.xml" Id="R9e8cd79586ed44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426bffed3a854e83" /><Relationship Type="http://schemas.openxmlformats.org/officeDocument/2006/relationships/notesSlide" Target="/ppt/notesSlides/notesSlide7.xml" Id="R0763d2faa7ba4f89"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5a9481ce91934710" /><Relationship Type="http://schemas.openxmlformats.org/officeDocument/2006/relationships/notesSlide" Target="/ppt/notesSlides/notesSlide8.xml" Id="Re28f85ff437b441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1</a:t>
            </a: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환각 탐지의 적용 무대를 나라장터로 넓혔다</a:t>
            </a:r>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0525" y="1257300"/>
            <a:ext cx="11401425" cy="6096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875" b="0">
                <a:solidFill>
                  <a:srgbClr val="5B6476"/>
                </a:solidFill>
                <a:latin typeface="Malgun Gothic"/>
                <a:ea typeface="Malgun Gothic"/>
                <a:cs typeface="Malgun Gothic"/>
              </a:defRPr>
            </a:pPr>
            <a:r>
              <a:rPr sz="1875" b="0">
                <a:solidFill>
                  <a:srgbClr val="5B6476"/>
                </a:solidFill>
                <a:latin typeface="Malgun Gothic"/>
                <a:ea typeface="Malgun Gothic"/>
                <a:cs typeface="Malgun Gothic"/>
              </a:rPr>
              <a:t>B1조 3주차 진행 보고 · 한국어 환각 탐지와 권한 기반 입찰 검토</a:t>
            </a:r>
          </a:p>
        </p:txBody>
      </p:sp>
      <p:sp>
        <p:nvSpPr>
          <p:cNvPr id="534" name="">
            <a:extLst xmlns:a="http://schemas.openxmlformats.org/drawingml/2006/main">
              <a:ext uri="{FF2B5EF4-FFF2-40B4-BE49-F238E27FC236}">
                <a16:creationId xmlns:a16="http://schemas.microsoft.com/office/drawing/2014/main" id="{61726BE6-BAA0-433A-A097-D62AA98D6C83}"/>
              </a:ext>
            </a:extLst>
          </p:cNvPr>
          <p:cNvSpPr>
            <a:spLocks xmlns:a="http://schemas.openxmlformats.org/drawingml/2006/main" noGrp="1"/>
          </p:cNvSpPr>
          <p:nvPr/>
        </p:nvSpPr>
        <p:spPr>
          <a:xfrm xmlns:a="http://schemas.openxmlformats.org/drawingml/2006/main">
            <a:off x="390525" y="220027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B6476"/>
                </a:solidFill>
                <a:latin typeface="Malgun Gothic"/>
                <a:ea typeface="Malgun Gothic"/>
                <a:cs typeface="Malgun Gothic"/>
              </a:defRPr>
            </a:pPr>
            <a:r>
              <a:rPr sz="1875" b="0">
                <a:solidFill>
                  <a:srgbClr val="5B6476"/>
                </a:solidFill>
                <a:latin typeface="Malgun Gothic"/>
                <a:ea typeface="Malgun Gothic"/>
                <a:cs typeface="Malgun Gothic"/>
              </a:rPr>
              <a:t>출발점</a:t>
            </a:r>
          </a:p>
        </p:txBody>
      </p:sp>
      <p:sp>
        <p:nvSpPr>
          <p:cNvPr id="535" name="">
            <a:extLst xmlns:a="http://schemas.openxmlformats.org/drawingml/2006/main">
              <a:ext uri="{FF2B5EF4-FFF2-40B4-BE49-F238E27FC236}">
                <a16:creationId xmlns:a16="http://schemas.microsoft.com/office/drawing/2014/main" id="{1DDF1BC2-C969-4C0D-80FD-C691A0142580}"/>
              </a:ext>
            </a:extLst>
          </p:cNvPr>
          <p:cNvSpPr>
            <a:spLocks xmlns:a="http://schemas.openxmlformats.org/drawingml/2006/main" noGrp="1"/>
          </p:cNvSpPr>
          <p:nvPr/>
        </p:nvSpPr>
        <p:spPr>
          <a:xfrm xmlns:a="http://schemas.openxmlformats.org/drawingml/2006/main">
            <a:off x="390525" y="2771775"/>
            <a:ext cx="5095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3456BF"/>
                </a:solidFill>
                <a:latin typeface="Malgun Gothic"/>
                <a:ea typeface="Malgun Gothic"/>
                <a:cs typeface="Malgun Gothic"/>
              </a:defRPr>
            </a:pPr>
            <a:r>
              <a:rPr sz="2475" b="1">
                <a:solidFill>
                  <a:srgbClr val="3456BF"/>
                </a:solidFill>
                <a:latin typeface="Malgun Gothic"/>
                <a:ea typeface="Malgun Gothic"/>
                <a:cs typeface="Malgun Gothic"/>
              </a:rPr>
              <a:t>문서를 보고도 틀리는 답변</a:t>
            </a:r>
          </a:p>
        </p:txBody>
      </p:sp>
      <p:sp>
        <p:nvSpPr>
          <p:cNvPr id="536" name="">
            <a:extLst xmlns:a="http://schemas.openxmlformats.org/drawingml/2006/main">
              <a:ext uri="{FF2B5EF4-FFF2-40B4-BE49-F238E27FC236}">
                <a16:creationId xmlns:a16="http://schemas.microsoft.com/office/drawing/2014/main" id="{A21ECB93-BA6E-4C7B-8E29-6DCABEAF8036}"/>
              </a:ext>
            </a:extLst>
          </p:cNvPr>
          <p:cNvSpPr>
            <a:spLocks xmlns:a="http://schemas.openxmlformats.org/drawingml/2006/main" noGrp="1"/>
          </p:cNvSpPr>
          <p:nvPr/>
        </p:nvSpPr>
        <p:spPr>
          <a:xfrm xmlns:a="http://schemas.openxmlformats.org/drawingml/2006/main">
            <a:off x="390525" y="3562350"/>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61C2C"/>
                </a:solidFill>
                <a:latin typeface="Malgun Gothic"/>
                <a:ea typeface="Malgun Gothic"/>
                <a:cs typeface="Malgun Gothic"/>
              </a:defRPr>
            </a:pPr>
            <a:r>
              <a:rPr sz="2025" b="0">
                <a:solidFill>
                  <a:srgbClr val="161C2C"/>
                </a:solidFill>
                <a:latin typeface="Malgun Gothic"/>
                <a:ea typeface="Malgun Gothic"/>
                <a:cs typeface="Malgun Gothic"/>
              </a:rPr>
              <a:t>한국어 답변에서 근거가 부족한</a:t>
            </a:r>
          </a:p>
          <a:p xmlns:a="http://schemas.openxmlformats.org/drawingml/2006/main">
            <a:pPr>
              <a:defRPr sz="2025" b="0">
                <a:solidFill>
                  <a:srgbClr val="161C2C"/>
                </a:solidFill>
                <a:latin typeface="Malgun Gothic"/>
                <a:ea typeface="Malgun Gothic"/>
                <a:cs typeface="Malgun Gothic"/>
              </a:defRPr>
            </a:pPr>
            <a:r>
              <a:rPr sz="2025" b="0">
                <a:solidFill>
                  <a:srgbClr val="161C2C"/>
                </a:solidFill>
                <a:latin typeface="Malgun Gothic"/>
                <a:ea typeface="Malgun Gothic"/>
                <a:cs typeface="Malgun Gothic"/>
              </a:rPr>
              <a:t>구절을 찾아 표시하는 모델 개발</a:t>
            </a:r>
          </a:p>
        </p:txBody>
      </p:sp>
      <p:sp>
        <p:nvSpPr>
          <p:cNvPr id="537" name="">
            <a:extLst xmlns:a="http://schemas.openxmlformats.org/drawingml/2006/main">
              <a:ext uri="{FF2B5EF4-FFF2-40B4-BE49-F238E27FC236}">
                <a16:creationId xmlns:a16="http://schemas.microsoft.com/office/drawing/2014/main" id="{B172F89B-F477-4480-B6D7-44A31E3869F7}"/>
              </a:ext>
            </a:extLst>
          </p:cNvPr>
          <p:cNvSpPr>
            <a:spLocks xmlns:a="http://schemas.openxmlformats.org/drawingml/2006/main" noGrp="1"/>
          </p:cNvSpPr>
          <p:nvPr/>
        </p:nvSpPr>
        <p:spPr>
          <a:xfrm xmlns:a="http://schemas.openxmlformats.org/drawingml/2006/main">
            <a:off x="6419850" y="2200275"/>
            <a:ext cx="5372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B6476"/>
                </a:solidFill>
                <a:latin typeface="Malgun Gothic"/>
                <a:ea typeface="Malgun Gothic"/>
                <a:cs typeface="Malgun Gothic"/>
              </a:defRPr>
            </a:pPr>
            <a:r>
              <a:rPr sz="1875" b="0">
                <a:solidFill>
                  <a:srgbClr val="5B6476"/>
                </a:solidFill>
                <a:latin typeface="Malgun Gothic"/>
                <a:ea typeface="Malgun Gothic"/>
                <a:cs typeface="Malgun Gothic"/>
              </a:rPr>
              <a:t>확장한 업무</a:t>
            </a:r>
          </a:p>
        </p:txBody>
      </p:sp>
      <p:sp>
        <p:nvSpPr>
          <p:cNvPr id="538" name="">
            <a:extLst xmlns:a="http://schemas.openxmlformats.org/drawingml/2006/main">
              <a:ext uri="{FF2B5EF4-FFF2-40B4-BE49-F238E27FC236}">
                <a16:creationId xmlns:a16="http://schemas.microsoft.com/office/drawing/2014/main" id="{E5F7F72A-D62A-4B45-824C-43829055557E}"/>
              </a:ext>
            </a:extLst>
          </p:cNvPr>
          <p:cNvSpPr>
            <a:spLocks xmlns:a="http://schemas.openxmlformats.org/drawingml/2006/main" noGrp="1"/>
          </p:cNvSpPr>
          <p:nvPr/>
        </p:nvSpPr>
        <p:spPr>
          <a:xfrm xmlns:a="http://schemas.openxmlformats.org/drawingml/2006/main">
            <a:off x="6419850" y="2771775"/>
            <a:ext cx="5372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3456BF"/>
                </a:solidFill>
                <a:latin typeface="Malgun Gothic"/>
                <a:ea typeface="Malgun Gothic"/>
                <a:cs typeface="Malgun Gothic"/>
              </a:defRPr>
            </a:pPr>
            <a:r>
              <a:rPr sz="2400" b="1">
                <a:solidFill>
                  <a:srgbClr val="3456BF"/>
                </a:solidFill>
                <a:latin typeface="Malgun Gothic"/>
                <a:ea typeface="Malgun Gothic"/>
                <a:cs typeface="Malgun Gothic"/>
              </a:rPr>
              <a:t>공고 조건과 회사 증빙의 대조</a:t>
            </a:r>
          </a:p>
        </p:txBody>
      </p:sp>
      <p:sp>
        <p:nvSpPr>
          <p:cNvPr id="539" name="">
            <a:extLst xmlns:a="http://schemas.openxmlformats.org/drawingml/2006/main">
              <a:ext uri="{FF2B5EF4-FFF2-40B4-BE49-F238E27FC236}">
                <a16:creationId xmlns:a16="http://schemas.microsoft.com/office/drawing/2014/main" id="{48A14810-A103-4ABB-84C2-C3E3A763854A}"/>
              </a:ext>
            </a:extLst>
          </p:cNvPr>
          <p:cNvSpPr>
            <a:spLocks xmlns:a="http://schemas.openxmlformats.org/drawingml/2006/main" noGrp="1"/>
          </p:cNvSpPr>
          <p:nvPr/>
        </p:nvSpPr>
        <p:spPr>
          <a:xfrm xmlns:a="http://schemas.openxmlformats.org/drawingml/2006/main">
            <a:off x="6419850" y="3524250"/>
            <a:ext cx="532447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165100" indent="-101600">
              <a:spcAft>
                <a:spcPts val="1000"/>
              </a:spcAft>
              <a:buChar char="•"/>
              <a:defRPr sz="1875" b="0">
                <a:solidFill>
                  <a:srgbClr val="161C2C"/>
                </a:solidFill>
                <a:latin typeface="Malgun Gothic"/>
                <a:ea typeface="Malgun Gothic"/>
                <a:cs typeface="Malgun Gothic"/>
              </a:defRPr>
            </a:pPr>
            <a:r>
              <a:t>공개 공고를 확보하고 조건을 비교할 수 있음</a:t>
            </a:r>
          </a:p>
          <a:p xmlns:a="http://schemas.openxmlformats.org/drawingml/2006/main">
            <a:pPr marL="165100" indent="-101600">
              <a:spcAft>
                <a:spcPts val="1000"/>
              </a:spcAft>
              <a:buChar char="•"/>
              <a:defRPr sz="1875" b="0">
                <a:solidFill>
                  <a:srgbClr val="161C2C"/>
                </a:solidFill>
                <a:latin typeface="Malgun Gothic"/>
                <a:ea typeface="Malgun Gothic"/>
                <a:cs typeface="Malgun Gothic"/>
              </a:defRPr>
            </a:pPr>
            <a:r>
              <a:t>실적·인력·인증을 회사 자료와 함께 검토</a:t>
            </a:r>
          </a:p>
          <a:p xmlns:a="http://schemas.openxmlformats.org/drawingml/2006/main">
            <a:pPr marL="165100" indent="-101600">
              <a:spcAft>
                <a:spcPts val="1000"/>
              </a:spcAft>
              <a:buChar char="•"/>
              <a:defRPr sz="1875" b="0">
                <a:solidFill>
                  <a:srgbClr val="161C2C"/>
                </a:solidFill>
                <a:latin typeface="Malgun Gothic"/>
                <a:ea typeface="Malgun Gothic"/>
                <a:cs typeface="Malgun Gothic"/>
              </a:defRPr>
            </a:pPr>
            <a:r>
              <a:t>비공개 자료의 접근 권한까지 다룰 수 있음</a:t>
            </a:r>
          </a:p>
        </p:txBody>
      </p:sp>
      <p:sp>
        <p:nvSpPr>
          <p:cNvPr id="540" name="">
            <a:extLst xmlns:a="http://schemas.openxmlformats.org/drawingml/2006/main">
              <a:ext uri="{FF2B5EF4-FFF2-40B4-BE49-F238E27FC236}">
                <a16:creationId xmlns:a16="http://schemas.microsoft.com/office/drawing/2014/main" id="{B83F455F-6B5B-49CF-BFA6-EBF947413EB4}"/>
              </a:ext>
            </a:extLst>
          </p:cNvPr>
          <p:cNvSpPr>
            <a:spLocks xmlns:a="http://schemas.openxmlformats.org/drawingml/2006/main" noGrp="1"/>
          </p:cNvSpPr>
          <p:nvPr/>
        </p:nvSpPr>
        <p:spPr>
          <a:xfrm xmlns:a="http://schemas.openxmlformats.org/drawingml/2006/main">
            <a:off x="5905500" y="2305050"/>
            <a:ext cx="19050" cy="3019425"/>
          </a:xfrm>
          <a:prstGeom xmlns:a="http://schemas.openxmlformats.org/drawingml/2006/main" prst="rect">
            <a:avLst/>
          </a:prstGeom>
          <a:solidFill xmlns:a="http://schemas.openxmlformats.org/drawingml/2006/main">
            <a:srgbClr val="CBD1DD"/>
          </a:solidFill>
          <a:ln xmlns:a="http://schemas.openxmlformats.org/drawingml/2006/main" w="9525">
            <a:solidFill>
              <a:srgbClr val="CBD1DD"/>
            </a:solidFill>
          </a:ln>
        </p:spPr>
      </p:sp>
      <p:sp>
        <p:nvSpPr>
          <p:cNvPr id="541" name="">
            <a:extLst xmlns:a="http://schemas.openxmlformats.org/drawingml/2006/main">
              <a:ext uri="{FF2B5EF4-FFF2-40B4-BE49-F238E27FC236}">
                <a16:creationId xmlns:a16="http://schemas.microsoft.com/office/drawing/2014/main" id="{82E40E9E-A52A-4A45-9A14-550F2CA1EA61}"/>
              </a:ext>
            </a:extLst>
          </p:cNvPr>
          <p:cNvSpPr>
            <a:spLocks xmlns:a="http://schemas.openxmlformats.org/drawingml/2006/main" noGrp="1"/>
          </p:cNvSpPr>
          <p:nvPr/>
        </p:nvSpPr>
        <p:spPr>
          <a:xfrm xmlns:a="http://schemas.openxmlformats.org/drawingml/2006/main">
            <a:off x="390525" y="5562600"/>
            <a:ext cx="11401425" cy="581025"/>
          </a:xfrm>
          <a:prstGeom xmlns:a="http://schemas.openxmlformats.org/drawingml/2006/main" prst="rect">
            <a:avLst/>
          </a:prstGeom>
          <a:solidFill xmlns:a="http://schemas.openxmlformats.org/drawingml/2006/main">
            <a:srgbClr val="E8EDF9"/>
          </a:solidFill>
          <a:ln xmlns:a="http://schemas.openxmlformats.org/drawingml/2006/main" w="9525">
            <a:solidFill>
              <a:srgbClr val="E8EDF9"/>
            </a:solidFill>
          </a:ln>
        </p:spPr>
      </p:sp>
      <p:sp>
        <p:nvSpPr>
          <p:cNvPr id="542" name="">
            <a:extLst xmlns:a="http://schemas.openxmlformats.org/drawingml/2006/main">
              <a:ext uri="{FF2B5EF4-FFF2-40B4-BE49-F238E27FC236}">
                <a16:creationId xmlns:a16="http://schemas.microsoft.com/office/drawing/2014/main" id="{324CB685-93C9-4694-8CFF-CEC234DF183B}"/>
              </a:ext>
            </a:extLst>
          </p:cNvPr>
          <p:cNvSpPr>
            <a:spLocks xmlns:a="http://schemas.openxmlformats.org/drawingml/2006/main" noGrp="1"/>
          </p:cNvSpPr>
          <p:nvPr/>
        </p:nvSpPr>
        <p:spPr>
          <a:xfrm xmlns:a="http://schemas.openxmlformats.org/drawingml/2006/main">
            <a:off x="561975" y="57150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3456BF"/>
                </a:solidFill>
                <a:latin typeface="Malgun Gothic"/>
                <a:ea typeface="Malgun Gothic"/>
                <a:cs typeface="Malgun Gothic"/>
              </a:defRPr>
            </a:pPr>
            <a:r>
              <a:rPr sz="2025" b="1">
                <a:solidFill>
                  <a:srgbClr val="3456BF"/>
                </a:solidFill>
                <a:latin typeface="Malgun Gothic"/>
                <a:ea typeface="Malgun Gothic"/>
                <a:cs typeface="Malgun Gothic"/>
              </a:rPr>
              <a:t>목표  허용된 자료로 입찰 조건을 검토하고, 의심 구간을 원문에서 확인</a:t>
            </a:r>
          </a:p>
        </p:txBody>
      </p:sp>
      <p:sp>
        <p:nvSpPr>
          <p:cNvPr id="543" name="">
            <a:extLst xmlns:a="http://schemas.openxmlformats.org/drawingml/2006/main">
              <a:ext uri="{FF2B5EF4-FFF2-40B4-BE49-F238E27FC236}">
                <a16:creationId xmlns:a16="http://schemas.microsoft.com/office/drawing/2014/main" id="{63C227A3-6904-4478-94D5-51922A1B2F93}"/>
              </a:ext>
            </a:extLst>
          </p:cNvPr>
          <p:cNvSpPr>
            <a:spLocks xmlns:a="http://schemas.openxmlformats.org/drawingml/2006/main" noGrp="1"/>
          </p:cNvSpPr>
          <p:nvPr/>
        </p:nvSpPr>
        <p:spPr>
          <a:xfrm xmlns:a="http://schemas.openxmlformats.org/drawingml/2006/main">
            <a:off x="390525" y="641985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B6476"/>
                </a:solidFill>
                <a:latin typeface="Malgun Gothic"/>
                <a:ea typeface="Malgun Gothic"/>
                <a:cs typeface="Malgun Gothic"/>
              </a:defRPr>
            </a:pPr>
            <a:r>
              <a:rPr sz="1125" b="0">
                <a:solidFill>
                  <a:srgbClr val="5B6476"/>
                </a:solidFill>
                <a:latin typeface="Malgun Gothic"/>
                <a:ea typeface="Malgun Gothic"/>
                <a:cs typeface="Malgun Gothic"/>
              </a:rPr>
              <a:t>현재 주제: 정보시스템 구축·운영 입찰 · 2026.09.13 기준</a:t>
            </a:r>
          </a:p>
        </p:txBody>
      </p:sp>
    </p:spTree>
    <p:extLst>
      <p:ext uri="{BB962C8B-B14F-4D97-AF65-F5344CB8AC3E}">
        <p14:creationId xmlns:p14="http://schemas.microsoft.com/office/powerpoint/2010/main" val="54622172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2</a:t>
            </a: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새로운 문제: 조건·버전·기밀을 함께 다뤄야 한다</a:t>
            </a:r>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0525" y="1257300"/>
            <a:ext cx="11401425" cy="6096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875" b="0">
                <a:solidFill>
                  <a:srgbClr val="5B6476"/>
                </a:solidFill>
                <a:latin typeface="Malgun Gothic"/>
                <a:ea typeface="Malgun Gothic"/>
                <a:cs typeface="Malgun Gothic"/>
              </a:defRPr>
            </a:pPr>
            <a:r>
              <a:rPr sz="1875" b="0">
                <a:solidFill>
                  <a:srgbClr val="5B6476"/>
                </a:solidFill>
                <a:latin typeface="Malgun Gothic"/>
                <a:ea typeface="Malgun Gothic"/>
                <a:cs typeface="Malgun Gothic"/>
              </a:rPr>
              <a:t>실제 조달 사례와 AI 보안·답변 문제에서 필요한 기능을 도출</a:t>
            </a:r>
          </a:p>
        </p:txBody>
      </p:sp>
      <p:sp>
        <p:nvSpPr>
          <p:cNvPr id="534" name="">
            <a:extLst xmlns:a="http://schemas.openxmlformats.org/drawingml/2006/main">
              <a:ext uri="{FF2B5EF4-FFF2-40B4-BE49-F238E27FC236}">
                <a16:creationId xmlns:a16="http://schemas.microsoft.com/office/drawing/2014/main" id="{3B9994C8-9F4D-4870-964A-609C4D42B627}"/>
              </a:ext>
            </a:extLst>
          </p:cNvPr>
          <p:cNvSpPr>
            <a:spLocks xmlns:a="http://schemas.openxmlformats.org/drawingml/2006/main" noGrp="1"/>
          </p:cNvSpPr>
          <p:nvPr/>
        </p:nvSpPr>
        <p:spPr>
          <a:xfrm xmlns:a="http://schemas.openxmlformats.org/drawingml/2006/main">
            <a:off x="390525" y="2047875"/>
            <a:ext cx="3667125" cy="1790700"/>
          </a:xfrm>
          <a:prstGeom xmlns:a="http://schemas.openxmlformats.org/drawingml/2006/main" prst="rect">
            <a:avLst/>
          </a:prstGeom>
          <a:solidFill xmlns:a="http://schemas.openxmlformats.org/drawingml/2006/main">
            <a:srgbClr val="F3F6FB"/>
          </a:solidFill>
          <a:ln xmlns:a="http://schemas.openxmlformats.org/drawingml/2006/main" w="9525">
            <a:solidFill>
              <a:srgbClr val="CBD1DD"/>
            </a:solidFill>
          </a:ln>
        </p:spPr>
      </p:sp>
      <p:sp>
        <p:nvSpPr>
          <p:cNvPr id="535" name="">
            <a:extLst xmlns:a="http://schemas.openxmlformats.org/drawingml/2006/main">
              <a:ext uri="{FF2B5EF4-FFF2-40B4-BE49-F238E27FC236}">
                <a16:creationId xmlns:a16="http://schemas.microsoft.com/office/drawing/2014/main" id="{70502515-C419-4441-B12B-A9D6503F04DC}"/>
              </a:ext>
            </a:extLst>
          </p:cNvPr>
          <p:cNvSpPr>
            <a:spLocks xmlns:a="http://schemas.openxmlformats.org/drawingml/2006/main" noGrp="1"/>
          </p:cNvSpPr>
          <p:nvPr/>
        </p:nvSpPr>
        <p:spPr>
          <a:xfrm xmlns:a="http://schemas.openxmlformats.org/drawingml/2006/main">
            <a:off x="552450" y="2181225"/>
            <a:ext cx="3286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3456BF"/>
                </a:solidFill>
                <a:latin typeface="Malgun Gothic"/>
                <a:ea typeface="Malgun Gothic"/>
                <a:cs typeface="Malgun Gothic"/>
              </a:defRPr>
            </a:pPr>
            <a:r>
              <a:rPr sz="1275" b="1">
                <a:solidFill>
                  <a:srgbClr val="3456BF"/>
                </a:solidFill>
                <a:latin typeface="Malgun Gothic"/>
                <a:ea typeface="Malgun Gothic"/>
                <a:cs typeface="Malgun Gothic"/>
              </a:rPr>
              <a:t>조건 대조</a:t>
            </a:r>
          </a:p>
        </p:txBody>
      </p:sp>
      <p:sp>
        <p:nvSpPr>
          <p:cNvPr id="536" name="">
            <a:extLst xmlns:a="http://schemas.openxmlformats.org/drawingml/2006/main">
              <a:ext uri="{FF2B5EF4-FFF2-40B4-BE49-F238E27FC236}">
                <a16:creationId xmlns:a16="http://schemas.microsoft.com/office/drawing/2014/main" id="{73914B32-EC83-4377-83EE-0A268FECD5DB}"/>
              </a:ext>
            </a:extLst>
          </p:cNvPr>
          <p:cNvSpPr>
            <a:spLocks xmlns:a="http://schemas.openxmlformats.org/drawingml/2006/main" noGrp="1"/>
          </p:cNvSpPr>
          <p:nvPr/>
        </p:nvSpPr>
        <p:spPr>
          <a:xfrm xmlns:a="http://schemas.openxmlformats.org/drawingml/2006/main">
            <a:off x="552450" y="2505075"/>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61C2C"/>
                </a:solidFill>
                <a:latin typeface="Malgun Gothic"/>
                <a:ea typeface="Malgun Gothic"/>
                <a:cs typeface="Malgun Gothic"/>
              </a:defRPr>
            </a:pPr>
            <a:r>
              <a:rPr sz="2025" b="1">
                <a:solidFill>
                  <a:srgbClr val="161C2C"/>
                </a:solidFill>
                <a:latin typeface="Malgun Gothic"/>
                <a:ea typeface="Malgun Gothic"/>
                <a:cs typeface="Malgun Gothic"/>
              </a:rPr>
              <a:t>입찰 취소 분쟁</a:t>
            </a:r>
          </a:p>
        </p:txBody>
      </p:sp>
      <p:sp>
        <p:nvSpPr>
          <p:cNvPr id="537" name="">
            <a:extLst xmlns:a="http://schemas.openxmlformats.org/drawingml/2006/main">
              <a:ext uri="{FF2B5EF4-FFF2-40B4-BE49-F238E27FC236}">
                <a16:creationId xmlns:a16="http://schemas.microsoft.com/office/drawing/2014/main" id="{1CA83610-4038-4511-AB7F-F78D3CF02C8C}"/>
              </a:ext>
            </a:extLst>
          </p:cNvPr>
          <p:cNvSpPr>
            <a:spLocks xmlns:a="http://schemas.openxmlformats.org/drawingml/2006/main" noGrp="1"/>
          </p:cNvSpPr>
          <p:nvPr/>
        </p:nvSpPr>
        <p:spPr>
          <a:xfrm xmlns:a="http://schemas.openxmlformats.org/drawingml/2006/main">
            <a:off x="552450" y="2952750"/>
            <a:ext cx="328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161C2C"/>
                </a:solidFill>
                <a:latin typeface="Malgun Gothic"/>
                <a:ea typeface="Malgun Gothic"/>
                <a:cs typeface="Malgun Gothic"/>
              </a:defRPr>
            </a:pPr>
            <a:r>
              <a:rPr sz="1575" b="0">
                <a:solidFill>
                  <a:srgbClr val="161C2C"/>
                </a:solidFill>
                <a:latin typeface="Malgun Gothic"/>
                <a:ea typeface="Malgun Gothic"/>
                <a:cs typeface="Malgun Gothic"/>
              </a:rPr>
              <a:t>제출 조건과 제출 사실의 관계</a:t>
            </a:r>
          </a:p>
          <a:p xmlns:a="http://schemas.openxmlformats.org/drawingml/2006/main">
            <a:pPr>
              <a:defRPr sz="1575" b="0">
                <a:solidFill>
                  <a:srgbClr val="161C2C"/>
                </a:solidFill>
                <a:latin typeface="Malgun Gothic"/>
                <a:ea typeface="Malgun Gothic"/>
                <a:cs typeface="Malgun Gothic"/>
              </a:defRPr>
            </a:pPr>
            <a:r>
              <a:rPr sz="1575" b="0">
                <a:solidFill>
                  <a:srgbClr val="161C2C"/>
                </a:solidFill>
                <a:latin typeface="Malgun Gothic"/>
                <a:ea typeface="Malgun Gothic"/>
                <a:cs typeface="Malgun Gothic"/>
              </a:rPr>
              <a:t>권익위는 입찰 절차 진행 시정권고</a:t>
            </a:r>
          </a:p>
        </p:txBody>
      </p:sp>
      <p:sp>
        <p:nvSpPr>
          <p:cNvPr id="538" name="">
            <a:extLst xmlns:a="http://schemas.openxmlformats.org/drawingml/2006/main">
              <a:ext uri="{FF2B5EF4-FFF2-40B4-BE49-F238E27FC236}">
                <a16:creationId xmlns:a16="http://schemas.microsoft.com/office/drawing/2014/main" id="{0BB36FAD-3F6D-4184-9535-9BEEC2CBB6B7}"/>
              </a:ext>
            </a:extLst>
          </p:cNvPr>
          <p:cNvSpPr>
            <a:spLocks xmlns:a="http://schemas.openxmlformats.org/drawingml/2006/main" noGrp="1"/>
          </p:cNvSpPr>
          <p:nvPr/>
        </p:nvSpPr>
        <p:spPr>
          <a:xfrm xmlns:a="http://schemas.openxmlformats.org/drawingml/2006/main">
            <a:off x="552450" y="3590925"/>
            <a:ext cx="3333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B6476"/>
                </a:solidFill>
                <a:latin typeface="Malgun Gothic"/>
                <a:ea typeface="Malgun Gothic"/>
                <a:cs typeface="Malgun Gothic"/>
              </a:defRPr>
            </a:pPr>
            <a:r>
              <a:rPr sz="975" b="0">
                <a:solidFill>
                  <a:srgbClr val="5B6476"/>
                </a:solidFill>
                <a:latin typeface="Malgun Gothic"/>
                <a:ea typeface="Malgun Gothic"/>
                <a:cs typeface="Malgun Gothic"/>
              </a:rPr>
              <a:t>권익위 · 2019.10.07</a:t>
            </a:r>
          </a:p>
        </p:txBody>
      </p:sp>
      <p:sp>
        <p:nvSpPr>
          <p:cNvPr id="539" name="">
            <a:extLst xmlns:a="http://schemas.openxmlformats.org/drawingml/2006/main">
              <a:ext uri="{FF2B5EF4-FFF2-40B4-BE49-F238E27FC236}">
                <a16:creationId xmlns:a16="http://schemas.microsoft.com/office/drawing/2014/main" id="{1FE9880D-10C5-4705-AFFE-85A56DAB233F}"/>
              </a:ext>
            </a:extLst>
          </p:cNvPr>
          <p:cNvSpPr>
            <a:spLocks xmlns:a="http://schemas.openxmlformats.org/drawingml/2006/main" noGrp="1"/>
          </p:cNvSpPr>
          <p:nvPr/>
        </p:nvSpPr>
        <p:spPr>
          <a:xfrm xmlns:a="http://schemas.openxmlformats.org/drawingml/2006/main">
            <a:off x="4257675" y="2047875"/>
            <a:ext cx="3667125" cy="1790700"/>
          </a:xfrm>
          <a:prstGeom xmlns:a="http://schemas.openxmlformats.org/drawingml/2006/main" prst="rect">
            <a:avLst/>
          </a:prstGeom>
          <a:solidFill xmlns:a="http://schemas.openxmlformats.org/drawingml/2006/main">
            <a:srgbClr val="F3F6FB"/>
          </a:solidFill>
          <a:ln xmlns:a="http://schemas.openxmlformats.org/drawingml/2006/main" w="9525">
            <a:solidFill>
              <a:srgbClr val="CBD1DD"/>
            </a:solidFill>
          </a:ln>
        </p:spPr>
      </p:sp>
      <p:sp>
        <p:nvSpPr>
          <p:cNvPr id="540" name="">
            <a:extLst xmlns:a="http://schemas.openxmlformats.org/drawingml/2006/main">
              <a:ext uri="{FF2B5EF4-FFF2-40B4-BE49-F238E27FC236}">
                <a16:creationId xmlns:a16="http://schemas.microsoft.com/office/drawing/2014/main" id="{A21FA4EE-2AFC-4275-A933-EED610271394}"/>
              </a:ext>
            </a:extLst>
          </p:cNvPr>
          <p:cNvSpPr>
            <a:spLocks xmlns:a="http://schemas.openxmlformats.org/drawingml/2006/main" noGrp="1"/>
          </p:cNvSpPr>
          <p:nvPr/>
        </p:nvSpPr>
        <p:spPr>
          <a:xfrm xmlns:a="http://schemas.openxmlformats.org/drawingml/2006/main">
            <a:off x="4419600" y="2181225"/>
            <a:ext cx="3286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3456BF"/>
                </a:solidFill>
                <a:latin typeface="Malgun Gothic"/>
                <a:ea typeface="Malgun Gothic"/>
                <a:cs typeface="Malgun Gothic"/>
              </a:defRPr>
            </a:pPr>
            <a:r>
              <a:rPr sz="1275" b="1">
                <a:solidFill>
                  <a:srgbClr val="3456BF"/>
                </a:solidFill>
                <a:latin typeface="Malgun Gothic"/>
                <a:ea typeface="Malgun Gothic"/>
                <a:cs typeface="Malgun Gothic"/>
              </a:rPr>
              <a:t>근거 확인</a:t>
            </a:r>
          </a:p>
        </p:txBody>
      </p:sp>
      <p:sp>
        <p:nvSpPr>
          <p:cNvPr id="541" name="">
            <a:extLst xmlns:a="http://schemas.openxmlformats.org/drawingml/2006/main">
              <a:ext uri="{FF2B5EF4-FFF2-40B4-BE49-F238E27FC236}">
                <a16:creationId xmlns:a16="http://schemas.microsoft.com/office/drawing/2014/main" id="{06AA2269-B756-4C00-8314-33B2A55CDD26}"/>
              </a:ext>
            </a:extLst>
          </p:cNvPr>
          <p:cNvSpPr>
            <a:spLocks xmlns:a="http://schemas.openxmlformats.org/drawingml/2006/main" noGrp="1"/>
          </p:cNvSpPr>
          <p:nvPr/>
        </p:nvSpPr>
        <p:spPr>
          <a:xfrm xmlns:a="http://schemas.openxmlformats.org/drawingml/2006/main">
            <a:off x="4419600" y="2505075"/>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61C2C"/>
                </a:solidFill>
                <a:latin typeface="Malgun Gothic"/>
                <a:ea typeface="Malgun Gothic"/>
                <a:cs typeface="Malgun Gothic"/>
              </a:defRPr>
            </a:pPr>
            <a:r>
              <a:rPr sz="2025" b="1">
                <a:solidFill>
                  <a:srgbClr val="161C2C"/>
                </a:solidFill>
                <a:latin typeface="Malgun Gothic"/>
                <a:ea typeface="Malgun Gothic"/>
                <a:cs typeface="Malgun Gothic"/>
              </a:rPr>
              <a:t>모호한 평가 기준</a:t>
            </a:r>
          </a:p>
        </p:txBody>
      </p:sp>
      <p:sp>
        <p:nvSpPr>
          <p:cNvPr id="542" name="">
            <a:extLst xmlns:a="http://schemas.openxmlformats.org/drawingml/2006/main">
              <a:ext uri="{FF2B5EF4-FFF2-40B4-BE49-F238E27FC236}">
                <a16:creationId xmlns:a16="http://schemas.microsoft.com/office/drawing/2014/main" id="{0DDC97F5-2729-42E0-AA67-84FDC1BD734B}"/>
              </a:ext>
            </a:extLst>
          </p:cNvPr>
          <p:cNvSpPr>
            <a:spLocks xmlns:a="http://schemas.openxmlformats.org/drawingml/2006/main" noGrp="1"/>
          </p:cNvSpPr>
          <p:nvPr/>
        </p:nvSpPr>
        <p:spPr>
          <a:xfrm xmlns:a="http://schemas.openxmlformats.org/drawingml/2006/main">
            <a:off x="4419600" y="2952750"/>
            <a:ext cx="328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161C2C"/>
                </a:solidFill>
                <a:latin typeface="Malgun Gothic"/>
                <a:ea typeface="Malgun Gothic"/>
                <a:cs typeface="Malgun Gothic"/>
              </a:defRPr>
            </a:pPr>
            <a:r>
              <a:rPr sz="1575" b="0">
                <a:solidFill>
                  <a:srgbClr val="161C2C"/>
                </a:solidFill>
                <a:latin typeface="Malgun Gothic"/>
                <a:ea typeface="Malgun Gothic"/>
                <a:cs typeface="Malgun Gothic"/>
              </a:rPr>
              <a:t>적격심사 방법을 더 구체적으로</a:t>
            </a:r>
          </a:p>
          <a:p xmlns:a="http://schemas.openxmlformats.org/drawingml/2006/main">
            <a:pPr>
              <a:defRPr sz="1575" b="0">
                <a:solidFill>
                  <a:srgbClr val="161C2C"/>
                </a:solidFill>
                <a:latin typeface="Malgun Gothic"/>
                <a:ea typeface="Malgun Gothic"/>
                <a:cs typeface="Malgun Gothic"/>
              </a:defRPr>
            </a:pPr>
            <a:r>
              <a:rPr sz="1575" b="0">
                <a:solidFill>
                  <a:srgbClr val="161C2C"/>
                </a:solidFill>
                <a:latin typeface="Malgun Gothic"/>
                <a:ea typeface="Malgun Gothic"/>
                <a:cs typeface="Malgun Gothic"/>
              </a:rPr>
              <a:t>알리라는 권익위 의견표명</a:t>
            </a:r>
          </a:p>
        </p:txBody>
      </p:sp>
      <p:sp>
        <p:nvSpPr>
          <p:cNvPr id="543" name="">
            <a:extLst xmlns:a="http://schemas.openxmlformats.org/drawingml/2006/main">
              <a:ext uri="{FF2B5EF4-FFF2-40B4-BE49-F238E27FC236}">
                <a16:creationId xmlns:a16="http://schemas.microsoft.com/office/drawing/2014/main" id="{FDCF38B7-E71D-450C-8107-DB34CD4740D5}"/>
              </a:ext>
            </a:extLst>
          </p:cNvPr>
          <p:cNvSpPr>
            <a:spLocks xmlns:a="http://schemas.openxmlformats.org/drawingml/2006/main" noGrp="1"/>
          </p:cNvSpPr>
          <p:nvPr/>
        </p:nvSpPr>
        <p:spPr>
          <a:xfrm xmlns:a="http://schemas.openxmlformats.org/drawingml/2006/main">
            <a:off x="4419600" y="3590925"/>
            <a:ext cx="3333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B6476"/>
                </a:solidFill>
                <a:latin typeface="Malgun Gothic"/>
                <a:ea typeface="Malgun Gothic"/>
                <a:cs typeface="Malgun Gothic"/>
              </a:defRPr>
            </a:pPr>
            <a:r>
              <a:rPr sz="975" b="0">
                <a:solidFill>
                  <a:srgbClr val="5B6476"/>
                </a:solidFill>
                <a:latin typeface="Malgun Gothic"/>
                <a:ea typeface="Malgun Gothic"/>
                <a:cs typeface="Malgun Gothic"/>
              </a:rPr>
              <a:t>권익위 · 의안번호 2023</a:t>
            </a:r>
          </a:p>
        </p:txBody>
      </p:sp>
      <p:sp>
        <p:nvSpPr>
          <p:cNvPr id="544" name="">
            <a:extLst xmlns:a="http://schemas.openxmlformats.org/drawingml/2006/main">
              <a:ext uri="{FF2B5EF4-FFF2-40B4-BE49-F238E27FC236}">
                <a16:creationId xmlns:a16="http://schemas.microsoft.com/office/drawing/2014/main" id="{E6982F8C-985B-44C8-AA17-46F9E5544970}"/>
              </a:ext>
            </a:extLst>
          </p:cNvPr>
          <p:cNvSpPr>
            <a:spLocks xmlns:a="http://schemas.openxmlformats.org/drawingml/2006/main" noGrp="1"/>
          </p:cNvSpPr>
          <p:nvPr/>
        </p:nvSpPr>
        <p:spPr>
          <a:xfrm xmlns:a="http://schemas.openxmlformats.org/drawingml/2006/main">
            <a:off x="8124825" y="2047875"/>
            <a:ext cx="3667125" cy="1790700"/>
          </a:xfrm>
          <a:prstGeom xmlns:a="http://schemas.openxmlformats.org/drawingml/2006/main" prst="rect">
            <a:avLst/>
          </a:prstGeom>
          <a:solidFill xmlns:a="http://schemas.openxmlformats.org/drawingml/2006/main">
            <a:srgbClr val="F3F6FB"/>
          </a:solidFill>
          <a:ln xmlns:a="http://schemas.openxmlformats.org/drawingml/2006/main" w="9525">
            <a:solidFill>
              <a:srgbClr val="CBD1DD"/>
            </a:solidFill>
          </a:ln>
        </p:spPr>
      </p:sp>
      <p:sp>
        <p:nvSpPr>
          <p:cNvPr id="545" name="">
            <a:extLst xmlns:a="http://schemas.openxmlformats.org/drawingml/2006/main">
              <a:ext uri="{FF2B5EF4-FFF2-40B4-BE49-F238E27FC236}">
                <a16:creationId xmlns:a16="http://schemas.microsoft.com/office/drawing/2014/main" id="{E2BE8BC2-6101-41D7-BB42-104D0438520D}"/>
              </a:ext>
            </a:extLst>
          </p:cNvPr>
          <p:cNvSpPr>
            <a:spLocks xmlns:a="http://schemas.openxmlformats.org/drawingml/2006/main" noGrp="1"/>
          </p:cNvSpPr>
          <p:nvPr/>
        </p:nvSpPr>
        <p:spPr>
          <a:xfrm xmlns:a="http://schemas.openxmlformats.org/drawingml/2006/main">
            <a:off x="8286750" y="2181225"/>
            <a:ext cx="3286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3456BF"/>
                </a:solidFill>
                <a:latin typeface="Malgun Gothic"/>
                <a:ea typeface="Malgun Gothic"/>
                <a:cs typeface="Malgun Gothic"/>
              </a:defRPr>
            </a:pPr>
            <a:r>
              <a:rPr sz="1275" b="1">
                <a:solidFill>
                  <a:srgbClr val="3456BF"/>
                </a:solidFill>
                <a:latin typeface="Malgun Gothic"/>
                <a:ea typeface="Malgun Gothic"/>
                <a:cs typeface="Malgun Gothic"/>
              </a:rPr>
              <a:t>버전 관리</a:t>
            </a:r>
          </a:p>
        </p:txBody>
      </p:sp>
      <p:sp>
        <p:nvSpPr>
          <p:cNvPr id="546" name="">
            <a:extLst xmlns:a="http://schemas.openxmlformats.org/drawingml/2006/main">
              <a:ext uri="{FF2B5EF4-FFF2-40B4-BE49-F238E27FC236}">
                <a16:creationId xmlns:a16="http://schemas.microsoft.com/office/drawing/2014/main" id="{0D0C0140-26FE-40D5-967D-C069BC726BA2}"/>
              </a:ext>
            </a:extLst>
          </p:cNvPr>
          <p:cNvSpPr>
            <a:spLocks xmlns:a="http://schemas.openxmlformats.org/drawingml/2006/main" noGrp="1"/>
          </p:cNvSpPr>
          <p:nvPr/>
        </p:nvSpPr>
        <p:spPr>
          <a:xfrm xmlns:a="http://schemas.openxmlformats.org/drawingml/2006/main">
            <a:off x="8286750" y="2505075"/>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61C2C"/>
                </a:solidFill>
                <a:latin typeface="Malgun Gothic"/>
                <a:ea typeface="Malgun Gothic"/>
                <a:cs typeface="Malgun Gothic"/>
              </a:defRPr>
            </a:pPr>
            <a:r>
              <a:rPr sz="2025" b="1">
                <a:solidFill>
                  <a:srgbClr val="161C2C"/>
                </a:solidFill>
                <a:latin typeface="Malgun Gothic"/>
                <a:ea typeface="Malgun Gothic"/>
                <a:cs typeface="Malgun Gothic"/>
              </a:rPr>
              <a:t>같은 공고도 바뀐다</a:t>
            </a:r>
          </a:p>
        </p:txBody>
      </p:sp>
      <p:sp>
        <p:nvSpPr>
          <p:cNvPr id="547" name="">
            <a:extLst xmlns:a="http://schemas.openxmlformats.org/drawingml/2006/main">
              <a:ext uri="{FF2B5EF4-FFF2-40B4-BE49-F238E27FC236}">
                <a16:creationId xmlns:a16="http://schemas.microsoft.com/office/drawing/2014/main" id="{98917938-896C-49F9-923F-39673C4453D5}"/>
              </a:ext>
            </a:extLst>
          </p:cNvPr>
          <p:cNvSpPr>
            <a:spLocks xmlns:a="http://schemas.openxmlformats.org/drawingml/2006/main" noGrp="1"/>
          </p:cNvSpPr>
          <p:nvPr/>
        </p:nvSpPr>
        <p:spPr>
          <a:xfrm xmlns:a="http://schemas.openxmlformats.org/drawingml/2006/main">
            <a:off x="8286750" y="2952750"/>
            <a:ext cx="328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161C2C"/>
                </a:solidFill>
                <a:latin typeface="Malgun Gothic"/>
                <a:ea typeface="Malgun Gothic"/>
                <a:cs typeface="Malgun Gothic"/>
              </a:defRPr>
            </a:pPr>
            <a:r>
              <a:rPr sz="1575" b="0">
                <a:solidFill>
                  <a:srgbClr val="161C2C"/>
                </a:solidFill>
                <a:latin typeface="Malgun Gothic"/>
                <a:ea typeface="Malgun Gothic"/>
                <a:cs typeface="Malgun Gothic"/>
              </a:rPr>
              <a:t>참가 업종 1468 → 1469 정정</a:t>
            </a:r>
          </a:p>
          <a:p xmlns:a="http://schemas.openxmlformats.org/drawingml/2006/main">
            <a:pPr>
              <a:defRPr sz="1575" b="0">
                <a:solidFill>
                  <a:srgbClr val="161C2C"/>
                </a:solidFill>
                <a:latin typeface="Malgun Gothic"/>
                <a:ea typeface="Malgun Gothic"/>
                <a:cs typeface="Malgun Gothic"/>
              </a:defRPr>
            </a:pPr>
            <a:r>
              <a:rPr sz="1575" b="0">
                <a:solidFill>
                  <a:srgbClr val="161C2C"/>
                </a:solidFill>
                <a:latin typeface="Malgun Gothic"/>
                <a:ea typeface="Malgun Gothic"/>
                <a:cs typeface="Malgun Gothic"/>
              </a:rPr>
              <a:t>입찰 일정도 변경 안내</a:t>
            </a:r>
          </a:p>
        </p:txBody>
      </p:sp>
      <p:sp>
        <p:nvSpPr>
          <p:cNvPr id="548" name="">
            <a:extLst xmlns:a="http://schemas.openxmlformats.org/drawingml/2006/main">
              <a:ext uri="{FF2B5EF4-FFF2-40B4-BE49-F238E27FC236}">
                <a16:creationId xmlns:a16="http://schemas.microsoft.com/office/drawing/2014/main" id="{FD28739C-BCCE-4ED1-BDA4-FD88E31D4ADA}"/>
              </a:ext>
            </a:extLst>
          </p:cNvPr>
          <p:cNvSpPr>
            <a:spLocks xmlns:a="http://schemas.openxmlformats.org/drawingml/2006/main" noGrp="1"/>
          </p:cNvSpPr>
          <p:nvPr/>
        </p:nvSpPr>
        <p:spPr>
          <a:xfrm xmlns:a="http://schemas.openxmlformats.org/drawingml/2006/main">
            <a:off x="8286750" y="3590925"/>
            <a:ext cx="3333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B6476"/>
                </a:solidFill>
                <a:latin typeface="Malgun Gothic"/>
                <a:ea typeface="Malgun Gothic"/>
                <a:cs typeface="Malgun Gothic"/>
              </a:defRPr>
            </a:pPr>
            <a:r>
              <a:rPr sz="975" b="0">
                <a:solidFill>
                  <a:srgbClr val="5B6476"/>
                </a:solidFill>
                <a:latin typeface="Malgun Gothic"/>
                <a:ea typeface="Malgun Gothic"/>
                <a:cs typeface="Malgun Gothic"/>
              </a:rPr>
              <a:t>나라장터 · R26BK01336025-001</a:t>
            </a:r>
          </a:p>
        </p:txBody>
      </p:sp>
      <p:sp>
        <p:nvSpPr>
          <p:cNvPr id="549" name="">
            <a:extLst xmlns:a="http://schemas.openxmlformats.org/drawingml/2006/main">
              <a:ext uri="{FF2B5EF4-FFF2-40B4-BE49-F238E27FC236}">
                <a16:creationId xmlns:a16="http://schemas.microsoft.com/office/drawing/2014/main" id="{73526D15-3C76-4D20-A329-AD993209C894}"/>
              </a:ext>
            </a:extLst>
          </p:cNvPr>
          <p:cNvSpPr>
            <a:spLocks xmlns:a="http://schemas.openxmlformats.org/drawingml/2006/main" noGrp="1"/>
          </p:cNvSpPr>
          <p:nvPr/>
        </p:nvSpPr>
        <p:spPr>
          <a:xfrm xmlns:a="http://schemas.openxmlformats.org/drawingml/2006/main">
            <a:off x="390525" y="4000500"/>
            <a:ext cx="3667125" cy="1790700"/>
          </a:xfrm>
          <a:prstGeom xmlns:a="http://schemas.openxmlformats.org/drawingml/2006/main" prst="rect">
            <a:avLst/>
          </a:prstGeom>
          <a:solidFill xmlns:a="http://schemas.openxmlformats.org/drawingml/2006/main">
            <a:srgbClr val="F3F6FB"/>
          </a:solidFill>
          <a:ln xmlns:a="http://schemas.openxmlformats.org/drawingml/2006/main" w="9525">
            <a:solidFill>
              <a:srgbClr val="CBD1DD"/>
            </a:solidFill>
          </a:ln>
        </p:spPr>
      </p:sp>
      <p:sp>
        <p:nvSpPr>
          <p:cNvPr id="550" name="">
            <a:extLst xmlns:a="http://schemas.openxmlformats.org/drawingml/2006/main">
              <a:ext uri="{FF2B5EF4-FFF2-40B4-BE49-F238E27FC236}">
                <a16:creationId xmlns:a16="http://schemas.microsoft.com/office/drawing/2014/main" id="{F5A6753D-7DC6-42F3-8E6F-936BAACE6AA9}"/>
              </a:ext>
            </a:extLst>
          </p:cNvPr>
          <p:cNvSpPr>
            <a:spLocks xmlns:a="http://schemas.openxmlformats.org/drawingml/2006/main" noGrp="1"/>
          </p:cNvSpPr>
          <p:nvPr/>
        </p:nvSpPr>
        <p:spPr>
          <a:xfrm xmlns:a="http://schemas.openxmlformats.org/drawingml/2006/main">
            <a:off x="552450" y="4133850"/>
            <a:ext cx="3286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AD3B65"/>
                </a:solidFill>
                <a:latin typeface="Malgun Gothic"/>
                <a:ea typeface="Malgun Gothic"/>
                <a:cs typeface="Malgun Gothic"/>
              </a:defRPr>
            </a:pPr>
            <a:r>
              <a:rPr sz="1275" b="1">
                <a:solidFill>
                  <a:srgbClr val="AD3B65"/>
                </a:solidFill>
                <a:latin typeface="Malgun Gothic"/>
                <a:ea typeface="Malgun Gothic"/>
                <a:cs typeface="Malgun Gothic"/>
              </a:rPr>
              <a:t>처리 경계</a:t>
            </a:r>
          </a:p>
        </p:txBody>
      </p:sp>
      <p:sp>
        <p:nvSpPr>
          <p:cNvPr id="551" name="">
            <a:extLst xmlns:a="http://schemas.openxmlformats.org/drawingml/2006/main">
              <a:ext uri="{FF2B5EF4-FFF2-40B4-BE49-F238E27FC236}">
                <a16:creationId xmlns:a16="http://schemas.microsoft.com/office/drawing/2014/main" id="{2565F074-8682-4CDD-BE94-CD1A49BA189D}"/>
              </a:ext>
            </a:extLst>
          </p:cNvPr>
          <p:cNvSpPr>
            <a:spLocks xmlns:a="http://schemas.openxmlformats.org/drawingml/2006/main" noGrp="1"/>
          </p:cNvSpPr>
          <p:nvPr/>
        </p:nvSpPr>
        <p:spPr>
          <a:xfrm xmlns:a="http://schemas.openxmlformats.org/drawingml/2006/main">
            <a:off x="552450" y="4457700"/>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61C2C"/>
                </a:solidFill>
                <a:latin typeface="Malgun Gothic"/>
                <a:ea typeface="Malgun Gothic"/>
                <a:cs typeface="Malgun Gothic"/>
              </a:defRPr>
            </a:pPr>
            <a:r>
              <a:rPr sz="2025" b="1">
                <a:solidFill>
                  <a:srgbClr val="161C2C"/>
                </a:solidFill>
                <a:latin typeface="Malgun Gothic"/>
                <a:ea typeface="Malgun Gothic"/>
                <a:cs typeface="Malgun Gothic"/>
              </a:rPr>
              <a:t>외부 전송의 위험</a:t>
            </a:r>
          </a:p>
        </p:txBody>
      </p:sp>
      <p:sp>
        <p:nvSpPr>
          <p:cNvPr id="552" name="">
            <a:extLst xmlns:a="http://schemas.openxmlformats.org/drawingml/2006/main">
              <a:ext uri="{FF2B5EF4-FFF2-40B4-BE49-F238E27FC236}">
                <a16:creationId xmlns:a16="http://schemas.microsoft.com/office/drawing/2014/main" id="{19D4F9EE-B5E1-42DF-AF27-00825D2B627E}"/>
              </a:ext>
            </a:extLst>
          </p:cNvPr>
          <p:cNvSpPr>
            <a:spLocks xmlns:a="http://schemas.openxmlformats.org/drawingml/2006/main" noGrp="1"/>
          </p:cNvSpPr>
          <p:nvPr/>
        </p:nvSpPr>
        <p:spPr>
          <a:xfrm xmlns:a="http://schemas.openxmlformats.org/drawingml/2006/main">
            <a:off x="552450" y="4905375"/>
            <a:ext cx="328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161C2C"/>
                </a:solidFill>
                <a:latin typeface="Malgun Gothic"/>
                <a:ea typeface="Malgun Gothic"/>
                <a:cs typeface="Malgun Gothic"/>
              </a:defRPr>
            </a:pPr>
            <a:r>
              <a:rPr sz="1575" b="0">
                <a:solidFill>
                  <a:srgbClr val="161C2C"/>
                </a:solidFill>
                <a:latin typeface="Malgun Gothic"/>
                <a:ea typeface="Malgun Gothic"/>
                <a:cs typeface="Malgun Gothic"/>
              </a:rPr>
              <a:t>내부 코드 입력 사고 이후</a:t>
            </a:r>
          </a:p>
          <a:p xmlns:a="http://schemas.openxmlformats.org/drawingml/2006/main">
            <a:pPr>
              <a:defRPr sz="1575" b="0">
                <a:solidFill>
                  <a:srgbClr val="161C2C"/>
                </a:solidFill>
                <a:latin typeface="Malgun Gothic"/>
                <a:ea typeface="Malgun Gothic"/>
                <a:cs typeface="Malgun Gothic"/>
              </a:defRPr>
            </a:pPr>
            <a:r>
              <a:rPr sz="1575" b="0">
                <a:solidFill>
                  <a:srgbClr val="161C2C"/>
                </a:solidFill>
                <a:latin typeface="Malgun Gothic"/>
                <a:ea typeface="Malgun Gothic"/>
                <a:cs typeface="Malgun Gothic"/>
              </a:rPr>
              <a:t>삼성전자 생성형 AI 사용 제한 보도</a:t>
            </a:r>
          </a:p>
        </p:txBody>
      </p:sp>
      <p:sp>
        <p:nvSpPr>
          <p:cNvPr id="553" name="">
            <a:extLst xmlns:a="http://schemas.openxmlformats.org/drawingml/2006/main">
              <a:ext uri="{FF2B5EF4-FFF2-40B4-BE49-F238E27FC236}">
                <a16:creationId xmlns:a16="http://schemas.microsoft.com/office/drawing/2014/main" id="{8F345409-7451-4DD9-BBA4-5E315110B3C9}"/>
              </a:ext>
            </a:extLst>
          </p:cNvPr>
          <p:cNvSpPr>
            <a:spLocks xmlns:a="http://schemas.openxmlformats.org/drawingml/2006/main" noGrp="1"/>
          </p:cNvSpPr>
          <p:nvPr/>
        </p:nvSpPr>
        <p:spPr>
          <a:xfrm xmlns:a="http://schemas.openxmlformats.org/drawingml/2006/main">
            <a:off x="552450" y="5543550"/>
            <a:ext cx="3333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B6476"/>
                </a:solidFill>
                <a:latin typeface="Malgun Gothic"/>
                <a:ea typeface="Malgun Gothic"/>
                <a:cs typeface="Malgun Gothic"/>
              </a:defRPr>
            </a:pPr>
            <a:r>
              <a:rPr sz="975" b="0">
                <a:solidFill>
                  <a:srgbClr val="5B6476"/>
                </a:solidFill>
                <a:latin typeface="Malgun Gothic"/>
                <a:ea typeface="Malgun Gothic"/>
                <a:cs typeface="Malgun Gothic"/>
              </a:rPr>
              <a:t>머니투데이 · 2023.05.02</a:t>
            </a:r>
          </a:p>
        </p:txBody>
      </p:sp>
      <p:sp>
        <p:nvSpPr>
          <p:cNvPr id="554" name="">
            <a:extLst xmlns:a="http://schemas.openxmlformats.org/drawingml/2006/main">
              <a:ext uri="{FF2B5EF4-FFF2-40B4-BE49-F238E27FC236}">
                <a16:creationId xmlns:a16="http://schemas.microsoft.com/office/drawing/2014/main" id="{57E17E64-910C-4294-B006-E212D1D4E8BC}"/>
              </a:ext>
            </a:extLst>
          </p:cNvPr>
          <p:cNvSpPr>
            <a:spLocks xmlns:a="http://schemas.openxmlformats.org/drawingml/2006/main" noGrp="1"/>
          </p:cNvSpPr>
          <p:nvPr/>
        </p:nvSpPr>
        <p:spPr>
          <a:xfrm xmlns:a="http://schemas.openxmlformats.org/drawingml/2006/main">
            <a:off x="4257675" y="4000500"/>
            <a:ext cx="3667125" cy="1790700"/>
          </a:xfrm>
          <a:prstGeom xmlns:a="http://schemas.openxmlformats.org/drawingml/2006/main" prst="rect">
            <a:avLst/>
          </a:prstGeom>
          <a:solidFill xmlns:a="http://schemas.openxmlformats.org/drawingml/2006/main">
            <a:srgbClr val="F3F6FB"/>
          </a:solidFill>
          <a:ln xmlns:a="http://schemas.openxmlformats.org/drawingml/2006/main" w="9525">
            <a:solidFill>
              <a:srgbClr val="CBD1DD"/>
            </a:solidFill>
          </a:ln>
        </p:spPr>
      </p:sp>
      <p:sp>
        <p:nvSpPr>
          <p:cNvPr id="555" name="">
            <a:extLst xmlns:a="http://schemas.openxmlformats.org/drawingml/2006/main">
              <a:ext uri="{FF2B5EF4-FFF2-40B4-BE49-F238E27FC236}">
                <a16:creationId xmlns:a16="http://schemas.microsoft.com/office/drawing/2014/main" id="{F20CBD0A-D896-43AE-9926-680FDC5CF4D7}"/>
              </a:ext>
            </a:extLst>
          </p:cNvPr>
          <p:cNvSpPr>
            <a:spLocks xmlns:a="http://schemas.openxmlformats.org/drawingml/2006/main" noGrp="1"/>
          </p:cNvSpPr>
          <p:nvPr/>
        </p:nvSpPr>
        <p:spPr>
          <a:xfrm xmlns:a="http://schemas.openxmlformats.org/drawingml/2006/main">
            <a:off x="4419600" y="4133850"/>
            <a:ext cx="3286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AD3B65"/>
                </a:solidFill>
                <a:latin typeface="Malgun Gothic"/>
                <a:ea typeface="Malgun Gothic"/>
                <a:cs typeface="Malgun Gothic"/>
              </a:defRPr>
            </a:pPr>
            <a:r>
              <a:rPr sz="1275" b="1">
                <a:solidFill>
                  <a:srgbClr val="AD3B65"/>
                </a:solidFill>
                <a:latin typeface="Malgun Gothic"/>
                <a:ea typeface="Malgun Gothic"/>
                <a:cs typeface="Malgun Gothic"/>
              </a:rPr>
              <a:t>권한 통제</a:t>
            </a:r>
          </a:p>
        </p:txBody>
      </p:sp>
      <p:sp>
        <p:nvSpPr>
          <p:cNvPr id="556" name="">
            <a:extLst xmlns:a="http://schemas.openxmlformats.org/drawingml/2006/main">
              <a:ext uri="{FF2B5EF4-FFF2-40B4-BE49-F238E27FC236}">
                <a16:creationId xmlns:a16="http://schemas.microsoft.com/office/drawing/2014/main" id="{B09B389F-8308-4366-AA0D-C09661D407BB}"/>
              </a:ext>
            </a:extLst>
          </p:cNvPr>
          <p:cNvSpPr>
            <a:spLocks xmlns:a="http://schemas.openxmlformats.org/drawingml/2006/main" noGrp="1"/>
          </p:cNvSpPr>
          <p:nvPr/>
        </p:nvSpPr>
        <p:spPr>
          <a:xfrm xmlns:a="http://schemas.openxmlformats.org/drawingml/2006/main">
            <a:off x="4419600" y="4457700"/>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61C2C"/>
                </a:solidFill>
                <a:latin typeface="Malgun Gothic"/>
                <a:ea typeface="Malgun Gothic"/>
                <a:cs typeface="Malgun Gothic"/>
              </a:defRPr>
            </a:pPr>
            <a:r>
              <a:rPr sz="2025" b="1">
                <a:solidFill>
                  <a:srgbClr val="161C2C"/>
                </a:solidFill>
                <a:latin typeface="Malgun Gothic"/>
                <a:ea typeface="Malgun Gothic"/>
                <a:cs typeface="Malgun Gothic"/>
              </a:rPr>
              <a:t>민감정보 보호</a:t>
            </a:r>
          </a:p>
        </p:txBody>
      </p:sp>
      <p:sp>
        <p:nvSpPr>
          <p:cNvPr id="557" name="">
            <a:extLst xmlns:a="http://schemas.openxmlformats.org/drawingml/2006/main">
              <a:ext uri="{FF2B5EF4-FFF2-40B4-BE49-F238E27FC236}">
                <a16:creationId xmlns:a16="http://schemas.microsoft.com/office/drawing/2014/main" id="{44579943-63A0-415F-9360-36EEE20B64E5}"/>
              </a:ext>
            </a:extLst>
          </p:cNvPr>
          <p:cNvSpPr>
            <a:spLocks xmlns:a="http://schemas.openxmlformats.org/drawingml/2006/main" noGrp="1"/>
          </p:cNvSpPr>
          <p:nvPr/>
        </p:nvSpPr>
        <p:spPr>
          <a:xfrm xmlns:a="http://schemas.openxmlformats.org/drawingml/2006/main">
            <a:off x="4419600" y="4905375"/>
            <a:ext cx="328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161C2C"/>
                </a:solidFill>
                <a:latin typeface="Malgun Gothic"/>
                <a:ea typeface="Malgun Gothic"/>
                <a:cs typeface="Malgun Gothic"/>
              </a:defRPr>
            </a:pPr>
            <a:r>
              <a:rPr sz="1575" b="0">
                <a:solidFill>
                  <a:srgbClr val="161C2C"/>
                </a:solidFill>
                <a:latin typeface="Malgun Gothic"/>
                <a:ea typeface="Malgun Gothic"/>
                <a:cs typeface="Malgun Gothic"/>
              </a:rPr>
              <a:t>AI 도입과 함께 기밀 유출 등</a:t>
            </a:r>
          </a:p>
          <a:p xmlns:a="http://schemas.openxmlformats.org/drawingml/2006/main">
            <a:pPr>
              <a:defRPr sz="1575" b="0">
                <a:solidFill>
                  <a:srgbClr val="161C2C"/>
                </a:solidFill>
                <a:latin typeface="Malgun Gothic"/>
                <a:ea typeface="Malgun Gothic"/>
                <a:cs typeface="Malgun Gothic"/>
              </a:defRPr>
            </a:pPr>
            <a:r>
              <a:rPr sz="1575" b="0">
                <a:solidFill>
                  <a:srgbClr val="161C2C"/>
                </a:solidFill>
                <a:latin typeface="Malgun Gothic"/>
                <a:ea typeface="Malgun Gothic"/>
                <a:cs typeface="Malgun Gothic"/>
              </a:rPr>
              <a:t>보안 위협에 대한 대응 필요</a:t>
            </a:r>
          </a:p>
        </p:txBody>
      </p:sp>
      <p:sp>
        <p:nvSpPr>
          <p:cNvPr id="558" name="">
            <a:extLst xmlns:a="http://schemas.openxmlformats.org/drawingml/2006/main">
              <a:ext uri="{FF2B5EF4-FFF2-40B4-BE49-F238E27FC236}">
                <a16:creationId xmlns:a16="http://schemas.microsoft.com/office/drawing/2014/main" id="{8F1AB83A-190F-4D65-9EA1-4688353E2A6A}"/>
              </a:ext>
            </a:extLst>
          </p:cNvPr>
          <p:cNvSpPr>
            <a:spLocks xmlns:a="http://schemas.openxmlformats.org/drawingml/2006/main" noGrp="1"/>
          </p:cNvSpPr>
          <p:nvPr/>
        </p:nvSpPr>
        <p:spPr>
          <a:xfrm xmlns:a="http://schemas.openxmlformats.org/drawingml/2006/main">
            <a:off x="4419600" y="5543550"/>
            <a:ext cx="3333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B6476"/>
                </a:solidFill>
                <a:latin typeface="Malgun Gothic"/>
                <a:ea typeface="Malgun Gothic"/>
                <a:cs typeface="Malgun Gothic"/>
              </a:defRPr>
            </a:pPr>
            <a:r>
              <a:rPr sz="975" b="0">
                <a:solidFill>
                  <a:srgbClr val="5B6476"/>
                </a:solidFill>
                <a:latin typeface="Malgun Gothic"/>
                <a:ea typeface="Malgun Gothic"/>
                <a:cs typeface="Malgun Gothic"/>
              </a:rPr>
              <a:t>국정원 AI보안 가이드북 발간 안내</a:t>
            </a:r>
          </a:p>
        </p:txBody>
      </p:sp>
      <p:sp>
        <p:nvSpPr>
          <p:cNvPr id="559" name="">
            <a:extLst xmlns:a="http://schemas.openxmlformats.org/drawingml/2006/main">
              <a:ext uri="{FF2B5EF4-FFF2-40B4-BE49-F238E27FC236}">
                <a16:creationId xmlns:a16="http://schemas.microsoft.com/office/drawing/2014/main" id="{D3CED90D-806E-4E39-80A6-7666D05CF510}"/>
              </a:ext>
            </a:extLst>
          </p:cNvPr>
          <p:cNvSpPr>
            <a:spLocks xmlns:a="http://schemas.openxmlformats.org/drawingml/2006/main" noGrp="1"/>
          </p:cNvSpPr>
          <p:nvPr/>
        </p:nvSpPr>
        <p:spPr>
          <a:xfrm xmlns:a="http://schemas.openxmlformats.org/drawingml/2006/main">
            <a:off x="8124825" y="4000500"/>
            <a:ext cx="3667125" cy="1790700"/>
          </a:xfrm>
          <a:prstGeom xmlns:a="http://schemas.openxmlformats.org/drawingml/2006/main" prst="rect">
            <a:avLst/>
          </a:prstGeom>
          <a:solidFill xmlns:a="http://schemas.openxmlformats.org/drawingml/2006/main">
            <a:srgbClr val="F3F6FB"/>
          </a:solidFill>
          <a:ln xmlns:a="http://schemas.openxmlformats.org/drawingml/2006/main" w="9525">
            <a:solidFill>
              <a:srgbClr val="CBD1DD"/>
            </a:solidFill>
          </a:ln>
        </p:spPr>
      </p:sp>
      <p:sp>
        <p:nvSpPr>
          <p:cNvPr id="560" name="">
            <a:extLst xmlns:a="http://schemas.openxmlformats.org/drawingml/2006/main">
              <a:ext uri="{FF2B5EF4-FFF2-40B4-BE49-F238E27FC236}">
                <a16:creationId xmlns:a16="http://schemas.microsoft.com/office/drawing/2014/main" id="{C1F2C875-46E5-4A74-B962-2CD5E0344035}"/>
              </a:ext>
            </a:extLst>
          </p:cNvPr>
          <p:cNvSpPr>
            <a:spLocks xmlns:a="http://schemas.openxmlformats.org/drawingml/2006/main" noGrp="1"/>
          </p:cNvSpPr>
          <p:nvPr/>
        </p:nvSpPr>
        <p:spPr>
          <a:xfrm xmlns:a="http://schemas.openxmlformats.org/drawingml/2006/main">
            <a:off x="8286750" y="4133850"/>
            <a:ext cx="3286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AD3B65"/>
                </a:solidFill>
                <a:latin typeface="Malgun Gothic"/>
                <a:ea typeface="Malgun Gothic"/>
                <a:cs typeface="Malgun Gothic"/>
              </a:defRPr>
            </a:pPr>
            <a:r>
              <a:rPr sz="1275" b="1">
                <a:solidFill>
                  <a:srgbClr val="AD3B65"/>
                </a:solidFill>
                <a:latin typeface="Malgun Gothic"/>
                <a:ea typeface="Malgun Gothic"/>
                <a:cs typeface="Malgun Gothic"/>
              </a:rPr>
              <a:t>답변 검증</a:t>
            </a:r>
          </a:p>
        </p:txBody>
      </p:sp>
      <p:sp>
        <p:nvSpPr>
          <p:cNvPr id="561" name="">
            <a:extLst xmlns:a="http://schemas.openxmlformats.org/drawingml/2006/main">
              <a:ext uri="{FF2B5EF4-FFF2-40B4-BE49-F238E27FC236}">
                <a16:creationId xmlns:a16="http://schemas.microsoft.com/office/drawing/2014/main" id="{13CFD429-DCED-4F34-A5AA-8CF5C9AE6296}"/>
              </a:ext>
            </a:extLst>
          </p:cNvPr>
          <p:cNvSpPr>
            <a:spLocks xmlns:a="http://schemas.openxmlformats.org/drawingml/2006/main" noGrp="1"/>
          </p:cNvSpPr>
          <p:nvPr/>
        </p:nvSpPr>
        <p:spPr>
          <a:xfrm xmlns:a="http://schemas.openxmlformats.org/drawingml/2006/main">
            <a:off x="8286750" y="4457700"/>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61C2C"/>
                </a:solidFill>
                <a:latin typeface="Malgun Gothic"/>
                <a:ea typeface="Malgun Gothic"/>
                <a:cs typeface="Malgun Gothic"/>
              </a:defRPr>
            </a:pPr>
            <a:r>
              <a:rPr sz="2025" b="1">
                <a:solidFill>
                  <a:srgbClr val="161C2C"/>
                </a:solidFill>
                <a:latin typeface="Malgun Gothic"/>
                <a:ea typeface="Malgun Gothic"/>
                <a:cs typeface="Malgun Gothic"/>
              </a:rPr>
              <a:t>근거가 있어도 오답</a:t>
            </a:r>
          </a:p>
        </p:txBody>
      </p:sp>
      <p:sp>
        <p:nvSpPr>
          <p:cNvPr id="562" name="">
            <a:extLst xmlns:a="http://schemas.openxmlformats.org/drawingml/2006/main">
              <a:ext uri="{FF2B5EF4-FFF2-40B4-BE49-F238E27FC236}">
                <a16:creationId xmlns:a16="http://schemas.microsoft.com/office/drawing/2014/main" id="{68D8D3E6-8649-40FB-9B07-C3FB4A65557F}"/>
              </a:ext>
            </a:extLst>
          </p:cNvPr>
          <p:cNvSpPr>
            <a:spLocks xmlns:a="http://schemas.openxmlformats.org/drawingml/2006/main" noGrp="1"/>
          </p:cNvSpPr>
          <p:nvPr/>
        </p:nvSpPr>
        <p:spPr>
          <a:xfrm xmlns:a="http://schemas.openxmlformats.org/drawingml/2006/main">
            <a:off x="8286750" y="4905375"/>
            <a:ext cx="328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161C2C"/>
                </a:solidFill>
                <a:latin typeface="Malgun Gothic"/>
                <a:ea typeface="Malgun Gothic"/>
                <a:cs typeface="Malgun Gothic"/>
              </a:defRPr>
            </a:pPr>
            <a:r>
              <a:rPr sz="1575" b="0">
                <a:solidFill>
                  <a:srgbClr val="161C2C"/>
                </a:solidFill>
                <a:latin typeface="Malgun Gothic"/>
                <a:ea typeface="Malgun Gothic"/>
                <a:cs typeface="Malgun Gothic"/>
              </a:rPr>
              <a:t>다른 물질 질문에 제공된 자료를</a:t>
            </a:r>
          </a:p>
          <a:p xmlns:a="http://schemas.openxmlformats.org/drawingml/2006/main">
            <a:pPr>
              <a:defRPr sz="1575" b="0">
                <a:solidFill>
                  <a:srgbClr val="161C2C"/>
                </a:solidFill>
                <a:latin typeface="Malgun Gothic"/>
                <a:ea typeface="Malgun Gothic"/>
                <a:cs typeface="Malgun Gothic"/>
              </a:defRPr>
            </a:pPr>
            <a:r>
              <a:rPr sz="1575" b="0">
                <a:solidFill>
                  <a:srgbClr val="161C2C"/>
                </a:solidFill>
                <a:latin typeface="Malgun Gothic"/>
                <a:ea typeface="Malgun Gothic"/>
                <a:cs typeface="Malgun Gothic"/>
              </a:rPr>
              <a:t>적용한 MSDS 답변 사례</a:t>
            </a:r>
          </a:p>
        </p:txBody>
      </p:sp>
      <p:sp>
        <p:nvSpPr>
          <p:cNvPr id="563" name="">
            <a:extLst xmlns:a="http://schemas.openxmlformats.org/drawingml/2006/main">
              <a:ext uri="{FF2B5EF4-FFF2-40B4-BE49-F238E27FC236}">
                <a16:creationId xmlns:a16="http://schemas.microsoft.com/office/drawing/2014/main" id="{DE7F1BF3-F443-4289-89FD-258E332CA17E}"/>
              </a:ext>
            </a:extLst>
          </p:cNvPr>
          <p:cNvSpPr>
            <a:spLocks xmlns:a="http://schemas.openxmlformats.org/drawingml/2006/main" noGrp="1"/>
          </p:cNvSpPr>
          <p:nvPr/>
        </p:nvSpPr>
        <p:spPr>
          <a:xfrm xmlns:a="http://schemas.openxmlformats.org/drawingml/2006/main">
            <a:off x="8286750" y="5543550"/>
            <a:ext cx="3333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B6476"/>
                </a:solidFill>
                <a:latin typeface="Malgun Gothic"/>
                <a:ea typeface="Malgun Gothic"/>
                <a:cs typeface="Malgun Gothic"/>
              </a:defRPr>
            </a:pPr>
            <a:r>
              <a:rPr sz="975" b="0">
                <a:solidFill>
                  <a:srgbClr val="5B6476"/>
                </a:solidFill>
                <a:latin typeface="Malgun Gothic"/>
                <a:ea typeface="Malgun Gothic"/>
                <a:cs typeface="Malgun Gothic"/>
              </a:rPr>
              <a:t>B1조 2주차 문서 주입 실험</a:t>
            </a:r>
          </a:p>
        </p:txBody>
      </p:sp>
      <p:sp>
        <p:nvSpPr>
          <p:cNvPr id="564" name="">
            <a:extLst xmlns:a="http://schemas.openxmlformats.org/drawingml/2006/main">
              <a:ext uri="{FF2B5EF4-FFF2-40B4-BE49-F238E27FC236}">
                <a16:creationId xmlns:a16="http://schemas.microsoft.com/office/drawing/2014/main" id="{45F28474-0F30-4C75-AF6E-EFDA96DE8698}"/>
              </a:ext>
            </a:extLst>
          </p:cNvPr>
          <p:cNvSpPr>
            <a:spLocks xmlns:a="http://schemas.openxmlformats.org/drawingml/2006/main" noGrp="1"/>
          </p:cNvSpPr>
          <p:nvPr/>
        </p:nvSpPr>
        <p:spPr>
          <a:xfrm xmlns:a="http://schemas.openxmlformats.org/drawingml/2006/main">
            <a:off x="390525" y="641985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B6476"/>
                </a:solidFill>
                <a:latin typeface="Malgun Gothic"/>
                <a:ea typeface="Malgun Gothic"/>
                <a:cs typeface="Malgun Gothic"/>
              </a:defRPr>
            </a:pPr>
            <a:r>
              <a:rPr sz="1125" b="0">
                <a:solidFill>
                  <a:srgbClr val="5B6476"/>
                </a:solidFill>
                <a:latin typeface="Malgun Gothic"/>
                <a:ea typeface="Malgun Gothic"/>
                <a:cs typeface="Malgun Gothic"/>
              </a:rPr>
              <a:t>설계 방향: 조건·원문·버전을 함께 제시하고 허용된 자료만 사용 · 분쟁 자동 해결을 주장하지 않음</a:t>
            </a:r>
          </a:p>
        </p:txBody>
      </p:sp>
    </p:spTree>
    <p:extLst>
      <p:ext uri="{BB962C8B-B14F-4D97-AF65-F5344CB8AC3E}">
        <p14:creationId xmlns:p14="http://schemas.microsoft.com/office/powerpoint/2010/main" val="5462217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3</a:t>
            </a: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데이터 준비와 실제 서비스 연결을 하나의 흐름으로 설계</a:t>
            </a:r>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0525" y="1257300"/>
            <a:ext cx="11401425" cy="6096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875" b="0">
                <a:solidFill>
                  <a:srgbClr val="5B6476"/>
                </a:solidFill>
                <a:latin typeface="Malgun Gothic"/>
                <a:ea typeface="Malgun Gothic"/>
                <a:cs typeface="Malgun Gothic"/>
              </a:defRPr>
            </a:pPr>
            <a:r>
              <a:rPr sz="1875" b="0">
                <a:solidFill>
                  <a:srgbClr val="5B6476"/>
                </a:solidFill>
                <a:latin typeface="Malgun Gothic"/>
                <a:ea typeface="Malgun Gothic"/>
                <a:cs typeface="Malgun Gothic"/>
              </a:rPr>
              <a:t>준비한 자료와 앞으로 연결할 검색·생성·검증을 구분</a:t>
            </a:r>
          </a:p>
        </p:txBody>
      </p:sp>
      <p:sp>
        <p:nvSpPr>
          <p:cNvPr id="534" name="">
            <a:extLst xmlns:a="http://schemas.openxmlformats.org/drawingml/2006/main">
              <a:ext uri="{FF2B5EF4-FFF2-40B4-BE49-F238E27FC236}">
                <a16:creationId xmlns:a16="http://schemas.microsoft.com/office/drawing/2014/main" id="{C4572CA3-DBCF-40F8-9C4C-7D8A5FFD47AB}"/>
              </a:ext>
            </a:extLst>
          </p:cNvPr>
          <p:cNvSpPr>
            <a:spLocks xmlns:a="http://schemas.openxmlformats.org/drawingml/2006/main" noGrp="1"/>
          </p:cNvSpPr>
          <p:nvPr/>
        </p:nvSpPr>
        <p:spPr>
          <a:xfrm xmlns:a="http://schemas.openxmlformats.org/drawingml/2006/main">
            <a:off x="390525" y="1952625"/>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3456BF"/>
                </a:solidFill>
                <a:latin typeface="Malgun Gothic"/>
                <a:ea typeface="Malgun Gothic"/>
                <a:cs typeface="Malgun Gothic"/>
              </a:defRPr>
            </a:pPr>
            <a:r>
              <a:rPr sz="1800" b="1">
                <a:solidFill>
                  <a:srgbClr val="3456BF"/>
                </a:solidFill>
                <a:latin typeface="Malgun Gothic"/>
                <a:ea typeface="Malgun Gothic"/>
                <a:cs typeface="Malgun Gothic"/>
              </a:rPr>
              <a:t>데이터 준비</a:t>
            </a:r>
          </a:p>
        </p:txBody>
      </p:sp>
      <p:sp>
        <p:nvSpPr>
          <p:cNvPr id="535" name="">
            <a:extLst xmlns:a="http://schemas.openxmlformats.org/drawingml/2006/main">
              <a:ext uri="{FF2B5EF4-FFF2-40B4-BE49-F238E27FC236}">
                <a16:creationId xmlns:a16="http://schemas.microsoft.com/office/drawing/2014/main" id="{A0442899-4BFC-4A07-A4FB-B9C486438098}"/>
              </a:ext>
            </a:extLst>
          </p:cNvPr>
          <p:cNvSpPr>
            <a:spLocks xmlns:a="http://schemas.openxmlformats.org/drawingml/2006/main" noGrp="1"/>
          </p:cNvSpPr>
          <p:nvPr/>
        </p:nvSpPr>
        <p:spPr>
          <a:xfrm xmlns:a="http://schemas.openxmlformats.org/drawingml/2006/main">
            <a:off x="390525" y="2428875"/>
            <a:ext cx="3571875" cy="1152525"/>
          </a:xfrm>
          <a:prstGeom xmlns:a="http://schemas.openxmlformats.org/drawingml/2006/main" prst="rect">
            <a:avLst/>
          </a:prstGeom>
          <a:solidFill xmlns:a="http://schemas.openxmlformats.org/drawingml/2006/main">
            <a:srgbClr val="E8EDF9"/>
          </a:solidFill>
          <a:ln xmlns:a="http://schemas.openxmlformats.org/drawingml/2006/main" w="9525">
            <a:solidFill>
              <a:srgbClr val="CBD1DD"/>
            </a:solidFill>
          </a:ln>
        </p:spPr>
      </p:sp>
      <p:sp>
        <p:nvSpPr>
          <p:cNvPr id="536" name="">
            <a:extLst xmlns:a="http://schemas.openxmlformats.org/drawingml/2006/main">
              <a:ext uri="{FF2B5EF4-FFF2-40B4-BE49-F238E27FC236}">
                <a16:creationId xmlns:a16="http://schemas.microsoft.com/office/drawing/2014/main" id="{FF48A86C-FCD6-462A-B42D-82C39532C127}"/>
              </a:ext>
            </a:extLst>
          </p:cNvPr>
          <p:cNvSpPr>
            <a:spLocks xmlns:a="http://schemas.openxmlformats.org/drawingml/2006/main" noGrp="1"/>
          </p:cNvSpPr>
          <p:nvPr/>
        </p:nvSpPr>
        <p:spPr>
          <a:xfrm xmlns:a="http://schemas.openxmlformats.org/drawingml/2006/main">
            <a:off x="552450" y="2638425"/>
            <a:ext cx="32575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3456BF"/>
                </a:solidFill>
                <a:latin typeface="Malgun Gothic"/>
                <a:ea typeface="Malgun Gothic"/>
                <a:cs typeface="Malgun Gothic"/>
              </a:defRPr>
            </a:pPr>
            <a:r>
              <a:rPr sz="2025" b="1">
                <a:solidFill>
                  <a:srgbClr val="3456BF"/>
                </a:solidFill>
                <a:latin typeface="Malgun Gothic"/>
                <a:ea typeface="Malgun Gothic"/>
                <a:cs typeface="Malgun Gothic"/>
              </a:rPr>
              <a:t>공고 수집·파싱</a:t>
            </a:r>
          </a:p>
        </p:txBody>
      </p:sp>
      <p:sp>
        <p:nvSpPr>
          <p:cNvPr id="537" name="">
            <a:extLst xmlns:a="http://schemas.openxmlformats.org/drawingml/2006/main">
              <a:ext uri="{FF2B5EF4-FFF2-40B4-BE49-F238E27FC236}">
                <a16:creationId xmlns:a16="http://schemas.microsoft.com/office/drawing/2014/main" id="{0BBCF80D-2C62-4167-9B5C-E3EF39525EF1}"/>
              </a:ext>
            </a:extLst>
          </p:cNvPr>
          <p:cNvSpPr>
            <a:spLocks xmlns:a="http://schemas.openxmlformats.org/drawingml/2006/main" noGrp="1"/>
          </p:cNvSpPr>
          <p:nvPr/>
        </p:nvSpPr>
        <p:spPr>
          <a:xfrm xmlns:a="http://schemas.openxmlformats.org/drawingml/2006/main">
            <a:off x="552450" y="3124200"/>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161C2C"/>
                </a:solidFill>
                <a:latin typeface="Malgun Gothic"/>
                <a:ea typeface="Malgun Gothic"/>
                <a:cs typeface="Malgun Gothic"/>
              </a:defRPr>
            </a:pPr>
            <a:r>
              <a:rPr sz="1575" b="0">
                <a:solidFill>
                  <a:srgbClr val="161C2C"/>
                </a:solidFill>
                <a:latin typeface="Malgun Gothic"/>
                <a:ea typeface="Malgun Gothic"/>
                <a:cs typeface="Malgun Gothic"/>
              </a:rPr>
              <a:t>원본 · 텍스트 · 버전</a:t>
            </a:r>
          </a:p>
        </p:txBody>
      </p:sp>
      <p:sp>
        <p:nvSpPr>
          <p:cNvPr id="538" name="">
            <a:extLst xmlns:a="http://schemas.openxmlformats.org/drawingml/2006/main">
              <a:ext uri="{FF2B5EF4-FFF2-40B4-BE49-F238E27FC236}">
                <a16:creationId xmlns:a16="http://schemas.microsoft.com/office/drawing/2014/main" id="{9D1870C2-28EF-4A91-9D86-649AFEDC1360}"/>
              </a:ext>
            </a:extLst>
          </p:cNvPr>
          <p:cNvSpPr>
            <a:spLocks xmlns:a="http://schemas.openxmlformats.org/drawingml/2006/main" noGrp="1"/>
          </p:cNvSpPr>
          <p:nvPr/>
        </p:nvSpPr>
        <p:spPr>
          <a:xfrm xmlns:a="http://schemas.openxmlformats.org/drawingml/2006/main">
            <a:off x="4305300" y="2428875"/>
            <a:ext cx="3571875" cy="1152525"/>
          </a:xfrm>
          <a:prstGeom xmlns:a="http://schemas.openxmlformats.org/drawingml/2006/main" prst="rect">
            <a:avLst/>
          </a:prstGeom>
          <a:solidFill xmlns:a="http://schemas.openxmlformats.org/drawingml/2006/main">
            <a:srgbClr val="E8EDF9"/>
          </a:solidFill>
          <a:ln xmlns:a="http://schemas.openxmlformats.org/drawingml/2006/main" w="9525">
            <a:solidFill>
              <a:srgbClr val="CBD1DD"/>
            </a:solidFill>
          </a:ln>
        </p:spPr>
      </p:sp>
      <p:sp>
        <p:nvSpPr>
          <p:cNvPr id="539" name="">
            <a:extLst xmlns:a="http://schemas.openxmlformats.org/drawingml/2006/main">
              <a:ext uri="{FF2B5EF4-FFF2-40B4-BE49-F238E27FC236}">
                <a16:creationId xmlns:a16="http://schemas.microsoft.com/office/drawing/2014/main" id="{634296E6-0AF7-4B41-A0BF-1A57DA6E7D71}"/>
              </a:ext>
            </a:extLst>
          </p:cNvPr>
          <p:cNvSpPr>
            <a:spLocks xmlns:a="http://schemas.openxmlformats.org/drawingml/2006/main" noGrp="1"/>
          </p:cNvSpPr>
          <p:nvPr/>
        </p:nvSpPr>
        <p:spPr>
          <a:xfrm xmlns:a="http://schemas.openxmlformats.org/drawingml/2006/main">
            <a:off x="4467225" y="2638425"/>
            <a:ext cx="32575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3456BF"/>
                </a:solidFill>
                <a:latin typeface="Malgun Gothic"/>
                <a:ea typeface="Malgun Gothic"/>
                <a:cs typeface="Malgun Gothic"/>
              </a:defRPr>
            </a:pPr>
            <a:r>
              <a:rPr sz="2025" b="1">
                <a:solidFill>
                  <a:srgbClr val="3456BF"/>
                </a:solidFill>
                <a:latin typeface="Malgun Gothic"/>
                <a:ea typeface="Malgun Gothic"/>
                <a:cs typeface="Malgun Gothic"/>
              </a:rPr>
              <a:t>표본·요건 CSV</a:t>
            </a:r>
          </a:p>
        </p:txBody>
      </p:sp>
      <p:sp>
        <p:nvSpPr>
          <p:cNvPr id="540" name="">
            <a:extLst xmlns:a="http://schemas.openxmlformats.org/drawingml/2006/main">
              <a:ext uri="{FF2B5EF4-FFF2-40B4-BE49-F238E27FC236}">
                <a16:creationId xmlns:a16="http://schemas.microsoft.com/office/drawing/2014/main" id="{AA2AF6C9-0905-401A-87F4-4CAA753F05F6}"/>
              </a:ext>
            </a:extLst>
          </p:cNvPr>
          <p:cNvSpPr>
            <a:spLocks xmlns:a="http://schemas.openxmlformats.org/drawingml/2006/main" noGrp="1"/>
          </p:cNvSpPr>
          <p:nvPr/>
        </p:nvSpPr>
        <p:spPr>
          <a:xfrm xmlns:a="http://schemas.openxmlformats.org/drawingml/2006/main">
            <a:off x="4467225" y="3124200"/>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161C2C"/>
                </a:solidFill>
                <a:latin typeface="Malgun Gothic"/>
                <a:ea typeface="Malgun Gothic"/>
                <a:cs typeface="Malgun Gothic"/>
              </a:defRPr>
            </a:pPr>
            <a:r>
              <a:rPr sz="1575" b="0">
                <a:solidFill>
                  <a:srgbClr val="161C2C"/>
                </a:solidFill>
                <a:latin typeface="Malgun Gothic"/>
                <a:ea typeface="Malgun Gothic"/>
                <a:cs typeface="Malgun Gothic"/>
              </a:rPr>
              <a:t>51건 · 조건 · 근거 위치</a:t>
            </a:r>
          </a:p>
        </p:txBody>
      </p:sp>
      <p:sp>
        <p:nvSpPr>
          <p:cNvPr id="541" name="">
            <a:extLst xmlns:a="http://schemas.openxmlformats.org/drawingml/2006/main">
              <a:ext uri="{FF2B5EF4-FFF2-40B4-BE49-F238E27FC236}">
                <a16:creationId xmlns:a16="http://schemas.microsoft.com/office/drawing/2014/main" id="{C00D3404-F7FE-46B1-992D-544ABEC52EEF}"/>
              </a:ext>
            </a:extLst>
          </p:cNvPr>
          <p:cNvSpPr>
            <a:spLocks xmlns:a="http://schemas.openxmlformats.org/drawingml/2006/main" noGrp="1"/>
          </p:cNvSpPr>
          <p:nvPr/>
        </p:nvSpPr>
        <p:spPr>
          <a:xfrm xmlns:a="http://schemas.openxmlformats.org/drawingml/2006/main">
            <a:off x="8220075" y="2428875"/>
            <a:ext cx="3571875" cy="1152525"/>
          </a:xfrm>
          <a:prstGeom xmlns:a="http://schemas.openxmlformats.org/drawingml/2006/main" prst="rect">
            <a:avLst/>
          </a:prstGeom>
          <a:solidFill xmlns:a="http://schemas.openxmlformats.org/drawingml/2006/main">
            <a:srgbClr val="E8EDF9"/>
          </a:solidFill>
          <a:ln xmlns:a="http://schemas.openxmlformats.org/drawingml/2006/main" w="9525">
            <a:solidFill>
              <a:srgbClr val="CBD1DD"/>
            </a:solidFill>
          </a:ln>
        </p:spPr>
      </p:sp>
      <p:sp>
        <p:nvSpPr>
          <p:cNvPr id="542" name="">
            <a:extLst xmlns:a="http://schemas.openxmlformats.org/drawingml/2006/main">
              <a:ext uri="{FF2B5EF4-FFF2-40B4-BE49-F238E27FC236}">
                <a16:creationId xmlns:a16="http://schemas.microsoft.com/office/drawing/2014/main" id="{67534893-D840-4CF9-947A-619067B3C4A5}"/>
              </a:ext>
            </a:extLst>
          </p:cNvPr>
          <p:cNvSpPr>
            <a:spLocks xmlns:a="http://schemas.openxmlformats.org/drawingml/2006/main" noGrp="1"/>
          </p:cNvSpPr>
          <p:nvPr/>
        </p:nvSpPr>
        <p:spPr>
          <a:xfrm xmlns:a="http://schemas.openxmlformats.org/drawingml/2006/main">
            <a:off x="8382000" y="2638425"/>
            <a:ext cx="32575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3456BF"/>
                </a:solidFill>
                <a:latin typeface="Malgun Gothic"/>
                <a:ea typeface="Malgun Gothic"/>
                <a:cs typeface="Malgun Gothic"/>
              </a:defRPr>
            </a:pPr>
            <a:r>
              <a:rPr sz="2025" b="1">
                <a:solidFill>
                  <a:srgbClr val="3456BF"/>
                </a:solidFill>
                <a:latin typeface="Malgun Gothic"/>
                <a:ea typeface="Malgun Gothic"/>
                <a:cs typeface="Malgun Gothic"/>
              </a:rPr>
              <a:t>검수 질문·가상 기업</a:t>
            </a:r>
          </a:p>
        </p:txBody>
      </p:sp>
      <p:sp>
        <p:nvSpPr>
          <p:cNvPr id="543" name="">
            <a:extLst xmlns:a="http://schemas.openxmlformats.org/drawingml/2006/main">
              <a:ext uri="{FF2B5EF4-FFF2-40B4-BE49-F238E27FC236}">
                <a16:creationId xmlns:a16="http://schemas.microsoft.com/office/drawing/2014/main" id="{FD580B65-EE0F-40B4-90E2-36055FF99AE3}"/>
              </a:ext>
            </a:extLst>
          </p:cNvPr>
          <p:cNvSpPr>
            <a:spLocks xmlns:a="http://schemas.openxmlformats.org/drawingml/2006/main" noGrp="1"/>
          </p:cNvSpPr>
          <p:nvPr/>
        </p:nvSpPr>
        <p:spPr>
          <a:xfrm xmlns:a="http://schemas.openxmlformats.org/drawingml/2006/main">
            <a:off x="8382000" y="3124200"/>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161C2C"/>
                </a:solidFill>
                <a:latin typeface="Malgun Gothic"/>
                <a:ea typeface="Malgun Gothic"/>
                <a:cs typeface="Malgun Gothic"/>
              </a:defRPr>
            </a:pPr>
            <a:r>
              <a:rPr sz="1575" b="0">
                <a:solidFill>
                  <a:srgbClr val="161C2C"/>
                </a:solidFill>
                <a:latin typeface="Malgun Gothic"/>
                <a:ea typeface="Malgun Gothic"/>
                <a:cs typeface="Malgun Gothic"/>
              </a:rPr>
              <a:t>질문 300건 · 회사별 자료</a:t>
            </a:r>
          </a:p>
        </p:txBody>
      </p:sp>
      <p:cxnSp>
        <p:nvCxnSpPr>
          <p:cNvPr id="577" name=""/>
          <p:cNvCxnSpPr>
            <a:stCxn xmlns:a="http://schemas.openxmlformats.org/drawingml/2006/main" id="535" idx="3"/>
            <a:endCxn xmlns:a="http://schemas.openxmlformats.org/drawingml/2006/main" id="538" idx="1"/>
          </p:cNvCxnSpPr>
          <p:nvPr/>
        </p:nvCxnSpPr>
        <p:spPr>
          <a:xfrm xmlns:a="http://schemas.openxmlformats.org/drawingml/2006/main">
            <a:off x="3962400" y="3005138"/>
            <a:ext cx="342900" cy="0"/>
          </a:xfrm>
          <a:prstGeom xmlns:a="http://schemas.openxmlformats.org/drawingml/2006/main" prst="straightConnector1">
            <a:avLst/>
          </a:prstGeom>
          <a:ln xmlns:a="http://schemas.openxmlformats.org/drawingml/2006/main" w="19050">
            <a:solidFill>
              <a:srgbClr val="3456BF"/>
            </a:solidFill>
            <a:tailEnd type="triangle" w="sm" len="sm"/>
          </a:ln>
        </p:spPr>
      </p:cxnSp>
      <p:cxnSp>
        <p:nvCxnSpPr>
          <p:cNvPr id="578" name=""/>
          <p:cNvCxnSpPr>
            <a:stCxn xmlns:a="http://schemas.openxmlformats.org/drawingml/2006/main" id="538" idx="3"/>
            <a:endCxn xmlns:a="http://schemas.openxmlformats.org/drawingml/2006/main" id="541" idx="1"/>
          </p:cNvCxnSpPr>
          <p:nvPr/>
        </p:nvCxnSpPr>
        <p:spPr>
          <a:xfrm xmlns:a="http://schemas.openxmlformats.org/drawingml/2006/main">
            <a:off x="7877175" y="3005138"/>
            <a:ext cx="342900" cy="0"/>
          </a:xfrm>
          <a:prstGeom xmlns:a="http://schemas.openxmlformats.org/drawingml/2006/main" prst="straightConnector1">
            <a:avLst/>
          </a:prstGeom>
          <a:ln xmlns:a="http://schemas.openxmlformats.org/drawingml/2006/main" w="19050">
            <a:solidFill>
              <a:srgbClr val="3456BF"/>
            </a:solidFill>
            <a:tailEnd type="triangle" w="sm" len="sm"/>
          </a:ln>
        </p:spPr>
      </p:cxnSp>
      <p:sp>
        <p:nvSpPr>
          <p:cNvPr id="546" name="">
            <a:extLst xmlns:a="http://schemas.openxmlformats.org/drawingml/2006/main">
              <a:ext uri="{FF2B5EF4-FFF2-40B4-BE49-F238E27FC236}">
                <a16:creationId xmlns:a16="http://schemas.microsoft.com/office/drawing/2014/main" id="{F88EBFCA-B880-4B22-AA54-9D0207C3F867}"/>
              </a:ext>
            </a:extLst>
          </p:cNvPr>
          <p:cNvSpPr>
            <a:spLocks xmlns:a="http://schemas.openxmlformats.org/drawingml/2006/main" noGrp="1"/>
          </p:cNvSpPr>
          <p:nvPr/>
        </p:nvSpPr>
        <p:spPr>
          <a:xfrm xmlns:a="http://schemas.openxmlformats.org/drawingml/2006/main">
            <a:off x="390525" y="39052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3456BF"/>
                </a:solidFill>
                <a:latin typeface="Malgun Gothic"/>
                <a:ea typeface="Malgun Gothic"/>
                <a:cs typeface="Malgun Gothic"/>
              </a:defRPr>
            </a:pPr>
            <a:r>
              <a:rPr sz="1800" b="1">
                <a:solidFill>
                  <a:srgbClr val="3456BF"/>
                </a:solidFill>
                <a:latin typeface="Malgun Gothic"/>
                <a:ea typeface="Malgun Gothic"/>
                <a:cs typeface="Malgun Gothic"/>
              </a:rPr>
              <a:t>실제 서비스 연결 예정</a:t>
            </a:r>
          </a:p>
        </p:txBody>
      </p:sp>
      <p:sp>
        <p:nvSpPr>
          <p:cNvPr id="547" name="">
            <a:extLst xmlns:a="http://schemas.openxmlformats.org/drawingml/2006/main">
              <a:ext uri="{FF2B5EF4-FFF2-40B4-BE49-F238E27FC236}">
                <a16:creationId xmlns:a16="http://schemas.microsoft.com/office/drawing/2014/main" id="{0363775A-6469-4BF3-B11A-63CF1F9BFED2}"/>
              </a:ext>
            </a:extLst>
          </p:cNvPr>
          <p:cNvSpPr>
            <a:spLocks xmlns:a="http://schemas.openxmlformats.org/drawingml/2006/main" noGrp="1"/>
          </p:cNvSpPr>
          <p:nvPr/>
        </p:nvSpPr>
        <p:spPr>
          <a:xfrm xmlns:a="http://schemas.openxmlformats.org/drawingml/2006/main">
            <a:off x="390525" y="4391025"/>
            <a:ext cx="2676525" cy="1085850"/>
          </a:xfrm>
          <a:prstGeom xmlns:a="http://schemas.openxmlformats.org/drawingml/2006/main" prst="rect">
            <a:avLst/>
          </a:prstGeom>
          <a:solidFill xmlns:a="http://schemas.openxmlformats.org/drawingml/2006/main">
            <a:srgbClr val="F8FAFC"/>
          </a:solidFill>
          <a:ln xmlns:a="http://schemas.openxmlformats.org/drawingml/2006/main" w="9525">
            <a:solidFill>
              <a:srgbClr val="CBD1DD"/>
            </a:solidFill>
          </a:ln>
        </p:spPr>
      </p:sp>
      <p:sp>
        <p:nvSpPr>
          <p:cNvPr id="548" name="">
            <a:extLst xmlns:a="http://schemas.openxmlformats.org/drawingml/2006/main">
              <a:ext uri="{FF2B5EF4-FFF2-40B4-BE49-F238E27FC236}">
                <a16:creationId xmlns:a16="http://schemas.microsoft.com/office/drawing/2014/main" id="{2C716C8D-818D-4B1F-B437-8F31A8695053}"/>
              </a:ext>
            </a:extLst>
          </p:cNvPr>
          <p:cNvSpPr>
            <a:spLocks xmlns:a="http://schemas.openxmlformats.org/drawingml/2006/main" noGrp="1"/>
          </p:cNvSpPr>
          <p:nvPr/>
        </p:nvSpPr>
        <p:spPr>
          <a:xfrm xmlns:a="http://schemas.openxmlformats.org/drawingml/2006/main">
            <a:off x="533400" y="4591050"/>
            <a:ext cx="2390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3456BF"/>
                </a:solidFill>
                <a:latin typeface="Malgun Gothic"/>
                <a:ea typeface="Malgun Gothic"/>
                <a:cs typeface="Malgun Gothic"/>
              </a:defRPr>
            </a:pPr>
            <a:r>
              <a:rPr sz="1875" b="1">
                <a:solidFill>
                  <a:srgbClr val="3456BF"/>
                </a:solidFill>
                <a:latin typeface="Malgun Gothic"/>
                <a:ea typeface="Malgun Gothic"/>
                <a:cs typeface="Malgun Gothic"/>
              </a:rPr>
              <a:t>권한 검색</a:t>
            </a:r>
          </a:p>
        </p:txBody>
      </p:sp>
      <p:sp>
        <p:nvSpPr>
          <p:cNvPr id="549" name="">
            <a:extLst xmlns:a="http://schemas.openxmlformats.org/drawingml/2006/main">
              <a:ext uri="{FF2B5EF4-FFF2-40B4-BE49-F238E27FC236}">
                <a16:creationId xmlns:a16="http://schemas.microsoft.com/office/drawing/2014/main" id="{99EBEB94-E992-4491-8A37-40D054705763}"/>
              </a:ext>
            </a:extLst>
          </p:cNvPr>
          <p:cNvSpPr>
            <a:spLocks xmlns:a="http://schemas.openxmlformats.org/drawingml/2006/main" noGrp="1"/>
          </p:cNvSpPr>
          <p:nvPr/>
        </p:nvSpPr>
        <p:spPr>
          <a:xfrm xmlns:a="http://schemas.openxmlformats.org/drawingml/2006/main">
            <a:off x="533400" y="5057775"/>
            <a:ext cx="2390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회사·프로젝트·승인</a:t>
            </a:r>
          </a:p>
        </p:txBody>
      </p:sp>
      <p:sp>
        <p:nvSpPr>
          <p:cNvPr id="550" name="">
            <a:extLst xmlns:a="http://schemas.openxmlformats.org/drawingml/2006/main">
              <a:ext uri="{FF2B5EF4-FFF2-40B4-BE49-F238E27FC236}">
                <a16:creationId xmlns:a16="http://schemas.microsoft.com/office/drawing/2014/main" id="{ED4CFBBD-1861-4EF2-88F0-7761438FE65B}"/>
              </a:ext>
            </a:extLst>
          </p:cNvPr>
          <p:cNvSpPr>
            <a:spLocks xmlns:a="http://schemas.openxmlformats.org/drawingml/2006/main" noGrp="1"/>
          </p:cNvSpPr>
          <p:nvPr/>
        </p:nvSpPr>
        <p:spPr>
          <a:xfrm xmlns:a="http://schemas.openxmlformats.org/drawingml/2006/main">
            <a:off x="3295650" y="4391025"/>
            <a:ext cx="2676525" cy="1085850"/>
          </a:xfrm>
          <a:prstGeom xmlns:a="http://schemas.openxmlformats.org/drawingml/2006/main" prst="rect">
            <a:avLst/>
          </a:prstGeom>
          <a:solidFill xmlns:a="http://schemas.openxmlformats.org/drawingml/2006/main">
            <a:srgbClr val="F8FAFC"/>
          </a:solidFill>
          <a:ln xmlns:a="http://schemas.openxmlformats.org/drawingml/2006/main" w="9525">
            <a:solidFill>
              <a:srgbClr val="CBD1DD"/>
            </a:solidFill>
          </a:ln>
        </p:spPr>
      </p:sp>
      <p:sp>
        <p:nvSpPr>
          <p:cNvPr id="551" name="">
            <a:extLst xmlns:a="http://schemas.openxmlformats.org/drawingml/2006/main">
              <a:ext uri="{FF2B5EF4-FFF2-40B4-BE49-F238E27FC236}">
                <a16:creationId xmlns:a16="http://schemas.microsoft.com/office/drawing/2014/main" id="{C44C632E-0A29-4D48-8ACD-D359C78470AB}"/>
              </a:ext>
            </a:extLst>
          </p:cNvPr>
          <p:cNvSpPr>
            <a:spLocks xmlns:a="http://schemas.openxmlformats.org/drawingml/2006/main" noGrp="1"/>
          </p:cNvSpPr>
          <p:nvPr/>
        </p:nvSpPr>
        <p:spPr>
          <a:xfrm xmlns:a="http://schemas.openxmlformats.org/drawingml/2006/main">
            <a:off x="3438525" y="4591050"/>
            <a:ext cx="2390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3456BF"/>
                </a:solidFill>
                <a:latin typeface="Malgun Gothic"/>
                <a:ea typeface="Malgun Gothic"/>
                <a:cs typeface="Malgun Gothic"/>
              </a:defRPr>
            </a:pPr>
            <a:r>
              <a:rPr sz="1875" b="1">
                <a:solidFill>
                  <a:srgbClr val="3456BF"/>
                </a:solidFill>
                <a:latin typeface="Malgun Gothic"/>
                <a:ea typeface="Malgun Gothic"/>
                <a:cs typeface="Malgun Gothic"/>
              </a:rPr>
              <a:t>로컬 답변 생성</a:t>
            </a:r>
          </a:p>
        </p:txBody>
      </p:sp>
      <p:sp>
        <p:nvSpPr>
          <p:cNvPr id="552" name="">
            <a:extLst xmlns:a="http://schemas.openxmlformats.org/drawingml/2006/main">
              <a:ext uri="{FF2B5EF4-FFF2-40B4-BE49-F238E27FC236}">
                <a16:creationId xmlns:a16="http://schemas.microsoft.com/office/drawing/2014/main" id="{89459573-68EE-4D71-A520-FB63DF45D2B5}"/>
              </a:ext>
            </a:extLst>
          </p:cNvPr>
          <p:cNvSpPr>
            <a:spLocks xmlns:a="http://schemas.openxmlformats.org/drawingml/2006/main" noGrp="1"/>
          </p:cNvSpPr>
          <p:nvPr/>
        </p:nvSpPr>
        <p:spPr>
          <a:xfrm xmlns:a="http://schemas.openxmlformats.org/drawingml/2006/main">
            <a:off x="3438525" y="5057775"/>
            <a:ext cx="2390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허용된 문맥으로 생성</a:t>
            </a:r>
          </a:p>
        </p:txBody>
      </p:sp>
      <p:sp>
        <p:nvSpPr>
          <p:cNvPr id="553" name="">
            <a:extLst xmlns:a="http://schemas.openxmlformats.org/drawingml/2006/main">
              <a:ext uri="{FF2B5EF4-FFF2-40B4-BE49-F238E27FC236}">
                <a16:creationId xmlns:a16="http://schemas.microsoft.com/office/drawing/2014/main" id="{0740AA8F-A5BD-48E2-ABA6-C7B0EA46A4FD}"/>
              </a:ext>
            </a:extLst>
          </p:cNvPr>
          <p:cNvSpPr>
            <a:spLocks xmlns:a="http://schemas.openxmlformats.org/drawingml/2006/main" noGrp="1"/>
          </p:cNvSpPr>
          <p:nvPr/>
        </p:nvSpPr>
        <p:spPr>
          <a:xfrm xmlns:a="http://schemas.openxmlformats.org/drawingml/2006/main">
            <a:off x="6200775" y="4391025"/>
            <a:ext cx="2676525" cy="1085850"/>
          </a:xfrm>
          <a:prstGeom xmlns:a="http://schemas.openxmlformats.org/drawingml/2006/main" prst="rect">
            <a:avLst/>
          </a:prstGeom>
          <a:solidFill xmlns:a="http://schemas.openxmlformats.org/drawingml/2006/main">
            <a:srgbClr val="F8FAFC"/>
          </a:solidFill>
          <a:ln xmlns:a="http://schemas.openxmlformats.org/drawingml/2006/main" w="9525">
            <a:solidFill>
              <a:srgbClr val="CBD1DD"/>
            </a:solidFill>
          </a:ln>
        </p:spPr>
      </p:sp>
      <p:sp>
        <p:nvSpPr>
          <p:cNvPr id="554" name="">
            <a:extLst xmlns:a="http://schemas.openxmlformats.org/drawingml/2006/main">
              <a:ext uri="{FF2B5EF4-FFF2-40B4-BE49-F238E27FC236}">
                <a16:creationId xmlns:a16="http://schemas.microsoft.com/office/drawing/2014/main" id="{3AFFA27A-2A5A-4FA3-8F45-BD9496C319D4}"/>
              </a:ext>
            </a:extLst>
          </p:cNvPr>
          <p:cNvSpPr>
            <a:spLocks xmlns:a="http://schemas.openxmlformats.org/drawingml/2006/main" noGrp="1"/>
          </p:cNvSpPr>
          <p:nvPr/>
        </p:nvSpPr>
        <p:spPr>
          <a:xfrm xmlns:a="http://schemas.openxmlformats.org/drawingml/2006/main">
            <a:off x="6343650" y="4591050"/>
            <a:ext cx="2390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3456BF"/>
                </a:solidFill>
                <a:latin typeface="Malgun Gothic"/>
                <a:ea typeface="Malgun Gothic"/>
                <a:cs typeface="Malgun Gothic"/>
              </a:defRPr>
            </a:pPr>
            <a:r>
              <a:rPr sz="1875" b="1">
                <a:solidFill>
                  <a:srgbClr val="3456BF"/>
                </a:solidFill>
                <a:latin typeface="Malgun Gothic"/>
                <a:ea typeface="Malgun Gothic"/>
                <a:cs typeface="Malgun Gothic"/>
              </a:rPr>
              <a:t>환각·규칙 검증</a:t>
            </a:r>
          </a:p>
        </p:txBody>
      </p:sp>
      <p:sp>
        <p:nvSpPr>
          <p:cNvPr id="555" name="">
            <a:extLst xmlns:a="http://schemas.openxmlformats.org/drawingml/2006/main">
              <a:ext uri="{FF2B5EF4-FFF2-40B4-BE49-F238E27FC236}">
                <a16:creationId xmlns:a16="http://schemas.microsoft.com/office/drawing/2014/main" id="{16802E77-5EC3-4E8E-8E22-BD8DAE9D1ABF}"/>
              </a:ext>
            </a:extLst>
          </p:cNvPr>
          <p:cNvSpPr>
            <a:spLocks xmlns:a="http://schemas.openxmlformats.org/drawingml/2006/main" noGrp="1"/>
          </p:cNvSpPr>
          <p:nvPr/>
        </p:nvSpPr>
        <p:spPr>
          <a:xfrm xmlns:a="http://schemas.openxmlformats.org/drawingml/2006/main">
            <a:off x="6343650" y="5057775"/>
            <a:ext cx="2390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문서 지지 · 숫자 대조</a:t>
            </a:r>
          </a:p>
        </p:txBody>
      </p:sp>
      <p:sp>
        <p:nvSpPr>
          <p:cNvPr id="556" name="">
            <a:extLst xmlns:a="http://schemas.openxmlformats.org/drawingml/2006/main">
              <a:ext uri="{FF2B5EF4-FFF2-40B4-BE49-F238E27FC236}">
                <a16:creationId xmlns:a16="http://schemas.microsoft.com/office/drawing/2014/main" id="{A56CA4B4-9E05-486A-9836-B2252F444E28}"/>
              </a:ext>
            </a:extLst>
          </p:cNvPr>
          <p:cNvSpPr>
            <a:spLocks xmlns:a="http://schemas.openxmlformats.org/drawingml/2006/main" noGrp="1"/>
          </p:cNvSpPr>
          <p:nvPr/>
        </p:nvSpPr>
        <p:spPr>
          <a:xfrm xmlns:a="http://schemas.openxmlformats.org/drawingml/2006/main">
            <a:off x="9105900" y="4391025"/>
            <a:ext cx="2676525" cy="1085850"/>
          </a:xfrm>
          <a:prstGeom xmlns:a="http://schemas.openxmlformats.org/drawingml/2006/main" prst="rect">
            <a:avLst/>
          </a:prstGeom>
          <a:solidFill xmlns:a="http://schemas.openxmlformats.org/drawingml/2006/main">
            <a:srgbClr val="F8FAFC"/>
          </a:solidFill>
          <a:ln xmlns:a="http://schemas.openxmlformats.org/drawingml/2006/main" w="9525">
            <a:solidFill>
              <a:srgbClr val="CBD1DD"/>
            </a:solidFill>
          </a:ln>
        </p:spPr>
      </p:sp>
      <p:sp>
        <p:nvSpPr>
          <p:cNvPr id="557" name="">
            <a:extLst xmlns:a="http://schemas.openxmlformats.org/drawingml/2006/main">
              <a:ext uri="{FF2B5EF4-FFF2-40B4-BE49-F238E27FC236}">
                <a16:creationId xmlns:a16="http://schemas.microsoft.com/office/drawing/2014/main" id="{00F5DAB1-9A22-4BCC-BAC3-7DC5E4E17735}"/>
              </a:ext>
            </a:extLst>
          </p:cNvPr>
          <p:cNvSpPr>
            <a:spLocks xmlns:a="http://schemas.openxmlformats.org/drawingml/2006/main" noGrp="1"/>
          </p:cNvSpPr>
          <p:nvPr/>
        </p:nvSpPr>
        <p:spPr>
          <a:xfrm xmlns:a="http://schemas.openxmlformats.org/drawingml/2006/main">
            <a:off x="9248775" y="4591050"/>
            <a:ext cx="2390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3456BF"/>
                </a:solidFill>
                <a:latin typeface="Malgun Gothic"/>
                <a:ea typeface="Malgun Gothic"/>
                <a:cs typeface="Malgun Gothic"/>
              </a:defRPr>
            </a:pPr>
            <a:r>
              <a:rPr sz="1875" b="1">
                <a:solidFill>
                  <a:srgbClr val="3456BF"/>
                </a:solidFill>
                <a:latin typeface="Malgun Gothic"/>
                <a:ea typeface="Malgun Gothic"/>
                <a:cs typeface="Malgun Gothic"/>
              </a:rPr>
              <a:t>ASTRA 원문 검토</a:t>
            </a:r>
          </a:p>
        </p:txBody>
      </p:sp>
      <p:sp>
        <p:nvSpPr>
          <p:cNvPr id="558" name="">
            <a:extLst xmlns:a="http://schemas.openxmlformats.org/drawingml/2006/main">
              <a:ext uri="{FF2B5EF4-FFF2-40B4-BE49-F238E27FC236}">
                <a16:creationId xmlns:a16="http://schemas.microsoft.com/office/drawing/2014/main" id="{07D5442A-F535-4313-B62B-D4845F677A5E}"/>
              </a:ext>
            </a:extLst>
          </p:cNvPr>
          <p:cNvSpPr>
            <a:spLocks xmlns:a="http://schemas.openxmlformats.org/drawingml/2006/main" noGrp="1"/>
          </p:cNvSpPr>
          <p:nvPr/>
        </p:nvSpPr>
        <p:spPr>
          <a:xfrm xmlns:a="http://schemas.openxmlformats.org/drawingml/2006/main">
            <a:off x="9248775" y="5057775"/>
            <a:ext cx="2390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근거 · 의심 구간 표시</a:t>
            </a:r>
          </a:p>
        </p:txBody>
      </p:sp>
      <p:cxnSp>
        <p:nvCxnSpPr>
          <p:cNvPr id="592" name=""/>
          <p:cNvCxnSpPr>
            <a:stCxn xmlns:a="http://schemas.openxmlformats.org/drawingml/2006/main" id="547" idx="3"/>
            <a:endCxn xmlns:a="http://schemas.openxmlformats.org/drawingml/2006/main" id="550" idx="1"/>
          </p:cNvCxnSpPr>
          <p:nvPr/>
        </p:nvCxnSpPr>
        <p:spPr>
          <a:xfrm xmlns:a="http://schemas.openxmlformats.org/drawingml/2006/main">
            <a:off x="3067050" y="4933950"/>
            <a:ext cx="228600" cy="0"/>
          </a:xfrm>
          <a:prstGeom xmlns:a="http://schemas.openxmlformats.org/drawingml/2006/main" prst="straightConnector1">
            <a:avLst/>
          </a:prstGeom>
          <a:ln xmlns:a="http://schemas.openxmlformats.org/drawingml/2006/main" w="19050">
            <a:solidFill>
              <a:srgbClr val="3456BF"/>
            </a:solidFill>
            <a:tailEnd type="triangle" w="sm" len="sm"/>
          </a:ln>
        </p:spPr>
      </p:cxnSp>
      <p:cxnSp>
        <p:nvCxnSpPr>
          <p:cNvPr id="593" name=""/>
          <p:cNvCxnSpPr>
            <a:stCxn xmlns:a="http://schemas.openxmlformats.org/drawingml/2006/main" id="550" idx="3"/>
            <a:endCxn xmlns:a="http://schemas.openxmlformats.org/drawingml/2006/main" id="553" idx="1"/>
          </p:cNvCxnSpPr>
          <p:nvPr/>
        </p:nvCxnSpPr>
        <p:spPr>
          <a:xfrm xmlns:a="http://schemas.openxmlformats.org/drawingml/2006/main">
            <a:off x="5972175" y="4933950"/>
            <a:ext cx="228600" cy="0"/>
          </a:xfrm>
          <a:prstGeom xmlns:a="http://schemas.openxmlformats.org/drawingml/2006/main" prst="straightConnector1">
            <a:avLst/>
          </a:prstGeom>
          <a:ln xmlns:a="http://schemas.openxmlformats.org/drawingml/2006/main" w="19050">
            <a:solidFill>
              <a:srgbClr val="3456BF"/>
            </a:solidFill>
            <a:tailEnd type="triangle" w="sm" len="sm"/>
          </a:ln>
        </p:spPr>
      </p:cxnSp>
      <p:cxnSp>
        <p:nvCxnSpPr>
          <p:cNvPr id="594" name=""/>
          <p:cNvCxnSpPr>
            <a:stCxn xmlns:a="http://schemas.openxmlformats.org/drawingml/2006/main" id="553" idx="3"/>
            <a:endCxn xmlns:a="http://schemas.openxmlformats.org/drawingml/2006/main" id="556" idx="1"/>
          </p:cNvCxnSpPr>
          <p:nvPr/>
        </p:nvCxnSpPr>
        <p:spPr>
          <a:xfrm xmlns:a="http://schemas.openxmlformats.org/drawingml/2006/main">
            <a:off x="8877300" y="4933950"/>
            <a:ext cx="228600" cy="0"/>
          </a:xfrm>
          <a:prstGeom xmlns:a="http://schemas.openxmlformats.org/drawingml/2006/main" prst="straightConnector1">
            <a:avLst/>
          </a:prstGeom>
          <a:ln xmlns:a="http://schemas.openxmlformats.org/drawingml/2006/main" w="19050">
            <a:solidFill>
              <a:srgbClr val="3456BF"/>
            </a:solidFill>
            <a:tailEnd type="triangle" w="sm" len="sm"/>
          </a:ln>
        </p:spPr>
      </p:cxnSp>
      <p:sp>
        <p:nvSpPr>
          <p:cNvPr id="562" name="">
            <a:extLst xmlns:a="http://schemas.openxmlformats.org/drawingml/2006/main">
              <a:ext uri="{FF2B5EF4-FFF2-40B4-BE49-F238E27FC236}">
                <a16:creationId xmlns:a16="http://schemas.microsoft.com/office/drawing/2014/main" id="{278D1661-A06B-4B48-9EA1-0C77069E5505}"/>
              </a:ext>
            </a:extLst>
          </p:cNvPr>
          <p:cNvSpPr>
            <a:spLocks xmlns:a="http://schemas.openxmlformats.org/drawingml/2006/main" noGrp="1"/>
          </p:cNvSpPr>
          <p:nvPr/>
        </p:nvSpPr>
        <p:spPr>
          <a:xfrm xmlns:a="http://schemas.openxmlformats.org/drawingml/2006/main">
            <a:off x="390525" y="5829300"/>
            <a:ext cx="1133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61C2C"/>
                </a:solidFill>
                <a:latin typeface="Malgun Gothic"/>
                <a:ea typeface="Malgun Gothic"/>
                <a:cs typeface="Malgun Gothic"/>
              </a:defRPr>
            </a:pPr>
            <a:r>
              <a:rPr sz="1800" b="0">
                <a:solidFill>
                  <a:srgbClr val="161C2C"/>
                </a:solidFill>
                <a:latin typeface="Malgun Gothic"/>
                <a:ea typeface="Malgun Gothic"/>
                <a:cs typeface="Malgun Gothic"/>
              </a:rPr>
              <a:t>검색 자료: 공고 원문 + 합성 기업 L2/L3    /    질문·정답표: 검색 DB와 분리</a:t>
            </a:r>
          </a:p>
        </p:txBody>
      </p:sp>
      <p:sp>
        <p:nvSpPr>
          <p:cNvPr id="563" name="">
            <a:extLst xmlns:a="http://schemas.openxmlformats.org/drawingml/2006/main">
              <a:ext uri="{FF2B5EF4-FFF2-40B4-BE49-F238E27FC236}">
                <a16:creationId xmlns:a16="http://schemas.microsoft.com/office/drawing/2014/main" id="{7AA7DB18-3334-4A72-9C66-AEF84E1BD07F}"/>
              </a:ext>
            </a:extLst>
          </p:cNvPr>
          <p:cNvSpPr>
            <a:spLocks xmlns:a="http://schemas.openxmlformats.org/drawingml/2006/main" noGrp="1"/>
          </p:cNvSpPr>
          <p:nvPr/>
        </p:nvSpPr>
        <p:spPr>
          <a:xfrm xmlns:a="http://schemas.openxmlformats.org/drawingml/2006/main">
            <a:off x="390525" y="641985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B6476"/>
                </a:solidFill>
                <a:latin typeface="Malgun Gothic"/>
                <a:ea typeface="Malgun Gothic"/>
                <a:cs typeface="Malgun Gothic"/>
              </a:defRPr>
            </a:pPr>
            <a:r>
              <a:rPr sz="1125" b="0">
                <a:solidFill>
                  <a:srgbClr val="5B6476"/>
                </a:solidFill>
                <a:latin typeface="Malgun Gothic"/>
                <a:ea typeface="Malgun Gothic"/>
                <a:cs typeface="Malgun Gothic"/>
              </a:rPr>
              <a:t>L1 공개 · L2 내부 · L3 민감은 사내 문서 분류 예시 · 국가 비밀취급인가와 구분</a:t>
            </a:r>
          </a:p>
        </p:txBody>
      </p:sp>
    </p:spTree>
    <p:extLst>
      <p:ext uri="{BB962C8B-B14F-4D97-AF65-F5344CB8AC3E}">
        <p14:creationId xmlns:p14="http://schemas.microsoft.com/office/powerpoint/2010/main" val="54622172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4</a:t>
            </a: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4~6월 공고 수집·파싱·변환 단계를 마쳤다</a:t>
            </a:r>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0525" y="1257300"/>
            <a:ext cx="11401425" cy="6096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875" b="0">
                <a:solidFill>
                  <a:srgbClr val="5B6476"/>
                </a:solidFill>
                <a:latin typeface="Malgun Gothic"/>
                <a:ea typeface="Malgun Gothic"/>
                <a:cs typeface="Malgun Gothic"/>
              </a:defRPr>
            </a:pPr>
            <a:r>
              <a:rPr sz="1875" b="0">
                <a:solidFill>
                  <a:srgbClr val="5B6476"/>
                </a:solidFill>
                <a:latin typeface="Malgun Gothic"/>
                <a:ea typeface="Malgun Gothic"/>
                <a:cs typeface="Malgun Gothic"/>
              </a:rPr>
              <a:t>원본과 파싱 텍스트를 보관하고, 어댑터 입력과 월별 집계까지 연결</a:t>
            </a:r>
          </a:p>
        </p:txBody>
      </p:sp>
      <p:sp>
        <p:nvSpPr>
          <p:cNvPr id="534" name="">
            <a:extLst xmlns:a="http://schemas.openxmlformats.org/drawingml/2006/main">
              <a:ext uri="{FF2B5EF4-FFF2-40B4-BE49-F238E27FC236}">
                <a16:creationId xmlns:a16="http://schemas.microsoft.com/office/drawing/2014/main" id="{87A865EB-8C3E-468D-BC5A-0FFC4397E157}"/>
              </a:ext>
            </a:extLst>
          </p:cNvPr>
          <p:cNvSpPr>
            <a:spLocks xmlns:a="http://schemas.openxmlformats.org/drawingml/2006/main" noGrp="1"/>
          </p:cNvSpPr>
          <p:nvPr/>
        </p:nvSpPr>
        <p:spPr>
          <a:xfrm xmlns:a="http://schemas.openxmlformats.org/drawingml/2006/main">
            <a:off x="390525" y="2028825"/>
            <a:ext cx="5905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700" b="1">
                <a:solidFill>
                  <a:srgbClr val="3456BF"/>
                </a:solidFill>
                <a:latin typeface="Malgun Gothic"/>
                <a:ea typeface="Malgun Gothic"/>
                <a:cs typeface="Malgun Gothic"/>
              </a:defRPr>
            </a:pPr>
            <a:r>
              <a:rPr sz="5700" b="1">
                <a:solidFill>
                  <a:srgbClr val="3456BF"/>
                </a:solidFill>
                <a:latin typeface="Malgun Gothic"/>
                <a:ea typeface="Malgun Gothic"/>
                <a:cs typeface="Malgun Gothic"/>
              </a:rPr>
              <a:t>137,745</a:t>
            </a:r>
          </a:p>
        </p:txBody>
      </p:sp>
      <p:sp>
        <p:nvSpPr>
          <p:cNvPr id="535" name="">
            <a:extLst xmlns:a="http://schemas.openxmlformats.org/drawingml/2006/main">
              <a:ext uri="{FF2B5EF4-FFF2-40B4-BE49-F238E27FC236}">
                <a16:creationId xmlns:a16="http://schemas.microsoft.com/office/drawing/2014/main" id="{70034816-A7FC-46B4-994C-88A69B08EE32}"/>
              </a:ext>
            </a:extLst>
          </p:cNvPr>
          <p:cNvSpPr>
            <a:spLocks xmlns:a="http://schemas.openxmlformats.org/drawingml/2006/main" noGrp="1"/>
          </p:cNvSpPr>
          <p:nvPr/>
        </p:nvSpPr>
        <p:spPr>
          <a:xfrm xmlns:a="http://schemas.openxmlformats.org/drawingml/2006/main">
            <a:off x="390525" y="3076575"/>
            <a:ext cx="609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61C2C"/>
                </a:solidFill>
                <a:latin typeface="Malgun Gothic"/>
                <a:ea typeface="Malgun Gothic"/>
                <a:cs typeface="Malgun Gothic"/>
              </a:defRPr>
            </a:pPr>
            <a:r>
              <a:rPr sz="1950" b="0">
                <a:solidFill>
                  <a:srgbClr val="161C2C"/>
                </a:solidFill>
                <a:latin typeface="Malgun Gothic"/>
                <a:ea typeface="Malgun Gothic"/>
                <a:cs typeface="Malgun Gothic"/>
              </a:rPr>
              <a:t>수집 공고 행 · 차수 포함</a:t>
            </a:r>
          </a:p>
        </p:txBody>
      </p:sp>
      <p:graphicFrame>
        <p:nvGraphicFramePr>
          <p:cNvPr id="548" name=""/>
          <p:cNvGraphicFramePr/>
          <p:nvPr/>
        </p:nvGraphicFramePr>
        <p:xfrm>
          <a:off xmlns:a="http://schemas.openxmlformats.org/drawingml/2006/main" x="390525" y="3810000"/>
          <a:ext xmlns:a="http://schemas.openxmlformats.org/drawingml/2006/main" cx="6410325" cy="2171700"/>
        </p:xfrm>
        <a:graphic xmlns:a="http://schemas.openxmlformats.org/drawingml/2006/main">
          <a:graphicData uri="http://schemas.openxmlformats.org/drawingml/2006/table">
            <a:tbl>
              <a:tblPr/>
              <a:tblGrid>
                <a:gridCol w="1838325"/>
                <a:gridCol w="2286000"/>
                <a:gridCol w="2286000"/>
              </a:tblGrid>
              <a:tr h="514350">
                <a:tc>
                  <a:txBody>
                    <a:bodyPr/>
                    <a:lstStyle/>
                    <a:p>
                      <a:r>
                        <a:rPr sz="1725" b="1">
                          <a:solidFill>
                            <a:srgbClr val="3456BF"/>
                          </a:solidFill>
                          <a:latin typeface="Malgun Gothic"/>
                          <a:ea typeface="Malgun Gothic"/>
                          <a:cs typeface="Malgun Gothic"/>
                        </a:rPr>
                        <a:t>수집 월</a:t>
                      </a:r>
                    </a:p>
                  </a:txBody>
                  <a:tcPr marL="95250" marR="95250" marT="95250" marB="85725" anchor="ctr">
                    <a:solidFill>
                      <a:srgbClr val="E8EDF9"/>
                    </a:solidFill>
                  </a:tcPr>
                </a:tc>
                <a:tc>
                  <a:txBody>
                    <a:bodyPr/>
                    <a:lstStyle/>
                    <a:p>
                      <a:r>
                        <a:rPr sz="1725" b="1">
                          <a:solidFill>
                            <a:srgbClr val="3456BF"/>
                          </a:solidFill>
                          <a:latin typeface="Malgun Gothic"/>
                          <a:ea typeface="Malgun Gothic"/>
                          <a:cs typeface="Malgun Gothic"/>
                        </a:rPr>
                        <a:t>공고 행</a:t>
                      </a:r>
                    </a:p>
                  </a:txBody>
                  <a:tcPr marL="95250" marR="95250" marT="95250" marB="85725" anchor="ctr">
                    <a:solidFill>
                      <a:srgbClr val="E8EDF9"/>
                    </a:solidFill>
                  </a:tcPr>
                </a:tc>
                <a:tc>
                  <a:txBody>
                    <a:bodyPr/>
                    <a:lstStyle/>
                    <a:p>
                      <a:r>
                        <a:rPr sz="1725" b="1">
                          <a:solidFill>
                            <a:srgbClr val="3456BF"/>
                          </a:solidFill>
                          <a:latin typeface="Malgun Gothic"/>
                          <a:ea typeface="Malgun Gothic"/>
                          <a:cs typeface="Malgun Gothic"/>
                        </a:rPr>
                        <a:t>최신 차수</a:t>
                      </a:r>
                    </a:p>
                  </a:txBody>
                  <a:tcPr marL="95250" marR="95250" marT="95250" marB="85725" anchor="ctr">
                    <a:solidFill>
                      <a:srgbClr val="E8EDF9"/>
                    </a:solidFill>
                  </a:tcPr>
                </a:tc>
              </a:tr>
              <a:tr h="0">
                <a:tc>
                  <a:txBody>
                    <a:bodyPr/>
                    <a:lstStyle/>
                    <a:p>
                      <a:r>
                        <a:rPr sz="1725">
                          <a:solidFill>
                            <a:srgbClr val="161C2C"/>
                          </a:solidFill>
                          <a:latin typeface="Malgun Gothic"/>
                          <a:ea typeface="Malgun Gothic"/>
                          <a:cs typeface="Malgun Gothic"/>
                        </a:rPr>
                        <a:t>4월</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53,153</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48,033</a:t>
                      </a:r>
                    </a:p>
                  </a:txBody>
                  <a:tcPr marL="95250" marR="95250" marT="95250" marB="85725" anchor="ctr">
                    <a:solidFill>
                      <a:srgbClr val="F8FAFC"/>
                    </a:solidFill>
                  </a:tcPr>
                </a:tc>
              </a:tr>
              <a:tr h="0">
                <a:tc>
                  <a:txBody>
                    <a:bodyPr/>
                    <a:lstStyle/>
                    <a:p>
                      <a:r>
                        <a:rPr sz="1725">
                          <a:solidFill>
                            <a:srgbClr val="161C2C"/>
                          </a:solidFill>
                          <a:latin typeface="Malgun Gothic"/>
                          <a:ea typeface="Malgun Gothic"/>
                          <a:cs typeface="Malgun Gothic"/>
                        </a:rPr>
                        <a:t>5월</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40,241</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36,419</a:t>
                      </a:r>
                    </a:p>
                  </a:txBody>
                  <a:tcPr marL="95250" marR="95250" marT="95250" marB="85725" anchor="ctr">
                    <a:solidFill>
                      <a:srgbClr val="F8FAFC"/>
                    </a:solidFill>
                  </a:tcPr>
                </a:tc>
              </a:tr>
              <a:tr h="0">
                <a:tc>
                  <a:txBody>
                    <a:bodyPr/>
                    <a:lstStyle/>
                    <a:p>
                      <a:r>
                        <a:rPr sz="1725">
                          <a:solidFill>
                            <a:srgbClr val="161C2C"/>
                          </a:solidFill>
                          <a:latin typeface="Malgun Gothic"/>
                          <a:ea typeface="Malgun Gothic"/>
                          <a:cs typeface="Malgun Gothic"/>
                        </a:rPr>
                        <a:t>6월</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44,351</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40,070</a:t>
                      </a:r>
                    </a:p>
                  </a:txBody>
                  <a:tcPr marL="95250" marR="95250" marT="95250" marB="85725" anchor="ctr">
                    <a:solidFill>
                      <a:srgbClr val="F8FAFC"/>
                    </a:solidFill>
                  </a:tcPr>
                </a:tc>
              </a:tr>
              <a:tr h="0">
                <a:tc>
                  <a:txBody>
                    <a:bodyPr/>
                    <a:lstStyle/>
                    <a:p>
                      <a:r>
                        <a:rPr sz="1725">
                          <a:solidFill>
                            <a:srgbClr val="161C2C"/>
                          </a:solidFill>
                          <a:latin typeface="Malgun Gothic"/>
                          <a:ea typeface="Malgun Gothic"/>
                          <a:cs typeface="Malgun Gothic"/>
                        </a:rPr>
                        <a:t>합계</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137,745</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124,522</a:t>
                      </a:r>
                    </a:p>
                  </a:txBody>
                  <a:tcPr marL="95250" marR="95250" marT="95250" marB="85725" anchor="ctr">
                    <a:solidFill>
                      <a:srgbClr val="F8FAFC"/>
                    </a:solidFill>
                  </a:tcPr>
                </a:tc>
              </a:tr>
            </a:tbl>
          </a:graphicData>
        </a:graphic>
      </p:graphicFrame>
      <p:sp>
        <p:nvSpPr>
          <p:cNvPr id="537" name="">
            <a:extLst xmlns:a="http://schemas.openxmlformats.org/drawingml/2006/main">
              <a:ext uri="{FF2B5EF4-FFF2-40B4-BE49-F238E27FC236}">
                <a16:creationId xmlns:a16="http://schemas.microsoft.com/office/drawing/2014/main" id="{23F3C399-9BAC-4309-B49A-2628FAA27F41}"/>
              </a:ext>
            </a:extLst>
          </p:cNvPr>
          <p:cNvSpPr>
            <a:spLocks xmlns:a="http://schemas.openxmlformats.org/drawingml/2006/main" noGrp="1"/>
          </p:cNvSpPr>
          <p:nvPr/>
        </p:nvSpPr>
        <p:spPr>
          <a:xfrm xmlns:a="http://schemas.openxmlformats.org/drawingml/2006/main">
            <a:off x="7562850" y="2238375"/>
            <a:ext cx="4229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1">
                <a:solidFill>
                  <a:srgbClr val="3456BF"/>
                </a:solidFill>
                <a:latin typeface="Malgun Gothic"/>
                <a:ea typeface="Malgun Gothic"/>
                <a:cs typeface="Malgun Gothic"/>
              </a:defRPr>
            </a:pPr>
            <a:r>
              <a:rPr sz="2925" b="1">
                <a:solidFill>
                  <a:srgbClr val="3456BF"/>
                </a:solidFill>
                <a:latin typeface="Malgun Gothic"/>
                <a:ea typeface="Malgun Gothic"/>
                <a:cs typeface="Malgun Gothic"/>
              </a:rPr>
              <a:t>124,522건</a:t>
            </a:r>
          </a:p>
        </p:txBody>
      </p:sp>
      <p:sp>
        <p:nvSpPr>
          <p:cNvPr id="538" name="">
            <a:extLst xmlns:a="http://schemas.openxmlformats.org/drawingml/2006/main">
              <a:ext uri="{FF2B5EF4-FFF2-40B4-BE49-F238E27FC236}">
                <a16:creationId xmlns:a16="http://schemas.microsoft.com/office/drawing/2014/main" id="{314E7117-30F8-4F52-ABDD-A856CC82C104}"/>
              </a:ext>
            </a:extLst>
          </p:cNvPr>
          <p:cNvSpPr>
            <a:spLocks xmlns:a="http://schemas.openxmlformats.org/drawingml/2006/main" noGrp="1"/>
          </p:cNvSpPr>
          <p:nvPr/>
        </p:nvSpPr>
        <p:spPr>
          <a:xfrm xmlns:a="http://schemas.openxmlformats.org/drawingml/2006/main">
            <a:off x="7562850" y="2876550"/>
            <a:ext cx="42291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61C2C"/>
                </a:solidFill>
                <a:latin typeface="Malgun Gothic"/>
                <a:ea typeface="Malgun Gothic"/>
                <a:cs typeface="Malgun Gothic"/>
              </a:defRPr>
            </a:pPr>
            <a:r>
              <a:rPr sz="1875" b="0">
                <a:solidFill>
                  <a:srgbClr val="161C2C"/>
                </a:solidFill>
                <a:latin typeface="Malgun Gothic"/>
                <a:ea typeface="Malgun Gothic"/>
                <a:cs typeface="Malgun Gothic"/>
              </a:rPr>
              <a:t>최신 차수 기준 공고</a:t>
            </a:r>
          </a:p>
        </p:txBody>
      </p:sp>
      <p:sp>
        <p:nvSpPr>
          <p:cNvPr id="539" name="">
            <a:extLst xmlns:a="http://schemas.openxmlformats.org/drawingml/2006/main">
              <a:ext uri="{FF2B5EF4-FFF2-40B4-BE49-F238E27FC236}">
                <a16:creationId xmlns:a16="http://schemas.microsoft.com/office/drawing/2014/main" id="{075E9531-9E51-45A2-A02A-CAD9704CA333}"/>
              </a:ext>
            </a:extLst>
          </p:cNvPr>
          <p:cNvSpPr>
            <a:spLocks xmlns:a="http://schemas.openxmlformats.org/drawingml/2006/main" noGrp="1"/>
          </p:cNvSpPr>
          <p:nvPr/>
        </p:nvSpPr>
        <p:spPr>
          <a:xfrm xmlns:a="http://schemas.openxmlformats.org/drawingml/2006/main">
            <a:off x="7562850" y="3648075"/>
            <a:ext cx="4229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1">
                <a:solidFill>
                  <a:srgbClr val="3456BF"/>
                </a:solidFill>
                <a:latin typeface="Malgun Gothic"/>
                <a:ea typeface="Malgun Gothic"/>
                <a:cs typeface="Malgun Gothic"/>
              </a:defRPr>
            </a:pPr>
            <a:r>
              <a:rPr sz="2925" b="1">
                <a:solidFill>
                  <a:srgbClr val="3456BF"/>
                </a:solidFill>
                <a:latin typeface="Malgun Gothic"/>
                <a:ea typeface="Malgun Gothic"/>
                <a:cs typeface="Malgun Gothic"/>
              </a:rPr>
              <a:t>246,797개</a:t>
            </a:r>
          </a:p>
        </p:txBody>
      </p:sp>
      <p:sp>
        <p:nvSpPr>
          <p:cNvPr id="540" name="">
            <a:extLst xmlns:a="http://schemas.openxmlformats.org/drawingml/2006/main">
              <a:ext uri="{FF2B5EF4-FFF2-40B4-BE49-F238E27FC236}">
                <a16:creationId xmlns:a16="http://schemas.microsoft.com/office/drawing/2014/main" id="{51E0D189-ADD4-411A-A0F0-290EBD8B05C1}"/>
              </a:ext>
            </a:extLst>
          </p:cNvPr>
          <p:cNvSpPr>
            <a:spLocks xmlns:a="http://schemas.openxmlformats.org/drawingml/2006/main" noGrp="1"/>
          </p:cNvSpPr>
          <p:nvPr/>
        </p:nvSpPr>
        <p:spPr>
          <a:xfrm xmlns:a="http://schemas.openxmlformats.org/drawingml/2006/main">
            <a:off x="7562850" y="4305300"/>
            <a:ext cx="42291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61C2C"/>
                </a:solidFill>
                <a:latin typeface="Malgun Gothic"/>
                <a:ea typeface="Malgun Gothic"/>
                <a:cs typeface="Malgun Gothic"/>
              </a:defRPr>
            </a:pPr>
            <a:r>
              <a:rPr sz="1875" b="0">
                <a:solidFill>
                  <a:srgbClr val="161C2C"/>
                </a:solidFill>
                <a:latin typeface="Malgun Gothic"/>
                <a:ea typeface="Malgun Gothic"/>
                <a:cs typeface="Malgun Gothic"/>
              </a:rPr>
              <a:t>사용 가능한 첨부</a:t>
            </a:r>
          </a:p>
          <a:p xmlns:a="http://schemas.openxmlformats.org/drawingml/2006/main">
            <a:pPr>
              <a:defRPr sz="1875" b="0">
                <a:solidFill>
                  <a:srgbClr val="161C2C"/>
                </a:solidFill>
                <a:latin typeface="Malgun Gothic"/>
                <a:ea typeface="Malgun Gothic"/>
                <a:cs typeface="Malgun Gothic"/>
              </a:defRPr>
            </a:pPr>
            <a:r>
              <a:rPr sz="1875" b="0">
                <a:solidFill>
                  <a:srgbClr val="161C2C"/>
                </a:solidFill>
                <a:latin typeface="Malgun Gothic"/>
                <a:ea typeface="Malgun Gothic"/>
                <a:cs typeface="Malgun Gothic"/>
              </a:rPr>
              <a:t>전체 집계 285,252개 중</a:t>
            </a:r>
          </a:p>
        </p:txBody>
      </p:sp>
      <p:sp>
        <p:nvSpPr>
          <p:cNvPr id="541" name="">
            <a:extLst xmlns:a="http://schemas.openxmlformats.org/drawingml/2006/main">
              <a:ext uri="{FF2B5EF4-FFF2-40B4-BE49-F238E27FC236}">
                <a16:creationId xmlns:a16="http://schemas.microsoft.com/office/drawing/2014/main" id="{8A6C712F-2851-4606-8650-D7E8CA011A84}"/>
              </a:ext>
            </a:extLst>
          </p:cNvPr>
          <p:cNvSpPr>
            <a:spLocks xmlns:a="http://schemas.openxmlformats.org/drawingml/2006/main" noGrp="1"/>
          </p:cNvSpPr>
          <p:nvPr/>
        </p:nvSpPr>
        <p:spPr>
          <a:xfrm xmlns:a="http://schemas.openxmlformats.org/drawingml/2006/main">
            <a:off x="7562850" y="5372100"/>
            <a:ext cx="4229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B6476"/>
                </a:solidFill>
                <a:latin typeface="Malgun Gothic"/>
                <a:ea typeface="Malgun Gothic"/>
                <a:cs typeface="Malgun Gothic"/>
              </a:defRPr>
            </a:pPr>
            <a:r>
              <a:rPr sz="1650" b="0">
                <a:solidFill>
                  <a:srgbClr val="5B6476"/>
                </a:solidFill>
                <a:latin typeface="Malgun Gothic"/>
                <a:ea typeface="Malgun Gothic"/>
                <a:cs typeface="Malgun Gothic"/>
              </a:rPr>
              <a:t>파싱 처리 완료와 별개로</a:t>
            </a:r>
          </a:p>
          <a:p xmlns:a="http://schemas.openxmlformats.org/drawingml/2006/main">
            <a:pPr>
              <a:defRPr sz="1650" b="0">
                <a:solidFill>
                  <a:srgbClr val="5B6476"/>
                </a:solidFill>
                <a:latin typeface="Malgun Gothic"/>
                <a:ea typeface="Malgun Gothic"/>
                <a:cs typeface="Malgun Gothic"/>
              </a:defRPr>
            </a:pPr>
            <a:r>
              <a:rPr sz="1650" b="0">
                <a:solidFill>
                  <a:srgbClr val="5B6476"/>
                </a:solidFill>
                <a:latin typeface="Malgun Gothic"/>
                <a:ea typeface="Malgun Gothic"/>
                <a:cs typeface="Malgun Gothic"/>
              </a:rPr>
              <a:t>실패·품질 미달 자료는 구분 관리</a:t>
            </a:r>
          </a:p>
        </p:txBody>
      </p:sp>
      <p:sp>
        <p:nvSpPr>
          <p:cNvPr id="542" name="">
            <a:extLst xmlns:a="http://schemas.openxmlformats.org/drawingml/2006/main">
              <a:ext uri="{FF2B5EF4-FFF2-40B4-BE49-F238E27FC236}">
                <a16:creationId xmlns:a16="http://schemas.microsoft.com/office/drawing/2014/main" id="{B98FFFBA-ACE2-4D87-82FF-34D4F2F680CE}"/>
              </a:ext>
            </a:extLst>
          </p:cNvPr>
          <p:cNvSpPr>
            <a:spLocks xmlns:a="http://schemas.openxmlformats.org/drawingml/2006/main" noGrp="1"/>
          </p:cNvSpPr>
          <p:nvPr/>
        </p:nvSpPr>
        <p:spPr>
          <a:xfrm xmlns:a="http://schemas.openxmlformats.org/drawingml/2006/main">
            <a:off x="390525" y="641985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B6476"/>
                </a:solidFill>
                <a:latin typeface="Malgun Gothic"/>
                <a:ea typeface="Malgun Gothic"/>
                <a:cs typeface="Malgun Gothic"/>
              </a:defRPr>
            </a:pPr>
            <a:r>
              <a:rPr sz="1125" b="0">
                <a:solidFill>
                  <a:srgbClr val="5B6476"/>
                </a:solidFill>
                <a:latin typeface="Malgun Gothic"/>
                <a:ea typeface="Malgun Gothic"/>
                <a:cs typeface="Malgun Gothic"/>
              </a:rPr>
              <a:t>근거: 4·5·6월 워크스테이션 adapt_report.json · 모든 첨부가 정상 파싱됐다는 의미는 아님</a:t>
            </a:r>
          </a:p>
        </p:txBody>
      </p:sp>
    </p:spTree>
    <p:extLst>
      <p:ext uri="{BB962C8B-B14F-4D97-AF65-F5344CB8AC3E}">
        <p14:creationId xmlns:p14="http://schemas.microsoft.com/office/powerpoint/2010/main" val="54622172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5</a:t>
            </a: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주요 분야는 정보시스템 구축·운영으로 선정</a:t>
            </a:r>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0525" y="1257300"/>
            <a:ext cx="11401425" cy="6096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875" b="0">
                <a:solidFill>
                  <a:srgbClr val="5B6476"/>
                </a:solidFill>
                <a:latin typeface="Malgun Gothic"/>
                <a:ea typeface="Malgun Gothic"/>
                <a:cs typeface="Malgun Gothic"/>
              </a:defRPr>
            </a:pPr>
            <a:r>
              <a:rPr sz="1875" b="0">
                <a:solidFill>
                  <a:srgbClr val="5B6476"/>
                </a:solidFill>
                <a:latin typeface="Malgun Gothic"/>
                <a:ea typeface="Malgun Gothic"/>
                <a:cs typeface="Malgun Gothic"/>
              </a:rPr>
              <a:t>분야별 문서 가용성을 집계한 뒤, 입찰 조건 대조에 적합한 업무를 선택</a:t>
            </a:r>
          </a:p>
        </p:txBody>
      </p:sp>
      <p:sp>
        <p:nvSpPr>
          <p:cNvPr id="534" name="">
            <a:extLst xmlns:a="http://schemas.openxmlformats.org/drawingml/2006/main">
              <a:ext uri="{FF2B5EF4-FFF2-40B4-BE49-F238E27FC236}">
                <a16:creationId xmlns:a16="http://schemas.microsoft.com/office/drawing/2014/main" id="{64770D09-8F7F-4F16-A171-D21A9D8DC3E3}"/>
              </a:ext>
            </a:extLst>
          </p:cNvPr>
          <p:cNvSpPr>
            <a:spLocks xmlns:a="http://schemas.openxmlformats.org/drawingml/2006/main" noGrp="1"/>
          </p:cNvSpPr>
          <p:nvPr/>
        </p:nvSpPr>
        <p:spPr>
          <a:xfrm xmlns:a="http://schemas.openxmlformats.org/drawingml/2006/main">
            <a:off x="390525" y="2247900"/>
            <a:ext cx="1133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1">
                <a:solidFill>
                  <a:srgbClr val="3456BF"/>
                </a:solidFill>
                <a:latin typeface="Malgun Gothic"/>
                <a:ea typeface="Malgun Gothic"/>
                <a:cs typeface="Malgun Gothic"/>
              </a:defRPr>
            </a:pPr>
            <a:r>
              <a:rPr sz="2925" b="1">
                <a:solidFill>
                  <a:srgbClr val="3456BF"/>
                </a:solidFill>
                <a:latin typeface="Malgun Gothic"/>
                <a:ea typeface="Malgun Gothic"/>
                <a:cs typeface="Malgun Gothic"/>
              </a:rPr>
              <a:t>정보시스템 구축·운영</a:t>
            </a:r>
          </a:p>
        </p:txBody>
      </p:sp>
      <p:graphicFrame>
        <p:nvGraphicFramePr>
          <p:cNvPr id="544" name=""/>
          <p:cNvGraphicFramePr/>
          <p:nvPr/>
        </p:nvGraphicFramePr>
        <p:xfrm>
          <a:off xmlns:a="http://schemas.openxmlformats.org/drawingml/2006/main" x="390525" y="3209925"/>
          <a:ext xmlns:a="http://schemas.openxmlformats.org/drawingml/2006/main" cx="6591300" cy="2295525"/>
        </p:xfrm>
        <a:graphic xmlns:a="http://schemas.openxmlformats.org/drawingml/2006/main">
          <a:graphicData uri="http://schemas.openxmlformats.org/drawingml/2006/table">
            <a:tbl>
              <a:tblPr/>
              <a:tblGrid>
                <a:gridCol w="3162300"/>
                <a:gridCol w="1714500"/>
                <a:gridCol w="1714500"/>
              </a:tblGrid>
              <a:tr h="514350">
                <a:tc>
                  <a:txBody>
                    <a:bodyPr/>
                    <a:lstStyle/>
                    <a:p>
                      <a:r>
                        <a:rPr sz="1800" b="1">
                          <a:solidFill>
                            <a:srgbClr val="3456BF"/>
                          </a:solidFill>
                          <a:latin typeface="Malgun Gothic"/>
                          <a:ea typeface="Malgun Gothic"/>
                          <a:cs typeface="Malgun Gothic"/>
                        </a:rPr>
                        <a:t>타깃 분야</a:t>
                      </a:r>
                    </a:p>
                  </a:txBody>
                  <a:tcPr marL="95250" marR="95250" marT="95250" marB="85725" anchor="ctr">
                    <a:solidFill>
                      <a:srgbClr val="E8EDF9"/>
                    </a:solidFill>
                  </a:tcPr>
                </a:tc>
                <a:tc>
                  <a:txBody>
                    <a:bodyPr/>
                    <a:lstStyle/>
                    <a:p>
                      <a:r>
                        <a:rPr sz="1800" b="1">
                          <a:solidFill>
                            <a:srgbClr val="3456BF"/>
                          </a:solidFill>
                          <a:latin typeface="Malgun Gothic"/>
                          <a:ea typeface="Malgun Gothic"/>
                          <a:cs typeface="Malgun Gothic"/>
                        </a:rPr>
                        <a:t>공고</a:t>
                      </a:r>
                    </a:p>
                  </a:txBody>
                  <a:tcPr marL="95250" marR="95250" marT="95250" marB="85725" anchor="ctr">
                    <a:solidFill>
                      <a:srgbClr val="E8EDF9"/>
                    </a:solidFill>
                  </a:tcPr>
                </a:tc>
                <a:tc>
                  <a:txBody>
                    <a:bodyPr/>
                    <a:lstStyle/>
                    <a:p>
                      <a:r>
                        <a:rPr sz="1800" b="1">
                          <a:solidFill>
                            <a:srgbClr val="3456BF"/>
                          </a:solidFill>
                          <a:latin typeface="Malgun Gothic"/>
                          <a:ea typeface="Malgun Gothic"/>
                          <a:cs typeface="Malgun Gothic"/>
                        </a:rPr>
                        <a:t>완전 공고</a:t>
                      </a:r>
                    </a:p>
                  </a:txBody>
                  <a:tcPr marL="95250" marR="95250" marT="95250" marB="85725" anchor="ctr">
                    <a:solidFill>
                      <a:srgbClr val="E8EDF9"/>
                    </a:solidFill>
                  </a:tcPr>
                </a:tc>
              </a:tr>
              <a:tr h="0">
                <a:tc>
                  <a:txBody>
                    <a:bodyPr/>
                    <a:lstStyle/>
                    <a:p>
                      <a:r>
                        <a:rPr sz="1800">
                          <a:solidFill>
                            <a:srgbClr val="161C2C"/>
                          </a:solidFill>
                          <a:latin typeface="Malgun Gothic"/>
                          <a:ea typeface="Malgun Gothic"/>
                          <a:cs typeface="Malgun Gothic"/>
                        </a:rPr>
                        <a:t>SW·시스템 개발</a:t>
                      </a:r>
                    </a:p>
                  </a:txBody>
                  <a:tcPr marL="95250" marR="95250" marT="95250" marB="85725" anchor="ctr">
                    <a:solidFill>
                      <a:srgbClr val="F8FAFC"/>
                    </a:solidFill>
                  </a:tcPr>
                </a:tc>
                <a:tc>
                  <a:txBody>
                    <a:bodyPr/>
                    <a:lstStyle/>
                    <a:p>
                      <a:r>
                        <a:rPr sz="1800">
                          <a:solidFill>
                            <a:srgbClr val="161C2C"/>
                          </a:solidFill>
                          <a:latin typeface="Malgun Gothic"/>
                          <a:ea typeface="Malgun Gothic"/>
                          <a:cs typeface="Malgun Gothic"/>
                        </a:rPr>
                        <a:t>2,163</a:t>
                      </a:r>
                    </a:p>
                  </a:txBody>
                  <a:tcPr marL="95250" marR="95250" marT="95250" marB="85725" anchor="ctr">
                    <a:solidFill>
                      <a:srgbClr val="F8FAFC"/>
                    </a:solidFill>
                  </a:tcPr>
                </a:tc>
                <a:tc>
                  <a:txBody>
                    <a:bodyPr/>
                    <a:lstStyle/>
                    <a:p>
                      <a:r>
                        <a:rPr sz="1800">
                          <a:solidFill>
                            <a:srgbClr val="161C2C"/>
                          </a:solidFill>
                          <a:latin typeface="Malgun Gothic"/>
                          <a:ea typeface="Malgun Gothic"/>
                          <a:cs typeface="Malgun Gothic"/>
                        </a:rPr>
                        <a:t>984</a:t>
                      </a:r>
                    </a:p>
                  </a:txBody>
                  <a:tcPr marL="95250" marR="95250" marT="95250" marB="85725" anchor="ctr">
                    <a:solidFill>
                      <a:srgbClr val="F8FAFC"/>
                    </a:solidFill>
                  </a:tcPr>
                </a:tc>
              </a:tr>
              <a:tr h="0">
                <a:tc>
                  <a:txBody>
                    <a:bodyPr/>
                    <a:lstStyle/>
                    <a:p>
                      <a:r>
                        <a:rPr sz="1800">
                          <a:solidFill>
                            <a:srgbClr val="161C2C"/>
                          </a:solidFill>
                          <a:latin typeface="Malgun Gothic"/>
                          <a:ea typeface="Malgun Gothic"/>
                          <a:cs typeface="Malgun Gothic"/>
                        </a:rPr>
                        <a:t>운영·유지관리</a:t>
                      </a:r>
                    </a:p>
                  </a:txBody>
                  <a:tcPr marL="95250" marR="95250" marT="95250" marB="85725" anchor="ctr">
                    <a:solidFill>
                      <a:srgbClr val="F8FAFC"/>
                    </a:solidFill>
                  </a:tcPr>
                </a:tc>
                <a:tc>
                  <a:txBody>
                    <a:bodyPr/>
                    <a:lstStyle/>
                    <a:p>
                      <a:r>
                        <a:rPr sz="1800">
                          <a:solidFill>
                            <a:srgbClr val="161C2C"/>
                          </a:solidFill>
                          <a:latin typeface="Malgun Gothic"/>
                          <a:ea typeface="Malgun Gothic"/>
                          <a:cs typeface="Malgun Gothic"/>
                        </a:rPr>
                        <a:t>1,313</a:t>
                      </a:r>
                    </a:p>
                  </a:txBody>
                  <a:tcPr marL="95250" marR="95250" marT="95250" marB="85725" anchor="ctr">
                    <a:solidFill>
                      <a:srgbClr val="F8FAFC"/>
                    </a:solidFill>
                  </a:tcPr>
                </a:tc>
                <a:tc>
                  <a:txBody>
                    <a:bodyPr/>
                    <a:lstStyle/>
                    <a:p>
                      <a:r>
                        <a:rPr sz="1800">
                          <a:solidFill>
                            <a:srgbClr val="161C2C"/>
                          </a:solidFill>
                          <a:latin typeface="Malgun Gothic"/>
                          <a:ea typeface="Malgun Gothic"/>
                          <a:cs typeface="Malgun Gothic"/>
                        </a:rPr>
                        <a:t>681</a:t>
                      </a:r>
                    </a:p>
                  </a:txBody>
                  <a:tcPr marL="95250" marR="95250" marT="95250" marB="85725" anchor="ctr">
                    <a:solidFill>
                      <a:srgbClr val="F8FAFC"/>
                    </a:solidFill>
                  </a:tcPr>
                </a:tc>
              </a:tr>
              <a:tr h="0">
                <a:tc>
                  <a:txBody>
                    <a:bodyPr/>
                    <a:lstStyle/>
                    <a:p>
                      <a:r>
                        <a:rPr sz="1800">
                          <a:solidFill>
                            <a:srgbClr val="161C2C"/>
                          </a:solidFill>
                          <a:latin typeface="Malgun Gothic"/>
                          <a:ea typeface="Malgun Gothic"/>
                          <a:cs typeface="Malgun Gothic"/>
                        </a:rPr>
                        <a:t>합계</a:t>
                      </a:r>
                    </a:p>
                  </a:txBody>
                  <a:tcPr marL="95250" marR="95250" marT="95250" marB="85725" anchor="ctr">
                    <a:solidFill>
                      <a:srgbClr val="F8FAFC"/>
                    </a:solidFill>
                  </a:tcPr>
                </a:tc>
                <a:tc>
                  <a:txBody>
                    <a:bodyPr/>
                    <a:lstStyle/>
                    <a:p>
                      <a:r>
                        <a:rPr sz="1800">
                          <a:solidFill>
                            <a:srgbClr val="161C2C"/>
                          </a:solidFill>
                          <a:latin typeface="Malgun Gothic"/>
                          <a:ea typeface="Malgun Gothic"/>
                          <a:cs typeface="Malgun Gothic"/>
                        </a:rPr>
                        <a:t>3,476</a:t>
                      </a:r>
                    </a:p>
                  </a:txBody>
                  <a:tcPr marL="95250" marR="95250" marT="95250" marB="85725" anchor="ctr">
                    <a:solidFill>
                      <a:srgbClr val="F8FAFC"/>
                    </a:solidFill>
                  </a:tcPr>
                </a:tc>
                <a:tc>
                  <a:txBody>
                    <a:bodyPr/>
                    <a:lstStyle/>
                    <a:p>
                      <a:r>
                        <a:rPr sz="1800">
                          <a:solidFill>
                            <a:srgbClr val="161C2C"/>
                          </a:solidFill>
                          <a:latin typeface="Malgun Gothic"/>
                          <a:ea typeface="Malgun Gothic"/>
                          <a:cs typeface="Malgun Gothic"/>
                        </a:rPr>
                        <a:t>1,665</a:t>
                      </a:r>
                    </a:p>
                  </a:txBody>
                  <a:tcPr marL="95250" marR="95250" marT="95250" marB="85725" anchor="ctr">
                    <a:solidFill>
                      <a:srgbClr val="F8FAFC"/>
                    </a:solidFill>
                  </a:tcPr>
                </a:tc>
              </a:tr>
            </a:tbl>
          </a:graphicData>
        </a:graphic>
      </p:graphicFrame>
      <p:sp>
        <p:nvSpPr>
          <p:cNvPr id="536" name="">
            <a:extLst xmlns:a="http://schemas.openxmlformats.org/drawingml/2006/main">
              <a:ext uri="{FF2B5EF4-FFF2-40B4-BE49-F238E27FC236}">
                <a16:creationId xmlns:a16="http://schemas.microsoft.com/office/drawing/2014/main" id="{10E774D7-F226-45A3-B0A2-63AFA830E195}"/>
              </a:ext>
            </a:extLst>
          </p:cNvPr>
          <p:cNvSpPr>
            <a:spLocks xmlns:a="http://schemas.openxmlformats.org/drawingml/2006/main" noGrp="1"/>
          </p:cNvSpPr>
          <p:nvPr/>
        </p:nvSpPr>
        <p:spPr>
          <a:xfrm xmlns:a="http://schemas.openxmlformats.org/drawingml/2006/main">
            <a:off x="7600950" y="320992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3456BF"/>
                </a:solidFill>
                <a:latin typeface="Malgun Gothic"/>
                <a:ea typeface="Malgun Gothic"/>
                <a:cs typeface="Malgun Gothic"/>
              </a:defRPr>
            </a:pPr>
            <a:r>
              <a:rPr sz="2025" b="1">
                <a:solidFill>
                  <a:srgbClr val="3456BF"/>
                </a:solidFill>
                <a:latin typeface="Malgun Gothic"/>
                <a:ea typeface="Malgun Gothic"/>
                <a:cs typeface="Malgun Gothic"/>
              </a:rPr>
              <a:t>이 분야를 고른 이유</a:t>
            </a:r>
          </a:p>
        </p:txBody>
      </p:sp>
      <p:sp>
        <p:nvSpPr>
          <p:cNvPr id="537" name="">
            <a:extLst xmlns:a="http://schemas.openxmlformats.org/drawingml/2006/main">
              <a:ext uri="{FF2B5EF4-FFF2-40B4-BE49-F238E27FC236}">
                <a16:creationId xmlns:a16="http://schemas.microsoft.com/office/drawing/2014/main" id="{81516981-D308-4867-9C54-7AAAD7BFAF35}"/>
              </a:ext>
            </a:extLst>
          </p:cNvPr>
          <p:cNvSpPr>
            <a:spLocks xmlns:a="http://schemas.openxmlformats.org/drawingml/2006/main" noGrp="1"/>
          </p:cNvSpPr>
          <p:nvPr/>
        </p:nvSpPr>
        <p:spPr>
          <a:xfrm xmlns:a="http://schemas.openxmlformats.org/drawingml/2006/main">
            <a:off x="7600950" y="3848100"/>
            <a:ext cx="419100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165100" indent="-101600">
              <a:spcAft>
                <a:spcPts val="1000"/>
              </a:spcAft>
              <a:buChar char="•"/>
              <a:defRPr sz="1725" b="0">
                <a:solidFill>
                  <a:srgbClr val="161C2C"/>
                </a:solidFill>
                <a:latin typeface="Malgun Gothic"/>
                <a:ea typeface="Malgun Gothic"/>
                <a:cs typeface="Malgun Gothic"/>
              </a:defRPr>
            </a:pPr>
            <a:r>
              <a:t>실적·인력·인증 조건을 비교하기 좋음</a:t>
            </a:r>
          </a:p>
          <a:p xmlns:a="http://schemas.openxmlformats.org/drawingml/2006/main">
            <a:pPr marL="165100" indent="-101600">
              <a:spcAft>
                <a:spcPts val="1000"/>
              </a:spcAft>
              <a:buChar char="•"/>
              <a:defRPr sz="1725" b="0">
                <a:solidFill>
                  <a:srgbClr val="161C2C"/>
                </a:solidFill>
                <a:latin typeface="Malgun Gothic"/>
                <a:ea typeface="Malgun Gothic"/>
                <a:cs typeface="Malgun Gothic"/>
              </a:defRPr>
            </a:pPr>
            <a:r>
              <a:t>가상 기업의 충족·미충족 사례를 구성할 수 있음</a:t>
            </a:r>
          </a:p>
          <a:p xmlns:a="http://schemas.openxmlformats.org/drawingml/2006/main">
            <a:pPr marL="165100" indent="-101600">
              <a:spcAft>
                <a:spcPts val="1000"/>
              </a:spcAft>
              <a:buChar char="•"/>
              <a:defRPr sz="1725" b="0">
                <a:solidFill>
                  <a:srgbClr val="161C2C"/>
                </a:solidFill>
                <a:latin typeface="Malgun Gothic"/>
                <a:ea typeface="Malgun Gothic"/>
                <a:cs typeface="Malgun Gothic"/>
              </a:defRPr>
            </a:pPr>
            <a:r>
              <a:t>팀의 IT·SW 이해를 활용해 검수 가능</a:t>
            </a:r>
          </a:p>
        </p:txBody>
      </p:sp>
      <p:sp>
        <p:nvSpPr>
          <p:cNvPr id="538" name="">
            <a:extLst xmlns:a="http://schemas.openxmlformats.org/drawingml/2006/main">
              <a:ext uri="{FF2B5EF4-FFF2-40B4-BE49-F238E27FC236}">
                <a16:creationId xmlns:a16="http://schemas.microsoft.com/office/drawing/2014/main" id="{D75D1DF9-EF07-49AF-AA53-880EE488E576}"/>
              </a:ext>
            </a:extLst>
          </p:cNvPr>
          <p:cNvSpPr>
            <a:spLocks xmlns:a="http://schemas.openxmlformats.org/drawingml/2006/main" noGrp="1"/>
          </p:cNvSpPr>
          <p:nvPr/>
        </p:nvSpPr>
        <p:spPr>
          <a:xfrm xmlns:a="http://schemas.openxmlformats.org/drawingml/2006/main">
            <a:off x="390525" y="5857875"/>
            <a:ext cx="67913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B6476"/>
                </a:solidFill>
                <a:latin typeface="Malgun Gothic"/>
                <a:ea typeface="Malgun Gothic"/>
                <a:cs typeface="Malgun Gothic"/>
              </a:defRPr>
            </a:pPr>
            <a:r>
              <a:rPr sz="1650" b="0">
                <a:solidFill>
                  <a:srgbClr val="5B6476"/>
                </a:solidFill>
                <a:latin typeface="Malgun Gothic"/>
                <a:ea typeface="Malgun Gothic"/>
                <a:cs typeface="Malgun Gothic"/>
              </a:rPr>
              <a:t>완전 공고 = 공고문 + (RFP 또는 과업·규격서)</a:t>
            </a:r>
          </a:p>
        </p:txBody>
      </p:sp>
      <p:sp>
        <p:nvSpPr>
          <p:cNvPr id="539" name="">
            <a:extLst xmlns:a="http://schemas.openxmlformats.org/drawingml/2006/main">
              <a:ext uri="{FF2B5EF4-FFF2-40B4-BE49-F238E27FC236}">
                <a16:creationId xmlns:a16="http://schemas.microsoft.com/office/drawing/2014/main" id="{DEC36633-FF76-4E16-9E36-60868E367C48}"/>
              </a:ext>
            </a:extLst>
          </p:cNvPr>
          <p:cNvSpPr>
            <a:spLocks xmlns:a="http://schemas.openxmlformats.org/drawingml/2006/main" noGrp="1"/>
          </p:cNvSpPr>
          <p:nvPr/>
        </p:nvSpPr>
        <p:spPr>
          <a:xfrm xmlns:a="http://schemas.openxmlformats.org/drawingml/2006/main">
            <a:off x="390525" y="641985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B6476"/>
                </a:solidFill>
                <a:latin typeface="Malgun Gothic"/>
                <a:ea typeface="Malgun Gothic"/>
                <a:cs typeface="Malgun Gothic"/>
              </a:defRPr>
            </a:pPr>
            <a:r>
              <a:rPr sz="1125" b="0">
                <a:solidFill>
                  <a:srgbClr val="5B6476"/>
                </a:solidFill>
                <a:latin typeface="Malgun Gothic"/>
                <a:ea typeface="Malgun Gothic"/>
                <a:cs typeface="Malgun Gothic"/>
              </a:rPr>
              <a:t>근거: 3개월 워크스테이션 통합 sector_report.csv · 완비율이 가장 높은 분야라는 뜻은 아님</a:t>
            </a:r>
          </a:p>
        </p:txBody>
      </p:sp>
    </p:spTree>
    <p:extLst>
      <p:ext uri="{BB962C8B-B14F-4D97-AF65-F5344CB8AC3E}">
        <p14:creationId xmlns:p14="http://schemas.microsoft.com/office/powerpoint/2010/main" val="54622172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6</a:t>
            </a: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51건을 데모 표본으로 추출하고 요건 CSV를 제작</a:t>
            </a:r>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0525" y="1257300"/>
            <a:ext cx="11401425" cy="6096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875" b="0">
                <a:solidFill>
                  <a:srgbClr val="5B6476"/>
                </a:solidFill>
                <a:latin typeface="Malgun Gothic"/>
                <a:ea typeface="Malgun Gothic"/>
                <a:cs typeface="Malgun Gothic"/>
              </a:defRPr>
            </a:pPr>
            <a:r>
              <a:rPr sz="1875" b="0">
                <a:solidFill>
                  <a:srgbClr val="5B6476"/>
                </a:solidFill>
                <a:latin typeface="Malgun Gothic"/>
                <a:ea typeface="Malgun Gothic"/>
                <a:cs typeface="Malgun Gothic"/>
              </a:rPr>
              <a:t>원문은 검색 자료로, 사람이 확인한 요건은 질문·기업 자료 설계의 기준으로</a:t>
            </a:r>
          </a:p>
        </p:txBody>
      </p:sp>
      <p:sp>
        <p:nvSpPr>
          <p:cNvPr id="534" name="">
            <a:extLst xmlns:a="http://schemas.openxmlformats.org/drawingml/2006/main">
              <a:ext uri="{FF2B5EF4-FFF2-40B4-BE49-F238E27FC236}">
                <a16:creationId xmlns:a16="http://schemas.microsoft.com/office/drawing/2014/main" id="{39D066D8-6AD9-4A1D-AD81-452554E4EDE7}"/>
              </a:ext>
            </a:extLst>
          </p:cNvPr>
          <p:cNvSpPr>
            <a:spLocks xmlns:a="http://schemas.openxmlformats.org/drawingml/2006/main" noGrp="1"/>
          </p:cNvSpPr>
          <p:nvPr/>
        </p:nvSpPr>
        <p:spPr>
          <a:xfrm xmlns:a="http://schemas.openxmlformats.org/drawingml/2006/main">
            <a:off x="390525" y="2095500"/>
            <a:ext cx="5000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400" b="1">
                <a:solidFill>
                  <a:srgbClr val="3456BF"/>
                </a:solidFill>
                <a:latin typeface="Malgun Gothic"/>
                <a:ea typeface="Malgun Gothic"/>
                <a:cs typeface="Malgun Gothic"/>
              </a:defRPr>
            </a:pPr>
            <a:r>
              <a:rPr sz="5400" b="1">
                <a:solidFill>
                  <a:srgbClr val="3456BF"/>
                </a:solidFill>
                <a:latin typeface="Malgun Gothic"/>
                <a:ea typeface="Malgun Gothic"/>
                <a:cs typeface="Malgun Gothic"/>
              </a:rPr>
              <a:t>51건</a:t>
            </a:r>
          </a:p>
        </p:txBody>
      </p:sp>
      <p:sp>
        <p:nvSpPr>
          <p:cNvPr id="535" name="">
            <a:extLst xmlns:a="http://schemas.openxmlformats.org/drawingml/2006/main">
              <a:ext uri="{FF2B5EF4-FFF2-40B4-BE49-F238E27FC236}">
                <a16:creationId xmlns:a16="http://schemas.microsoft.com/office/drawing/2014/main" id="{5B2C14C1-1C01-4466-BE7C-2A651C1826BD}"/>
              </a:ext>
            </a:extLst>
          </p:cNvPr>
          <p:cNvSpPr>
            <a:spLocks xmlns:a="http://schemas.openxmlformats.org/drawingml/2006/main" noGrp="1"/>
          </p:cNvSpPr>
          <p:nvPr/>
        </p:nvSpPr>
        <p:spPr>
          <a:xfrm xmlns:a="http://schemas.openxmlformats.org/drawingml/2006/main">
            <a:off x="390525" y="3152775"/>
            <a:ext cx="50006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61C2C"/>
                </a:solidFill>
                <a:latin typeface="Malgun Gothic"/>
                <a:ea typeface="Malgun Gothic"/>
                <a:cs typeface="Malgun Gothic"/>
              </a:defRPr>
            </a:pPr>
            <a:r>
              <a:rPr sz="1950" b="0">
                <a:solidFill>
                  <a:srgbClr val="161C2C"/>
                </a:solidFill>
                <a:latin typeface="Malgun Gothic"/>
                <a:ea typeface="Malgun Gothic"/>
                <a:cs typeface="Malgun Gothic"/>
              </a:rPr>
              <a:t>4월 17건 · 5월 17건 · 6월 17건</a:t>
            </a:r>
          </a:p>
        </p:txBody>
      </p:sp>
      <p:sp>
        <p:nvSpPr>
          <p:cNvPr id="536" name="">
            <a:extLst xmlns:a="http://schemas.openxmlformats.org/drawingml/2006/main">
              <a:ext uri="{FF2B5EF4-FFF2-40B4-BE49-F238E27FC236}">
                <a16:creationId xmlns:a16="http://schemas.microsoft.com/office/drawing/2014/main" id="{5C98215E-4067-4652-84F6-8F1E22982D8D}"/>
              </a:ext>
            </a:extLst>
          </p:cNvPr>
          <p:cNvSpPr>
            <a:spLocks xmlns:a="http://schemas.openxmlformats.org/drawingml/2006/main" noGrp="1"/>
          </p:cNvSpPr>
          <p:nvPr/>
        </p:nvSpPr>
        <p:spPr>
          <a:xfrm xmlns:a="http://schemas.openxmlformats.org/drawingml/2006/main">
            <a:off x="390525" y="3848100"/>
            <a:ext cx="5000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61C2C"/>
                </a:solidFill>
                <a:latin typeface="Malgun Gothic"/>
                <a:ea typeface="Malgun Gothic"/>
                <a:cs typeface="Malgun Gothic"/>
              </a:defRPr>
            </a:pPr>
            <a:r>
              <a:rPr sz="1950" b="0">
                <a:solidFill>
                  <a:srgbClr val="161C2C"/>
                </a:solidFill>
                <a:latin typeface="Malgun Gothic"/>
                <a:ea typeface="Malgun Gothic"/>
                <a:cs typeface="Malgun Gothic"/>
              </a:rPr>
              <a:t>SW·시스템 개발 32건</a:t>
            </a:r>
          </a:p>
          <a:p xmlns:a="http://schemas.openxmlformats.org/drawingml/2006/main">
            <a:pPr>
              <a:defRPr sz="1950" b="0">
                <a:solidFill>
                  <a:srgbClr val="161C2C"/>
                </a:solidFill>
                <a:latin typeface="Malgun Gothic"/>
                <a:ea typeface="Malgun Gothic"/>
                <a:cs typeface="Malgun Gothic"/>
              </a:defRPr>
            </a:pPr>
            <a:r>
              <a:rPr sz="1950" b="0">
                <a:solidFill>
                  <a:srgbClr val="161C2C"/>
                </a:solidFill>
                <a:latin typeface="Malgun Gothic"/>
                <a:ea typeface="Malgun Gothic"/>
                <a:cs typeface="Malgun Gothic"/>
              </a:rPr>
              <a:t>운영·유지관리 19건</a:t>
            </a:r>
          </a:p>
        </p:txBody>
      </p:sp>
      <p:sp>
        <p:nvSpPr>
          <p:cNvPr id="537" name="">
            <a:extLst xmlns:a="http://schemas.openxmlformats.org/drawingml/2006/main">
              <a:ext uri="{FF2B5EF4-FFF2-40B4-BE49-F238E27FC236}">
                <a16:creationId xmlns:a16="http://schemas.microsoft.com/office/drawing/2014/main" id="{BA1A4A52-E8A7-4C41-9349-A200B60943EC}"/>
              </a:ext>
            </a:extLst>
          </p:cNvPr>
          <p:cNvSpPr>
            <a:spLocks xmlns:a="http://schemas.openxmlformats.org/drawingml/2006/main" noGrp="1"/>
          </p:cNvSpPr>
          <p:nvPr/>
        </p:nvSpPr>
        <p:spPr>
          <a:xfrm xmlns:a="http://schemas.openxmlformats.org/drawingml/2006/main">
            <a:off x="390525" y="5324475"/>
            <a:ext cx="51149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61C2C"/>
                </a:solidFill>
                <a:latin typeface="Malgun Gothic"/>
                <a:ea typeface="Malgun Gothic"/>
                <a:cs typeface="Malgun Gothic"/>
              </a:defRPr>
            </a:pPr>
            <a:r>
              <a:rPr sz="1800" b="0">
                <a:solidFill>
                  <a:srgbClr val="161C2C"/>
                </a:solidFill>
                <a:latin typeface="Malgun Gothic"/>
                <a:ea typeface="Malgun Gothic"/>
                <a:cs typeface="Malgun Gothic"/>
              </a:rPr>
              <a:t>원문과 파싱 텍스트를 함께 확인</a:t>
            </a:r>
          </a:p>
          <a:p xmlns:a="http://schemas.openxmlformats.org/drawingml/2006/main">
            <a:pPr>
              <a:defRPr sz="1800" b="0">
                <a:solidFill>
                  <a:srgbClr val="161C2C"/>
                </a:solidFill>
                <a:latin typeface="Malgun Gothic"/>
                <a:ea typeface="Malgun Gothic"/>
                <a:cs typeface="Malgun Gothic"/>
              </a:defRPr>
            </a:pPr>
            <a:r>
              <a:rPr sz="1800" b="0">
                <a:solidFill>
                  <a:srgbClr val="161C2C"/>
                </a:solidFill>
                <a:latin typeface="Malgun Gothic"/>
                <a:ea typeface="Malgun Gothic"/>
                <a:cs typeface="Malgun Gothic"/>
              </a:rPr>
              <a:t>조건·숫자·예외·근거 위치를 기록</a:t>
            </a:r>
          </a:p>
        </p:txBody>
      </p:sp>
      <p:sp>
        <p:nvSpPr>
          <p:cNvPr id="538" name="">
            <a:extLst xmlns:a="http://schemas.openxmlformats.org/drawingml/2006/main">
              <a:ext uri="{FF2B5EF4-FFF2-40B4-BE49-F238E27FC236}">
                <a16:creationId xmlns:a16="http://schemas.microsoft.com/office/drawing/2014/main" id="{664A1F73-F5EE-4EB3-BB3F-16F87D031CAE}"/>
              </a:ext>
            </a:extLst>
          </p:cNvPr>
          <p:cNvSpPr>
            <a:spLocks xmlns:a="http://schemas.openxmlformats.org/drawingml/2006/main" noGrp="1"/>
          </p:cNvSpPr>
          <p:nvPr/>
        </p:nvSpPr>
        <p:spPr>
          <a:xfrm xmlns:a="http://schemas.openxmlformats.org/drawingml/2006/main">
            <a:off x="6219825" y="2152650"/>
            <a:ext cx="557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3456BF"/>
                </a:solidFill>
                <a:latin typeface="Malgun Gothic"/>
                <a:ea typeface="Malgun Gothic"/>
                <a:cs typeface="Malgun Gothic"/>
              </a:defRPr>
            </a:pPr>
            <a:r>
              <a:rPr sz="2250" b="1">
                <a:solidFill>
                  <a:srgbClr val="3456BF"/>
                </a:solidFill>
                <a:latin typeface="Malgun Gothic"/>
                <a:ea typeface="Malgun Gothic"/>
                <a:cs typeface="Malgun Gothic"/>
              </a:rPr>
              <a:t>요건추출시트.csv</a:t>
            </a:r>
          </a:p>
        </p:txBody>
      </p:sp>
      <p:graphicFrame>
        <p:nvGraphicFramePr>
          <p:cNvPr id="550" name=""/>
          <p:cNvGraphicFramePr/>
          <p:nvPr/>
        </p:nvGraphicFramePr>
        <p:xfrm>
          <a:off xmlns:a="http://schemas.openxmlformats.org/drawingml/2006/main" x="6219825" y="2952750"/>
          <a:ext xmlns:a="http://schemas.openxmlformats.org/drawingml/2006/main" cx="5572125" cy="2543175"/>
        </p:xfrm>
        <a:graphic xmlns:a="http://schemas.openxmlformats.org/drawingml/2006/main">
          <a:graphicData uri="http://schemas.openxmlformats.org/drawingml/2006/table">
            <a:tbl>
              <a:tblPr/>
              <a:tblGrid>
                <a:gridCol w="3181350"/>
                <a:gridCol w="2390775"/>
              </a:tblGrid>
              <a:tr h="514350">
                <a:tc>
                  <a:txBody>
                    <a:bodyPr/>
                    <a:lstStyle/>
                    <a:p>
                      <a:r>
                        <a:rPr sz="1650" b="1">
                          <a:solidFill>
                            <a:srgbClr val="3456BF"/>
                          </a:solidFill>
                          <a:latin typeface="Malgun Gothic"/>
                          <a:ea typeface="Malgun Gothic"/>
                          <a:cs typeface="Malgun Gothic"/>
                        </a:rPr>
                        <a:t>기록하는 내용</a:t>
                      </a:r>
                    </a:p>
                  </a:txBody>
                  <a:tcPr marL="95250" marR="95250" marT="95250" marB="85725" anchor="ctr">
                    <a:solidFill>
                      <a:srgbClr val="E8EDF9"/>
                    </a:solidFill>
                  </a:tcPr>
                </a:tc>
                <a:tc>
                  <a:txBody>
                    <a:bodyPr/>
                    <a:lstStyle/>
                    <a:p>
                      <a:r>
                        <a:rPr sz="1650" b="1">
                          <a:solidFill>
                            <a:srgbClr val="3456BF"/>
                          </a:solidFill>
                          <a:latin typeface="Malgun Gothic"/>
                          <a:ea typeface="Malgun Gothic"/>
                          <a:cs typeface="Malgun Gothic"/>
                        </a:rPr>
                        <a:t>후속 용도</a:t>
                      </a:r>
                    </a:p>
                  </a:txBody>
                  <a:tcPr marL="95250" marR="95250" marT="95250" marB="85725" anchor="ctr">
                    <a:solidFill>
                      <a:srgbClr val="E8EDF9"/>
                    </a:solidFill>
                  </a:tcPr>
                </a:tc>
              </a:tr>
              <a:tr h="0">
                <a:tc>
                  <a:txBody>
                    <a:bodyPr/>
                    <a:lstStyle/>
                    <a:p>
                      <a:r>
                        <a:rPr sz="1650">
                          <a:solidFill>
                            <a:srgbClr val="161C2C"/>
                          </a:solidFill>
                          <a:latin typeface="Malgun Gothic"/>
                          <a:ea typeface="Malgun Gothic"/>
                          <a:cs typeface="Malgun Gothic"/>
                        </a:rPr>
                        <a:t>자격 · 실적 · 인력 · 인증</a:t>
                      </a:r>
                    </a:p>
                  </a:txBody>
                  <a:tcPr marL="95250" marR="95250" marT="95250" marB="85725" anchor="ctr">
                    <a:solidFill>
                      <a:srgbClr val="F8FAFC"/>
                    </a:solidFill>
                  </a:tcPr>
                </a:tc>
                <a:tc>
                  <a:txBody>
                    <a:bodyPr/>
                    <a:lstStyle/>
                    <a:p>
                      <a:r>
                        <a:rPr sz="1650">
                          <a:solidFill>
                            <a:srgbClr val="161C2C"/>
                          </a:solidFill>
                          <a:latin typeface="Malgun Gothic"/>
                          <a:ea typeface="Malgun Gothic"/>
                          <a:cs typeface="Malgun Gothic"/>
                        </a:rPr>
                        <a:t>기업 조건 설계</a:t>
                      </a:r>
                    </a:p>
                  </a:txBody>
                  <a:tcPr marL="95250" marR="95250" marT="95250" marB="85725" anchor="ctr">
                    <a:solidFill>
                      <a:srgbClr val="F8FAFC"/>
                    </a:solidFill>
                  </a:tcPr>
                </a:tc>
              </a:tr>
              <a:tr h="0">
                <a:tc>
                  <a:txBody>
                    <a:bodyPr/>
                    <a:lstStyle/>
                    <a:p>
                      <a:r>
                        <a:rPr sz="1650">
                          <a:solidFill>
                            <a:srgbClr val="161C2C"/>
                          </a:solidFill>
                          <a:latin typeface="Malgun Gothic"/>
                          <a:ea typeface="Malgun Gothic"/>
                          <a:cs typeface="Malgun Gothic"/>
                        </a:rPr>
                        <a:t>금액 · 일정 · 배점 · 특이조건</a:t>
                      </a:r>
                    </a:p>
                  </a:txBody>
                  <a:tcPr marL="95250" marR="95250" marT="95250" marB="85725" anchor="ctr">
                    <a:solidFill>
                      <a:srgbClr val="F8FAFC"/>
                    </a:solidFill>
                  </a:tcPr>
                </a:tc>
                <a:tc>
                  <a:txBody>
                    <a:bodyPr/>
                    <a:lstStyle/>
                    <a:p>
                      <a:r>
                        <a:rPr sz="1650">
                          <a:solidFill>
                            <a:srgbClr val="161C2C"/>
                          </a:solidFill>
                          <a:latin typeface="Malgun Gothic"/>
                          <a:ea typeface="Malgun Gothic"/>
                          <a:cs typeface="Malgun Gothic"/>
                        </a:rPr>
                        <a:t>질문 · 기대 정답</a:t>
                      </a:r>
                    </a:p>
                  </a:txBody>
                  <a:tcPr marL="95250" marR="95250" marT="95250" marB="85725" anchor="ctr">
                    <a:solidFill>
                      <a:srgbClr val="F8FAFC"/>
                    </a:solidFill>
                  </a:tcPr>
                </a:tc>
              </a:tr>
              <a:tr h="0">
                <a:tc>
                  <a:txBody>
                    <a:bodyPr/>
                    <a:lstStyle/>
                    <a:p>
                      <a:r>
                        <a:rPr sz="1650">
                          <a:solidFill>
                            <a:srgbClr val="161C2C"/>
                          </a:solidFill>
                          <a:latin typeface="Malgun Gothic"/>
                          <a:ea typeface="Malgun Gothic"/>
                          <a:cs typeface="Malgun Gothic"/>
                        </a:rPr>
                        <a:t>근거 문서 · 쪽수 · 검토 메모</a:t>
                      </a:r>
                    </a:p>
                  </a:txBody>
                  <a:tcPr marL="95250" marR="95250" marT="95250" marB="85725" anchor="ctr">
                    <a:solidFill>
                      <a:srgbClr val="F8FAFC"/>
                    </a:solidFill>
                  </a:tcPr>
                </a:tc>
                <a:tc>
                  <a:txBody>
                    <a:bodyPr/>
                    <a:lstStyle/>
                    <a:p>
                      <a:r>
                        <a:rPr sz="1650">
                          <a:solidFill>
                            <a:srgbClr val="161C2C"/>
                          </a:solidFill>
                          <a:latin typeface="Malgun Gothic"/>
                          <a:ea typeface="Malgun Gothic"/>
                          <a:cs typeface="Malgun Gothic"/>
                        </a:rPr>
                        <a:t>원문 대조 · 불일치 확인</a:t>
                      </a:r>
                    </a:p>
                  </a:txBody>
                  <a:tcPr marL="95250" marR="95250" marT="95250" marB="85725" anchor="ctr">
                    <a:solidFill>
                      <a:srgbClr val="F8FAFC"/>
                    </a:solidFill>
                  </a:tcPr>
                </a:tc>
              </a:tr>
            </a:tbl>
          </a:graphicData>
        </a:graphic>
      </p:graphicFrame>
      <p:sp>
        <p:nvSpPr>
          <p:cNvPr id="540" name="">
            <a:extLst xmlns:a="http://schemas.openxmlformats.org/drawingml/2006/main">
              <a:ext uri="{FF2B5EF4-FFF2-40B4-BE49-F238E27FC236}">
                <a16:creationId xmlns:a16="http://schemas.microsoft.com/office/drawing/2014/main" id="{FC9D33D0-6F1A-47DB-BB3F-E478F0BC779B}"/>
              </a:ext>
            </a:extLst>
          </p:cNvPr>
          <p:cNvSpPr>
            <a:spLocks xmlns:a="http://schemas.openxmlformats.org/drawingml/2006/main" noGrp="1"/>
          </p:cNvSpPr>
          <p:nvPr/>
        </p:nvSpPr>
        <p:spPr>
          <a:xfrm xmlns:a="http://schemas.openxmlformats.org/drawingml/2006/main">
            <a:off x="6219825" y="5772150"/>
            <a:ext cx="5572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B6476"/>
                </a:solidFill>
                <a:latin typeface="Malgun Gothic"/>
                <a:ea typeface="Malgun Gothic"/>
                <a:cs typeface="Malgun Gothic"/>
              </a:defRPr>
            </a:pPr>
            <a:r>
              <a:rPr sz="1650" b="0">
                <a:solidFill>
                  <a:srgbClr val="5B6476"/>
                </a:solidFill>
                <a:latin typeface="Malgun Gothic"/>
                <a:ea typeface="Malgun Gothic"/>
                <a:cs typeface="Malgun Gothic"/>
              </a:rPr>
              <a:t>청크 = 원문 조각</a:t>
            </a:r>
          </a:p>
          <a:p xmlns:a="http://schemas.openxmlformats.org/drawingml/2006/main">
            <a:pPr>
              <a:defRPr sz="1650" b="0">
                <a:solidFill>
                  <a:srgbClr val="5B6476"/>
                </a:solidFill>
                <a:latin typeface="Malgun Gothic"/>
                <a:ea typeface="Malgun Gothic"/>
                <a:cs typeface="Malgun Gothic"/>
              </a:defRPr>
            </a:pPr>
            <a:r>
              <a:rPr sz="1650" b="0">
                <a:solidFill>
                  <a:srgbClr val="5B6476"/>
                </a:solidFill>
                <a:latin typeface="Malgun Gothic"/>
                <a:ea typeface="Malgun Gothic"/>
                <a:cs typeface="Malgun Gothic"/>
              </a:rPr>
              <a:t>CSV = 사람이 정리한 요건 기준</a:t>
            </a:r>
          </a:p>
        </p:txBody>
      </p:sp>
      <p:sp>
        <p:nvSpPr>
          <p:cNvPr id="541" name="">
            <a:extLst xmlns:a="http://schemas.openxmlformats.org/drawingml/2006/main">
              <a:ext uri="{FF2B5EF4-FFF2-40B4-BE49-F238E27FC236}">
                <a16:creationId xmlns:a16="http://schemas.microsoft.com/office/drawing/2014/main" id="{EC4D017B-0D59-45F1-8F3F-0B753B08CE51}"/>
              </a:ext>
            </a:extLst>
          </p:cNvPr>
          <p:cNvSpPr>
            <a:spLocks xmlns:a="http://schemas.openxmlformats.org/drawingml/2006/main" noGrp="1"/>
          </p:cNvSpPr>
          <p:nvPr/>
        </p:nvSpPr>
        <p:spPr>
          <a:xfrm xmlns:a="http://schemas.openxmlformats.org/drawingml/2006/main">
            <a:off x="390525" y="641985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B6476"/>
                </a:solidFill>
                <a:latin typeface="Malgun Gothic"/>
                <a:ea typeface="Malgun Gothic"/>
                <a:cs typeface="Malgun Gothic"/>
              </a:defRPr>
            </a:pPr>
            <a:r>
              <a:rPr sz="1125" b="0">
                <a:solidFill>
                  <a:srgbClr val="5B6476"/>
                </a:solidFill>
                <a:latin typeface="Malgun Gothic"/>
                <a:ea typeface="Malgun Gothic"/>
                <a:cs typeface="Malgun Gothic"/>
              </a:rPr>
              <a:t>표본 수·월·분야: 표본_목록.csv 재집계 · 요건 시트 제작 완료는 9/13 진행 현황 반영</a:t>
            </a:r>
          </a:p>
        </p:txBody>
      </p:sp>
    </p:spTree>
    <p:extLst>
      <p:ext uri="{BB962C8B-B14F-4D97-AF65-F5344CB8AC3E}">
        <p14:creationId xmlns:p14="http://schemas.microsoft.com/office/powerpoint/2010/main" val="54622172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7</a:t>
            </a: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질문·정답·근거 300건과 입찰용 가상 기업을 준비</a:t>
            </a:r>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0525" y="1257300"/>
            <a:ext cx="11401425" cy="6096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875" b="0">
                <a:solidFill>
                  <a:srgbClr val="5B6476"/>
                </a:solidFill>
                <a:latin typeface="Malgun Gothic"/>
                <a:ea typeface="Malgun Gothic"/>
                <a:cs typeface="Malgun Gothic"/>
              </a:defRPr>
            </a:pPr>
            <a:r>
              <a:rPr sz="1875" b="0">
                <a:solidFill>
                  <a:srgbClr val="5B6476"/>
                </a:solidFill>
                <a:latin typeface="Malgun Gothic"/>
                <a:ea typeface="Malgun Gothic"/>
                <a:cs typeface="Malgun Gothic"/>
              </a:rPr>
              <a:t>공고의 조건을 질문과 회사 상황으로 연결할 준비를 마침</a:t>
            </a:r>
          </a:p>
        </p:txBody>
      </p:sp>
      <p:sp>
        <p:nvSpPr>
          <p:cNvPr id="534" name="">
            <a:extLst xmlns:a="http://schemas.openxmlformats.org/drawingml/2006/main">
              <a:ext uri="{FF2B5EF4-FFF2-40B4-BE49-F238E27FC236}">
                <a16:creationId xmlns:a16="http://schemas.microsoft.com/office/drawing/2014/main" id="{176DE459-D774-4E41-887A-05F03297FCB7}"/>
              </a:ext>
            </a:extLst>
          </p:cNvPr>
          <p:cNvSpPr>
            <a:spLocks xmlns:a="http://schemas.openxmlformats.org/drawingml/2006/main" noGrp="1"/>
          </p:cNvSpPr>
          <p:nvPr/>
        </p:nvSpPr>
        <p:spPr>
          <a:xfrm xmlns:a="http://schemas.openxmlformats.org/drawingml/2006/main">
            <a:off x="390525" y="2181225"/>
            <a:ext cx="5524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475" b="1">
                <a:solidFill>
                  <a:srgbClr val="3456BF"/>
                </a:solidFill>
                <a:latin typeface="Malgun Gothic"/>
                <a:ea typeface="Malgun Gothic"/>
                <a:cs typeface="Malgun Gothic"/>
              </a:defRPr>
            </a:pPr>
            <a:r>
              <a:rPr sz="5475" b="1">
                <a:solidFill>
                  <a:srgbClr val="3456BF"/>
                </a:solidFill>
                <a:latin typeface="Malgun Gothic"/>
                <a:ea typeface="Malgun Gothic"/>
                <a:cs typeface="Malgun Gothic"/>
              </a:rPr>
              <a:t>300건</a:t>
            </a:r>
          </a:p>
        </p:txBody>
      </p:sp>
      <p:sp>
        <p:nvSpPr>
          <p:cNvPr id="535" name="">
            <a:extLst xmlns:a="http://schemas.openxmlformats.org/drawingml/2006/main">
              <a:ext uri="{FF2B5EF4-FFF2-40B4-BE49-F238E27FC236}">
                <a16:creationId xmlns:a16="http://schemas.microsoft.com/office/drawing/2014/main" id="{1C087061-E693-41B5-BE6F-2C6B8479CB83}"/>
              </a:ext>
            </a:extLst>
          </p:cNvPr>
          <p:cNvSpPr>
            <a:spLocks xmlns:a="http://schemas.openxmlformats.org/drawingml/2006/main" noGrp="1"/>
          </p:cNvSpPr>
          <p:nvPr/>
        </p:nvSpPr>
        <p:spPr>
          <a:xfrm xmlns:a="http://schemas.openxmlformats.org/drawingml/2006/main">
            <a:off x="390525" y="3248025"/>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3456BF"/>
                </a:solidFill>
                <a:latin typeface="Malgun Gothic"/>
                <a:ea typeface="Malgun Gothic"/>
                <a:cs typeface="Malgun Gothic"/>
              </a:defRPr>
            </a:pPr>
            <a:r>
              <a:rPr sz="2250" b="1">
                <a:solidFill>
                  <a:srgbClr val="3456BF"/>
                </a:solidFill>
                <a:latin typeface="Malgun Gothic"/>
                <a:ea typeface="Malgun Gothic"/>
                <a:cs typeface="Malgun Gothic"/>
              </a:rPr>
              <a:t>질문 + 기대 정답 + 근거</a:t>
            </a:r>
          </a:p>
        </p:txBody>
      </p:sp>
      <p:sp>
        <p:nvSpPr>
          <p:cNvPr id="536" name="">
            <a:extLst xmlns:a="http://schemas.openxmlformats.org/drawingml/2006/main">
              <a:ext uri="{FF2B5EF4-FFF2-40B4-BE49-F238E27FC236}">
                <a16:creationId xmlns:a16="http://schemas.microsoft.com/office/drawing/2014/main" id="{014C61C2-6E0E-44C4-8806-71628F513AF2}"/>
              </a:ext>
            </a:extLst>
          </p:cNvPr>
          <p:cNvSpPr>
            <a:spLocks xmlns:a="http://schemas.openxmlformats.org/drawingml/2006/main" noGrp="1"/>
          </p:cNvSpPr>
          <p:nvPr/>
        </p:nvSpPr>
        <p:spPr>
          <a:xfrm xmlns:a="http://schemas.openxmlformats.org/drawingml/2006/main">
            <a:off x="390525" y="4086225"/>
            <a:ext cx="52387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165100" indent="-101600">
              <a:spcAft>
                <a:spcPts val="1000"/>
              </a:spcAft>
              <a:buChar char="•"/>
              <a:defRPr sz="1875" b="0">
                <a:solidFill>
                  <a:srgbClr val="161C2C"/>
                </a:solidFill>
                <a:latin typeface="Malgun Gothic"/>
                <a:ea typeface="Malgun Gothic"/>
                <a:cs typeface="Malgun Gothic"/>
              </a:defRPr>
            </a:pPr>
            <a:r>
              <a:t>무엇을 질문할지 고정</a:t>
            </a:r>
          </a:p>
          <a:p xmlns:a="http://schemas.openxmlformats.org/drawingml/2006/main">
            <a:pPr marL="165100" indent="-101600">
              <a:spcAft>
                <a:spcPts val="1000"/>
              </a:spcAft>
              <a:buChar char="•"/>
              <a:defRPr sz="1875" b="0">
                <a:solidFill>
                  <a:srgbClr val="161C2C"/>
                </a:solidFill>
                <a:latin typeface="Malgun Gothic"/>
                <a:ea typeface="Malgun Gothic"/>
                <a:cs typeface="Malgun Gothic"/>
              </a:defRPr>
            </a:pPr>
            <a:r>
              <a:t>어떤 답을 기대하는지 기록</a:t>
            </a:r>
          </a:p>
          <a:p xmlns:a="http://schemas.openxmlformats.org/drawingml/2006/main">
            <a:pPr marL="165100" indent="-101600">
              <a:spcAft>
                <a:spcPts val="1000"/>
              </a:spcAft>
              <a:buChar char="•"/>
              <a:defRPr sz="1875" b="0">
                <a:solidFill>
                  <a:srgbClr val="161C2C"/>
                </a:solidFill>
                <a:latin typeface="Malgun Gothic"/>
                <a:ea typeface="Malgun Gothic"/>
                <a:cs typeface="Malgun Gothic"/>
              </a:defRPr>
            </a:pPr>
            <a:r>
              <a:t>답을 확인할 원문 근거 연결</a:t>
            </a:r>
          </a:p>
        </p:txBody>
      </p:sp>
      <p:sp>
        <p:nvSpPr>
          <p:cNvPr id="537" name="">
            <a:extLst xmlns:a="http://schemas.openxmlformats.org/drawingml/2006/main">
              <a:ext uri="{FF2B5EF4-FFF2-40B4-BE49-F238E27FC236}">
                <a16:creationId xmlns:a16="http://schemas.microsoft.com/office/drawing/2014/main" id="{CE800C0E-8C03-4005-A453-4AAD036AFA0B}"/>
              </a:ext>
            </a:extLst>
          </p:cNvPr>
          <p:cNvSpPr>
            <a:spLocks xmlns:a="http://schemas.openxmlformats.org/drawingml/2006/main" noGrp="1"/>
          </p:cNvSpPr>
          <p:nvPr/>
        </p:nvSpPr>
        <p:spPr>
          <a:xfrm xmlns:a="http://schemas.openxmlformats.org/drawingml/2006/main">
            <a:off x="6438900" y="2295525"/>
            <a:ext cx="5353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가상 기업 구성</a:t>
            </a:r>
          </a:p>
        </p:txBody>
      </p:sp>
      <p:sp>
        <p:nvSpPr>
          <p:cNvPr id="538" name="">
            <a:extLst xmlns:a="http://schemas.openxmlformats.org/drawingml/2006/main">
              <a:ext uri="{FF2B5EF4-FFF2-40B4-BE49-F238E27FC236}">
                <a16:creationId xmlns:a16="http://schemas.microsoft.com/office/drawing/2014/main" id="{C71EC767-590A-4A57-89CD-D37E11ECC3D0}"/>
              </a:ext>
            </a:extLst>
          </p:cNvPr>
          <p:cNvSpPr>
            <a:spLocks xmlns:a="http://schemas.openxmlformats.org/drawingml/2006/main" noGrp="1"/>
          </p:cNvSpPr>
          <p:nvPr/>
        </p:nvSpPr>
        <p:spPr>
          <a:xfrm xmlns:a="http://schemas.openxmlformats.org/drawingml/2006/main">
            <a:off x="6438900" y="3114675"/>
            <a:ext cx="5353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61C2C"/>
                </a:solidFill>
                <a:latin typeface="Malgun Gothic"/>
                <a:ea typeface="Malgun Gothic"/>
                <a:cs typeface="Malgun Gothic"/>
              </a:defRPr>
            </a:pPr>
            <a:r>
              <a:rPr sz="1950" b="0">
                <a:solidFill>
                  <a:srgbClr val="161C2C"/>
                </a:solidFill>
                <a:latin typeface="Malgun Gothic"/>
                <a:ea typeface="Malgun Gothic"/>
                <a:cs typeface="Malgun Gothic"/>
              </a:rPr>
              <a:t>입찰 조건을 대조할 회사 상황 마련</a:t>
            </a:r>
          </a:p>
        </p:txBody>
      </p:sp>
      <p:sp>
        <p:nvSpPr>
          <p:cNvPr id="539" name="">
            <a:extLst xmlns:a="http://schemas.openxmlformats.org/drawingml/2006/main">
              <a:ext uri="{FF2B5EF4-FFF2-40B4-BE49-F238E27FC236}">
                <a16:creationId xmlns:a16="http://schemas.microsoft.com/office/drawing/2014/main" id="{50BD1465-631D-4C36-AEDB-C9C2C2742257}"/>
              </a:ext>
            </a:extLst>
          </p:cNvPr>
          <p:cNvSpPr>
            <a:spLocks xmlns:a="http://schemas.openxmlformats.org/drawingml/2006/main" noGrp="1"/>
          </p:cNvSpPr>
          <p:nvPr/>
        </p:nvSpPr>
        <p:spPr>
          <a:xfrm xmlns:a="http://schemas.openxmlformats.org/drawingml/2006/main">
            <a:off x="6438900" y="4086225"/>
            <a:ext cx="52768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165100" indent="-101600">
              <a:spcAft>
                <a:spcPts val="1000"/>
              </a:spcAft>
              <a:buChar char="•"/>
              <a:defRPr sz="1875" b="0">
                <a:solidFill>
                  <a:srgbClr val="161C2C"/>
                </a:solidFill>
                <a:latin typeface="Malgun Gothic"/>
                <a:ea typeface="Malgun Gothic"/>
                <a:cs typeface="Malgun Gothic"/>
              </a:defRPr>
            </a:pPr>
            <a:r>
              <a:t>실적·인력·인증 등 기업 조건</a:t>
            </a:r>
          </a:p>
          <a:p xmlns:a="http://schemas.openxmlformats.org/drawingml/2006/main">
            <a:pPr marL="165100" indent="-101600">
              <a:spcAft>
                <a:spcPts val="1000"/>
              </a:spcAft>
              <a:buChar char="•"/>
              <a:defRPr sz="1875" b="0">
                <a:solidFill>
                  <a:srgbClr val="161C2C"/>
                </a:solidFill>
                <a:latin typeface="Malgun Gothic"/>
                <a:ea typeface="Malgun Gothic"/>
                <a:cs typeface="Malgun Gothic"/>
              </a:defRPr>
            </a:pPr>
            <a:r>
              <a:t>충족·미충족·자료 부족 상황 구분</a:t>
            </a:r>
          </a:p>
          <a:p xmlns:a="http://schemas.openxmlformats.org/drawingml/2006/main">
            <a:pPr marL="165100" indent="-101600">
              <a:spcAft>
                <a:spcPts val="1000"/>
              </a:spcAft>
              <a:buChar char="•"/>
              <a:defRPr sz="1875" b="0">
                <a:solidFill>
                  <a:srgbClr val="161C2C"/>
                </a:solidFill>
                <a:latin typeface="Malgun Gothic"/>
                <a:ea typeface="Malgun Gothic"/>
                <a:cs typeface="Malgun Gothic"/>
              </a:defRPr>
            </a:pPr>
            <a:r>
              <a:t>L2/L3 상세 자료와 권한 연결의 기반</a:t>
            </a:r>
          </a:p>
        </p:txBody>
      </p:sp>
      <p:sp>
        <p:nvSpPr>
          <p:cNvPr id="540" name="">
            <a:extLst xmlns:a="http://schemas.openxmlformats.org/drawingml/2006/main">
              <a:ext uri="{FF2B5EF4-FFF2-40B4-BE49-F238E27FC236}">
                <a16:creationId xmlns:a16="http://schemas.microsoft.com/office/drawing/2014/main" id="{2F0B6EA9-FE97-4DB9-9B85-0F41BF625F2C}"/>
              </a:ext>
            </a:extLst>
          </p:cNvPr>
          <p:cNvSpPr>
            <a:spLocks xmlns:a="http://schemas.openxmlformats.org/drawingml/2006/main" noGrp="1"/>
          </p:cNvSpPr>
          <p:nvPr/>
        </p:nvSpPr>
        <p:spPr>
          <a:xfrm xmlns:a="http://schemas.openxmlformats.org/drawingml/2006/main">
            <a:off x="390525" y="5915025"/>
            <a:ext cx="11401425" cy="400050"/>
          </a:xfrm>
          <a:prstGeom xmlns:a="http://schemas.openxmlformats.org/drawingml/2006/main" prst="rect">
            <a:avLst/>
          </a:prstGeom>
          <a:solidFill xmlns:a="http://schemas.openxmlformats.org/drawingml/2006/main">
            <a:srgbClr val="E8EDF9"/>
          </a:solidFill>
          <a:ln xmlns:a="http://schemas.openxmlformats.org/drawingml/2006/main" w="9525">
            <a:solidFill>
              <a:srgbClr val="E8EDF9"/>
            </a:solidFill>
          </a:ln>
        </p:spPr>
      </p:sp>
      <p:sp>
        <p:nvSpPr>
          <p:cNvPr id="541" name="">
            <a:extLst xmlns:a="http://schemas.openxmlformats.org/drawingml/2006/main">
              <a:ext uri="{FF2B5EF4-FFF2-40B4-BE49-F238E27FC236}">
                <a16:creationId xmlns:a16="http://schemas.microsoft.com/office/drawing/2014/main" id="{37FBEA9D-6A90-41E2-9A99-C034F4024F21}"/>
              </a:ext>
            </a:extLst>
          </p:cNvPr>
          <p:cNvSpPr>
            <a:spLocks xmlns:a="http://schemas.openxmlformats.org/drawingml/2006/main" noGrp="1"/>
          </p:cNvSpPr>
          <p:nvPr/>
        </p:nvSpPr>
        <p:spPr>
          <a:xfrm xmlns:a="http://schemas.openxmlformats.org/drawingml/2006/main">
            <a:off x="533400" y="5991225"/>
            <a:ext cx="11096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3456BF"/>
                </a:solidFill>
                <a:latin typeface="Malgun Gothic"/>
                <a:ea typeface="Malgun Gothic"/>
                <a:cs typeface="Malgun Gothic"/>
              </a:defRPr>
            </a:pPr>
            <a:r>
              <a:rPr sz="1725" b="1">
                <a:solidFill>
                  <a:srgbClr val="3456BF"/>
                </a:solidFill>
                <a:latin typeface="Malgun Gothic"/>
                <a:ea typeface="Malgun Gothic"/>
                <a:cs typeface="Malgun Gothic"/>
              </a:rPr>
              <a:t>다음: 실제 답변 생성 → 환각 구간 라벨링 → 교차 검수</a:t>
            </a:r>
          </a:p>
        </p:txBody>
      </p:sp>
      <p:sp>
        <p:nvSpPr>
          <p:cNvPr id="542" name="">
            <a:extLst xmlns:a="http://schemas.openxmlformats.org/drawingml/2006/main">
              <a:ext uri="{FF2B5EF4-FFF2-40B4-BE49-F238E27FC236}">
                <a16:creationId xmlns:a16="http://schemas.microsoft.com/office/drawing/2014/main" id="{AC23BBEC-67E8-4927-BD8D-FAA164F7493D}"/>
              </a:ext>
            </a:extLst>
          </p:cNvPr>
          <p:cNvSpPr>
            <a:spLocks xmlns:a="http://schemas.openxmlformats.org/drawingml/2006/main" noGrp="1"/>
          </p:cNvSpPr>
          <p:nvPr/>
        </p:nvSpPr>
        <p:spPr>
          <a:xfrm xmlns:a="http://schemas.openxmlformats.org/drawingml/2006/main">
            <a:off x="390525" y="641985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B6476"/>
                </a:solidFill>
                <a:latin typeface="Malgun Gothic"/>
                <a:ea typeface="Malgun Gothic"/>
                <a:cs typeface="Malgun Gothic"/>
              </a:defRPr>
            </a:pPr>
            <a:r>
              <a:rPr sz="1125" b="0">
                <a:solidFill>
                  <a:srgbClr val="5B6476"/>
                </a:solidFill>
                <a:latin typeface="Malgun Gothic"/>
                <a:ea typeface="Malgun Gothic"/>
                <a:cs typeface="Malgun Gothic"/>
              </a:rPr>
              <a:t>질문·기업 준비는 팀의 최신 완료 확인 반영 · 기업은 합성 자료 · 생성 답변의 span 라벨링은 후속 단계</a:t>
            </a:r>
          </a:p>
        </p:txBody>
      </p:sp>
    </p:spTree>
    <p:extLst>
      <p:ext uri="{BB962C8B-B14F-4D97-AF65-F5344CB8AC3E}">
        <p14:creationId xmlns:p14="http://schemas.microsoft.com/office/powerpoint/2010/main" val="54622172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8</a:t>
            </a: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다음 단계는 준비한 자료로 실제 답변을 끝까지 연결하는 것</a:t>
            </a:r>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0525" y="1257300"/>
            <a:ext cx="11401425" cy="6096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875" b="0">
                <a:solidFill>
                  <a:srgbClr val="5B6476"/>
                </a:solidFill>
                <a:latin typeface="Malgun Gothic"/>
                <a:ea typeface="Malgun Gothic"/>
                <a:cs typeface="Malgun Gothic"/>
              </a:defRPr>
            </a:pPr>
            <a:r>
              <a:rPr sz="1875" b="0">
                <a:solidFill>
                  <a:srgbClr val="5B6476"/>
                </a:solidFill>
                <a:latin typeface="Malgun Gothic"/>
                <a:ea typeface="Malgun Gothic"/>
                <a:cs typeface="Malgun Gothic"/>
              </a:rPr>
              <a:t>작은 시나리오부터 실행한 뒤 300건 검수로 확장</a:t>
            </a:r>
          </a:p>
        </p:txBody>
      </p:sp>
      <p:sp>
        <p:nvSpPr>
          <p:cNvPr id="534" name="">
            <a:extLst xmlns:a="http://schemas.openxmlformats.org/drawingml/2006/main">
              <a:ext uri="{FF2B5EF4-FFF2-40B4-BE49-F238E27FC236}">
                <a16:creationId xmlns:a16="http://schemas.microsoft.com/office/drawing/2014/main" id="{0782D682-977D-4260-AA74-0EA461625805}"/>
              </a:ext>
            </a:extLst>
          </p:cNvPr>
          <p:cNvSpPr>
            <a:spLocks xmlns:a="http://schemas.openxmlformats.org/drawingml/2006/main" noGrp="1"/>
          </p:cNvSpPr>
          <p:nvPr/>
        </p:nvSpPr>
        <p:spPr>
          <a:xfrm xmlns:a="http://schemas.openxmlformats.org/drawingml/2006/main">
            <a:off x="390525" y="2190750"/>
            <a:ext cx="3571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3456BF"/>
                </a:solidFill>
                <a:latin typeface="Malgun Gothic"/>
                <a:ea typeface="Malgun Gothic"/>
                <a:cs typeface="Malgun Gothic"/>
              </a:defRPr>
            </a:pPr>
            <a:r>
              <a:rPr sz="3450" b="1">
                <a:solidFill>
                  <a:srgbClr val="3456BF"/>
                </a:solidFill>
                <a:latin typeface="Malgun Gothic"/>
                <a:ea typeface="Malgun Gothic"/>
                <a:cs typeface="Malgun Gothic"/>
              </a:rPr>
              <a:t>01</a:t>
            </a:r>
          </a:p>
        </p:txBody>
      </p:sp>
      <p:sp>
        <p:nvSpPr>
          <p:cNvPr id="535" name="">
            <a:extLst xmlns:a="http://schemas.openxmlformats.org/drawingml/2006/main">
              <a:ext uri="{FF2B5EF4-FFF2-40B4-BE49-F238E27FC236}">
                <a16:creationId xmlns:a16="http://schemas.microsoft.com/office/drawing/2014/main" id="{17DB5734-7919-468B-926F-B6DA29A6A7A2}"/>
              </a:ext>
            </a:extLst>
          </p:cNvPr>
          <p:cNvSpPr>
            <a:spLocks xmlns:a="http://schemas.openxmlformats.org/drawingml/2006/main" noGrp="1"/>
          </p:cNvSpPr>
          <p:nvPr/>
        </p:nvSpPr>
        <p:spPr>
          <a:xfrm xmlns:a="http://schemas.openxmlformats.org/drawingml/2006/main">
            <a:off x="390525" y="3105150"/>
            <a:ext cx="3571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3456BF"/>
                </a:solidFill>
                <a:latin typeface="Malgun Gothic"/>
                <a:ea typeface="Malgun Gothic"/>
                <a:cs typeface="Malgun Gothic"/>
              </a:defRPr>
            </a:pPr>
            <a:r>
              <a:rPr sz="2250" b="1">
                <a:solidFill>
                  <a:srgbClr val="3456BF"/>
                </a:solidFill>
                <a:latin typeface="Malgun Gothic"/>
                <a:ea typeface="Malgun Gothic"/>
                <a:cs typeface="Malgun Gothic"/>
              </a:rPr>
              <a:t>자료·버전 연결</a:t>
            </a:r>
          </a:p>
        </p:txBody>
      </p:sp>
      <p:sp>
        <p:nvSpPr>
          <p:cNvPr id="536" name="">
            <a:extLst xmlns:a="http://schemas.openxmlformats.org/drawingml/2006/main">
              <a:ext uri="{FF2B5EF4-FFF2-40B4-BE49-F238E27FC236}">
                <a16:creationId xmlns:a16="http://schemas.microsoft.com/office/drawing/2014/main" id="{CCAE3A7C-9102-48A3-BBED-D048C7444B70}"/>
              </a:ext>
            </a:extLst>
          </p:cNvPr>
          <p:cNvSpPr>
            <a:spLocks xmlns:a="http://schemas.openxmlformats.org/drawingml/2006/main" noGrp="1"/>
          </p:cNvSpPr>
          <p:nvPr/>
        </p:nvSpPr>
        <p:spPr>
          <a:xfrm xmlns:a="http://schemas.openxmlformats.org/drawingml/2006/main">
            <a:off x="390525" y="3905250"/>
            <a:ext cx="357187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61C2C"/>
                </a:solidFill>
                <a:latin typeface="Malgun Gothic"/>
                <a:ea typeface="Malgun Gothic"/>
                <a:cs typeface="Malgun Gothic"/>
              </a:defRPr>
            </a:pPr>
            <a:r>
              <a:rPr sz="1875" b="0">
                <a:solidFill>
                  <a:srgbClr val="161C2C"/>
                </a:solidFill>
                <a:latin typeface="Malgun Gothic"/>
                <a:ea typeface="Malgun Gothic"/>
                <a:cs typeface="Malgun Gothic"/>
              </a:rPr>
              <a:t>공고·기업·질문의 ID 고정</a:t>
            </a:r>
          </a:p>
          <a:p xmlns:a="http://schemas.openxmlformats.org/drawingml/2006/main">
            <a:pPr>
              <a:defRPr sz="1875" b="0">
                <a:solidFill>
                  <a:srgbClr val="161C2C"/>
                </a:solidFill>
                <a:latin typeface="Malgun Gothic"/>
                <a:ea typeface="Malgun Gothic"/>
                <a:cs typeface="Malgun Gothic"/>
              </a:defRPr>
            </a:pPr>
            <a:r>
              <a:rPr sz="1875" b="0">
                <a:solidFill>
                  <a:srgbClr val="161C2C"/>
                </a:solidFill>
                <a:latin typeface="Malgun Gothic"/>
                <a:ea typeface="Malgun Gothic"/>
                <a:cs typeface="Malgun Gothic"/>
              </a:rPr>
              <a:t>L2/L3 상세 증빙과 권한 연결</a:t>
            </a:r>
          </a:p>
          <a:p xmlns:a="http://schemas.openxmlformats.org/drawingml/2006/main">
            <a:pPr>
              <a:defRPr sz="1875" b="0">
                <a:solidFill>
                  <a:srgbClr val="161C2C"/>
                </a:solidFill>
                <a:latin typeface="Malgun Gothic"/>
                <a:ea typeface="Malgun Gothic"/>
                <a:cs typeface="Malgun Gothic"/>
              </a:defRPr>
            </a:pPr>
            <a:r>
              <a:rPr sz="1875" b="0">
                <a:solidFill>
                  <a:srgbClr val="161C2C"/>
                </a:solidFill>
                <a:latin typeface="Malgun Gothic"/>
                <a:ea typeface="Malgun Gothic"/>
                <a:cs typeface="Malgun Gothic"/>
              </a:rPr>
              <a:t>개발용·최종 평가용 자료 분리</a:t>
            </a:r>
          </a:p>
        </p:txBody>
      </p:sp>
      <p:sp>
        <p:nvSpPr>
          <p:cNvPr id="537" name="">
            <a:extLst xmlns:a="http://schemas.openxmlformats.org/drawingml/2006/main">
              <a:ext uri="{FF2B5EF4-FFF2-40B4-BE49-F238E27FC236}">
                <a16:creationId xmlns:a16="http://schemas.microsoft.com/office/drawing/2014/main" id="{A39086BE-C2DF-4347-8766-2332FD634973}"/>
              </a:ext>
            </a:extLst>
          </p:cNvPr>
          <p:cNvSpPr>
            <a:spLocks xmlns:a="http://schemas.openxmlformats.org/drawingml/2006/main" noGrp="1"/>
          </p:cNvSpPr>
          <p:nvPr/>
        </p:nvSpPr>
        <p:spPr>
          <a:xfrm xmlns:a="http://schemas.openxmlformats.org/drawingml/2006/main">
            <a:off x="4305300" y="2190750"/>
            <a:ext cx="3571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3456BF"/>
                </a:solidFill>
                <a:latin typeface="Malgun Gothic"/>
                <a:ea typeface="Malgun Gothic"/>
                <a:cs typeface="Malgun Gothic"/>
              </a:defRPr>
            </a:pPr>
            <a:r>
              <a:rPr sz="3450" b="1">
                <a:solidFill>
                  <a:srgbClr val="3456BF"/>
                </a:solidFill>
                <a:latin typeface="Malgun Gothic"/>
                <a:ea typeface="Malgun Gothic"/>
                <a:cs typeface="Malgun Gothic"/>
              </a:rPr>
              <a:t>02</a:t>
            </a:r>
          </a:p>
        </p:txBody>
      </p:sp>
      <p:sp>
        <p:nvSpPr>
          <p:cNvPr id="538" name="">
            <a:extLst xmlns:a="http://schemas.openxmlformats.org/drawingml/2006/main">
              <a:ext uri="{FF2B5EF4-FFF2-40B4-BE49-F238E27FC236}">
                <a16:creationId xmlns:a16="http://schemas.microsoft.com/office/drawing/2014/main" id="{FD6C82FB-04A0-492B-A7F9-7B96C79BC844}"/>
              </a:ext>
            </a:extLst>
          </p:cNvPr>
          <p:cNvSpPr>
            <a:spLocks xmlns:a="http://schemas.openxmlformats.org/drawingml/2006/main" noGrp="1"/>
          </p:cNvSpPr>
          <p:nvPr/>
        </p:nvSpPr>
        <p:spPr>
          <a:xfrm xmlns:a="http://schemas.openxmlformats.org/drawingml/2006/main">
            <a:off x="4305300" y="3105150"/>
            <a:ext cx="3571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3456BF"/>
                </a:solidFill>
                <a:latin typeface="Malgun Gothic"/>
                <a:ea typeface="Malgun Gothic"/>
                <a:cs typeface="Malgun Gothic"/>
              </a:defRPr>
            </a:pPr>
            <a:r>
              <a:rPr sz="2250" b="1">
                <a:solidFill>
                  <a:srgbClr val="3456BF"/>
                </a:solidFill>
                <a:latin typeface="Malgun Gothic"/>
                <a:ea typeface="Malgun Gothic"/>
                <a:cs typeface="Malgun Gothic"/>
              </a:rPr>
              <a:t>답변 생성·검수</a:t>
            </a:r>
          </a:p>
        </p:txBody>
      </p:sp>
      <p:sp>
        <p:nvSpPr>
          <p:cNvPr id="539" name="">
            <a:extLst xmlns:a="http://schemas.openxmlformats.org/drawingml/2006/main">
              <a:ext uri="{FF2B5EF4-FFF2-40B4-BE49-F238E27FC236}">
                <a16:creationId xmlns:a16="http://schemas.microsoft.com/office/drawing/2014/main" id="{12F69F45-A3AC-4AD5-815A-0C393E052D99}"/>
              </a:ext>
            </a:extLst>
          </p:cNvPr>
          <p:cNvSpPr>
            <a:spLocks xmlns:a="http://schemas.openxmlformats.org/drawingml/2006/main" noGrp="1"/>
          </p:cNvSpPr>
          <p:nvPr/>
        </p:nvSpPr>
        <p:spPr>
          <a:xfrm xmlns:a="http://schemas.openxmlformats.org/drawingml/2006/main">
            <a:off x="4305300" y="3905250"/>
            <a:ext cx="357187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61C2C"/>
                </a:solidFill>
                <a:latin typeface="Malgun Gothic"/>
                <a:ea typeface="Malgun Gothic"/>
                <a:cs typeface="Malgun Gothic"/>
              </a:defRPr>
            </a:pPr>
            <a:r>
              <a:rPr sz="1875" b="0">
                <a:solidFill>
                  <a:srgbClr val="161C2C"/>
                </a:solidFill>
                <a:latin typeface="Malgun Gothic"/>
                <a:ea typeface="Malgun Gothic"/>
                <a:cs typeface="Malgun Gothic"/>
              </a:rPr>
              <a:t>허용 근거로 로컬 답변 생성</a:t>
            </a:r>
          </a:p>
          <a:p xmlns:a="http://schemas.openxmlformats.org/drawingml/2006/main">
            <a:pPr>
              <a:defRPr sz="1875" b="0">
                <a:solidFill>
                  <a:srgbClr val="161C2C"/>
                </a:solidFill>
                <a:latin typeface="Malgun Gothic"/>
                <a:ea typeface="Malgun Gothic"/>
                <a:cs typeface="Malgun Gothic"/>
              </a:defRPr>
            </a:pPr>
            <a:r>
              <a:rPr sz="1875" b="0">
                <a:solidFill>
                  <a:srgbClr val="161C2C"/>
                </a:solidFill>
                <a:latin typeface="Malgun Gothic"/>
                <a:ea typeface="Malgun Gothic"/>
                <a:cs typeface="Malgun Gothic"/>
              </a:rPr>
              <a:t>환각 구간 라벨링·교차 검수</a:t>
            </a:r>
          </a:p>
          <a:p xmlns:a="http://schemas.openxmlformats.org/drawingml/2006/main">
            <a:pPr>
              <a:defRPr sz="1875" b="0">
                <a:solidFill>
                  <a:srgbClr val="161C2C"/>
                </a:solidFill>
                <a:latin typeface="Malgun Gothic"/>
                <a:ea typeface="Malgun Gothic"/>
                <a:cs typeface="Malgun Gothic"/>
              </a:defRPr>
            </a:pPr>
            <a:r>
              <a:rPr sz="1875" b="0">
                <a:solidFill>
                  <a:srgbClr val="161C2C"/>
                </a:solidFill>
                <a:latin typeface="Malgun Gothic"/>
                <a:ea typeface="Malgun Gothic"/>
                <a:cs typeface="Malgun Gothic"/>
              </a:rPr>
              <a:t>숫자·기간 규칙 대조</a:t>
            </a:r>
          </a:p>
        </p:txBody>
      </p:sp>
      <p:sp>
        <p:nvSpPr>
          <p:cNvPr id="540" name="">
            <a:extLst xmlns:a="http://schemas.openxmlformats.org/drawingml/2006/main">
              <a:ext uri="{FF2B5EF4-FFF2-40B4-BE49-F238E27FC236}">
                <a16:creationId xmlns:a16="http://schemas.microsoft.com/office/drawing/2014/main" id="{197E246E-1CB9-4082-B967-21A19B3B6C35}"/>
              </a:ext>
            </a:extLst>
          </p:cNvPr>
          <p:cNvSpPr>
            <a:spLocks xmlns:a="http://schemas.openxmlformats.org/drawingml/2006/main" noGrp="1"/>
          </p:cNvSpPr>
          <p:nvPr/>
        </p:nvSpPr>
        <p:spPr>
          <a:xfrm xmlns:a="http://schemas.openxmlformats.org/drawingml/2006/main">
            <a:off x="8220075" y="2190750"/>
            <a:ext cx="3571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3456BF"/>
                </a:solidFill>
                <a:latin typeface="Malgun Gothic"/>
                <a:ea typeface="Malgun Gothic"/>
                <a:cs typeface="Malgun Gothic"/>
              </a:defRPr>
            </a:pPr>
            <a:r>
              <a:rPr sz="3450" b="1">
                <a:solidFill>
                  <a:srgbClr val="3456BF"/>
                </a:solidFill>
                <a:latin typeface="Malgun Gothic"/>
                <a:ea typeface="Malgun Gothic"/>
                <a:cs typeface="Malgun Gothic"/>
              </a:rPr>
              <a:t>03</a:t>
            </a:r>
          </a:p>
        </p:txBody>
      </p:sp>
      <p:sp>
        <p:nvSpPr>
          <p:cNvPr id="541" name="">
            <a:extLst xmlns:a="http://schemas.openxmlformats.org/drawingml/2006/main">
              <a:ext uri="{FF2B5EF4-FFF2-40B4-BE49-F238E27FC236}">
                <a16:creationId xmlns:a16="http://schemas.microsoft.com/office/drawing/2014/main" id="{5599C77D-AAA2-4DCD-815A-0030167BBA7B}"/>
              </a:ext>
            </a:extLst>
          </p:cNvPr>
          <p:cNvSpPr>
            <a:spLocks xmlns:a="http://schemas.openxmlformats.org/drawingml/2006/main" noGrp="1"/>
          </p:cNvSpPr>
          <p:nvPr/>
        </p:nvSpPr>
        <p:spPr>
          <a:xfrm xmlns:a="http://schemas.openxmlformats.org/drawingml/2006/main">
            <a:off x="8220075" y="3105150"/>
            <a:ext cx="3571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3456BF"/>
                </a:solidFill>
                <a:latin typeface="Malgun Gothic"/>
                <a:ea typeface="Malgun Gothic"/>
                <a:cs typeface="Malgun Gothic"/>
              </a:defRPr>
            </a:pPr>
            <a:r>
              <a:rPr sz="2250" b="1">
                <a:solidFill>
                  <a:srgbClr val="3456BF"/>
                </a:solidFill>
                <a:latin typeface="Malgun Gothic"/>
                <a:ea typeface="Malgun Gothic"/>
                <a:cs typeface="Malgun Gothic"/>
              </a:rPr>
              <a:t>ASTRA 실연결</a:t>
            </a:r>
          </a:p>
        </p:txBody>
      </p:sp>
      <p:sp>
        <p:nvSpPr>
          <p:cNvPr id="542" name="">
            <a:extLst xmlns:a="http://schemas.openxmlformats.org/drawingml/2006/main">
              <a:ext uri="{FF2B5EF4-FFF2-40B4-BE49-F238E27FC236}">
                <a16:creationId xmlns:a16="http://schemas.microsoft.com/office/drawing/2014/main" id="{725B000E-AAE9-4727-9FAD-C8D205944FB5}"/>
              </a:ext>
            </a:extLst>
          </p:cNvPr>
          <p:cNvSpPr>
            <a:spLocks xmlns:a="http://schemas.openxmlformats.org/drawingml/2006/main" noGrp="1"/>
          </p:cNvSpPr>
          <p:nvPr/>
        </p:nvSpPr>
        <p:spPr>
          <a:xfrm xmlns:a="http://schemas.openxmlformats.org/drawingml/2006/main">
            <a:off x="8220075" y="3905250"/>
            <a:ext cx="357187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61C2C"/>
                </a:solidFill>
                <a:latin typeface="Malgun Gothic"/>
                <a:ea typeface="Malgun Gothic"/>
                <a:cs typeface="Malgun Gothic"/>
              </a:defRPr>
            </a:pPr>
            <a:r>
              <a:rPr sz="1875" b="0">
                <a:solidFill>
                  <a:srgbClr val="161C2C"/>
                </a:solidFill>
                <a:latin typeface="Malgun Gothic"/>
                <a:ea typeface="Malgun Gothic"/>
                <a:cs typeface="Malgun Gothic"/>
              </a:rPr>
              <a:t>검색·생성·탐지 API 연결</a:t>
            </a:r>
          </a:p>
          <a:p xmlns:a="http://schemas.openxmlformats.org/drawingml/2006/main">
            <a:pPr>
              <a:defRPr sz="1875" b="0">
                <a:solidFill>
                  <a:srgbClr val="161C2C"/>
                </a:solidFill>
                <a:latin typeface="Malgun Gothic"/>
                <a:ea typeface="Malgun Gothic"/>
                <a:cs typeface="Malgun Gothic"/>
              </a:defRPr>
            </a:pPr>
            <a:r>
              <a:rPr sz="1875" b="0">
                <a:solidFill>
                  <a:srgbClr val="161C2C"/>
                </a:solidFill>
                <a:latin typeface="Malgun Gothic"/>
                <a:ea typeface="Malgun Gothic"/>
                <a:cs typeface="Malgun Gothic"/>
              </a:rPr>
              <a:t>원문·의심 구간 표시</a:t>
            </a:r>
          </a:p>
          <a:p xmlns:a="http://schemas.openxmlformats.org/drawingml/2006/main">
            <a:pPr>
              <a:defRPr sz="1875" b="0">
                <a:solidFill>
                  <a:srgbClr val="161C2C"/>
                </a:solidFill>
                <a:latin typeface="Malgun Gothic"/>
                <a:ea typeface="Malgun Gothic"/>
                <a:cs typeface="Malgun Gothic"/>
              </a:defRPr>
            </a:pPr>
            <a:r>
              <a:rPr sz="1875" b="0">
                <a:solidFill>
                  <a:srgbClr val="161C2C"/>
                </a:solidFill>
                <a:latin typeface="Malgun Gothic"/>
                <a:ea typeface="Malgun Gothic"/>
                <a:cs typeface="Malgun Gothic"/>
              </a:rPr>
              <a:t>승인 전후·타 회사 접근 차단</a:t>
            </a:r>
          </a:p>
        </p:txBody>
      </p:sp>
      <p:sp>
        <p:nvSpPr>
          <p:cNvPr id="543" name="">
            <a:extLst xmlns:a="http://schemas.openxmlformats.org/drawingml/2006/main">
              <a:ext uri="{FF2B5EF4-FFF2-40B4-BE49-F238E27FC236}">
                <a16:creationId xmlns:a16="http://schemas.microsoft.com/office/drawing/2014/main" id="{F1209E80-C5BE-424D-922C-C341CCB29B69}"/>
              </a:ext>
            </a:extLst>
          </p:cNvPr>
          <p:cNvSpPr>
            <a:spLocks xmlns:a="http://schemas.openxmlformats.org/drawingml/2006/main" noGrp="1"/>
          </p:cNvSpPr>
          <p:nvPr/>
        </p:nvSpPr>
        <p:spPr>
          <a:xfrm xmlns:a="http://schemas.openxmlformats.org/drawingml/2006/main">
            <a:off x="390525" y="5657850"/>
            <a:ext cx="11401425" cy="628650"/>
          </a:xfrm>
          <a:prstGeom xmlns:a="http://schemas.openxmlformats.org/drawingml/2006/main" prst="rect">
            <a:avLst/>
          </a:prstGeom>
          <a:solidFill xmlns:a="http://schemas.openxmlformats.org/drawingml/2006/main">
            <a:srgbClr val="E8EDF9"/>
          </a:solidFill>
          <a:ln xmlns:a="http://schemas.openxmlformats.org/drawingml/2006/main" w="9525">
            <a:solidFill>
              <a:srgbClr val="E8EDF9"/>
            </a:solidFill>
          </a:ln>
        </p:spPr>
      </p:sp>
      <p:sp>
        <p:nvSpPr>
          <p:cNvPr id="544" name="">
            <a:extLst xmlns:a="http://schemas.openxmlformats.org/drawingml/2006/main">
              <a:ext uri="{FF2B5EF4-FFF2-40B4-BE49-F238E27FC236}">
                <a16:creationId xmlns:a16="http://schemas.microsoft.com/office/drawing/2014/main" id="{EE73D170-8A42-406D-A483-AF009D071FF8}"/>
              </a:ext>
            </a:extLst>
          </p:cNvPr>
          <p:cNvSpPr>
            <a:spLocks xmlns:a="http://schemas.openxmlformats.org/drawingml/2006/main" noGrp="1"/>
          </p:cNvSpPr>
          <p:nvPr/>
        </p:nvSpPr>
        <p:spPr>
          <a:xfrm xmlns:a="http://schemas.openxmlformats.org/drawingml/2006/main">
            <a:off x="542925" y="5829300"/>
            <a:ext cx="1109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3456BF"/>
                </a:solidFill>
                <a:latin typeface="Malgun Gothic"/>
                <a:ea typeface="Malgun Gothic"/>
                <a:cs typeface="Malgun Gothic"/>
              </a:defRPr>
            </a:pPr>
            <a:r>
              <a:rPr sz="1950" b="1">
                <a:solidFill>
                  <a:srgbClr val="3456BF"/>
                </a:solidFill>
                <a:latin typeface="Malgun Gothic"/>
                <a:ea typeface="Malgun Gothic"/>
                <a:cs typeface="Malgun Gothic"/>
              </a:rPr>
              <a:t>첫 연결 기준  실제 공고 1건 + 가상 기업 1곳 + 질문 5개를 사람이 확인</a:t>
            </a:r>
          </a:p>
        </p:txBody>
      </p:sp>
      <p:sp>
        <p:nvSpPr>
          <p:cNvPr id="545" name="">
            <a:extLst xmlns:a="http://schemas.openxmlformats.org/drawingml/2006/main">
              <a:ext uri="{FF2B5EF4-FFF2-40B4-BE49-F238E27FC236}">
                <a16:creationId xmlns:a16="http://schemas.microsoft.com/office/drawing/2014/main" id="{FF3D1190-914C-4A52-8929-26592FFD00FC}"/>
              </a:ext>
            </a:extLst>
          </p:cNvPr>
          <p:cNvSpPr>
            <a:spLocks xmlns:a="http://schemas.openxmlformats.org/drawingml/2006/main" noGrp="1"/>
          </p:cNvSpPr>
          <p:nvPr/>
        </p:nvSpPr>
        <p:spPr>
          <a:xfrm xmlns:a="http://schemas.openxmlformats.org/drawingml/2006/main">
            <a:off x="390525" y="641985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B6476"/>
                </a:solidFill>
                <a:latin typeface="Malgun Gothic"/>
                <a:ea typeface="Malgun Gothic"/>
                <a:cs typeface="Malgun Gothic"/>
              </a:defRPr>
            </a:pPr>
            <a:r>
              <a:rPr sz="1125" b="0">
                <a:solidFill>
                  <a:srgbClr val="5B6476"/>
                </a:solidFill>
                <a:latin typeface="Malgun Gothic"/>
                <a:ea typeface="Malgun Gothic"/>
                <a:cs typeface="Malgun Gothic"/>
              </a:rPr>
              <a:t>현재: 데이터·검수 자산 준비    /    다음: 권한 적용 서비스 통합과 재현 가능한 시연</a:t>
            </a:r>
          </a:p>
        </p:txBody>
      </p:sp>
    </p:spTree>
    <p:extLst>
      <p:ext uri="{BB962C8B-B14F-4D97-AF65-F5344CB8AC3E}">
        <p14:creationId xmlns:p14="http://schemas.microsoft.com/office/powerpoint/2010/main" val="546221724"/>
      </p:ext>
    </p:extLst>
  </p:cSld>
</p:sld>
</file>

<file path=ppt/theme/theme1.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2026-09-12T15:26:03.9110000Z</dcterms:created>
  <dcterms:modified xsi:type="dcterms:W3CDTF">2026-09-12T15:26:03.9110000Z</dcterms:modified>
</coreProperties>
</file>