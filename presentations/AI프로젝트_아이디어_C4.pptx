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402336"/>
            <a:ext cx="3639312" cy="420624"/>
          </a:xfrm>
          <a:prstGeom prst="roundRect">
            <a:avLst>
              <a:gd name="adj" fmla="val 24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02336"/>
            <a:ext cx="36393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포스코 AI·Big Data 아카데미</a:t>
            </a:r>
          </a:p>
        </p:txBody>
      </p:sp>
      <p:sp>
        <p:nvSpPr>
          <p:cNvPr id="6" name="Rectangle 5"/>
          <p:cNvSpPr/>
          <p:nvPr/>
        </p:nvSpPr>
        <p:spPr>
          <a:xfrm>
            <a:off x="4224528" y="598932"/>
            <a:ext cx="7360920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44215" y="2816352"/>
            <a:ext cx="6641592" cy="1143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215" y="2816352"/>
            <a:ext cx="664159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</a:rPr>
              <a:t>AI 프로젝트 아이디어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5870448"/>
            <a:ext cx="118533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○조   양진우</a:t>
            </a:r>
          </a:p>
        </p:txBody>
      </p:sp>
      <p:pic>
        <p:nvPicPr>
          <p:cNvPr id="10" name="Picture 9" descr="logo_po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280495"/>
            <a:ext cx="1188720" cy="313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2376" y="566928"/>
            <a:ext cx="1152144" cy="80467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566928"/>
            <a:ext cx="115214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" y="1609344"/>
            <a:ext cx="10863072" cy="25603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01 </a:t>
            </a:r>
            <a:r>
              <a:rPr sz="2300" b="0">
                <a:solidFill>
                  <a:srgbClr val="1A1A1A"/>
                </a:solidFill>
                <a:latin typeface="맑은 고딕"/>
              </a:rPr>
              <a:t>한국어 환각 탐지 — 근거가 보이는 AI 상담 챗봇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02 </a:t>
            </a:r>
            <a:r>
              <a:rPr sz="2300" b="0">
                <a:solidFill>
                  <a:srgbClr val="1A1A1A"/>
                </a:solidFill>
                <a:latin typeface="맑은 고딕"/>
              </a:rPr>
              <a:t>진동 신호 기반 베어링 고장진단 및 잔여수명 예측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03 </a:t>
            </a:r>
            <a:r>
              <a:rPr sz="2300" b="0">
                <a:solidFill>
                  <a:srgbClr val="1A1A1A"/>
                </a:solidFill>
                <a:latin typeface="맑은 고딕"/>
              </a:rPr>
              <a:t>시각·음향 융합 공간 쾌적도 분석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04 </a:t>
            </a:r>
            <a:r>
              <a:rPr sz="2300" b="0">
                <a:solidFill>
                  <a:srgbClr val="1A1A1A"/>
                </a:solidFill>
                <a:latin typeface="맑은 고딕"/>
              </a:rPr>
              <a:t>고령층 다제복용 알약 식별 및 병용금기 분석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9171" y="603504"/>
            <a:ext cx="9631679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9171" y="603504"/>
            <a:ext cx="96316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한국어 환각 탐지 — 근거가 보이는 AI 상담 챗봇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hall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61942"/>
            <a:ext cx="3017520" cy="23022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영어에는 있고 한국어에는 없는 AI 환각 탐지기를, 한국어로 만든다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추진배경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899818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LLM은 그럴듯하지만 틀린 답을 만들어 피해로 이어진다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탐지기는 영어 등 7개 언어에만 있고 한국어에는 없다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거대 LLM으로 검증하면 비용·지연 탓에 실시간이 불가능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주요기능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527755"/>
            <a:ext cx="5413247" cy="1375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Translate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RAGTruth를 구간 라벨째 한국어로 번역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Verification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지지 / 반박 / 정보부족 3분류 + 구간 지목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Grounding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인용 구간의 실재를 문자열 매칭으로 확인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Interface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문장별 신호등 표시, 클릭 시 근거 하이라이트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기대효과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80634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한국어 구간 단위 환각 탐지기 — 국내 최초 시도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번역 학습본과 실제 한국어 문서의 성능 격차를 최초로 측정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형광펜이 그어지는 화면으로 3분 안에 결과가 보인다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25139" y="603504"/>
            <a:ext cx="6079743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5139" y="603504"/>
            <a:ext cx="607974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[보충] 선행연구와 우리 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00457"/>
            <a:ext cx="3017520" cy="24251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7개 언어에는 있고, 한국어에는 없다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이미 있는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899818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111111"/>
                </a:solidFill>
                <a:latin typeface="맑은 고딕"/>
              </a:rPr>
              <a:t>LettuceDetect(2025)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영어·중국어 등 7개 언어 지원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111111"/>
                </a:solidFill>
                <a:latin typeface="맑은 고딕"/>
              </a:rPr>
              <a:t>TinyLettuce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17M 모델이 235B LLM을 이미 이겼다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111111"/>
                </a:solidFill>
                <a:latin typeface="맑은 고딕"/>
              </a:rPr>
              <a:t>한국어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K-FinHallu(금융, 8B LLM) 외에 사실상 없다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만드는 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527755"/>
            <a:ext cx="5413247" cy="1375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Turk-LettuceDetect(2025.09)가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터키어로 같은 일을 해냈다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핵심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RAGTruth를 &lt;HAL&gt; 태그째 기계번역 → 구간 라벨 보존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비용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A100 1대 12시간. 우리 A5000 6대면 넉넉하다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사람이 손으로 라벨링할 필요가 없어진다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우리 자리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80634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111111"/>
                </a:solidFill>
                <a:latin typeface="맑은 고딕"/>
              </a:rPr>
              <a:t>그들은 번역본으로 학습하고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번역본으로만 평가했다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111111"/>
                </a:solidFill>
                <a:latin typeface="맑은 고딕"/>
              </a:rPr>
              <a:t>우리 질문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번역해 만든 모델이 진짜 한국어에서 통하는가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격차가 작으면 실용적 결론, 크면 한계를 처음 밝힌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35379" y="603504"/>
            <a:ext cx="9859263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5379" y="603504"/>
            <a:ext cx="985926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진동 신호 기반 베어링 고장진단 및 잔여수명 예측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bea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98680"/>
            <a:ext cx="3017520" cy="24287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센서 신호만으로 고장 위치를 찾아내고, 앞으로 얼마나 더 쓸 수 있는지까지 답하는 예지보전 AI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추진배경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899818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회전기계 고장은 설비 정지·안전사고로 직결된다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현장은 소리 판단과 정기점검에 의존해 대응이 늦다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고장 여부를 넘어 "언제까지 쓸 수 있는가"가 필요하다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주요기능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527755"/>
            <a:ext cx="5413247" cy="1375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Signal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정규화 후 STFT 스펙트로그램으로 변환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Diagnosis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정상 / 내륜 / 외륜 / 볼 4분류 (2D-CNN)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Prognosis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건강지표 추세 학습 후 RUL 회귀 (CNN+LSTM)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XAI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결함주파수 계산값과 Grad-CAM 대조 검증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기대효과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80634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물리 계산과 AI 판단의 일치로 판단 근거를 설명할 수 있다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CWRU·IMS 공개 데이터로 데이터 확보 리스크가 0에 가깝다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부하조건 분리 평가로 일반화 성능까지 제시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2707" y="603504"/>
            <a:ext cx="7404607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2707" y="603504"/>
            <a:ext cx="740460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시각·음향 융합 공간 쾌적도 분석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911013"/>
            <a:ext cx="3017520" cy="18040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사진과 소음을 함께 분석해 '이 방이 왜 불편한지'를 점수와 처방으로 답하는 AI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추진배경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899818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층간소음·수면장애는 실생활 문제로 남아 있다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빛과 소리가 늘 따로 진단되어 통합 지표가 없다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사용자는 불편의 원인을 스스로 말하지 못한다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주요기능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527755"/>
            <a:ext cx="5413247" cy="1375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Vision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채광·색온도·조도 분포 추정 (CNN)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Audio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스펙트로그램으로 소음원 분류 (도로·층간)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Fusion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두 지표를 결합해 공간 웰빙 점수 산출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Prescription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조명·사운드스케이프 조합 추천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기대효과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80634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시각과 청각을 함께 다뤄 유사 서비스와 차별화된다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결과는 점수 한 장, 속은 멀티모달 융합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검증: 사람 설문 쾌적도와의 상관계수로 측정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14195" y="603504"/>
            <a:ext cx="9501631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4195" y="603504"/>
            <a:ext cx="950163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고령층 다제복용 알약 식별 및 병용금기 분석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p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722244"/>
            <a:ext cx="3017520" cy="218160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여러 알약을 한 번에 촬영하면 종류를 식별하고, 함께 먹으면 안 되는 조합을 경고하는 AI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추진배경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899818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다제복용으로 알약 혼동·중복 복용이 빈번하다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포장을 벗기면 정보가 사라지고 각인은 구분이 어렵다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여러 병원의 처방이 서로 대조되지 않는다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주요기능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527755"/>
            <a:ext cx="5413247" cy="1375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Detection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모양·색·각인을 한 번에 검출 (YOLO)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Recognition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각인 문자 인식으로 품목 특정 (OCR)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Quality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깨짐·변색·훼손 감지 (CNN 이상탐지)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111111"/>
                </a:solidFill>
                <a:latin typeface="맑은 고딕"/>
              </a:rPr>
              <a:t>DUR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식약처 병용금기 API 대조로 위험도 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기대효과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80634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촬영 한 번에 경고가 뜨는 직관적인 데모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식약처 낱알식별 공개 데이터로 정확도 정량 평가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고령화 맥락과 맞물려 사회적 의의가 명확하다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971800"/>
            <a:ext cx="8229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A1A1A"/>
                </a:solidFill>
                <a:latin typeface="맑은 고딕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